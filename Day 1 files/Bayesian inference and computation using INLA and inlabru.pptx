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0"/>
  </p:notesMasterIdLst>
  <p:sldIdLst>
    <p:sldId id="321" r:id="rId2"/>
    <p:sldId id="283" r:id="rId3"/>
    <p:sldId id="304" r:id="rId4"/>
    <p:sldId id="307" r:id="rId5"/>
    <p:sldId id="308" r:id="rId6"/>
    <p:sldId id="305" r:id="rId7"/>
    <p:sldId id="278" r:id="rId8"/>
    <p:sldId id="279" r:id="rId9"/>
    <p:sldId id="280" r:id="rId10"/>
    <p:sldId id="281" r:id="rId11"/>
    <p:sldId id="286" r:id="rId12"/>
    <p:sldId id="287" r:id="rId13"/>
    <p:sldId id="297" r:id="rId14"/>
    <p:sldId id="298" r:id="rId15"/>
    <p:sldId id="291" r:id="rId16"/>
    <p:sldId id="292" r:id="rId17"/>
    <p:sldId id="301" r:id="rId18"/>
    <p:sldId id="309" r:id="rId19"/>
    <p:sldId id="310" r:id="rId20"/>
    <p:sldId id="282" r:id="rId21"/>
    <p:sldId id="302" r:id="rId22"/>
    <p:sldId id="300" r:id="rId23"/>
    <p:sldId id="293" r:id="rId24"/>
    <p:sldId id="296" r:id="rId25"/>
    <p:sldId id="288" r:id="rId26"/>
    <p:sldId id="289" r:id="rId27"/>
    <p:sldId id="294" r:id="rId28"/>
    <p:sldId id="295" r:id="rId29"/>
    <p:sldId id="257" r:id="rId30"/>
    <p:sldId id="258" r:id="rId31"/>
    <p:sldId id="259" r:id="rId32"/>
    <p:sldId id="260" r:id="rId33"/>
    <p:sldId id="261" r:id="rId34"/>
    <p:sldId id="284" r:id="rId35"/>
    <p:sldId id="264" r:id="rId36"/>
    <p:sldId id="266" r:id="rId37"/>
    <p:sldId id="268" r:id="rId38"/>
    <p:sldId id="271" r:id="rId39"/>
    <p:sldId id="274" r:id="rId40"/>
    <p:sldId id="273" r:id="rId41"/>
    <p:sldId id="275" r:id="rId42"/>
    <p:sldId id="277" r:id="rId43"/>
    <p:sldId id="285" r:id="rId44"/>
    <p:sldId id="269" r:id="rId45"/>
    <p:sldId id="322" r:id="rId46"/>
    <p:sldId id="306" r:id="rId47"/>
    <p:sldId id="262" r:id="rId48"/>
    <p:sldId id="311"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829944F-E89F-1686-74B6-BA6762F2C052}" name="Edson Utazi" initials="EU" userId="S::ceu1c14@soton.ac.uk::bcb3a38a-3ad0-4389-89a4-f1f4b25807d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CA5137-0D92-4A4A-B558-359371908FCD}" v="65" dt="2026-10-12T19:32:04.7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82" d="100"/>
          <a:sy n="82" d="100"/>
        </p:scale>
        <p:origin x="720"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8/10/relationships/authors" Targe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son Utazi" userId="bcb3a38a-3ad0-4389-89a4-f1f4b25807d3" providerId="ADAL" clId="{6E6BB287-36A5-4019-B86C-EECBD7B9E602}"/>
    <pc:docChg chg="undo custSel addSld delSld modSld sldOrd modMainMaster">
      <pc:chgData name="Edson Utazi" userId="bcb3a38a-3ad0-4389-89a4-f1f4b25807d3" providerId="ADAL" clId="{6E6BB287-36A5-4019-B86C-EECBD7B9E602}" dt="2026-10-12T19:32:04.701" v="29217" actId="20577"/>
      <pc:docMkLst>
        <pc:docMk/>
      </pc:docMkLst>
      <pc:sldChg chg="modSp mod">
        <pc:chgData name="Edson Utazi" userId="bcb3a38a-3ad0-4389-89a4-f1f4b25807d3" providerId="ADAL" clId="{6E6BB287-36A5-4019-B86C-EECBD7B9E602}" dt="2026-10-07T21:32:46.917" v="27822" actId="1076"/>
        <pc:sldMkLst>
          <pc:docMk/>
          <pc:sldMk cId="2654495972" sldId="257"/>
        </pc:sldMkLst>
        <pc:spChg chg="mod">
          <ac:chgData name="Edson Utazi" userId="bcb3a38a-3ad0-4389-89a4-f1f4b25807d3" providerId="ADAL" clId="{6E6BB287-36A5-4019-B86C-EECBD7B9E602}" dt="2026-10-07T21:32:43.986" v="27821" actId="207"/>
          <ac:spMkLst>
            <pc:docMk/>
            <pc:sldMk cId="2654495972" sldId="257"/>
            <ac:spMk id="2" creationId="{1C301F02-99E8-63E7-24A9-4713FF9A989E}"/>
          </ac:spMkLst>
        </pc:spChg>
        <pc:spChg chg="mod">
          <ac:chgData name="Edson Utazi" userId="bcb3a38a-3ad0-4389-89a4-f1f4b25807d3" providerId="ADAL" clId="{6E6BB287-36A5-4019-B86C-EECBD7B9E602}" dt="2026-10-07T21:32:46.917" v="27822" actId="1076"/>
          <ac:spMkLst>
            <pc:docMk/>
            <pc:sldMk cId="2654495972" sldId="257"/>
            <ac:spMk id="3" creationId="{FC13277F-71DD-1DCB-BCA6-810492BBE864}"/>
          </ac:spMkLst>
        </pc:spChg>
      </pc:sldChg>
      <pc:sldChg chg="addSp delSp modSp mod">
        <pc:chgData name="Edson Utazi" userId="bcb3a38a-3ad0-4389-89a4-f1f4b25807d3" providerId="ADAL" clId="{6E6BB287-36A5-4019-B86C-EECBD7B9E602}" dt="2026-10-07T21:33:05.510" v="27825" actId="1076"/>
        <pc:sldMkLst>
          <pc:docMk/>
          <pc:sldMk cId="2627905391" sldId="258"/>
        </pc:sldMkLst>
        <pc:spChg chg="mod">
          <ac:chgData name="Edson Utazi" userId="bcb3a38a-3ad0-4389-89a4-f1f4b25807d3" providerId="ADAL" clId="{6E6BB287-36A5-4019-B86C-EECBD7B9E602}" dt="2026-10-07T21:33:05.510" v="27825" actId="1076"/>
          <ac:spMkLst>
            <pc:docMk/>
            <pc:sldMk cId="2627905391" sldId="258"/>
            <ac:spMk id="3" creationId="{70FF9E44-054B-A731-5EBA-F844130B7140}"/>
          </ac:spMkLst>
        </pc:spChg>
        <pc:spChg chg="add mod">
          <ac:chgData name="Edson Utazi" userId="bcb3a38a-3ad0-4389-89a4-f1f4b25807d3" providerId="ADAL" clId="{6E6BB287-36A5-4019-B86C-EECBD7B9E602}" dt="2026-10-07T21:33:00.962" v="27824"/>
          <ac:spMkLst>
            <pc:docMk/>
            <pc:sldMk cId="2627905391" sldId="258"/>
            <ac:spMk id="5" creationId="{9D8371FC-812F-FEC2-834F-84CFC8A7BAA5}"/>
          </ac:spMkLst>
        </pc:spChg>
      </pc:sldChg>
      <pc:sldChg chg="addSp delSp modSp mod">
        <pc:chgData name="Edson Utazi" userId="bcb3a38a-3ad0-4389-89a4-f1f4b25807d3" providerId="ADAL" clId="{6E6BB287-36A5-4019-B86C-EECBD7B9E602}" dt="2026-10-07T21:33:20.723" v="27829" actId="1076"/>
        <pc:sldMkLst>
          <pc:docMk/>
          <pc:sldMk cId="3104454873" sldId="259"/>
        </pc:sldMkLst>
        <pc:spChg chg="mod">
          <ac:chgData name="Edson Utazi" userId="bcb3a38a-3ad0-4389-89a4-f1f4b25807d3" providerId="ADAL" clId="{6E6BB287-36A5-4019-B86C-EECBD7B9E602}" dt="2026-10-07T21:33:20.723" v="27829" actId="1076"/>
          <ac:spMkLst>
            <pc:docMk/>
            <pc:sldMk cId="3104454873" sldId="259"/>
            <ac:spMk id="3" creationId="{D0FA53BD-E936-B7F3-E1B3-BAD85AE2897B}"/>
          </ac:spMkLst>
        </pc:spChg>
        <pc:spChg chg="add mod">
          <ac:chgData name="Edson Utazi" userId="bcb3a38a-3ad0-4389-89a4-f1f4b25807d3" providerId="ADAL" clId="{6E6BB287-36A5-4019-B86C-EECBD7B9E602}" dt="2026-10-07T21:33:12.051" v="27827"/>
          <ac:spMkLst>
            <pc:docMk/>
            <pc:sldMk cId="3104454873" sldId="259"/>
            <ac:spMk id="5" creationId="{52DDBFF2-D2B1-AF26-F3FE-C04B89A0E8EE}"/>
          </ac:spMkLst>
        </pc:spChg>
      </pc:sldChg>
      <pc:sldChg chg="addSp delSp modSp mod">
        <pc:chgData name="Edson Utazi" userId="bcb3a38a-3ad0-4389-89a4-f1f4b25807d3" providerId="ADAL" clId="{6E6BB287-36A5-4019-B86C-EECBD7B9E602}" dt="2026-10-12T19:32:04.701" v="29217" actId="20577"/>
        <pc:sldMkLst>
          <pc:docMk/>
          <pc:sldMk cId="2586324638" sldId="260"/>
        </pc:sldMkLst>
        <pc:spChg chg="mod">
          <ac:chgData name="Edson Utazi" userId="bcb3a38a-3ad0-4389-89a4-f1f4b25807d3" providerId="ADAL" clId="{6E6BB287-36A5-4019-B86C-EECBD7B9E602}" dt="2026-10-07T21:34:05.132" v="27845" actId="1076"/>
          <ac:spMkLst>
            <pc:docMk/>
            <pc:sldMk cId="2586324638" sldId="260"/>
            <ac:spMk id="2" creationId="{C150B8CA-7825-5C77-91F6-24142CD2178F}"/>
          </ac:spMkLst>
        </pc:spChg>
        <pc:spChg chg="mod">
          <ac:chgData name="Edson Utazi" userId="bcb3a38a-3ad0-4389-89a4-f1f4b25807d3" providerId="ADAL" clId="{6E6BB287-36A5-4019-B86C-EECBD7B9E602}" dt="2026-10-12T19:32:04.701" v="29217" actId="20577"/>
          <ac:spMkLst>
            <pc:docMk/>
            <pc:sldMk cId="2586324638" sldId="260"/>
            <ac:spMk id="3" creationId="{740ECB36-D503-3EB0-3DF2-1BB625EB4B59}"/>
          </ac:spMkLst>
        </pc:spChg>
      </pc:sldChg>
      <pc:sldChg chg="addSp delSp modSp mod">
        <pc:chgData name="Edson Utazi" userId="bcb3a38a-3ad0-4389-89a4-f1f4b25807d3" providerId="ADAL" clId="{6E6BB287-36A5-4019-B86C-EECBD7B9E602}" dt="2026-10-07T21:34:24.154" v="27848"/>
        <pc:sldMkLst>
          <pc:docMk/>
          <pc:sldMk cId="1231790654" sldId="261"/>
        </pc:sldMkLst>
        <pc:spChg chg="mod">
          <ac:chgData name="Edson Utazi" userId="bcb3a38a-3ad0-4389-89a4-f1f4b25807d3" providerId="ADAL" clId="{6E6BB287-36A5-4019-B86C-EECBD7B9E602}" dt="2026-09-18T15:54:34.189" v="8939" actId="12"/>
          <ac:spMkLst>
            <pc:docMk/>
            <pc:sldMk cId="1231790654" sldId="261"/>
            <ac:spMk id="3" creationId="{DFD51760-A802-0822-0A8D-F09937C93216}"/>
          </ac:spMkLst>
        </pc:spChg>
        <pc:spChg chg="add mod">
          <ac:chgData name="Edson Utazi" userId="bcb3a38a-3ad0-4389-89a4-f1f4b25807d3" providerId="ADAL" clId="{6E6BB287-36A5-4019-B86C-EECBD7B9E602}" dt="2026-09-18T15:46:09.479" v="8887" actId="1036"/>
          <ac:spMkLst>
            <pc:docMk/>
            <pc:sldMk cId="1231790654" sldId="261"/>
            <ac:spMk id="7" creationId="{D82ACADC-0412-3C09-713B-607BA8B639B6}"/>
          </ac:spMkLst>
        </pc:spChg>
        <pc:spChg chg="add mod">
          <ac:chgData name="Edson Utazi" userId="bcb3a38a-3ad0-4389-89a4-f1f4b25807d3" providerId="ADAL" clId="{6E6BB287-36A5-4019-B86C-EECBD7B9E602}" dt="2026-10-07T21:34:24.154" v="27848"/>
          <ac:spMkLst>
            <pc:docMk/>
            <pc:sldMk cId="1231790654" sldId="261"/>
            <ac:spMk id="9" creationId="{B8369F7D-A5D4-D877-2B61-F9FC41CE639B}"/>
          </ac:spMkLst>
        </pc:spChg>
        <pc:cxnChg chg="add mod">
          <ac:chgData name="Edson Utazi" userId="bcb3a38a-3ad0-4389-89a4-f1f4b25807d3" providerId="ADAL" clId="{6E6BB287-36A5-4019-B86C-EECBD7B9E602}" dt="2026-09-18T15:46:09.479" v="8887" actId="1036"/>
          <ac:cxnSpMkLst>
            <pc:docMk/>
            <pc:sldMk cId="1231790654" sldId="261"/>
            <ac:cxnSpMk id="6" creationId="{5DF2CFBD-BE35-4259-5371-D683E367CF45}"/>
          </ac:cxnSpMkLst>
        </pc:cxnChg>
      </pc:sldChg>
      <pc:sldChg chg="addSp modSp mod ord">
        <pc:chgData name="Edson Utazi" userId="bcb3a38a-3ad0-4389-89a4-f1f4b25807d3" providerId="ADAL" clId="{6E6BB287-36A5-4019-B86C-EECBD7B9E602}" dt="2026-10-07T21:39:25.208" v="27935" actId="1076"/>
        <pc:sldMkLst>
          <pc:docMk/>
          <pc:sldMk cId="2193074565" sldId="262"/>
        </pc:sldMkLst>
        <pc:spChg chg="mod">
          <ac:chgData name="Edson Utazi" userId="bcb3a38a-3ad0-4389-89a4-f1f4b25807d3" providerId="ADAL" clId="{6E6BB287-36A5-4019-B86C-EECBD7B9E602}" dt="2026-10-07T21:39:20.370" v="27934" actId="207"/>
          <ac:spMkLst>
            <pc:docMk/>
            <pc:sldMk cId="2193074565" sldId="262"/>
            <ac:spMk id="2" creationId="{C1372CBD-0DF8-F9C2-A0C5-A6AD1666E4FB}"/>
          </ac:spMkLst>
        </pc:spChg>
        <pc:spChg chg="mod">
          <ac:chgData name="Edson Utazi" userId="bcb3a38a-3ad0-4389-89a4-f1f4b25807d3" providerId="ADAL" clId="{6E6BB287-36A5-4019-B86C-EECBD7B9E602}" dt="2026-10-07T21:39:25.208" v="27935" actId="1076"/>
          <ac:spMkLst>
            <pc:docMk/>
            <pc:sldMk cId="2193074565" sldId="262"/>
            <ac:spMk id="3" creationId="{493A584A-A13E-DBC8-F39E-9712B052E964}"/>
          </ac:spMkLst>
        </pc:spChg>
        <pc:spChg chg="add mod">
          <ac:chgData name="Edson Utazi" userId="bcb3a38a-3ad0-4389-89a4-f1f4b25807d3" providerId="ADAL" clId="{6E6BB287-36A5-4019-B86C-EECBD7B9E602}" dt="2026-10-07T16:20:15.410" v="26669" actId="1076"/>
          <ac:spMkLst>
            <pc:docMk/>
            <pc:sldMk cId="2193074565" sldId="262"/>
            <ac:spMk id="4" creationId="{3CBE986F-EA33-D88D-E3E5-DFD3D6C8816B}"/>
          </ac:spMkLst>
        </pc:spChg>
      </pc:sldChg>
      <pc:sldChg chg="addSp delSp modSp new mod">
        <pc:chgData name="Edson Utazi" userId="bcb3a38a-3ad0-4389-89a4-f1f4b25807d3" providerId="ADAL" clId="{6E6BB287-36A5-4019-B86C-EECBD7B9E602}" dt="2026-10-07T21:35:06.529" v="27862" actId="1076"/>
        <pc:sldMkLst>
          <pc:docMk/>
          <pc:sldMk cId="3459587962" sldId="264"/>
        </pc:sldMkLst>
        <pc:spChg chg="mod">
          <ac:chgData name="Edson Utazi" userId="bcb3a38a-3ad0-4389-89a4-f1f4b25807d3" providerId="ADAL" clId="{6E6BB287-36A5-4019-B86C-EECBD7B9E602}" dt="2026-10-07T21:35:06.529" v="27862" actId="1076"/>
          <ac:spMkLst>
            <pc:docMk/>
            <pc:sldMk cId="3459587962" sldId="264"/>
            <ac:spMk id="3" creationId="{F94BE285-6373-37FC-0495-7ABEEBB3FAD3}"/>
          </ac:spMkLst>
        </pc:spChg>
        <pc:spChg chg="add mod">
          <ac:chgData name="Edson Utazi" userId="bcb3a38a-3ad0-4389-89a4-f1f4b25807d3" providerId="ADAL" clId="{6E6BB287-36A5-4019-B86C-EECBD7B9E602}" dt="2026-10-07T21:34:47.351" v="27854"/>
          <ac:spMkLst>
            <pc:docMk/>
            <pc:sldMk cId="3459587962" sldId="264"/>
            <ac:spMk id="7" creationId="{D6ED1DC8-4AAE-1B3A-764B-EB5E9D57CF92}"/>
          </ac:spMkLst>
        </pc:spChg>
      </pc:sldChg>
      <pc:sldChg chg="addSp delSp modSp new mod">
        <pc:chgData name="Edson Utazi" userId="bcb3a38a-3ad0-4389-89a4-f1f4b25807d3" providerId="ADAL" clId="{6E6BB287-36A5-4019-B86C-EECBD7B9E602}" dt="2026-10-07T21:35:26.718" v="27866" actId="1076"/>
        <pc:sldMkLst>
          <pc:docMk/>
          <pc:sldMk cId="2381632953" sldId="266"/>
        </pc:sldMkLst>
        <pc:spChg chg="mod">
          <ac:chgData name="Edson Utazi" userId="bcb3a38a-3ad0-4389-89a4-f1f4b25807d3" providerId="ADAL" clId="{6E6BB287-36A5-4019-B86C-EECBD7B9E602}" dt="2026-10-07T21:35:26.718" v="27866" actId="1076"/>
          <ac:spMkLst>
            <pc:docMk/>
            <pc:sldMk cId="2381632953" sldId="266"/>
            <ac:spMk id="3" creationId="{5FAC0161-65EC-A399-6072-184362059DB7}"/>
          </ac:spMkLst>
        </pc:spChg>
        <pc:spChg chg="add mod">
          <ac:chgData name="Edson Utazi" userId="bcb3a38a-3ad0-4389-89a4-f1f4b25807d3" providerId="ADAL" clId="{6E6BB287-36A5-4019-B86C-EECBD7B9E602}" dt="2026-10-07T21:35:21.512" v="27865"/>
          <ac:spMkLst>
            <pc:docMk/>
            <pc:sldMk cId="2381632953" sldId="266"/>
            <ac:spMk id="7" creationId="{7F846113-9605-5D2E-31AB-35B5115ED19B}"/>
          </ac:spMkLst>
        </pc:spChg>
      </pc:sldChg>
      <pc:sldChg chg="modSp new del mod ord">
        <pc:chgData name="Edson Utazi" userId="bcb3a38a-3ad0-4389-89a4-f1f4b25807d3" providerId="ADAL" clId="{6E6BB287-36A5-4019-B86C-EECBD7B9E602}" dt="2026-10-11T21:19:30.516" v="29054" actId="2696"/>
        <pc:sldMkLst>
          <pc:docMk/>
          <pc:sldMk cId="68859822" sldId="267"/>
        </pc:sldMkLst>
      </pc:sldChg>
      <pc:sldChg chg="addSp modSp new mod">
        <pc:chgData name="Edson Utazi" userId="bcb3a38a-3ad0-4389-89a4-f1f4b25807d3" providerId="ADAL" clId="{6E6BB287-36A5-4019-B86C-EECBD7B9E602}" dt="2026-10-07T21:35:53.859" v="27872" actId="1076"/>
        <pc:sldMkLst>
          <pc:docMk/>
          <pc:sldMk cId="1743905414" sldId="268"/>
        </pc:sldMkLst>
        <pc:spChg chg="mod">
          <ac:chgData name="Edson Utazi" userId="bcb3a38a-3ad0-4389-89a4-f1f4b25807d3" providerId="ADAL" clId="{6E6BB287-36A5-4019-B86C-EECBD7B9E602}" dt="2026-10-07T21:35:44.359" v="27870" actId="207"/>
          <ac:spMkLst>
            <pc:docMk/>
            <pc:sldMk cId="1743905414" sldId="268"/>
            <ac:spMk id="2" creationId="{B8D873E4-AC3B-420A-35B7-A6509BDEB657}"/>
          </ac:spMkLst>
        </pc:spChg>
        <pc:spChg chg="mod">
          <ac:chgData name="Edson Utazi" userId="bcb3a38a-3ad0-4389-89a4-f1f4b25807d3" providerId="ADAL" clId="{6E6BB287-36A5-4019-B86C-EECBD7B9E602}" dt="2026-10-07T21:35:49.571" v="27871" actId="1076"/>
          <ac:spMkLst>
            <pc:docMk/>
            <pc:sldMk cId="1743905414" sldId="268"/>
            <ac:spMk id="3" creationId="{5C44CAE3-A6AA-EA3E-64C2-16A86EB32E1D}"/>
          </ac:spMkLst>
        </pc:spChg>
        <pc:spChg chg="add mod">
          <ac:chgData name="Edson Utazi" userId="bcb3a38a-3ad0-4389-89a4-f1f4b25807d3" providerId="ADAL" clId="{6E6BB287-36A5-4019-B86C-EECBD7B9E602}" dt="2026-10-07T21:35:53.859" v="27872" actId="1076"/>
          <ac:spMkLst>
            <pc:docMk/>
            <pc:sldMk cId="1743905414" sldId="268"/>
            <ac:spMk id="4" creationId="{D083C4BF-84FC-AC4E-6014-8C15B69A8DB2}"/>
          </ac:spMkLst>
        </pc:spChg>
      </pc:sldChg>
      <pc:sldChg chg="addSp delSp modSp new mod">
        <pc:chgData name="Edson Utazi" userId="bcb3a38a-3ad0-4389-89a4-f1f4b25807d3" providerId="ADAL" clId="{6E6BB287-36A5-4019-B86C-EECBD7B9E602}" dt="2026-10-08T11:54:14.667" v="28898" actId="20577"/>
        <pc:sldMkLst>
          <pc:docMk/>
          <pc:sldMk cId="992726252" sldId="269"/>
        </pc:sldMkLst>
        <pc:spChg chg="mod">
          <ac:chgData name="Edson Utazi" userId="bcb3a38a-3ad0-4389-89a4-f1f4b25807d3" providerId="ADAL" clId="{6E6BB287-36A5-4019-B86C-EECBD7B9E602}" dt="2026-10-07T21:38:10.687" v="27917" actId="14100"/>
          <ac:spMkLst>
            <pc:docMk/>
            <pc:sldMk cId="992726252" sldId="269"/>
            <ac:spMk id="2" creationId="{70B62F74-F2DF-7C6E-4D63-124DF11CCDE6}"/>
          </ac:spMkLst>
        </pc:spChg>
        <pc:spChg chg="add mod">
          <ac:chgData name="Edson Utazi" userId="bcb3a38a-3ad0-4389-89a4-f1f4b25807d3" providerId="ADAL" clId="{6E6BB287-36A5-4019-B86C-EECBD7B9E602}" dt="2026-10-08T07:15:08.776" v="28806" actId="1076"/>
          <ac:spMkLst>
            <pc:docMk/>
            <pc:sldMk cId="992726252" sldId="269"/>
            <ac:spMk id="5" creationId="{03DEF890-D2FF-12C9-2927-F6B551DCBEED}"/>
          </ac:spMkLst>
        </pc:spChg>
        <pc:spChg chg="add mod">
          <ac:chgData name="Edson Utazi" userId="bcb3a38a-3ad0-4389-89a4-f1f4b25807d3" providerId="ADAL" clId="{6E6BB287-36A5-4019-B86C-EECBD7B9E602}" dt="2026-10-08T07:15:08.776" v="28806" actId="1076"/>
          <ac:spMkLst>
            <pc:docMk/>
            <pc:sldMk cId="992726252" sldId="269"/>
            <ac:spMk id="7" creationId="{0E4BA02F-2C95-9537-E520-579A22E3EA5F}"/>
          </ac:spMkLst>
        </pc:spChg>
        <pc:spChg chg="add mod">
          <ac:chgData name="Edson Utazi" userId="bcb3a38a-3ad0-4389-89a4-f1f4b25807d3" providerId="ADAL" clId="{6E6BB287-36A5-4019-B86C-EECBD7B9E602}" dt="2026-10-08T07:15:08.776" v="28806" actId="1076"/>
          <ac:spMkLst>
            <pc:docMk/>
            <pc:sldMk cId="992726252" sldId="269"/>
            <ac:spMk id="9" creationId="{D4FC9922-439C-A52F-8C97-481A9DEF1E6A}"/>
          </ac:spMkLst>
        </pc:spChg>
        <pc:spChg chg="add mod">
          <ac:chgData name="Edson Utazi" userId="bcb3a38a-3ad0-4389-89a4-f1f4b25807d3" providerId="ADAL" clId="{6E6BB287-36A5-4019-B86C-EECBD7B9E602}" dt="2026-10-08T07:15:08.776" v="28806" actId="1076"/>
          <ac:spMkLst>
            <pc:docMk/>
            <pc:sldMk cId="992726252" sldId="269"/>
            <ac:spMk id="11" creationId="{6BED8E91-5E6F-DB1A-57AE-DB515DAB1358}"/>
          </ac:spMkLst>
        </pc:spChg>
        <pc:spChg chg="add mod">
          <ac:chgData name="Edson Utazi" userId="bcb3a38a-3ad0-4389-89a4-f1f4b25807d3" providerId="ADAL" clId="{6E6BB287-36A5-4019-B86C-EECBD7B9E602}" dt="2026-10-08T07:15:08.776" v="28806" actId="1076"/>
          <ac:spMkLst>
            <pc:docMk/>
            <pc:sldMk cId="992726252" sldId="269"/>
            <ac:spMk id="13" creationId="{A6D27143-E344-5E96-2FEE-919049423D91}"/>
          </ac:spMkLst>
        </pc:spChg>
        <pc:spChg chg="add mod">
          <ac:chgData name="Edson Utazi" userId="bcb3a38a-3ad0-4389-89a4-f1f4b25807d3" providerId="ADAL" clId="{6E6BB287-36A5-4019-B86C-EECBD7B9E602}" dt="2026-10-08T07:15:08.776" v="28806" actId="1076"/>
          <ac:spMkLst>
            <pc:docMk/>
            <pc:sldMk cId="992726252" sldId="269"/>
            <ac:spMk id="15" creationId="{1C2A8A67-1E9D-A9F3-6C8C-8C1FE69EE1A1}"/>
          </ac:spMkLst>
        </pc:spChg>
        <pc:spChg chg="add mod">
          <ac:chgData name="Edson Utazi" userId="bcb3a38a-3ad0-4389-89a4-f1f4b25807d3" providerId="ADAL" clId="{6E6BB287-36A5-4019-B86C-EECBD7B9E602}" dt="2026-10-08T06:45:11.324" v="28805" actId="1076"/>
          <ac:spMkLst>
            <pc:docMk/>
            <pc:sldMk cId="992726252" sldId="269"/>
            <ac:spMk id="17" creationId="{FF479939-10BD-9BC3-0446-E04BC6691C09}"/>
          </ac:spMkLst>
        </pc:spChg>
        <pc:spChg chg="add mod">
          <ac:chgData name="Edson Utazi" userId="bcb3a38a-3ad0-4389-89a4-f1f4b25807d3" providerId="ADAL" clId="{6E6BB287-36A5-4019-B86C-EECBD7B9E602}" dt="2026-10-08T11:54:14.667" v="28898" actId="20577"/>
          <ac:spMkLst>
            <pc:docMk/>
            <pc:sldMk cId="992726252" sldId="269"/>
            <ac:spMk id="18" creationId="{1A43F09F-616F-CCF6-416E-75E6AC2C7A78}"/>
          </ac:spMkLst>
        </pc:spChg>
      </pc:sldChg>
      <pc:sldChg chg="addSp delSp modSp new mod">
        <pc:chgData name="Edson Utazi" userId="bcb3a38a-3ad0-4389-89a4-f1f4b25807d3" providerId="ADAL" clId="{6E6BB287-36A5-4019-B86C-EECBD7B9E602}" dt="2026-10-07T21:36:13.371" v="27876" actId="1076"/>
        <pc:sldMkLst>
          <pc:docMk/>
          <pc:sldMk cId="1955224988" sldId="271"/>
        </pc:sldMkLst>
        <pc:spChg chg="mod">
          <ac:chgData name="Edson Utazi" userId="bcb3a38a-3ad0-4389-89a4-f1f4b25807d3" providerId="ADAL" clId="{6E6BB287-36A5-4019-B86C-EECBD7B9E602}" dt="2026-10-07T21:36:13.371" v="27876" actId="1076"/>
          <ac:spMkLst>
            <pc:docMk/>
            <pc:sldMk cId="1955224988" sldId="271"/>
            <ac:spMk id="3" creationId="{E59A500F-3854-8083-49DE-7F05A86DC05C}"/>
          </ac:spMkLst>
        </pc:spChg>
        <pc:spChg chg="add mod">
          <ac:chgData name="Edson Utazi" userId="bcb3a38a-3ad0-4389-89a4-f1f4b25807d3" providerId="ADAL" clId="{6E6BB287-36A5-4019-B86C-EECBD7B9E602}" dt="2026-09-17T18:34:19.994" v="6450" actId="113"/>
          <ac:spMkLst>
            <pc:docMk/>
            <pc:sldMk cId="1955224988" sldId="271"/>
            <ac:spMk id="5" creationId="{6EDA6022-7AA8-AF51-0932-74AD92373C2C}"/>
          </ac:spMkLst>
        </pc:spChg>
        <pc:spChg chg="add mod">
          <ac:chgData name="Edson Utazi" userId="bcb3a38a-3ad0-4389-89a4-f1f4b25807d3" providerId="ADAL" clId="{6E6BB287-36A5-4019-B86C-EECBD7B9E602}" dt="2026-10-07T21:36:08.441" v="27875"/>
          <ac:spMkLst>
            <pc:docMk/>
            <pc:sldMk cId="1955224988" sldId="271"/>
            <ac:spMk id="8" creationId="{02DCAA6D-AA34-C6F3-E8EA-8495811E7611}"/>
          </ac:spMkLst>
        </pc:spChg>
      </pc:sldChg>
      <pc:sldChg chg="addSp delSp modSp new mod">
        <pc:chgData name="Edson Utazi" userId="bcb3a38a-3ad0-4389-89a4-f1f4b25807d3" providerId="ADAL" clId="{6E6BB287-36A5-4019-B86C-EECBD7B9E602}" dt="2026-10-11T22:26:39.167" v="29157" actId="1076"/>
        <pc:sldMkLst>
          <pc:docMk/>
          <pc:sldMk cId="2930974717" sldId="273"/>
        </pc:sldMkLst>
        <pc:spChg chg="mod">
          <ac:chgData name="Edson Utazi" userId="bcb3a38a-3ad0-4389-89a4-f1f4b25807d3" providerId="ADAL" clId="{6E6BB287-36A5-4019-B86C-EECBD7B9E602}" dt="2026-10-11T22:18:11.795" v="29083" actId="207"/>
          <ac:spMkLst>
            <pc:docMk/>
            <pc:sldMk cId="2930974717" sldId="273"/>
            <ac:spMk id="3" creationId="{63457CF2-8326-9C82-0FA9-D04EFB748042}"/>
          </ac:spMkLst>
        </pc:spChg>
        <pc:spChg chg="add mod">
          <ac:chgData name="Edson Utazi" userId="bcb3a38a-3ad0-4389-89a4-f1f4b25807d3" providerId="ADAL" clId="{6E6BB287-36A5-4019-B86C-EECBD7B9E602}" dt="2026-09-18T08:54:45.040" v="7325" actId="1076"/>
          <ac:spMkLst>
            <pc:docMk/>
            <pc:sldMk cId="2930974717" sldId="273"/>
            <ac:spMk id="5" creationId="{B9D51DB6-DEA4-53E5-4DD1-7EDEC377A95B}"/>
          </ac:spMkLst>
        </pc:spChg>
        <pc:spChg chg="add del mod">
          <ac:chgData name="Edson Utazi" userId="bcb3a38a-3ad0-4389-89a4-f1f4b25807d3" providerId="ADAL" clId="{6E6BB287-36A5-4019-B86C-EECBD7B9E602}" dt="2026-10-11T21:00:55.926" v="29053" actId="478"/>
          <ac:spMkLst>
            <pc:docMk/>
            <pc:sldMk cId="2930974717" sldId="273"/>
            <ac:spMk id="6" creationId="{300DB3D0-4F69-6C1F-4B29-CAD6B7C036AF}"/>
          </ac:spMkLst>
        </pc:spChg>
        <pc:spChg chg="add mod">
          <ac:chgData name="Edson Utazi" userId="bcb3a38a-3ad0-4389-89a4-f1f4b25807d3" providerId="ADAL" clId="{6E6BB287-36A5-4019-B86C-EECBD7B9E602}" dt="2026-10-07T21:36:39.831" v="27891" actId="20577"/>
          <ac:spMkLst>
            <pc:docMk/>
            <pc:sldMk cId="2930974717" sldId="273"/>
            <ac:spMk id="9" creationId="{A5F50DC8-C23E-44AB-51BC-12A6650A9BB5}"/>
          </ac:spMkLst>
        </pc:spChg>
        <pc:spChg chg="add mod">
          <ac:chgData name="Edson Utazi" userId="bcb3a38a-3ad0-4389-89a4-f1f4b25807d3" providerId="ADAL" clId="{6E6BB287-36A5-4019-B86C-EECBD7B9E602}" dt="2026-10-11T22:26:39.167" v="29157" actId="1076"/>
          <ac:spMkLst>
            <pc:docMk/>
            <pc:sldMk cId="2930974717" sldId="273"/>
            <ac:spMk id="11" creationId="{9BCAD435-21B7-F56F-A1E6-4411C127410F}"/>
          </ac:spMkLst>
        </pc:spChg>
        <pc:cxnChg chg="add">
          <ac:chgData name="Edson Utazi" userId="bcb3a38a-3ad0-4389-89a4-f1f4b25807d3" providerId="ADAL" clId="{6E6BB287-36A5-4019-B86C-EECBD7B9E602}" dt="2026-10-11T22:25:57.821" v="29126" actId="11529"/>
          <ac:cxnSpMkLst>
            <pc:docMk/>
            <pc:sldMk cId="2930974717" sldId="273"/>
            <ac:cxnSpMk id="7" creationId="{D4B3499D-F800-F396-9EFC-EB6BD63A8447}"/>
          </ac:cxnSpMkLst>
        </pc:cxnChg>
        <pc:cxnChg chg="add mod">
          <ac:chgData name="Edson Utazi" userId="bcb3a38a-3ad0-4389-89a4-f1f4b25807d3" providerId="ADAL" clId="{6E6BB287-36A5-4019-B86C-EECBD7B9E602}" dt="2026-10-11T22:26:10.363" v="29129" actId="14100"/>
          <ac:cxnSpMkLst>
            <pc:docMk/>
            <pc:sldMk cId="2930974717" sldId="273"/>
            <ac:cxnSpMk id="8" creationId="{E101BCBB-C962-90EF-B147-23DCD566E8A0}"/>
          </ac:cxnSpMkLst>
        </pc:cxnChg>
      </pc:sldChg>
      <pc:sldChg chg="addSp delSp modSp new mod">
        <pc:chgData name="Edson Utazi" userId="bcb3a38a-3ad0-4389-89a4-f1f4b25807d3" providerId="ADAL" clId="{6E6BB287-36A5-4019-B86C-EECBD7B9E602}" dt="2026-10-11T22:24:52.134" v="29125" actId="14100"/>
        <pc:sldMkLst>
          <pc:docMk/>
          <pc:sldMk cId="1099569579" sldId="274"/>
        </pc:sldMkLst>
        <pc:spChg chg="mod">
          <ac:chgData name="Edson Utazi" userId="bcb3a38a-3ad0-4389-89a4-f1f4b25807d3" providerId="ADAL" clId="{6E6BB287-36A5-4019-B86C-EECBD7B9E602}" dt="2026-10-11T22:14:10.498" v="29080" actId="207"/>
          <ac:spMkLst>
            <pc:docMk/>
            <pc:sldMk cId="1099569579" sldId="274"/>
            <ac:spMk id="3" creationId="{E3DB4934-557B-230A-B95A-865C4A9A3B13}"/>
          </ac:spMkLst>
        </pc:spChg>
        <pc:spChg chg="add mod">
          <ac:chgData name="Edson Utazi" userId="bcb3a38a-3ad0-4389-89a4-f1f4b25807d3" providerId="ADAL" clId="{6E6BB287-36A5-4019-B86C-EECBD7B9E602}" dt="2026-09-17T18:55:33.431" v="6524" actId="1076"/>
          <ac:spMkLst>
            <pc:docMk/>
            <pc:sldMk cId="1099569579" sldId="274"/>
            <ac:spMk id="5" creationId="{67C63929-8DFA-DDFF-67E9-BFBCCB683C90}"/>
          </ac:spMkLst>
        </pc:spChg>
        <pc:spChg chg="add mod">
          <ac:chgData name="Edson Utazi" userId="bcb3a38a-3ad0-4389-89a4-f1f4b25807d3" providerId="ADAL" clId="{6E6BB287-36A5-4019-B86C-EECBD7B9E602}" dt="2026-10-11T22:24:40.065" v="29124" actId="692"/>
          <ac:spMkLst>
            <pc:docMk/>
            <pc:sldMk cId="1099569579" sldId="274"/>
            <ac:spMk id="7" creationId="{4E504794-D02B-50C3-4914-DC4B172D9DAE}"/>
          </ac:spMkLst>
        </pc:spChg>
        <pc:spChg chg="add mod">
          <ac:chgData name="Edson Utazi" userId="bcb3a38a-3ad0-4389-89a4-f1f4b25807d3" providerId="ADAL" clId="{6E6BB287-36A5-4019-B86C-EECBD7B9E602}" dt="2026-10-07T21:36:23.357" v="27879"/>
          <ac:spMkLst>
            <pc:docMk/>
            <pc:sldMk cId="1099569579" sldId="274"/>
            <ac:spMk id="8" creationId="{10D68EA0-3A69-F1BD-64E0-291B9BF57133}"/>
          </ac:spMkLst>
        </pc:spChg>
        <pc:cxnChg chg="add mod">
          <ac:chgData name="Edson Utazi" userId="bcb3a38a-3ad0-4389-89a4-f1f4b25807d3" providerId="ADAL" clId="{6E6BB287-36A5-4019-B86C-EECBD7B9E602}" dt="2026-10-11T22:24:52.134" v="29125" actId="14100"/>
          <ac:cxnSpMkLst>
            <pc:docMk/>
            <pc:sldMk cId="1099569579" sldId="274"/>
            <ac:cxnSpMk id="6" creationId="{9BB7C94F-8757-79BD-F9E7-E79EAD21A22E}"/>
          </ac:cxnSpMkLst>
        </pc:cxnChg>
      </pc:sldChg>
      <pc:sldChg chg="addSp delSp modSp new mod modNotesTx">
        <pc:chgData name="Edson Utazi" userId="bcb3a38a-3ad0-4389-89a4-f1f4b25807d3" providerId="ADAL" clId="{6E6BB287-36A5-4019-B86C-EECBD7B9E602}" dt="2026-10-11T22:39:54.292" v="29194" actId="113"/>
        <pc:sldMkLst>
          <pc:docMk/>
          <pc:sldMk cId="1829817678" sldId="275"/>
        </pc:sldMkLst>
        <pc:spChg chg="mod">
          <ac:chgData name="Edson Utazi" userId="bcb3a38a-3ad0-4389-89a4-f1f4b25807d3" providerId="ADAL" clId="{6E6BB287-36A5-4019-B86C-EECBD7B9E602}" dt="2026-10-11T22:39:54.292" v="29194" actId="113"/>
          <ac:spMkLst>
            <pc:docMk/>
            <pc:sldMk cId="1829817678" sldId="275"/>
            <ac:spMk id="3" creationId="{24425193-3445-76B6-BB90-4B70A46F1B24}"/>
          </ac:spMkLst>
        </pc:spChg>
        <pc:spChg chg="add mod">
          <ac:chgData name="Edson Utazi" userId="bcb3a38a-3ad0-4389-89a4-f1f4b25807d3" providerId="ADAL" clId="{6E6BB287-36A5-4019-B86C-EECBD7B9E602}" dt="2026-10-07T21:36:49.798" v="27894"/>
          <ac:spMkLst>
            <pc:docMk/>
            <pc:sldMk cId="1829817678" sldId="275"/>
            <ac:spMk id="7" creationId="{A3977534-6FB3-EA41-9A4D-8191E243D08F}"/>
          </ac:spMkLst>
        </pc:spChg>
      </pc:sldChg>
      <pc:sldChg chg="addSp delSp modSp new mod">
        <pc:chgData name="Edson Utazi" userId="bcb3a38a-3ad0-4389-89a4-f1f4b25807d3" providerId="ADAL" clId="{6E6BB287-36A5-4019-B86C-EECBD7B9E602}" dt="2026-10-07T21:36:58.217" v="27897"/>
        <pc:sldMkLst>
          <pc:docMk/>
          <pc:sldMk cId="3413430994" sldId="277"/>
        </pc:sldMkLst>
        <pc:spChg chg="mod">
          <ac:chgData name="Edson Utazi" userId="bcb3a38a-3ad0-4389-89a4-f1f4b25807d3" providerId="ADAL" clId="{6E6BB287-36A5-4019-B86C-EECBD7B9E602}" dt="2026-09-22T17:46:25.496" v="21090" actId="20577"/>
          <ac:spMkLst>
            <pc:docMk/>
            <pc:sldMk cId="3413430994" sldId="277"/>
            <ac:spMk id="3" creationId="{4C430CD5-9E62-94E1-86DD-63CF88621161}"/>
          </ac:spMkLst>
        </pc:spChg>
        <pc:spChg chg="add mod">
          <ac:chgData name="Edson Utazi" userId="bcb3a38a-3ad0-4389-89a4-f1f4b25807d3" providerId="ADAL" clId="{6E6BB287-36A5-4019-B86C-EECBD7B9E602}" dt="2026-10-07T21:36:58.217" v="27897"/>
          <ac:spMkLst>
            <pc:docMk/>
            <pc:sldMk cId="3413430994" sldId="277"/>
            <ac:spMk id="7" creationId="{4DD520C8-1510-388F-1583-2151A1590301}"/>
          </ac:spMkLst>
        </pc:spChg>
      </pc:sldChg>
      <pc:sldChg chg="addSp delSp modSp new mod">
        <pc:chgData name="Edson Utazi" userId="bcb3a38a-3ad0-4389-89a4-f1f4b25807d3" providerId="ADAL" clId="{6E6BB287-36A5-4019-B86C-EECBD7B9E602}" dt="2026-10-07T21:13:01.768" v="27604"/>
        <pc:sldMkLst>
          <pc:docMk/>
          <pc:sldMk cId="2611253256" sldId="278"/>
        </pc:sldMkLst>
        <pc:spChg chg="mod">
          <ac:chgData name="Edson Utazi" userId="bcb3a38a-3ad0-4389-89a4-f1f4b25807d3" providerId="ADAL" clId="{6E6BB287-36A5-4019-B86C-EECBD7B9E602}" dt="2026-10-07T10:04:02.393" v="23781" actId="113"/>
          <ac:spMkLst>
            <pc:docMk/>
            <pc:sldMk cId="2611253256" sldId="278"/>
            <ac:spMk id="3" creationId="{0A62F55B-2125-4227-6C84-656AEEEA9D97}"/>
          </ac:spMkLst>
        </pc:spChg>
        <pc:spChg chg="add mod">
          <ac:chgData name="Edson Utazi" userId="bcb3a38a-3ad0-4389-89a4-f1f4b25807d3" providerId="ADAL" clId="{6E6BB287-36A5-4019-B86C-EECBD7B9E602}" dt="2026-10-07T21:13:01.768" v="27604"/>
          <ac:spMkLst>
            <pc:docMk/>
            <pc:sldMk cId="2611253256" sldId="278"/>
            <ac:spMk id="6" creationId="{A240172D-FAFD-6C9C-7A5D-2141708216D8}"/>
          </ac:spMkLst>
        </pc:spChg>
      </pc:sldChg>
      <pc:sldChg chg="addSp delSp modSp new mod">
        <pc:chgData name="Edson Utazi" userId="bcb3a38a-3ad0-4389-89a4-f1f4b25807d3" providerId="ADAL" clId="{6E6BB287-36A5-4019-B86C-EECBD7B9E602}" dt="2026-10-07T21:14:09.834" v="27616" actId="1076"/>
        <pc:sldMkLst>
          <pc:docMk/>
          <pc:sldMk cId="425356146" sldId="279"/>
        </pc:sldMkLst>
        <pc:spChg chg="mod">
          <ac:chgData name="Edson Utazi" userId="bcb3a38a-3ad0-4389-89a4-f1f4b25807d3" providerId="ADAL" clId="{6E6BB287-36A5-4019-B86C-EECBD7B9E602}" dt="2026-10-07T21:14:03.556" v="27614" actId="1076"/>
          <ac:spMkLst>
            <pc:docMk/>
            <pc:sldMk cId="425356146" sldId="279"/>
            <ac:spMk id="3" creationId="{5E038467-61CF-99B8-AB52-D46674DD9E00}"/>
          </ac:spMkLst>
        </pc:spChg>
        <pc:spChg chg="add mod">
          <ac:chgData name="Edson Utazi" userId="bcb3a38a-3ad0-4389-89a4-f1f4b25807d3" providerId="ADAL" clId="{6E6BB287-36A5-4019-B86C-EECBD7B9E602}" dt="2026-10-07T21:14:00.378" v="27613" actId="14100"/>
          <ac:spMkLst>
            <pc:docMk/>
            <pc:sldMk cId="425356146" sldId="279"/>
            <ac:spMk id="4" creationId="{45EB1227-0C62-BA7F-71C5-E8D65122099D}"/>
          </ac:spMkLst>
        </pc:spChg>
        <pc:spChg chg="add mod">
          <ac:chgData name="Edson Utazi" userId="bcb3a38a-3ad0-4389-89a4-f1f4b25807d3" providerId="ADAL" clId="{6E6BB287-36A5-4019-B86C-EECBD7B9E602}" dt="2026-10-07T21:14:09.834" v="27616" actId="1076"/>
          <ac:spMkLst>
            <pc:docMk/>
            <pc:sldMk cId="425356146" sldId="279"/>
            <ac:spMk id="7" creationId="{2C0318E4-D72E-FB32-7AF5-484B85C71F70}"/>
          </ac:spMkLst>
        </pc:spChg>
        <pc:picChg chg="add mod">
          <ac:chgData name="Edson Utazi" userId="bcb3a38a-3ad0-4389-89a4-f1f4b25807d3" providerId="ADAL" clId="{6E6BB287-36A5-4019-B86C-EECBD7B9E602}" dt="2026-10-07T21:14:06.082" v="27615" actId="1076"/>
          <ac:picMkLst>
            <pc:docMk/>
            <pc:sldMk cId="425356146" sldId="279"/>
            <ac:picMk id="5" creationId="{00710A87-D982-B336-13BB-55574B68EACB}"/>
          </ac:picMkLst>
        </pc:picChg>
      </pc:sldChg>
      <pc:sldChg chg="addSp delSp modSp new mod">
        <pc:chgData name="Edson Utazi" userId="bcb3a38a-3ad0-4389-89a4-f1f4b25807d3" providerId="ADAL" clId="{6E6BB287-36A5-4019-B86C-EECBD7B9E602}" dt="2026-10-07T21:16:15.195" v="27639" actId="1076"/>
        <pc:sldMkLst>
          <pc:docMk/>
          <pc:sldMk cId="2357298708" sldId="280"/>
        </pc:sldMkLst>
        <pc:spChg chg="mod">
          <ac:chgData name="Edson Utazi" userId="bcb3a38a-3ad0-4389-89a4-f1f4b25807d3" providerId="ADAL" clId="{6E6BB287-36A5-4019-B86C-EECBD7B9E602}" dt="2026-10-07T21:16:15.195" v="27639" actId="1076"/>
          <ac:spMkLst>
            <pc:docMk/>
            <pc:sldMk cId="2357298708" sldId="280"/>
            <ac:spMk id="3" creationId="{50DCCB7F-9A87-F68E-6852-46D237456EF6}"/>
          </ac:spMkLst>
        </pc:spChg>
        <pc:spChg chg="add mod">
          <ac:chgData name="Edson Utazi" userId="bcb3a38a-3ad0-4389-89a4-f1f4b25807d3" providerId="ADAL" clId="{6E6BB287-36A5-4019-B86C-EECBD7B9E602}" dt="2026-10-07T21:14:24.318" v="27619"/>
          <ac:spMkLst>
            <pc:docMk/>
            <pc:sldMk cId="2357298708" sldId="280"/>
            <ac:spMk id="6" creationId="{6E443AEA-6B0C-FB21-9368-1F3C2F53F1FA}"/>
          </ac:spMkLst>
        </pc:spChg>
      </pc:sldChg>
      <pc:sldChg chg="addSp delSp modSp new mod">
        <pc:chgData name="Edson Utazi" userId="bcb3a38a-3ad0-4389-89a4-f1f4b25807d3" providerId="ADAL" clId="{6E6BB287-36A5-4019-B86C-EECBD7B9E602}" dt="2026-10-07T21:17:50.258" v="27672" actId="20577"/>
        <pc:sldMkLst>
          <pc:docMk/>
          <pc:sldMk cId="965456773" sldId="281"/>
        </pc:sldMkLst>
        <pc:spChg chg="mod">
          <ac:chgData name="Edson Utazi" userId="bcb3a38a-3ad0-4389-89a4-f1f4b25807d3" providerId="ADAL" clId="{6E6BB287-36A5-4019-B86C-EECBD7B9E602}" dt="2026-09-20T15:37:38.227" v="11987" actId="20577"/>
          <ac:spMkLst>
            <pc:docMk/>
            <pc:sldMk cId="965456773" sldId="281"/>
            <ac:spMk id="3" creationId="{83C96C03-B26A-AC84-F521-F1DE13220A07}"/>
          </ac:spMkLst>
        </pc:spChg>
        <pc:spChg chg="add mod">
          <ac:chgData name="Edson Utazi" userId="bcb3a38a-3ad0-4389-89a4-f1f4b25807d3" providerId="ADAL" clId="{6E6BB287-36A5-4019-B86C-EECBD7B9E602}" dt="2026-09-20T15:41:48.831" v="12010" actId="207"/>
          <ac:spMkLst>
            <pc:docMk/>
            <pc:sldMk cId="965456773" sldId="281"/>
            <ac:spMk id="7" creationId="{0418F05E-6A98-B608-8ADF-0EECC97DDB3A}"/>
          </ac:spMkLst>
        </pc:spChg>
        <pc:spChg chg="add mod">
          <ac:chgData name="Edson Utazi" userId="bcb3a38a-3ad0-4389-89a4-f1f4b25807d3" providerId="ADAL" clId="{6E6BB287-36A5-4019-B86C-EECBD7B9E602}" dt="2026-10-07T21:17:50.258" v="27672" actId="20577"/>
          <ac:spMkLst>
            <pc:docMk/>
            <pc:sldMk cId="965456773" sldId="281"/>
            <ac:spMk id="8" creationId="{8EE87DA9-8CEB-6F4E-AA60-F16DE8AA7556}"/>
          </ac:spMkLst>
        </pc:spChg>
        <pc:spChg chg="add mod">
          <ac:chgData name="Edson Utazi" userId="bcb3a38a-3ad0-4389-89a4-f1f4b25807d3" providerId="ADAL" clId="{6E6BB287-36A5-4019-B86C-EECBD7B9E602}" dt="2026-09-20T15:42:15.339" v="12026" actId="14100"/>
          <ac:spMkLst>
            <pc:docMk/>
            <pc:sldMk cId="965456773" sldId="281"/>
            <ac:spMk id="11" creationId="{99247D05-1B47-851E-80F3-DFAB4BCDE6A3}"/>
          </ac:spMkLst>
        </pc:spChg>
        <pc:spChg chg="add mod">
          <ac:chgData name="Edson Utazi" userId="bcb3a38a-3ad0-4389-89a4-f1f4b25807d3" providerId="ADAL" clId="{6E6BB287-36A5-4019-B86C-EECBD7B9E602}" dt="2026-09-20T15:51:49.302" v="12360" actId="14100"/>
          <ac:spMkLst>
            <pc:docMk/>
            <pc:sldMk cId="965456773" sldId="281"/>
            <ac:spMk id="15" creationId="{D5F2F9ED-483B-E73C-B13D-E6F00E2CC8FE}"/>
          </ac:spMkLst>
        </pc:spChg>
        <pc:cxnChg chg="add">
          <ac:chgData name="Edson Utazi" userId="bcb3a38a-3ad0-4389-89a4-f1f4b25807d3" providerId="ADAL" clId="{6E6BB287-36A5-4019-B86C-EECBD7B9E602}" dt="2026-09-20T15:41:18.649" v="11990" actId="11529"/>
          <ac:cxnSpMkLst>
            <pc:docMk/>
            <pc:sldMk cId="965456773" sldId="281"/>
            <ac:cxnSpMk id="6" creationId="{D9621132-2829-16EA-55B2-BB5CA107A83A}"/>
          </ac:cxnSpMkLst>
        </pc:cxnChg>
        <pc:cxnChg chg="add">
          <ac:chgData name="Edson Utazi" userId="bcb3a38a-3ad0-4389-89a4-f1f4b25807d3" providerId="ADAL" clId="{6E6BB287-36A5-4019-B86C-EECBD7B9E602}" dt="2026-09-20T15:41:58.599" v="12011" actId="11529"/>
          <ac:cxnSpMkLst>
            <pc:docMk/>
            <pc:sldMk cId="965456773" sldId="281"/>
            <ac:cxnSpMk id="9" creationId="{F6E8687E-C69D-6913-E85C-F2E19ACEE822}"/>
          </ac:cxnSpMkLst>
        </pc:cxnChg>
        <pc:cxnChg chg="add mod">
          <ac:chgData name="Edson Utazi" userId="bcb3a38a-3ad0-4389-89a4-f1f4b25807d3" providerId="ADAL" clId="{6E6BB287-36A5-4019-B86C-EECBD7B9E602}" dt="2026-09-20T15:51:33.311" v="12347" actId="14100"/>
          <ac:cxnSpMkLst>
            <pc:docMk/>
            <pc:sldMk cId="965456773" sldId="281"/>
            <ac:cxnSpMk id="12" creationId="{66698B11-B889-F938-B422-9930774B5034}"/>
          </ac:cxnSpMkLst>
        </pc:cxnChg>
      </pc:sldChg>
      <pc:sldChg chg="addSp delSp modSp new mod ord">
        <pc:chgData name="Edson Utazi" userId="bcb3a38a-3ad0-4389-89a4-f1f4b25807d3" providerId="ADAL" clId="{6E6BB287-36A5-4019-B86C-EECBD7B9E602}" dt="2026-10-11T19:51:54.916" v="29048" actId="6549"/>
        <pc:sldMkLst>
          <pc:docMk/>
          <pc:sldMk cId="200878240" sldId="282"/>
        </pc:sldMkLst>
        <pc:spChg chg="mod">
          <ac:chgData name="Edson Utazi" userId="bcb3a38a-3ad0-4389-89a4-f1f4b25807d3" providerId="ADAL" clId="{6E6BB287-36A5-4019-B86C-EECBD7B9E602}" dt="2026-10-07T21:26:21.082" v="27742" actId="207"/>
          <ac:spMkLst>
            <pc:docMk/>
            <pc:sldMk cId="200878240" sldId="282"/>
            <ac:spMk id="2" creationId="{2F54E090-609F-E1D4-86CB-2F34660493C8}"/>
          </ac:spMkLst>
        </pc:spChg>
        <pc:spChg chg="mod">
          <ac:chgData name="Edson Utazi" userId="bcb3a38a-3ad0-4389-89a4-f1f4b25807d3" providerId="ADAL" clId="{6E6BB287-36A5-4019-B86C-EECBD7B9E602}" dt="2026-10-07T21:27:16.813" v="27752" actId="1037"/>
          <ac:spMkLst>
            <pc:docMk/>
            <pc:sldMk cId="200878240" sldId="282"/>
            <ac:spMk id="3" creationId="{A1297178-DA0B-A58D-D057-23B236851731}"/>
          </ac:spMkLst>
        </pc:spChg>
        <pc:spChg chg="add mod">
          <ac:chgData name="Edson Utazi" userId="bcb3a38a-3ad0-4389-89a4-f1f4b25807d3" providerId="ADAL" clId="{6E6BB287-36A5-4019-B86C-EECBD7B9E602}" dt="2026-10-11T19:51:54.916" v="29048" actId="6549"/>
          <ac:spMkLst>
            <pc:docMk/>
            <pc:sldMk cId="200878240" sldId="282"/>
            <ac:spMk id="6" creationId="{DC6F38B6-CA23-E17D-008E-F79C06BB3AFF}"/>
          </ac:spMkLst>
        </pc:spChg>
        <pc:spChg chg="add mod">
          <ac:chgData name="Edson Utazi" userId="bcb3a38a-3ad0-4389-89a4-f1f4b25807d3" providerId="ADAL" clId="{6E6BB287-36A5-4019-B86C-EECBD7B9E602}" dt="2026-10-11T15:39:00.050" v="28932" actId="1035"/>
          <ac:spMkLst>
            <pc:docMk/>
            <pc:sldMk cId="200878240" sldId="282"/>
            <ac:spMk id="9" creationId="{22FF14F2-D902-F9A0-6352-6169CEFB968C}"/>
          </ac:spMkLst>
        </pc:spChg>
        <pc:spChg chg="add mod">
          <ac:chgData name="Edson Utazi" userId="bcb3a38a-3ad0-4389-89a4-f1f4b25807d3" providerId="ADAL" clId="{6E6BB287-36A5-4019-B86C-EECBD7B9E602}" dt="2026-10-11T15:39:00.050" v="28932" actId="1035"/>
          <ac:spMkLst>
            <pc:docMk/>
            <pc:sldMk cId="200878240" sldId="282"/>
            <ac:spMk id="13" creationId="{DC537D05-EF96-F340-BAF8-660AD22640E2}"/>
          </ac:spMkLst>
        </pc:spChg>
        <pc:cxnChg chg="add mod">
          <ac:chgData name="Edson Utazi" userId="bcb3a38a-3ad0-4389-89a4-f1f4b25807d3" providerId="ADAL" clId="{6E6BB287-36A5-4019-B86C-EECBD7B9E602}" dt="2026-10-11T15:39:00.050" v="28932" actId="1035"/>
          <ac:cxnSpMkLst>
            <pc:docMk/>
            <pc:sldMk cId="200878240" sldId="282"/>
            <ac:cxnSpMk id="8" creationId="{C4195C58-271F-28BD-5DCB-65D37D95AF07}"/>
          </ac:cxnSpMkLst>
        </pc:cxnChg>
        <pc:cxnChg chg="add mod">
          <ac:chgData name="Edson Utazi" userId="bcb3a38a-3ad0-4389-89a4-f1f4b25807d3" providerId="ADAL" clId="{6E6BB287-36A5-4019-B86C-EECBD7B9E602}" dt="2026-10-11T15:39:00.050" v="28932" actId="1035"/>
          <ac:cxnSpMkLst>
            <pc:docMk/>
            <pc:sldMk cId="200878240" sldId="282"/>
            <ac:cxnSpMk id="10" creationId="{156729AB-26F4-F7A4-80D6-0D468C6C7431}"/>
          </ac:cxnSpMkLst>
        </pc:cxnChg>
      </pc:sldChg>
      <pc:sldChg chg="modSp new mod">
        <pc:chgData name="Edson Utazi" userId="bcb3a38a-3ad0-4389-89a4-f1f4b25807d3" providerId="ADAL" clId="{6E6BB287-36A5-4019-B86C-EECBD7B9E602}" dt="2026-10-11T13:25:00.909" v="28902" actId="113"/>
        <pc:sldMkLst>
          <pc:docMk/>
          <pc:sldMk cId="4118702284" sldId="283"/>
        </pc:sldMkLst>
        <pc:spChg chg="mod">
          <ac:chgData name="Edson Utazi" userId="bcb3a38a-3ad0-4389-89a4-f1f4b25807d3" providerId="ADAL" clId="{6E6BB287-36A5-4019-B86C-EECBD7B9E602}" dt="2026-10-07T21:10:00.332" v="27568" actId="255"/>
          <ac:spMkLst>
            <pc:docMk/>
            <pc:sldMk cId="4118702284" sldId="283"/>
            <ac:spMk id="2" creationId="{8B04BD87-7066-F2A0-30A4-744D30E4BB45}"/>
          </ac:spMkLst>
        </pc:spChg>
        <pc:spChg chg="mod">
          <ac:chgData name="Edson Utazi" userId="bcb3a38a-3ad0-4389-89a4-f1f4b25807d3" providerId="ADAL" clId="{6E6BB287-36A5-4019-B86C-EECBD7B9E602}" dt="2026-10-11T13:25:00.909" v="28902" actId="113"/>
          <ac:spMkLst>
            <pc:docMk/>
            <pc:sldMk cId="4118702284" sldId="283"/>
            <ac:spMk id="3" creationId="{78B8933A-047B-4D9A-71DF-8C9D28DFE2B8}"/>
          </ac:spMkLst>
        </pc:spChg>
      </pc:sldChg>
      <pc:sldChg chg="addSp delSp modSp new mod">
        <pc:chgData name="Edson Utazi" userId="bcb3a38a-3ad0-4389-89a4-f1f4b25807d3" providerId="ADAL" clId="{6E6BB287-36A5-4019-B86C-EECBD7B9E602}" dt="2026-10-07T21:34:35.350" v="27851"/>
        <pc:sldMkLst>
          <pc:docMk/>
          <pc:sldMk cId="2612982830" sldId="284"/>
        </pc:sldMkLst>
        <pc:spChg chg="mod">
          <ac:chgData name="Edson Utazi" userId="bcb3a38a-3ad0-4389-89a4-f1f4b25807d3" providerId="ADAL" clId="{6E6BB287-36A5-4019-B86C-EECBD7B9E602}" dt="2026-09-18T16:04:55.900" v="9267" actId="20577"/>
          <ac:spMkLst>
            <pc:docMk/>
            <pc:sldMk cId="2612982830" sldId="284"/>
            <ac:spMk id="3" creationId="{447CCAA2-94C4-BB63-BBB2-27DB573882D6}"/>
          </ac:spMkLst>
        </pc:spChg>
        <pc:spChg chg="add mod">
          <ac:chgData name="Edson Utazi" userId="bcb3a38a-3ad0-4389-89a4-f1f4b25807d3" providerId="ADAL" clId="{6E6BB287-36A5-4019-B86C-EECBD7B9E602}" dt="2026-09-18T15:55:05.520" v="8941" actId="1076"/>
          <ac:spMkLst>
            <pc:docMk/>
            <pc:sldMk cId="2612982830" sldId="284"/>
            <ac:spMk id="6" creationId="{AC432AA8-8A69-939B-C277-5E4EA64A0399}"/>
          </ac:spMkLst>
        </pc:spChg>
        <pc:spChg chg="add mod">
          <ac:chgData name="Edson Utazi" userId="bcb3a38a-3ad0-4389-89a4-f1f4b25807d3" providerId="ADAL" clId="{6E6BB287-36A5-4019-B86C-EECBD7B9E602}" dt="2026-10-07T21:34:35.350" v="27851"/>
          <ac:spMkLst>
            <pc:docMk/>
            <pc:sldMk cId="2612982830" sldId="284"/>
            <ac:spMk id="9" creationId="{3D64DE83-FD26-2D38-C2CF-63CF657343C0}"/>
          </ac:spMkLst>
        </pc:spChg>
        <pc:cxnChg chg="add mod">
          <ac:chgData name="Edson Utazi" userId="bcb3a38a-3ad0-4389-89a4-f1f4b25807d3" providerId="ADAL" clId="{6E6BB287-36A5-4019-B86C-EECBD7B9E602}" dt="2026-09-18T15:55:05.520" v="8941" actId="1076"/>
          <ac:cxnSpMkLst>
            <pc:docMk/>
            <pc:sldMk cId="2612982830" sldId="284"/>
            <ac:cxnSpMk id="5" creationId="{A1A4D2E0-648B-A70E-4DB1-42B8865162E0}"/>
          </ac:cxnSpMkLst>
        </pc:cxnChg>
      </pc:sldChg>
      <pc:sldChg chg="addSp delSp modSp new mod">
        <pc:chgData name="Edson Utazi" userId="bcb3a38a-3ad0-4389-89a4-f1f4b25807d3" providerId="ADAL" clId="{6E6BB287-36A5-4019-B86C-EECBD7B9E602}" dt="2026-10-11T22:40:45.420" v="29195" actId="1076"/>
        <pc:sldMkLst>
          <pc:docMk/>
          <pc:sldMk cId="1782349157" sldId="285"/>
        </pc:sldMkLst>
        <pc:spChg chg="mod">
          <ac:chgData name="Edson Utazi" userId="bcb3a38a-3ad0-4389-89a4-f1f4b25807d3" providerId="ADAL" clId="{6E6BB287-36A5-4019-B86C-EECBD7B9E602}" dt="2026-10-11T22:40:45.420" v="29195" actId="1076"/>
          <ac:spMkLst>
            <pc:docMk/>
            <pc:sldMk cId="1782349157" sldId="285"/>
            <ac:spMk id="3" creationId="{3E8D2B4D-F34B-D3D5-FB0E-B7905E0FE383}"/>
          </ac:spMkLst>
        </pc:spChg>
        <pc:spChg chg="add mod">
          <ac:chgData name="Edson Utazi" userId="bcb3a38a-3ad0-4389-89a4-f1f4b25807d3" providerId="ADAL" clId="{6E6BB287-36A5-4019-B86C-EECBD7B9E602}" dt="2026-10-07T21:37:07.970" v="27900"/>
          <ac:spMkLst>
            <pc:docMk/>
            <pc:sldMk cId="1782349157" sldId="285"/>
            <ac:spMk id="7" creationId="{DFD879DA-5A0F-817A-7887-2EE793C24338}"/>
          </ac:spMkLst>
        </pc:spChg>
      </pc:sldChg>
      <pc:sldChg chg="addSp delSp modSp new mod">
        <pc:chgData name="Edson Utazi" userId="bcb3a38a-3ad0-4389-89a4-f1f4b25807d3" providerId="ADAL" clId="{6E6BB287-36A5-4019-B86C-EECBD7B9E602}" dt="2026-10-07T21:18:18.163" v="27675" actId="478"/>
        <pc:sldMkLst>
          <pc:docMk/>
          <pc:sldMk cId="3402065144" sldId="286"/>
        </pc:sldMkLst>
        <pc:spChg chg="mod">
          <ac:chgData name="Edson Utazi" userId="bcb3a38a-3ad0-4389-89a4-f1f4b25807d3" providerId="ADAL" clId="{6E6BB287-36A5-4019-B86C-EECBD7B9E602}" dt="2026-10-07T21:15:49.890" v="27638" actId="20577"/>
          <ac:spMkLst>
            <pc:docMk/>
            <pc:sldMk cId="3402065144" sldId="286"/>
            <ac:spMk id="3" creationId="{19504E87-9DEF-4AEC-AEA3-362487AB730B}"/>
          </ac:spMkLst>
        </pc:spChg>
        <pc:spChg chg="add mod">
          <ac:chgData name="Edson Utazi" userId="bcb3a38a-3ad0-4389-89a4-f1f4b25807d3" providerId="ADAL" clId="{6E6BB287-36A5-4019-B86C-EECBD7B9E602}" dt="2026-10-07T21:18:12.610" v="27674"/>
          <ac:spMkLst>
            <pc:docMk/>
            <pc:sldMk cId="3402065144" sldId="286"/>
            <ac:spMk id="9" creationId="{5A68C090-428A-41C7-7300-28671BCC10F8}"/>
          </ac:spMkLst>
        </pc:spChg>
      </pc:sldChg>
      <pc:sldChg chg="addSp delSp modSp new mod">
        <pc:chgData name="Edson Utazi" userId="bcb3a38a-3ad0-4389-89a4-f1f4b25807d3" providerId="ADAL" clId="{6E6BB287-36A5-4019-B86C-EECBD7B9E602}" dt="2026-10-07T21:19:13.313" v="27681" actId="1076"/>
        <pc:sldMkLst>
          <pc:docMk/>
          <pc:sldMk cId="718436160" sldId="287"/>
        </pc:sldMkLst>
        <pc:spChg chg="mod">
          <ac:chgData name="Edson Utazi" userId="bcb3a38a-3ad0-4389-89a4-f1f4b25807d3" providerId="ADAL" clId="{6E6BB287-36A5-4019-B86C-EECBD7B9E602}" dt="2026-10-07T21:19:13.313" v="27681" actId="1076"/>
          <ac:spMkLst>
            <pc:docMk/>
            <pc:sldMk cId="718436160" sldId="287"/>
            <ac:spMk id="3" creationId="{E0E1888B-D0BD-91EC-F016-741975AB339C}"/>
          </ac:spMkLst>
        </pc:spChg>
        <pc:spChg chg="add mod">
          <ac:chgData name="Edson Utazi" userId="bcb3a38a-3ad0-4389-89a4-f1f4b25807d3" providerId="ADAL" clId="{6E6BB287-36A5-4019-B86C-EECBD7B9E602}" dt="2026-10-07T21:19:13.313" v="27681" actId="1076"/>
          <ac:spMkLst>
            <pc:docMk/>
            <pc:sldMk cId="718436160" sldId="287"/>
            <ac:spMk id="4" creationId="{7ABDF0E7-3CBF-1DF8-2042-2A227D5AF6AD}"/>
          </ac:spMkLst>
        </pc:spChg>
        <pc:spChg chg="add">
          <ac:chgData name="Edson Utazi" userId="bcb3a38a-3ad0-4389-89a4-f1f4b25807d3" providerId="ADAL" clId="{6E6BB287-36A5-4019-B86C-EECBD7B9E602}" dt="2026-10-07T21:18:57.760" v="27678" actId="22"/>
          <ac:spMkLst>
            <pc:docMk/>
            <pc:sldMk cId="718436160" sldId="287"/>
            <ac:spMk id="8" creationId="{96866A73-D7F5-BE76-C1EE-B7E883D11FB2}"/>
          </ac:spMkLst>
        </pc:spChg>
      </pc:sldChg>
      <pc:sldChg chg="addSp delSp modSp new mod">
        <pc:chgData name="Edson Utazi" userId="bcb3a38a-3ad0-4389-89a4-f1f4b25807d3" providerId="ADAL" clId="{6E6BB287-36A5-4019-B86C-EECBD7B9E602}" dt="2026-10-07T21:31:34.212" v="27802" actId="14100"/>
        <pc:sldMkLst>
          <pc:docMk/>
          <pc:sldMk cId="1442661724" sldId="288"/>
        </pc:sldMkLst>
        <pc:spChg chg="mod">
          <ac:chgData name="Edson Utazi" userId="bcb3a38a-3ad0-4389-89a4-f1f4b25807d3" providerId="ADAL" clId="{6E6BB287-36A5-4019-B86C-EECBD7B9E602}" dt="2026-10-07T21:31:34.212" v="27802" actId="14100"/>
          <ac:spMkLst>
            <pc:docMk/>
            <pc:sldMk cId="1442661724" sldId="288"/>
            <ac:spMk id="2" creationId="{9D612B1F-460A-2911-6119-74D0439ECB31}"/>
          </ac:spMkLst>
        </pc:spChg>
        <pc:spChg chg="mod">
          <ac:chgData name="Edson Utazi" userId="bcb3a38a-3ad0-4389-89a4-f1f4b25807d3" providerId="ADAL" clId="{6E6BB287-36A5-4019-B86C-EECBD7B9E602}" dt="2026-09-20T17:33:32.932" v="14940" actId="20577"/>
          <ac:spMkLst>
            <pc:docMk/>
            <pc:sldMk cId="1442661724" sldId="288"/>
            <ac:spMk id="3" creationId="{17F04F3B-62A1-1291-DF8F-BD5F0880288D}"/>
          </ac:spMkLst>
        </pc:spChg>
        <pc:spChg chg="add mod">
          <ac:chgData name="Edson Utazi" userId="bcb3a38a-3ad0-4389-89a4-f1f4b25807d3" providerId="ADAL" clId="{6E6BB287-36A5-4019-B86C-EECBD7B9E602}" dt="2026-09-20T17:04:59.224" v="13404" actId="20577"/>
          <ac:spMkLst>
            <pc:docMk/>
            <pc:sldMk cId="1442661724" sldId="288"/>
            <ac:spMk id="10" creationId="{288946FF-413D-5CFC-772F-BA0949C4D090}"/>
          </ac:spMkLst>
        </pc:spChg>
        <pc:cxnChg chg="add mod">
          <ac:chgData name="Edson Utazi" userId="bcb3a38a-3ad0-4389-89a4-f1f4b25807d3" providerId="ADAL" clId="{6E6BB287-36A5-4019-B86C-EECBD7B9E602}" dt="2026-09-20T17:04:42.182" v="13388" actId="14100"/>
          <ac:cxnSpMkLst>
            <pc:docMk/>
            <pc:sldMk cId="1442661724" sldId="288"/>
            <ac:cxnSpMk id="7" creationId="{83B8CB80-525F-102B-4363-70F3263DB845}"/>
          </ac:cxnSpMkLst>
        </pc:cxnChg>
      </pc:sldChg>
      <pc:sldChg chg="addSp delSp modSp new mod">
        <pc:chgData name="Edson Utazi" userId="bcb3a38a-3ad0-4389-89a4-f1f4b25807d3" providerId="ADAL" clId="{6E6BB287-36A5-4019-B86C-EECBD7B9E602}" dt="2026-10-11T17:56:57.816" v="29047" actId="1076"/>
        <pc:sldMkLst>
          <pc:docMk/>
          <pc:sldMk cId="3429462359" sldId="289"/>
        </pc:sldMkLst>
        <pc:spChg chg="mod">
          <ac:chgData name="Edson Utazi" userId="bcb3a38a-3ad0-4389-89a4-f1f4b25807d3" providerId="ADAL" clId="{6E6BB287-36A5-4019-B86C-EECBD7B9E602}" dt="2026-10-11T17:56:57.816" v="29047" actId="1076"/>
          <ac:spMkLst>
            <pc:docMk/>
            <pc:sldMk cId="3429462359" sldId="289"/>
            <ac:spMk id="3" creationId="{4543467E-7841-2E32-8CC1-6F0FA8F5C682}"/>
          </ac:spMkLst>
        </pc:spChg>
        <pc:spChg chg="add mod">
          <ac:chgData name="Edson Utazi" userId="bcb3a38a-3ad0-4389-89a4-f1f4b25807d3" providerId="ADAL" clId="{6E6BB287-36A5-4019-B86C-EECBD7B9E602}" dt="2026-10-07T21:31:49.643" v="27805"/>
          <ac:spMkLst>
            <pc:docMk/>
            <pc:sldMk cId="3429462359" sldId="289"/>
            <ac:spMk id="7" creationId="{5908B4FF-08F9-0BF4-9CF1-0EABD34BAC5A}"/>
          </ac:spMkLst>
        </pc:spChg>
      </pc:sldChg>
      <pc:sldChg chg="modSp new mod">
        <pc:chgData name="Edson Utazi" userId="bcb3a38a-3ad0-4389-89a4-f1f4b25807d3" providerId="ADAL" clId="{6E6BB287-36A5-4019-B86C-EECBD7B9E602}" dt="2026-10-07T21:23:43.743" v="27709" actId="1076"/>
        <pc:sldMkLst>
          <pc:docMk/>
          <pc:sldMk cId="71093543" sldId="291"/>
        </pc:sldMkLst>
        <pc:spChg chg="mod">
          <ac:chgData name="Edson Utazi" userId="bcb3a38a-3ad0-4389-89a4-f1f4b25807d3" providerId="ADAL" clId="{6E6BB287-36A5-4019-B86C-EECBD7B9E602}" dt="2026-10-07T21:23:35.733" v="27707" actId="207"/>
          <ac:spMkLst>
            <pc:docMk/>
            <pc:sldMk cId="71093543" sldId="291"/>
            <ac:spMk id="2" creationId="{9BF648EC-3159-1AC6-0156-3147AAB9B426}"/>
          </ac:spMkLst>
        </pc:spChg>
        <pc:spChg chg="mod">
          <ac:chgData name="Edson Utazi" userId="bcb3a38a-3ad0-4389-89a4-f1f4b25807d3" providerId="ADAL" clId="{6E6BB287-36A5-4019-B86C-EECBD7B9E602}" dt="2026-10-07T21:23:43.743" v="27709" actId="1076"/>
          <ac:spMkLst>
            <pc:docMk/>
            <pc:sldMk cId="71093543" sldId="291"/>
            <ac:spMk id="3" creationId="{F459298B-7120-D319-6C21-329D8B3EDE87}"/>
          </ac:spMkLst>
        </pc:spChg>
      </pc:sldChg>
      <pc:sldChg chg="addSp delSp modSp new mod">
        <pc:chgData name="Edson Utazi" userId="bcb3a38a-3ad0-4389-89a4-f1f4b25807d3" providerId="ADAL" clId="{6E6BB287-36A5-4019-B86C-EECBD7B9E602}" dt="2026-10-07T21:24:14.392" v="27717" actId="1076"/>
        <pc:sldMkLst>
          <pc:docMk/>
          <pc:sldMk cId="2328245857" sldId="292"/>
        </pc:sldMkLst>
        <pc:spChg chg="add del mod">
          <ac:chgData name="Edson Utazi" userId="bcb3a38a-3ad0-4389-89a4-f1f4b25807d3" providerId="ADAL" clId="{6E6BB287-36A5-4019-B86C-EECBD7B9E602}" dt="2026-10-07T21:24:14.392" v="27717" actId="1076"/>
          <ac:spMkLst>
            <pc:docMk/>
            <pc:sldMk cId="2328245857" sldId="292"/>
            <ac:spMk id="3" creationId="{E9725C01-4B77-4F38-F232-0CA1B6F1D23E}"/>
          </ac:spMkLst>
        </pc:spChg>
        <pc:spChg chg="add mod">
          <ac:chgData name="Edson Utazi" userId="bcb3a38a-3ad0-4389-89a4-f1f4b25807d3" providerId="ADAL" clId="{6E6BB287-36A5-4019-B86C-EECBD7B9E602}" dt="2026-10-07T21:23:54.707" v="27712" actId="27636"/>
          <ac:spMkLst>
            <pc:docMk/>
            <pc:sldMk cId="2328245857" sldId="292"/>
            <ac:spMk id="7" creationId="{A51A34A6-B762-8861-0450-EC946D05DBCF}"/>
          </ac:spMkLst>
        </pc:spChg>
      </pc:sldChg>
      <pc:sldChg chg="modSp new mod">
        <pc:chgData name="Edson Utazi" userId="bcb3a38a-3ad0-4389-89a4-f1f4b25807d3" providerId="ADAL" clId="{6E6BB287-36A5-4019-B86C-EECBD7B9E602}" dt="2026-10-07T21:30:38.771" v="27782" actId="1076"/>
        <pc:sldMkLst>
          <pc:docMk/>
          <pc:sldMk cId="4249913562" sldId="293"/>
        </pc:sldMkLst>
        <pc:spChg chg="mod">
          <ac:chgData name="Edson Utazi" userId="bcb3a38a-3ad0-4389-89a4-f1f4b25807d3" providerId="ADAL" clId="{6E6BB287-36A5-4019-B86C-EECBD7B9E602}" dt="2026-10-07T21:30:31.084" v="27781" actId="1076"/>
          <ac:spMkLst>
            <pc:docMk/>
            <pc:sldMk cId="4249913562" sldId="293"/>
            <ac:spMk id="2" creationId="{55E738E2-6001-3C2A-695D-C2495A3738E2}"/>
          </ac:spMkLst>
        </pc:spChg>
        <pc:spChg chg="mod">
          <ac:chgData name="Edson Utazi" userId="bcb3a38a-3ad0-4389-89a4-f1f4b25807d3" providerId="ADAL" clId="{6E6BB287-36A5-4019-B86C-EECBD7B9E602}" dt="2026-10-07T21:30:38.771" v="27782" actId="1076"/>
          <ac:spMkLst>
            <pc:docMk/>
            <pc:sldMk cId="4249913562" sldId="293"/>
            <ac:spMk id="3" creationId="{FF9E3107-12C9-0501-671E-492E739B8C1D}"/>
          </ac:spMkLst>
        </pc:spChg>
      </pc:sldChg>
      <pc:sldChg chg="addSp delSp modSp new mod">
        <pc:chgData name="Edson Utazi" userId="bcb3a38a-3ad0-4389-89a4-f1f4b25807d3" providerId="ADAL" clId="{6E6BB287-36A5-4019-B86C-EECBD7B9E602}" dt="2026-10-11T20:08:45.821" v="29049" actId="20577"/>
        <pc:sldMkLst>
          <pc:docMk/>
          <pc:sldMk cId="943605482" sldId="294"/>
        </pc:sldMkLst>
        <pc:spChg chg="mod">
          <ac:chgData name="Edson Utazi" userId="bcb3a38a-3ad0-4389-89a4-f1f4b25807d3" providerId="ADAL" clId="{6E6BB287-36A5-4019-B86C-EECBD7B9E602}" dt="2026-10-11T20:08:45.821" v="29049" actId="20577"/>
          <ac:spMkLst>
            <pc:docMk/>
            <pc:sldMk cId="943605482" sldId="294"/>
            <ac:spMk id="3" creationId="{FE6A98A4-DF32-9282-E2A2-2935C5310BE3}"/>
          </ac:spMkLst>
        </pc:spChg>
        <pc:spChg chg="add mod">
          <ac:chgData name="Edson Utazi" userId="bcb3a38a-3ad0-4389-89a4-f1f4b25807d3" providerId="ADAL" clId="{6E6BB287-36A5-4019-B86C-EECBD7B9E602}" dt="2026-10-07T21:32:01.697" v="27809"/>
          <ac:spMkLst>
            <pc:docMk/>
            <pc:sldMk cId="943605482" sldId="294"/>
            <ac:spMk id="7" creationId="{8D1B7DC3-B1DA-20A1-3442-CFB6224935B3}"/>
          </ac:spMkLst>
        </pc:spChg>
      </pc:sldChg>
      <pc:sldChg chg="addSp delSp modSp new mod">
        <pc:chgData name="Edson Utazi" userId="bcb3a38a-3ad0-4389-89a4-f1f4b25807d3" providerId="ADAL" clId="{6E6BB287-36A5-4019-B86C-EECBD7B9E602}" dt="2026-10-07T21:32:19.460" v="27814" actId="20577"/>
        <pc:sldMkLst>
          <pc:docMk/>
          <pc:sldMk cId="118645407" sldId="295"/>
        </pc:sldMkLst>
        <pc:spChg chg="mod">
          <ac:chgData name="Edson Utazi" userId="bcb3a38a-3ad0-4389-89a4-f1f4b25807d3" providerId="ADAL" clId="{6E6BB287-36A5-4019-B86C-EECBD7B9E602}" dt="2026-10-07T21:32:19.460" v="27814" actId="20577"/>
          <ac:spMkLst>
            <pc:docMk/>
            <pc:sldMk cId="118645407" sldId="295"/>
            <ac:spMk id="3" creationId="{8997366C-1490-1C73-359F-BBBE4E91E4C2}"/>
          </ac:spMkLst>
        </pc:spChg>
        <pc:spChg chg="add mod">
          <ac:chgData name="Edson Utazi" userId="bcb3a38a-3ad0-4389-89a4-f1f4b25807d3" providerId="ADAL" clId="{6E6BB287-36A5-4019-B86C-EECBD7B9E602}" dt="2026-10-07T21:32:10.210" v="27811"/>
          <ac:spMkLst>
            <pc:docMk/>
            <pc:sldMk cId="118645407" sldId="295"/>
            <ac:spMk id="5" creationId="{D512A2C7-FF3A-0665-B623-E40F5E1B749A}"/>
          </ac:spMkLst>
        </pc:spChg>
      </pc:sldChg>
      <pc:sldChg chg="addSp delSp modSp new mod">
        <pc:chgData name="Edson Utazi" userId="bcb3a38a-3ad0-4389-89a4-f1f4b25807d3" providerId="ADAL" clId="{6E6BB287-36A5-4019-B86C-EECBD7B9E602}" dt="2026-10-11T15:56:16.226" v="28972" actId="20577"/>
        <pc:sldMkLst>
          <pc:docMk/>
          <pc:sldMk cId="544240998" sldId="296"/>
        </pc:sldMkLst>
        <pc:spChg chg="mod">
          <ac:chgData name="Edson Utazi" userId="bcb3a38a-3ad0-4389-89a4-f1f4b25807d3" providerId="ADAL" clId="{6E6BB287-36A5-4019-B86C-EECBD7B9E602}" dt="2026-10-11T15:56:16.226" v="28972" actId="20577"/>
          <ac:spMkLst>
            <pc:docMk/>
            <pc:sldMk cId="544240998" sldId="296"/>
            <ac:spMk id="3" creationId="{1591ED51-3632-E7C3-D235-2B499C7CC217}"/>
          </ac:spMkLst>
        </pc:spChg>
        <pc:spChg chg="add mod">
          <ac:chgData name="Edson Utazi" userId="bcb3a38a-3ad0-4389-89a4-f1f4b25807d3" providerId="ADAL" clId="{6E6BB287-36A5-4019-B86C-EECBD7B9E602}" dt="2026-10-07T21:31:04.081" v="27787" actId="1076"/>
          <ac:spMkLst>
            <pc:docMk/>
            <pc:sldMk cId="544240998" sldId="296"/>
            <ac:spMk id="5" creationId="{872B1A98-DEE0-5D29-35D6-BCFFECFFA395}"/>
          </ac:spMkLst>
        </pc:spChg>
        <pc:spChg chg="add mod">
          <ac:chgData name="Edson Utazi" userId="bcb3a38a-3ad0-4389-89a4-f1f4b25807d3" providerId="ADAL" clId="{6E6BB287-36A5-4019-B86C-EECBD7B9E602}" dt="2026-10-07T21:30:56.038" v="27785"/>
          <ac:spMkLst>
            <pc:docMk/>
            <pc:sldMk cId="544240998" sldId="296"/>
            <ac:spMk id="8" creationId="{F880C25E-D6DE-45E1-ECAF-C522812BBDA5}"/>
          </ac:spMkLst>
        </pc:spChg>
      </pc:sldChg>
      <pc:sldChg chg="modSp new mod">
        <pc:chgData name="Edson Utazi" userId="bcb3a38a-3ad0-4389-89a4-f1f4b25807d3" providerId="ADAL" clId="{6E6BB287-36A5-4019-B86C-EECBD7B9E602}" dt="2026-10-07T21:22:43.656" v="27690" actId="1076"/>
        <pc:sldMkLst>
          <pc:docMk/>
          <pc:sldMk cId="2722387937" sldId="297"/>
        </pc:sldMkLst>
        <pc:spChg chg="mod">
          <ac:chgData name="Edson Utazi" userId="bcb3a38a-3ad0-4389-89a4-f1f4b25807d3" providerId="ADAL" clId="{6E6BB287-36A5-4019-B86C-EECBD7B9E602}" dt="2026-10-07T21:22:38.937" v="27689" actId="207"/>
          <ac:spMkLst>
            <pc:docMk/>
            <pc:sldMk cId="2722387937" sldId="297"/>
            <ac:spMk id="2" creationId="{4B73125D-A2AB-1902-D306-69361B440364}"/>
          </ac:spMkLst>
        </pc:spChg>
        <pc:spChg chg="mod">
          <ac:chgData name="Edson Utazi" userId="bcb3a38a-3ad0-4389-89a4-f1f4b25807d3" providerId="ADAL" clId="{6E6BB287-36A5-4019-B86C-EECBD7B9E602}" dt="2026-10-07T21:22:43.656" v="27690" actId="1076"/>
          <ac:spMkLst>
            <pc:docMk/>
            <pc:sldMk cId="2722387937" sldId="297"/>
            <ac:spMk id="3" creationId="{33829C07-C527-ED2B-D943-E74EF8FFF3AF}"/>
          </ac:spMkLst>
        </pc:spChg>
      </pc:sldChg>
      <pc:sldChg chg="addSp modSp new mod">
        <pc:chgData name="Edson Utazi" userId="bcb3a38a-3ad0-4389-89a4-f1f4b25807d3" providerId="ADAL" clId="{6E6BB287-36A5-4019-B86C-EECBD7B9E602}" dt="2026-10-07T21:23:17.217" v="27700" actId="1076"/>
        <pc:sldMkLst>
          <pc:docMk/>
          <pc:sldMk cId="1030255648" sldId="298"/>
        </pc:sldMkLst>
        <pc:spChg chg="mod">
          <ac:chgData name="Edson Utazi" userId="bcb3a38a-3ad0-4389-89a4-f1f4b25807d3" providerId="ADAL" clId="{6E6BB287-36A5-4019-B86C-EECBD7B9E602}" dt="2026-10-07T21:23:03.562" v="27696" actId="14100"/>
          <ac:spMkLst>
            <pc:docMk/>
            <pc:sldMk cId="1030255648" sldId="298"/>
            <ac:spMk id="2" creationId="{CBB46857-2964-1116-099C-7E4AF7E0C6D2}"/>
          </ac:spMkLst>
        </pc:spChg>
        <pc:spChg chg="mod">
          <ac:chgData name="Edson Utazi" userId="bcb3a38a-3ad0-4389-89a4-f1f4b25807d3" providerId="ADAL" clId="{6E6BB287-36A5-4019-B86C-EECBD7B9E602}" dt="2026-10-07T21:23:08.493" v="27697" actId="1076"/>
          <ac:spMkLst>
            <pc:docMk/>
            <pc:sldMk cId="1030255648" sldId="298"/>
            <ac:spMk id="3" creationId="{D0787C71-B6F3-FDB4-1D7C-CB7FF0F2C74E}"/>
          </ac:spMkLst>
        </pc:spChg>
        <pc:spChg chg="add mod">
          <ac:chgData name="Edson Utazi" userId="bcb3a38a-3ad0-4389-89a4-f1f4b25807d3" providerId="ADAL" clId="{6E6BB287-36A5-4019-B86C-EECBD7B9E602}" dt="2026-10-07T21:23:14.107" v="27699" actId="1076"/>
          <ac:spMkLst>
            <pc:docMk/>
            <pc:sldMk cId="1030255648" sldId="298"/>
            <ac:spMk id="5" creationId="{9BCB629B-9197-0413-C858-A0FB1E09F8A3}"/>
          </ac:spMkLst>
        </pc:spChg>
        <pc:graphicFrameChg chg="add mod modGraphic">
          <ac:chgData name="Edson Utazi" userId="bcb3a38a-3ad0-4389-89a4-f1f4b25807d3" providerId="ADAL" clId="{6E6BB287-36A5-4019-B86C-EECBD7B9E602}" dt="2026-10-07T21:23:17.217" v="27700" actId="1076"/>
          <ac:graphicFrameMkLst>
            <pc:docMk/>
            <pc:sldMk cId="1030255648" sldId="298"/>
            <ac:graphicFrameMk id="4" creationId="{35BEDD76-556B-22C8-DB05-A329561496A0}"/>
          </ac:graphicFrameMkLst>
        </pc:graphicFrameChg>
      </pc:sldChg>
      <pc:sldChg chg="addSp delSp modSp new mod">
        <pc:chgData name="Edson Utazi" userId="bcb3a38a-3ad0-4389-89a4-f1f4b25807d3" providerId="ADAL" clId="{6E6BB287-36A5-4019-B86C-EECBD7B9E602}" dt="2026-10-08T06:42:40.426" v="28658" actId="20577"/>
        <pc:sldMkLst>
          <pc:docMk/>
          <pc:sldMk cId="2085718046" sldId="300"/>
        </pc:sldMkLst>
        <pc:spChg chg="mod">
          <ac:chgData name="Edson Utazi" userId="bcb3a38a-3ad0-4389-89a4-f1f4b25807d3" providerId="ADAL" clId="{6E6BB287-36A5-4019-B86C-EECBD7B9E602}" dt="2026-10-08T06:41:52.733" v="28634" actId="20577"/>
          <ac:spMkLst>
            <pc:docMk/>
            <pc:sldMk cId="2085718046" sldId="300"/>
            <ac:spMk id="3" creationId="{E10FDA91-6129-1896-D006-3B385918A5CF}"/>
          </ac:spMkLst>
        </pc:spChg>
        <pc:spChg chg="add mod">
          <ac:chgData name="Edson Utazi" userId="bcb3a38a-3ad0-4389-89a4-f1f4b25807d3" providerId="ADAL" clId="{6E6BB287-36A5-4019-B86C-EECBD7B9E602}" dt="2026-10-07T21:28:37.835" v="27772" actId="20577"/>
          <ac:spMkLst>
            <pc:docMk/>
            <pc:sldMk cId="2085718046" sldId="300"/>
            <ac:spMk id="7" creationId="{8F4A6F82-7A0C-4023-08CA-ED1C022FD90B}"/>
          </ac:spMkLst>
        </pc:spChg>
        <pc:spChg chg="add mod">
          <ac:chgData name="Edson Utazi" userId="bcb3a38a-3ad0-4389-89a4-f1f4b25807d3" providerId="ADAL" clId="{6E6BB287-36A5-4019-B86C-EECBD7B9E602}" dt="2026-10-08T06:42:40.426" v="28658" actId="20577"/>
          <ac:spMkLst>
            <pc:docMk/>
            <pc:sldMk cId="2085718046" sldId="300"/>
            <ac:spMk id="10" creationId="{8DF196EB-CCFE-862C-09A2-5B7CC0B7B606}"/>
          </ac:spMkLst>
        </pc:spChg>
        <pc:cxnChg chg="add">
          <ac:chgData name="Edson Utazi" userId="bcb3a38a-3ad0-4389-89a4-f1f4b25807d3" providerId="ADAL" clId="{6E6BB287-36A5-4019-B86C-EECBD7B9E602}" dt="2026-10-08T06:42:13.327" v="28635" actId="11529"/>
          <ac:cxnSpMkLst>
            <pc:docMk/>
            <pc:sldMk cId="2085718046" sldId="300"/>
            <ac:cxnSpMk id="9" creationId="{78E1C4B3-B29A-9BED-6D03-CE01970BC75B}"/>
          </ac:cxnSpMkLst>
        </pc:cxnChg>
      </pc:sldChg>
      <pc:sldChg chg="addSp delSp modSp new mod">
        <pc:chgData name="Edson Utazi" userId="bcb3a38a-3ad0-4389-89a4-f1f4b25807d3" providerId="ADAL" clId="{6E6BB287-36A5-4019-B86C-EECBD7B9E602}" dt="2026-10-07T21:24:28.689" v="27720" actId="22"/>
        <pc:sldMkLst>
          <pc:docMk/>
          <pc:sldMk cId="315583448" sldId="301"/>
        </pc:sldMkLst>
        <pc:spChg chg="add mod">
          <ac:chgData name="Edson Utazi" userId="bcb3a38a-3ad0-4389-89a4-f1f4b25807d3" providerId="ADAL" clId="{6E6BB287-36A5-4019-B86C-EECBD7B9E602}" dt="2026-09-21T19:27:13.899" v="20037" actId="20577"/>
          <ac:spMkLst>
            <pc:docMk/>
            <pc:sldMk cId="315583448" sldId="301"/>
            <ac:spMk id="8" creationId="{A614820A-0DE6-FEBB-6B96-ADD3AB641E40}"/>
          </ac:spMkLst>
        </pc:spChg>
        <pc:spChg chg="add">
          <ac:chgData name="Edson Utazi" userId="bcb3a38a-3ad0-4389-89a4-f1f4b25807d3" providerId="ADAL" clId="{6E6BB287-36A5-4019-B86C-EECBD7B9E602}" dt="2026-10-07T21:24:28.689" v="27720" actId="22"/>
          <ac:spMkLst>
            <pc:docMk/>
            <pc:sldMk cId="315583448" sldId="301"/>
            <ac:spMk id="9" creationId="{9F920167-D326-3C93-C6C8-54C7A7CAFDC4}"/>
          </ac:spMkLst>
        </pc:spChg>
        <pc:graphicFrameChg chg="add mod modGraphic">
          <ac:chgData name="Edson Utazi" userId="bcb3a38a-3ad0-4389-89a4-f1f4b25807d3" providerId="ADAL" clId="{6E6BB287-36A5-4019-B86C-EECBD7B9E602}" dt="2026-09-21T19:26:07.017" v="19946" actId="20577"/>
          <ac:graphicFrameMkLst>
            <pc:docMk/>
            <pc:sldMk cId="315583448" sldId="301"/>
            <ac:graphicFrameMk id="5" creationId="{5DE998EE-D547-CA78-3B3B-9ED34E296E92}"/>
          </ac:graphicFrameMkLst>
        </pc:graphicFrameChg>
      </pc:sldChg>
      <pc:sldChg chg="addSp delSp modSp new mod">
        <pc:chgData name="Edson Utazi" userId="bcb3a38a-3ad0-4389-89a4-f1f4b25807d3" providerId="ADAL" clId="{6E6BB287-36A5-4019-B86C-EECBD7B9E602}" dt="2026-10-07T21:28:15.455" v="27757" actId="1076"/>
        <pc:sldMkLst>
          <pc:docMk/>
          <pc:sldMk cId="1557804400" sldId="302"/>
        </pc:sldMkLst>
        <pc:spChg chg="add mod">
          <ac:chgData name="Edson Utazi" userId="bcb3a38a-3ad0-4389-89a4-f1f4b25807d3" providerId="ADAL" clId="{6E6BB287-36A5-4019-B86C-EECBD7B9E602}" dt="2026-10-07T21:28:15.455" v="27757" actId="1076"/>
          <ac:spMkLst>
            <pc:docMk/>
            <pc:sldMk cId="1557804400" sldId="302"/>
            <ac:spMk id="7" creationId="{B0EE175E-4448-B5F1-FDA6-9F141D65B590}"/>
          </ac:spMkLst>
        </pc:spChg>
        <pc:spChg chg="add mod">
          <ac:chgData name="Edson Utazi" userId="bcb3a38a-3ad0-4389-89a4-f1f4b25807d3" providerId="ADAL" clId="{6E6BB287-36A5-4019-B86C-EECBD7B9E602}" dt="2026-10-07T21:28:06.489" v="27755"/>
          <ac:spMkLst>
            <pc:docMk/>
            <pc:sldMk cId="1557804400" sldId="302"/>
            <ac:spMk id="8" creationId="{850AB4AA-D862-7D5F-C9A0-3283745019CC}"/>
          </ac:spMkLst>
        </pc:spChg>
        <pc:graphicFrameChg chg="add mod modGraphic">
          <ac:chgData name="Edson Utazi" userId="bcb3a38a-3ad0-4389-89a4-f1f4b25807d3" providerId="ADAL" clId="{6E6BB287-36A5-4019-B86C-EECBD7B9E602}" dt="2026-10-07T21:28:11.517" v="27756" actId="1076"/>
          <ac:graphicFrameMkLst>
            <pc:docMk/>
            <pc:sldMk cId="1557804400" sldId="302"/>
            <ac:graphicFrameMk id="6" creationId="{8FC08F60-EC3C-E874-FB7A-30CFDD7A3968}"/>
          </ac:graphicFrameMkLst>
        </pc:graphicFrameChg>
      </pc:sldChg>
      <pc:sldChg chg="modSp new mod">
        <pc:chgData name="Edson Utazi" userId="bcb3a38a-3ad0-4389-89a4-f1f4b25807d3" providerId="ADAL" clId="{6E6BB287-36A5-4019-B86C-EECBD7B9E602}" dt="2026-10-07T21:10:38.809" v="27577" actId="1076"/>
        <pc:sldMkLst>
          <pc:docMk/>
          <pc:sldMk cId="212002256" sldId="304"/>
        </pc:sldMkLst>
        <pc:spChg chg="mod">
          <ac:chgData name="Edson Utazi" userId="bcb3a38a-3ad0-4389-89a4-f1f4b25807d3" providerId="ADAL" clId="{6E6BB287-36A5-4019-B86C-EECBD7B9E602}" dt="2026-10-07T21:10:33.847" v="27576" actId="207"/>
          <ac:spMkLst>
            <pc:docMk/>
            <pc:sldMk cId="212002256" sldId="304"/>
            <ac:spMk id="2" creationId="{CDBCBAD4-D390-8F1F-8B72-5F8419B70471}"/>
          </ac:spMkLst>
        </pc:spChg>
        <pc:spChg chg="mod">
          <ac:chgData name="Edson Utazi" userId="bcb3a38a-3ad0-4389-89a4-f1f4b25807d3" providerId="ADAL" clId="{6E6BB287-36A5-4019-B86C-EECBD7B9E602}" dt="2026-10-07T21:10:38.809" v="27577" actId="1076"/>
          <ac:spMkLst>
            <pc:docMk/>
            <pc:sldMk cId="212002256" sldId="304"/>
            <ac:spMk id="3" creationId="{89A89F95-A63B-7083-D691-075C7D46EE26}"/>
          </ac:spMkLst>
        </pc:spChg>
      </pc:sldChg>
      <pc:sldChg chg="addSp delSp modSp new mod">
        <pc:chgData name="Edson Utazi" userId="bcb3a38a-3ad0-4389-89a4-f1f4b25807d3" providerId="ADAL" clId="{6E6BB287-36A5-4019-B86C-EECBD7B9E602}" dt="2026-10-07T21:12:52.669" v="27601"/>
        <pc:sldMkLst>
          <pc:docMk/>
          <pc:sldMk cId="1518404218" sldId="305"/>
        </pc:sldMkLst>
        <pc:spChg chg="mod">
          <ac:chgData name="Edson Utazi" userId="bcb3a38a-3ad0-4389-89a4-f1f4b25807d3" providerId="ADAL" clId="{6E6BB287-36A5-4019-B86C-EECBD7B9E602}" dt="2026-09-23T09:54:48.526" v="22256" actId="20577"/>
          <ac:spMkLst>
            <pc:docMk/>
            <pc:sldMk cId="1518404218" sldId="305"/>
            <ac:spMk id="3" creationId="{999760FA-A09A-E0B1-8700-DC5EEC182B21}"/>
          </ac:spMkLst>
        </pc:spChg>
        <pc:spChg chg="add mod">
          <ac:chgData name="Edson Utazi" userId="bcb3a38a-3ad0-4389-89a4-f1f4b25807d3" providerId="ADAL" clId="{6E6BB287-36A5-4019-B86C-EECBD7B9E602}" dt="2026-09-23T09:53:54.859" v="22151" actId="20577"/>
          <ac:spMkLst>
            <pc:docMk/>
            <pc:sldMk cId="1518404218" sldId="305"/>
            <ac:spMk id="6" creationId="{755ACA9E-96CE-1BB9-EED0-3486987F37AB}"/>
          </ac:spMkLst>
        </pc:spChg>
        <pc:spChg chg="add mod">
          <ac:chgData name="Edson Utazi" userId="bcb3a38a-3ad0-4389-89a4-f1f4b25807d3" providerId="ADAL" clId="{6E6BB287-36A5-4019-B86C-EECBD7B9E602}" dt="2026-09-23T09:55:18.357" v="22301" actId="14100"/>
          <ac:spMkLst>
            <pc:docMk/>
            <pc:sldMk cId="1518404218" sldId="305"/>
            <ac:spMk id="8" creationId="{507B2CBC-1EAD-F13C-8AC3-9AD3461CABE1}"/>
          </ac:spMkLst>
        </pc:spChg>
        <pc:spChg chg="add mod">
          <ac:chgData name="Edson Utazi" userId="bcb3a38a-3ad0-4389-89a4-f1f4b25807d3" providerId="ADAL" clId="{6E6BB287-36A5-4019-B86C-EECBD7B9E602}" dt="2026-10-07T21:12:52.669" v="27601"/>
          <ac:spMkLst>
            <pc:docMk/>
            <pc:sldMk cId="1518404218" sldId="305"/>
            <ac:spMk id="10" creationId="{28789543-8603-9DDA-7794-5D7FDA68A61E}"/>
          </ac:spMkLst>
        </pc:spChg>
        <pc:cxnChg chg="add">
          <ac:chgData name="Edson Utazi" userId="bcb3a38a-3ad0-4389-89a4-f1f4b25807d3" providerId="ADAL" clId="{6E6BB287-36A5-4019-B86C-EECBD7B9E602}" dt="2026-09-23T09:53:31.871" v="22124" actId="11529"/>
          <ac:cxnSpMkLst>
            <pc:docMk/>
            <pc:sldMk cId="1518404218" sldId="305"/>
            <ac:cxnSpMk id="5" creationId="{CEE686B3-86CB-F2FC-FD20-99E05E7AD80C}"/>
          </ac:cxnSpMkLst>
        </pc:cxnChg>
        <pc:cxnChg chg="add mod">
          <ac:chgData name="Edson Utazi" userId="bcb3a38a-3ad0-4389-89a4-f1f4b25807d3" providerId="ADAL" clId="{6E6BB287-36A5-4019-B86C-EECBD7B9E602}" dt="2026-09-23T09:54:59.701" v="22258" actId="1076"/>
          <ac:cxnSpMkLst>
            <pc:docMk/>
            <pc:sldMk cId="1518404218" sldId="305"/>
            <ac:cxnSpMk id="7" creationId="{1270474D-9AF2-ED12-3D74-85F90B6E8717}"/>
          </ac:cxnSpMkLst>
        </pc:cxnChg>
      </pc:sldChg>
      <pc:sldChg chg="addSp modSp new mod">
        <pc:chgData name="Edson Utazi" userId="bcb3a38a-3ad0-4389-89a4-f1f4b25807d3" providerId="ADAL" clId="{6E6BB287-36A5-4019-B86C-EECBD7B9E602}" dt="2026-10-08T15:07:48.427" v="28901" actId="14100"/>
        <pc:sldMkLst>
          <pc:docMk/>
          <pc:sldMk cId="694677406" sldId="306"/>
        </pc:sldMkLst>
        <pc:spChg chg="mod">
          <ac:chgData name="Edson Utazi" userId="bcb3a38a-3ad0-4389-89a4-f1f4b25807d3" providerId="ADAL" clId="{6E6BB287-36A5-4019-B86C-EECBD7B9E602}" dt="2026-10-08T15:07:48.427" v="28901" actId="14100"/>
          <ac:spMkLst>
            <pc:docMk/>
            <pc:sldMk cId="694677406" sldId="306"/>
            <ac:spMk id="2" creationId="{57D00F19-BB0D-7FD4-62BF-384463827DE6}"/>
          </ac:spMkLst>
        </pc:spChg>
        <pc:spChg chg="mod">
          <ac:chgData name="Edson Utazi" userId="bcb3a38a-3ad0-4389-89a4-f1f4b25807d3" providerId="ADAL" clId="{6E6BB287-36A5-4019-B86C-EECBD7B9E602}" dt="2026-10-07T21:38:54.602" v="27927" actId="1076"/>
          <ac:spMkLst>
            <pc:docMk/>
            <pc:sldMk cId="694677406" sldId="306"/>
            <ac:spMk id="3" creationId="{E88BA211-3FB4-CA87-2198-A656AA8AF0B2}"/>
          </ac:spMkLst>
        </pc:spChg>
        <pc:spChg chg="add mod">
          <ac:chgData name="Edson Utazi" userId="bcb3a38a-3ad0-4389-89a4-f1f4b25807d3" providerId="ADAL" clId="{6E6BB287-36A5-4019-B86C-EECBD7B9E602}" dt="2026-10-07T21:38:58.513" v="27928" actId="1076"/>
          <ac:spMkLst>
            <pc:docMk/>
            <pc:sldMk cId="694677406" sldId="306"/>
            <ac:spMk id="4" creationId="{6DFAE3E5-9B1F-97CD-5280-CD11630B56B3}"/>
          </ac:spMkLst>
        </pc:spChg>
      </pc:sldChg>
      <pc:sldChg chg="addSp modSp new mod">
        <pc:chgData name="Edson Utazi" userId="bcb3a38a-3ad0-4389-89a4-f1f4b25807d3" providerId="ADAL" clId="{6E6BB287-36A5-4019-B86C-EECBD7B9E602}" dt="2026-10-07T21:12:24.996" v="27596" actId="27636"/>
        <pc:sldMkLst>
          <pc:docMk/>
          <pc:sldMk cId="2226325625" sldId="307"/>
        </pc:sldMkLst>
        <pc:spChg chg="mod">
          <ac:chgData name="Edson Utazi" userId="bcb3a38a-3ad0-4389-89a4-f1f4b25807d3" providerId="ADAL" clId="{6E6BB287-36A5-4019-B86C-EECBD7B9E602}" dt="2026-10-07T21:12:24.996" v="27596" actId="27636"/>
          <ac:spMkLst>
            <pc:docMk/>
            <pc:sldMk cId="2226325625" sldId="307"/>
            <ac:spMk id="2" creationId="{F92AF3C5-0D3E-A4F0-A701-1900E5A843A9}"/>
          </ac:spMkLst>
        </pc:spChg>
        <pc:spChg chg="mod">
          <ac:chgData name="Edson Utazi" userId="bcb3a38a-3ad0-4389-89a4-f1f4b25807d3" providerId="ADAL" clId="{6E6BB287-36A5-4019-B86C-EECBD7B9E602}" dt="2026-10-07T21:11:30.457" v="27589" actId="1076"/>
          <ac:spMkLst>
            <pc:docMk/>
            <pc:sldMk cId="2226325625" sldId="307"/>
            <ac:spMk id="3" creationId="{3BC9DD0E-C213-C14A-DB26-ED01008B3838}"/>
          </ac:spMkLst>
        </pc:spChg>
        <pc:graphicFrameChg chg="add mod modGraphic">
          <ac:chgData name="Edson Utazi" userId="bcb3a38a-3ad0-4389-89a4-f1f4b25807d3" providerId="ADAL" clId="{6E6BB287-36A5-4019-B86C-EECBD7B9E602}" dt="2026-10-07T21:11:34.226" v="27590" actId="1076"/>
          <ac:graphicFrameMkLst>
            <pc:docMk/>
            <pc:sldMk cId="2226325625" sldId="307"/>
            <ac:graphicFrameMk id="4" creationId="{871EE213-3FE9-4F13-9C17-1C3E7DAC28DB}"/>
          </ac:graphicFrameMkLst>
        </pc:graphicFrameChg>
      </pc:sldChg>
      <pc:sldChg chg="addSp delSp modSp new mod">
        <pc:chgData name="Edson Utazi" userId="bcb3a38a-3ad0-4389-89a4-f1f4b25807d3" providerId="ADAL" clId="{6E6BB287-36A5-4019-B86C-EECBD7B9E602}" dt="2026-10-07T21:12:30.784" v="27598" actId="27636"/>
        <pc:sldMkLst>
          <pc:docMk/>
          <pc:sldMk cId="2937827611" sldId="308"/>
        </pc:sldMkLst>
        <pc:spChg chg="add mod">
          <ac:chgData name="Edson Utazi" userId="bcb3a38a-3ad0-4389-89a4-f1f4b25807d3" providerId="ADAL" clId="{6E6BB287-36A5-4019-B86C-EECBD7B9E602}" dt="2026-10-07T21:12:30.784" v="27598" actId="27636"/>
          <ac:spMkLst>
            <pc:docMk/>
            <pc:sldMk cId="2937827611" sldId="308"/>
            <ac:spMk id="9" creationId="{B28069FD-696E-4B13-EC3D-AB8D14D5B874}"/>
          </ac:spMkLst>
        </pc:spChg>
        <pc:graphicFrameChg chg="add mod modGraphic">
          <ac:chgData name="Edson Utazi" userId="bcb3a38a-3ad0-4389-89a4-f1f4b25807d3" providerId="ADAL" clId="{6E6BB287-36A5-4019-B86C-EECBD7B9E602}" dt="2026-10-07T21:11:52.178" v="27594" actId="1076"/>
          <ac:graphicFrameMkLst>
            <pc:docMk/>
            <pc:sldMk cId="2937827611" sldId="308"/>
            <ac:graphicFrameMk id="5" creationId="{DED8D105-EA47-0503-158B-F90A5F36AFA6}"/>
          </ac:graphicFrameMkLst>
        </pc:graphicFrameChg>
      </pc:sldChg>
      <pc:sldChg chg="addSp modSp new mod">
        <pc:chgData name="Edson Utazi" userId="bcb3a38a-3ad0-4389-89a4-f1f4b25807d3" providerId="ADAL" clId="{6E6BB287-36A5-4019-B86C-EECBD7B9E602}" dt="2026-10-07T21:25:00.113" v="27731" actId="1076"/>
        <pc:sldMkLst>
          <pc:docMk/>
          <pc:sldMk cId="3154302090" sldId="309"/>
        </pc:sldMkLst>
        <pc:spChg chg="mod">
          <ac:chgData name="Edson Utazi" userId="bcb3a38a-3ad0-4389-89a4-f1f4b25807d3" providerId="ADAL" clId="{6E6BB287-36A5-4019-B86C-EECBD7B9E602}" dt="2026-10-07T21:24:52.060" v="27729" actId="207"/>
          <ac:spMkLst>
            <pc:docMk/>
            <pc:sldMk cId="3154302090" sldId="309"/>
            <ac:spMk id="2" creationId="{40325051-318B-FC8D-004F-D6468C74E56D}"/>
          </ac:spMkLst>
        </pc:spChg>
        <pc:spChg chg="mod">
          <ac:chgData name="Edson Utazi" userId="bcb3a38a-3ad0-4389-89a4-f1f4b25807d3" providerId="ADAL" clId="{6E6BB287-36A5-4019-B86C-EECBD7B9E602}" dt="2026-10-07T21:24:56.634" v="27730" actId="1076"/>
          <ac:spMkLst>
            <pc:docMk/>
            <pc:sldMk cId="3154302090" sldId="309"/>
            <ac:spMk id="3" creationId="{F618B3A2-DB37-CD25-A47B-885A54992CBE}"/>
          </ac:spMkLst>
        </pc:spChg>
        <pc:spChg chg="add mod">
          <ac:chgData name="Edson Utazi" userId="bcb3a38a-3ad0-4389-89a4-f1f4b25807d3" providerId="ADAL" clId="{6E6BB287-36A5-4019-B86C-EECBD7B9E602}" dt="2026-10-07T21:25:00.113" v="27731" actId="1076"/>
          <ac:spMkLst>
            <pc:docMk/>
            <pc:sldMk cId="3154302090" sldId="309"/>
            <ac:spMk id="4" creationId="{EEA3AAA6-025F-A0D4-0EF5-43284645549E}"/>
          </ac:spMkLst>
        </pc:spChg>
      </pc:sldChg>
      <pc:sldChg chg="addSp delSp modSp new mod">
        <pc:chgData name="Edson Utazi" userId="bcb3a38a-3ad0-4389-89a4-f1f4b25807d3" providerId="ADAL" clId="{6E6BB287-36A5-4019-B86C-EECBD7B9E602}" dt="2026-10-07T21:25:56.553" v="27735" actId="1076"/>
        <pc:sldMkLst>
          <pc:docMk/>
          <pc:sldMk cId="1617162915" sldId="310"/>
        </pc:sldMkLst>
        <pc:spChg chg="mod">
          <ac:chgData name="Edson Utazi" userId="bcb3a38a-3ad0-4389-89a4-f1f4b25807d3" providerId="ADAL" clId="{6E6BB287-36A5-4019-B86C-EECBD7B9E602}" dt="2026-10-07T21:25:56.553" v="27735" actId="1076"/>
          <ac:spMkLst>
            <pc:docMk/>
            <pc:sldMk cId="1617162915" sldId="310"/>
            <ac:spMk id="3" creationId="{FC6159C4-6D90-768D-589F-96E10E8211BD}"/>
          </ac:spMkLst>
        </pc:spChg>
        <pc:spChg chg="add mod">
          <ac:chgData name="Edson Utazi" userId="bcb3a38a-3ad0-4389-89a4-f1f4b25807d3" providerId="ADAL" clId="{6E6BB287-36A5-4019-B86C-EECBD7B9E602}" dt="2026-10-07T21:25:50.624" v="27734"/>
          <ac:spMkLst>
            <pc:docMk/>
            <pc:sldMk cId="1617162915" sldId="310"/>
            <ac:spMk id="8" creationId="{DC209DE9-A8C8-A8FB-9302-54AAFB4AAA43}"/>
          </ac:spMkLst>
        </pc:spChg>
      </pc:sldChg>
      <pc:sldChg chg="modSp new mod">
        <pc:chgData name="Edson Utazi" userId="bcb3a38a-3ad0-4389-89a4-f1f4b25807d3" providerId="ADAL" clId="{6E6BB287-36A5-4019-B86C-EECBD7B9E602}" dt="2026-10-07T21:39:50.054" v="27944" actId="14100"/>
        <pc:sldMkLst>
          <pc:docMk/>
          <pc:sldMk cId="3350636264" sldId="311"/>
        </pc:sldMkLst>
        <pc:spChg chg="mod">
          <ac:chgData name="Edson Utazi" userId="bcb3a38a-3ad0-4389-89a4-f1f4b25807d3" providerId="ADAL" clId="{6E6BB287-36A5-4019-B86C-EECBD7B9E602}" dt="2026-10-07T21:39:50.054" v="27944" actId="14100"/>
          <ac:spMkLst>
            <pc:docMk/>
            <pc:sldMk cId="3350636264" sldId="311"/>
            <ac:spMk id="2" creationId="{52DA9775-2DB1-176E-4BCC-0D5EFB765377}"/>
          </ac:spMkLst>
        </pc:spChg>
        <pc:spChg chg="mod">
          <ac:chgData name="Edson Utazi" userId="bcb3a38a-3ad0-4389-89a4-f1f4b25807d3" providerId="ADAL" clId="{6E6BB287-36A5-4019-B86C-EECBD7B9E602}" dt="2026-10-07T20:32:03.341" v="26754" actId="14100"/>
          <ac:spMkLst>
            <pc:docMk/>
            <pc:sldMk cId="3350636264" sldId="311"/>
            <ac:spMk id="3" creationId="{A7924823-DAF6-5A7F-8FDC-67AFED976621}"/>
          </ac:spMkLst>
        </pc:spChg>
      </pc:sldChg>
      <pc:sldChg chg="addSp delSp modSp add mod">
        <pc:chgData name="Edson Utazi" userId="bcb3a38a-3ad0-4389-89a4-f1f4b25807d3" providerId="ADAL" clId="{6E6BB287-36A5-4019-B86C-EECBD7B9E602}" dt="2026-10-07T21:41:30.503" v="27960" actId="1076"/>
        <pc:sldMkLst>
          <pc:docMk/>
          <pc:sldMk cId="587861640" sldId="321"/>
        </pc:sldMkLst>
        <pc:spChg chg="mod">
          <ac:chgData name="Edson Utazi" userId="bcb3a38a-3ad0-4389-89a4-f1f4b25807d3" providerId="ADAL" clId="{6E6BB287-36A5-4019-B86C-EECBD7B9E602}" dt="2026-10-07T21:09:05.721" v="27515" actId="1036"/>
          <ac:spMkLst>
            <pc:docMk/>
            <pc:sldMk cId="587861640" sldId="321"/>
            <ac:spMk id="3" creationId="{00000000-0000-0000-0000-000000000000}"/>
          </ac:spMkLst>
        </pc:spChg>
        <pc:spChg chg="mod">
          <ac:chgData name="Edson Utazi" userId="bcb3a38a-3ad0-4389-89a4-f1f4b25807d3" providerId="ADAL" clId="{6E6BB287-36A5-4019-B86C-EECBD7B9E602}" dt="2026-10-07T21:09:10.530" v="27516" actId="1076"/>
          <ac:spMkLst>
            <pc:docMk/>
            <pc:sldMk cId="587861640" sldId="321"/>
            <ac:spMk id="142" creationId="{00000000-0000-0000-0000-000000000000}"/>
          </ac:spMkLst>
        </pc:spChg>
        <pc:spChg chg="mod">
          <ac:chgData name="Edson Utazi" userId="bcb3a38a-3ad0-4389-89a4-f1f4b25807d3" providerId="ADAL" clId="{6E6BB287-36A5-4019-B86C-EECBD7B9E602}" dt="2026-10-07T21:09:22.498" v="27561" actId="1035"/>
          <ac:spMkLst>
            <pc:docMk/>
            <pc:sldMk cId="587861640" sldId="321"/>
            <ac:spMk id="144" creationId="{00000000-0000-0000-0000-000000000000}"/>
          </ac:spMkLst>
        </pc:spChg>
        <pc:picChg chg="add mod">
          <ac:chgData name="Edson Utazi" userId="bcb3a38a-3ad0-4389-89a4-f1f4b25807d3" providerId="ADAL" clId="{6E6BB287-36A5-4019-B86C-EECBD7B9E602}" dt="2026-10-07T21:03:27.513" v="27404" actId="1076"/>
          <ac:picMkLst>
            <pc:docMk/>
            <pc:sldMk cId="587861640" sldId="321"/>
            <ac:picMk id="8" creationId="{EF639841-7CC3-503D-2851-2B503B1C0D06}"/>
          </ac:picMkLst>
        </pc:picChg>
        <pc:picChg chg="add mod">
          <ac:chgData name="Edson Utazi" userId="bcb3a38a-3ad0-4389-89a4-f1f4b25807d3" providerId="ADAL" clId="{6E6BB287-36A5-4019-B86C-EECBD7B9E602}" dt="2026-10-07T21:41:30.503" v="27960" actId="1076"/>
          <ac:picMkLst>
            <pc:docMk/>
            <pc:sldMk cId="587861640" sldId="321"/>
            <ac:picMk id="9" creationId="{49DD535F-9456-13E4-5EB7-7326A0099AAC}"/>
          </ac:picMkLst>
        </pc:picChg>
        <pc:picChg chg="add mod modCrop">
          <ac:chgData name="Edson Utazi" userId="bcb3a38a-3ad0-4389-89a4-f1f4b25807d3" providerId="ADAL" clId="{6E6BB287-36A5-4019-B86C-EECBD7B9E602}" dt="2026-10-07T21:41:26.033" v="27959" actId="1076"/>
          <ac:picMkLst>
            <pc:docMk/>
            <pc:sldMk cId="587861640" sldId="321"/>
            <ac:picMk id="13" creationId="{C0679261-FDE1-5A03-6963-FE84A5C275E7}"/>
          </ac:picMkLst>
        </pc:picChg>
        <pc:cxnChg chg="mod">
          <ac:chgData name="Edson Utazi" userId="bcb3a38a-3ad0-4389-89a4-f1f4b25807d3" providerId="ADAL" clId="{6E6BB287-36A5-4019-B86C-EECBD7B9E602}" dt="2026-10-07T21:09:22.498" v="27561" actId="1035"/>
          <ac:cxnSpMkLst>
            <pc:docMk/>
            <pc:sldMk cId="587861640" sldId="321"/>
            <ac:cxnSpMk id="143" creationId="{00000000-0000-0000-0000-000000000000}"/>
          </ac:cxnSpMkLst>
        </pc:cxnChg>
      </pc:sldChg>
      <pc:sldChg chg="modSp new mod">
        <pc:chgData name="Edson Utazi" userId="bcb3a38a-3ad0-4389-89a4-f1f4b25807d3" providerId="ADAL" clId="{6E6BB287-36A5-4019-B86C-EECBD7B9E602}" dt="2026-10-11T22:47:50.162" v="29198" actId="14100"/>
        <pc:sldMkLst>
          <pc:docMk/>
          <pc:sldMk cId="1332933936" sldId="322"/>
        </pc:sldMkLst>
        <pc:spChg chg="mod">
          <ac:chgData name="Edson Utazi" userId="bcb3a38a-3ad0-4389-89a4-f1f4b25807d3" providerId="ADAL" clId="{6E6BB287-36A5-4019-B86C-EECBD7B9E602}" dt="2026-10-11T16:27:38.522" v="28994" actId="207"/>
          <ac:spMkLst>
            <pc:docMk/>
            <pc:sldMk cId="1332933936" sldId="322"/>
            <ac:spMk id="2" creationId="{451993D4-756A-2E0B-B86D-1E6B1765347A}"/>
          </ac:spMkLst>
        </pc:spChg>
        <pc:spChg chg="mod">
          <ac:chgData name="Edson Utazi" userId="bcb3a38a-3ad0-4389-89a4-f1f4b25807d3" providerId="ADAL" clId="{6E6BB287-36A5-4019-B86C-EECBD7B9E602}" dt="2026-10-11T22:47:50.162" v="29198" actId="14100"/>
          <ac:spMkLst>
            <pc:docMk/>
            <pc:sldMk cId="1332933936" sldId="322"/>
            <ac:spMk id="3" creationId="{500CAB20-B7CF-7C28-2303-5589EBC21A95}"/>
          </ac:spMkLst>
        </pc:spChg>
      </pc:sldChg>
      <pc:sldMasterChg chg="addSp delSp modSp mod">
        <pc:chgData name="Edson Utazi" userId="bcb3a38a-3ad0-4389-89a4-f1f4b25807d3" providerId="ADAL" clId="{6E6BB287-36A5-4019-B86C-EECBD7B9E602}" dt="2026-10-07T21:07:16.608" v="27430" actId="14100"/>
        <pc:sldMasterMkLst>
          <pc:docMk/>
          <pc:sldMasterMk cId="2850399362" sldId="2147483648"/>
        </pc:sldMasterMkLst>
        <pc:spChg chg="add mod">
          <ac:chgData name="Edson Utazi" userId="bcb3a38a-3ad0-4389-89a4-f1f4b25807d3" providerId="ADAL" clId="{6E6BB287-36A5-4019-B86C-EECBD7B9E602}" dt="2026-10-07T21:06:53.439" v="27426" actId="2085"/>
          <ac:spMkLst>
            <pc:docMk/>
            <pc:sldMasterMk cId="2850399362" sldId="2147483648"/>
            <ac:spMk id="11" creationId="{C559E7B3-6684-AE9C-313A-45AF70728373}"/>
          </ac:spMkLst>
        </pc:spChg>
        <pc:spChg chg="add mod">
          <ac:chgData name="Edson Utazi" userId="bcb3a38a-3ad0-4389-89a4-f1f4b25807d3" providerId="ADAL" clId="{6E6BB287-36A5-4019-B86C-EECBD7B9E602}" dt="2026-10-07T21:07:16.608" v="27430" actId="14100"/>
          <ac:spMkLst>
            <pc:docMk/>
            <pc:sldMasterMk cId="2850399362" sldId="2147483648"/>
            <ac:spMk id="13" creationId="{A58E5321-57F5-7B98-4EFD-7B9150FE4E2D}"/>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C7C70-7B5E-4C1C-AB18-FC05CD59880A}" type="datetimeFigureOut">
              <a:rPr lang="en-GB" smtClean="0"/>
              <a:t>11/10/2026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E97183-7044-4132-AD7C-437B2EAF4762}" type="slidenum">
              <a:rPr lang="en-GB" smtClean="0"/>
              <a:t>‹#›</a:t>
            </a:fld>
            <a:endParaRPr lang="en-GB"/>
          </a:p>
        </p:txBody>
      </p:sp>
    </p:spTree>
    <p:extLst>
      <p:ext uri="{BB962C8B-B14F-4D97-AF65-F5344CB8AC3E}">
        <p14:creationId xmlns:p14="http://schemas.microsoft.com/office/powerpoint/2010/main" val="489531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iscovery.ucl.ac.uk/1415919/1/Baio_BlaCamBaiRue.pdf"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Shape 138"/>
          <p:cNvSpPr>
            <a:spLocks noGrp="1" noRot="1" noChangeAspect="1"/>
          </p:cNvSpPr>
          <p:nvPr>
            <p:ph type="sldImg" idx="2"/>
          </p:nvPr>
        </p:nvSpPr>
        <p:spPr>
          <a:xfrm>
            <a:off x="90488" y="744538"/>
            <a:ext cx="6616700" cy="3722687"/>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9" name="Shape 139"/>
          <p:cNvSpPr txBox="1">
            <a:spLocks noGrp="1"/>
          </p:cNvSpPr>
          <p:nvPr>
            <p:ph type="body" idx="1"/>
          </p:nvPr>
        </p:nvSpPr>
        <p:spPr>
          <a:xfrm>
            <a:off x="679768" y="4715153"/>
            <a:ext cx="5438140" cy="4466987"/>
          </a:xfrm>
          <a:prstGeom prst="rect">
            <a:avLst/>
          </a:prstGeom>
        </p:spPr>
        <p:txBody>
          <a:bodyPr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317458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Relevant reference here is: https://share.google/Nxsr4Nh7eaB8ZJmlH </a:t>
            </a:r>
            <a:r>
              <a:rPr lang="en-GB" sz="1200" b="0" i="0" u="sng" strike="noStrike" kern="1200" dirty="0">
                <a:solidFill>
                  <a:schemeClr val="tx1"/>
                </a:solidFill>
                <a:effectLst/>
                <a:latin typeface="+mn-lt"/>
                <a:ea typeface="+mn-ea"/>
                <a:cs typeface="+mn-cs"/>
                <a:hlinkClick r:id="rId3"/>
              </a:rPr>
              <a:t>A tutorial in spatial and </a:t>
            </a:r>
            <a:r>
              <a:rPr lang="en-GB" sz="1200" b="0" i="0" u="sng" strike="noStrike" kern="1200" dirty="0" err="1">
                <a:solidFill>
                  <a:schemeClr val="tx1"/>
                </a:solidFill>
                <a:effectLst/>
                <a:latin typeface="+mn-lt"/>
                <a:ea typeface="+mn-ea"/>
                <a:cs typeface="+mn-cs"/>
                <a:hlinkClick r:id="rId3"/>
              </a:rPr>
              <a:t>spatio</a:t>
            </a:r>
            <a:r>
              <a:rPr lang="en-GB" sz="1200" b="0" i="0" u="sng" strike="noStrike" kern="1200" dirty="0">
                <a:solidFill>
                  <a:schemeClr val="tx1"/>
                </a:solidFill>
                <a:effectLst/>
                <a:latin typeface="+mn-lt"/>
                <a:ea typeface="+mn-ea"/>
                <a:cs typeface="+mn-cs"/>
                <a:hlinkClick r:id="rId3"/>
              </a:rPr>
              <a:t>-temporal models with R-INLA</a:t>
            </a:r>
          </a:p>
          <a:p>
            <a:endParaRPr lang="en-GB" dirty="0"/>
          </a:p>
        </p:txBody>
      </p:sp>
      <p:sp>
        <p:nvSpPr>
          <p:cNvPr id="4" name="Slide Number Placeholder 3"/>
          <p:cNvSpPr>
            <a:spLocks noGrp="1"/>
          </p:cNvSpPr>
          <p:nvPr>
            <p:ph type="sldNum" sz="quarter" idx="5"/>
          </p:nvPr>
        </p:nvSpPr>
        <p:spPr/>
        <p:txBody>
          <a:bodyPr/>
          <a:lstStyle/>
          <a:p>
            <a:fld id="{81E97183-7044-4132-AD7C-437B2EAF4762}" type="slidenum">
              <a:rPr lang="en-GB" smtClean="0"/>
              <a:t>41</a:t>
            </a:fld>
            <a:endParaRPr lang="en-GB"/>
          </a:p>
        </p:txBody>
      </p:sp>
    </p:spTree>
    <p:extLst>
      <p:ext uri="{BB962C8B-B14F-4D97-AF65-F5344CB8AC3E}">
        <p14:creationId xmlns:p14="http://schemas.microsoft.com/office/powerpoint/2010/main" val="2179120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06828-DFD8-7A6D-A31C-10E5EA2291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7772B3D-4C44-6123-63B1-E0758A158A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A969DDE-C4BD-B47F-1A5A-9BB9D011F4E9}"/>
              </a:ext>
            </a:extLst>
          </p:cNvPr>
          <p:cNvSpPr>
            <a:spLocks noGrp="1"/>
          </p:cNvSpPr>
          <p:nvPr>
            <p:ph type="dt" sz="half" idx="10"/>
          </p:nvPr>
        </p:nvSpPr>
        <p:spPr/>
        <p:txBody>
          <a:bodyPr/>
          <a:lstStyle/>
          <a:p>
            <a:fld id="{96DFC5B5-4C55-46BD-A9EB-5068F0E7A235}" type="datetime1">
              <a:rPr lang="en-GB" smtClean="0"/>
              <a:t>11/10/2026</a:t>
            </a:fld>
            <a:endParaRPr lang="en-GB"/>
          </a:p>
        </p:txBody>
      </p:sp>
      <p:sp>
        <p:nvSpPr>
          <p:cNvPr id="5" name="Footer Placeholder 4">
            <a:extLst>
              <a:ext uri="{FF2B5EF4-FFF2-40B4-BE49-F238E27FC236}">
                <a16:creationId xmlns:a16="http://schemas.microsoft.com/office/drawing/2014/main" id="{EA8CC5CC-0CF5-8FAF-A9DD-B82D1BBCCF5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8F2381-92C6-CE9C-8E0D-00437D625907}"/>
              </a:ext>
            </a:extLst>
          </p:cNvPr>
          <p:cNvSpPr>
            <a:spLocks noGrp="1"/>
          </p:cNvSpPr>
          <p:nvPr>
            <p:ph type="sldNum" sz="quarter" idx="12"/>
          </p:nvPr>
        </p:nvSpPr>
        <p:spPr/>
        <p:txBody>
          <a:bodyPr/>
          <a:lstStyle/>
          <a:p>
            <a:fld id="{92E773D0-8039-41DE-9EAA-38744617136D}" type="slidenum">
              <a:rPr lang="en-GB" smtClean="0"/>
              <a:t>‹#›</a:t>
            </a:fld>
            <a:endParaRPr lang="en-GB"/>
          </a:p>
        </p:txBody>
      </p:sp>
    </p:spTree>
    <p:extLst>
      <p:ext uri="{BB962C8B-B14F-4D97-AF65-F5344CB8AC3E}">
        <p14:creationId xmlns:p14="http://schemas.microsoft.com/office/powerpoint/2010/main" val="235865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9BCE6-C5DE-7D30-925F-FE886584A5D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6994706-A0E1-CA26-71D5-26784D29B3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73A35D2-9E61-D2D7-71B7-16CEC31F30AA}"/>
              </a:ext>
            </a:extLst>
          </p:cNvPr>
          <p:cNvSpPr>
            <a:spLocks noGrp="1"/>
          </p:cNvSpPr>
          <p:nvPr>
            <p:ph type="dt" sz="half" idx="10"/>
          </p:nvPr>
        </p:nvSpPr>
        <p:spPr/>
        <p:txBody>
          <a:bodyPr/>
          <a:lstStyle/>
          <a:p>
            <a:fld id="{5064CE49-7FCD-4206-9E70-2A32DA76F15F}" type="datetime1">
              <a:rPr lang="en-GB" smtClean="0"/>
              <a:t>11/10/2026</a:t>
            </a:fld>
            <a:endParaRPr lang="en-GB"/>
          </a:p>
        </p:txBody>
      </p:sp>
      <p:sp>
        <p:nvSpPr>
          <p:cNvPr id="5" name="Footer Placeholder 4">
            <a:extLst>
              <a:ext uri="{FF2B5EF4-FFF2-40B4-BE49-F238E27FC236}">
                <a16:creationId xmlns:a16="http://schemas.microsoft.com/office/drawing/2014/main" id="{1CCC85F8-6FC1-AFE9-2E71-FCE7F20D763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E0EDDB4-4BBA-11D2-C3A3-D0B6B4B04B4F}"/>
              </a:ext>
            </a:extLst>
          </p:cNvPr>
          <p:cNvSpPr>
            <a:spLocks noGrp="1"/>
          </p:cNvSpPr>
          <p:nvPr>
            <p:ph type="sldNum" sz="quarter" idx="12"/>
          </p:nvPr>
        </p:nvSpPr>
        <p:spPr/>
        <p:txBody>
          <a:bodyPr/>
          <a:lstStyle/>
          <a:p>
            <a:fld id="{92E773D0-8039-41DE-9EAA-38744617136D}" type="slidenum">
              <a:rPr lang="en-GB" smtClean="0"/>
              <a:t>‹#›</a:t>
            </a:fld>
            <a:endParaRPr lang="en-GB"/>
          </a:p>
        </p:txBody>
      </p:sp>
    </p:spTree>
    <p:extLst>
      <p:ext uri="{BB962C8B-B14F-4D97-AF65-F5344CB8AC3E}">
        <p14:creationId xmlns:p14="http://schemas.microsoft.com/office/powerpoint/2010/main" val="2460653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EDF97-3557-69AB-C469-3B5CBDCF69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7870AF8-4058-A895-EDBA-382DBFEE18E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4F67D2-4B0B-B40D-F5EB-7A67746697F4}"/>
              </a:ext>
            </a:extLst>
          </p:cNvPr>
          <p:cNvSpPr>
            <a:spLocks noGrp="1"/>
          </p:cNvSpPr>
          <p:nvPr>
            <p:ph type="dt" sz="half" idx="10"/>
          </p:nvPr>
        </p:nvSpPr>
        <p:spPr/>
        <p:txBody>
          <a:bodyPr/>
          <a:lstStyle/>
          <a:p>
            <a:fld id="{43F2A214-2A68-4476-ADBE-BD32126D101B}" type="datetime1">
              <a:rPr lang="en-GB" smtClean="0"/>
              <a:t>11/10/2026</a:t>
            </a:fld>
            <a:endParaRPr lang="en-GB"/>
          </a:p>
        </p:txBody>
      </p:sp>
      <p:sp>
        <p:nvSpPr>
          <p:cNvPr id="5" name="Footer Placeholder 4">
            <a:extLst>
              <a:ext uri="{FF2B5EF4-FFF2-40B4-BE49-F238E27FC236}">
                <a16:creationId xmlns:a16="http://schemas.microsoft.com/office/drawing/2014/main" id="{BFBF6E7E-5B90-1061-78C3-80F2909AA4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C99540A-A875-4851-718C-48AEE4D5AC5F}"/>
              </a:ext>
            </a:extLst>
          </p:cNvPr>
          <p:cNvSpPr>
            <a:spLocks noGrp="1"/>
          </p:cNvSpPr>
          <p:nvPr>
            <p:ph type="sldNum" sz="quarter" idx="12"/>
          </p:nvPr>
        </p:nvSpPr>
        <p:spPr/>
        <p:txBody>
          <a:bodyPr/>
          <a:lstStyle/>
          <a:p>
            <a:fld id="{92E773D0-8039-41DE-9EAA-38744617136D}" type="slidenum">
              <a:rPr lang="en-GB" smtClean="0"/>
              <a:t>‹#›</a:t>
            </a:fld>
            <a:endParaRPr lang="en-GB"/>
          </a:p>
        </p:txBody>
      </p:sp>
    </p:spTree>
    <p:extLst>
      <p:ext uri="{BB962C8B-B14F-4D97-AF65-F5344CB8AC3E}">
        <p14:creationId xmlns:p14="http://schemas.microsoft.com/office/powerpoint/2010/main" val="448400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6A532-AE37-0D94-5017-D40AA8F7712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530CFE6-E952-8610-7756-F870D1AE40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A12948A-C42A-C76F-9915-88464FAAA0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33ABF4B-941E-1404-6CC4-FC6E58B8DAE6}"/>
              </a:ext>
            </a:extLst>
          </p:cNvPr>
          <p:cNvSpPr>
            <a:spLocks noGrp="1"/>
          </p:cNvSpPr>
          <p:nvPr>
            <p:ph type="dt" sz="half" idx="10"/>
          </p:nvPr>
        </p:nvSpPr>
        <p:spPr/>
        <p:txBody>
          <a:bodyPr/>
          <a:lstStyle/>
          <a:p>
            <a:fld id="{4EAD07A6-FDB0-4D4B-9EE7-5B8968D1C315}" type="datetime1">
              <a:rPr lang="en-GB" smtClean="0"/>
              <a:t>11/10/2026</a:t>
            </a:fld>
            <a:endParaRPr lang="en-GB"/>
          </a:p>
        </p:txBody>
      </p:sp>
      <p:sp>
        <p:nvSpPr>
          <p:cNvPr id="6" name="Footer Placeholder 5">
            <a:extLst>
              <a:ext uri="{FF2B5EF4-FFF2-40B4-BE49-F238E27FC236}">
                <a16:creationId xmlns:a16="http://schemas.microsoft.com/office/drawing/2014/main" id="{302285EA-CCDE-8198-7D41-805AD1E0277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845E434-F1FF-7BA7-9CFE-E56DDB709841}"/>
              </a:ext>
            </a:extLst>
          </p:cNvPr>
          <p:cNvSpPr>
            <a:spLocks noGrp="1"/>
          </p:cNvSpPr>
          <p:nvPr>
            <p:ph type="sldNum" sz="quarter" idx="12"/>
          </p:nvPr>
        </p:nvSpPr>
        <p:spPr/>
        <p:txBody>
          <a:bodyPr/>
          <a:lstStyle/>
          <a:p>
            <a:fld id="{92E773D0-8039-41DE-9EAA-38744617136D}" type="slidenum">
              <a:rPr lang="en-GB" smtClean="0"/>
              <a:t>‹#›</a:t>
            </a:fld>
            <a:endParaRPr lang="en-GB"/>
          </a:p>
        </p:txBody>
      </p:sp>
    </p:spTree>
    <p:extLst>
      <p:ext uri="{BB962C8B-B14F-4D97-AF65-F5344CB8AC3E}">
        <p14:creationId xmlns:p14="http://schemas.microsoft.com/office/powerpoint/2010/main" val="3326713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729F0-DAD7-2779-8AF7-8FD74FB8735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09A9D94-1C69-7AA2-B462-379DD05E0A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7C9AA2-2A5A-14FE-549C-6552EA8167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C934B9D-55E7-7FC3-E409-2547099EB5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DAF90C-CAE6-0853-C05E-67E447D451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1A774E1-4320-E17F-090B-B147357C92EE}"/>
              </a:ext>
            </a:extLst>
          </p:cNvPr>
          <p:cNvSpPr>
            <a:spLocks noGrp="1"/>
          </p:cNvSpPr>
          <p:nvPr>
            <p:ph type="dt" sz="half" idx="10"/>
          </p:nvPr>
        </p:nvSpPr>
        <p:spPr/>
        <p:txBody>
          <a:bodyPr/>
          <a:lstStyle/>
          <a:p>
            <a:fld id="{00A015CF-F68C-48CC-B69D-FB8EE8E40665}" type="datetime1">
              <a:rPr lang="en-GB" smtClean="0"/>
              <a:t>11/10/2026</a:t>
            </a:fld>
            <a:endParaRPr lang="en-GB"/>
          </a:p>
        </p:txBody>
      </p:sp>
      <p:sp>
        <p:nvSpPr>
          <p:cNvPr id="8" name="Footer Placeholder 7">
            <a:extLst>
              <a:ext uri="{FF2B5EF4-FFF2-40B4-BE49-F238E27FC236}">
                <a16:creationId xmlns:a16="http://schemas.microsoft.com/office/drawing/2014/main" id="{A2949EE6-183A-885E-DBAF-AFCDACD3CCB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0FDBD12-C625-3417-A06A-0D7F25DC325E}"/>
              </a:ext>
            </a:extLst>
          </p:cNvPr>
          <p:cNvSpPr>
            <a:spLocks noGrp="1"/>
          </p:cNvSpPr>
          <p:nvPr>
            <p:ph type="sldNum" sz="quarter" idx="12"/>
          </p:nvPr>
        </p:nvSpPr>
        <p:spPr/>
        <p:txBody>
          <a:bodyPr/>
          <a:lstStyle/>
          <a:p>
            <a:fld id="{92E773D0-8039-41DE-9EAA-38744617136D}" type="slidenum">
              <a:rPr lang="en-GB" smtClean="0"/>
              <a:t>‹#›</a:t>
            </a:fld>
            <a:endParaRPr lang="en-GB"/>
          </a:p>
        </p:txBody>
      </p:sp>
    </p:spTree>
    <p:extLst>
      <p:ext uri="{BB962C8B-B14F-4D97-AF65-F5344CB8AC3E}">
        <p14:creationId xmlns:p14="http://schemas.microsoft.com/office/powerpoint/2010/main" val="1758093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E022-28B4-328D-3831-7F04AC9438F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FDBFAE4-D74A-DAE1-C183-6EEB9C9EFD6B}"/>
              </a:ext>
            </a:extLst>
          </p:cNvPr>
          <p:cNvSpPr>
            <a:spLocks noGrp="1"/>
          </p:cNvSpPr>
          <p:nvPr>
            <p:ph type="dt" sz="half" idx="10"/>
          </p:nvPr>
        </p:nvSpPr>
        <p:spPr/>
        <p:txBody>
          <a:bodyPr/>
          <a:lstStyle/>
          <a:p>
            <a:fld id="{4B696EC3-BD2A-4703-9988-1081BB80949D}" type="datetime1">
              <a:rPr lang="en-GB" smtClean="0"/>
              <a:t>11/10/2026</a:t>
            </a:fld>
            <a:endParaRPr lang="en-GB"/>
          </a:p>
        </p:txBody>
      </p:sp>
      <p:sp>
        <p:nvSpPr>
          <p:cNvPr id="4" name="Footer Placeholder 3">
            <a:extLst>
              <a:ext uri="{FF2B5EF4-FFF2-40B4-BE49-F238E27FC236}">
                <a16:creationId xmlns:a16="http://schemas.microsoft.com/office/drawing/2014/main" id="{DFF243CC-706A-4CDA-BCB3-90DED9B7401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9ED9662-5E07-45D3-23A5-E7947CB83F76}"/>
              </a:ext>
            </a:extLst>
          </p:cNvPr>
          <p:cNvSpPr>
            <a:spLocks noGrp="1"/>
          </p:cNvSpPr>
          <p:nvPr>
            <p:ph type="sldNum" sz="quarter" idx="12"/>
          </p:nvPr>
        </p:nvSpPr>
        <p:spPr/>
        <p:txBody>
          <a:bodyPr/>
          <a:lstStyle/>
          <a:p>
            <a:fld id="{92E773D0-8039-41DE-9EAA-38744617136D}" type="slidenum">
              <a:rPr lang="en-GB" smtClean="0"/>
              <a:t>‹#›</a:t>
            </a:fld>
            <a:endParaRPr lang="en-GB"/>
          </a:p>
        </p:txBody>
      </p:sp>
    </p:spTree>
    <p:extLst>
      <p:ext uri="{BB962C8B-B14F-4D97-AF65-F5344CB8AC3E}">
        <p14:creationId xmlns:p14="http://schemas.microsoft.com/office/powerpoint/2010/main" val="3812895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C8A359-89B9-560B-0146-ADFDE6BF9586}"/>
              </a:ext>
            </a:extLst>
          </p:cNvPr>
          <p:cNvSpPr>
            <a:spLocks noGrp="1"/>
          </p:cNvSpPr>
          <p:nvPr>
            <p:ph type="dt" sz="half" idx="10"/>
          </p:nvPr>
        </p:nvSpPr>
        <p:spPr/>
        <p:txBody>
          <a:bodyPr/>
          <a:lstStyle/>
          <a:p>
            <a:fld id="{01D68C9D-7B4F-4A20-AD96-0570605D7207}" type="datetime1">
              <a:rPr lang="en-GB" smtClean="0"/>
              <a:t>11/10/2026</a:t>
            </a:fld>
            <a:endParaRPr lang="en-GB"/>
          </a:p>
        </p:txBody>
      </p:sp>
      <p:sp>
        <p:nvSpPr>
          <p:cNvPr id="3" name="Footer Placeholder 2">
            <a:extLst>
              <a:ext uri="{FF2B5EF4-FFF2-40B4-BE49-F238E27FC236}">
                <a16:creationId xmlns:a16="http://schemas.microsoft.com/office/drawing/2014/main" id="{E4AE651C-15AC-311A-400B-C8B4CC1C98B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FA8C4AB-4DB2-EEFF-58CF-FA367FB4A6CF}"/>
              </a:ext>
            </a:extLst>
          </p:cNvPr>
          <p:cNvSpPr>
            <a:spLocks noGrp="1"/>
          </p:cNvSpPr>
          <p:nvPr>
            <p:ph type="sldNum" sz="quarter" idx="12"/>
          </p:nvPr>
        </p:nvSpPr>
        <p:spPr/>
        <p:txBody>
          <a:bodyPr/>
          <a:lstStyle/>
          <a:p>
            <a:fld id="{92E773D0-8039-41DE-9EAA-38744617136D}" type="slidenum">
              <a:rPr lang="en-GB" smtClean="0"/>
              <a:t>‹#›</a:t>
            </a:fld>
            <a:endParaRPr lang="en-GB"/>
          </a:p>
        </p:txBody>
      </p:sp>
    </p:spTree>
    <p:extLst>
      <p:ext uri="{BB962C8B-B14F-4D97-AF65-F5344CB8AC3E}">
        <p14:creationId xmlns:p14="http://schemas.microsoft.com/office/powerpoint/2010/main" val="3175858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3E615-7EA5-7631-38B6-C499CA1E89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8679725-3A4B-33DC-F7F0-1758A7EA0F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F0771BA-8A5A-AE4F-E418-8EB377941A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00564A-E049-AAAB-539B-D7D2CD302132}"/>
              </a:ext>
            </a:extLst>
          </p:cNvPr>
          <p:cNvSpPr>
            <a:spLocks noGrp="1"/>
          </p:cNvSpPr>
          <p:nvPr>
            <p:ph type="dt" sz="half" idx="10"/>
          </p:nvPr>
        </p:nvSpPr>
        <p:spPr/>
        <p:txBody>
          <a:bodyPr/>
          <a:lstStyle/>
          <a:p>
            <a:fld id="{2E1FFB1C-3E24-47F8-80B7-4AFDD77B49CF}" type="datetime1">
              <a:rPr lang="en-GB" smtClean="0"/>
              <a:t>11/10/2026</a:t>
            </a:fld>
            <a:endParaRPr lang="en-GB"/>
          </a:p>
        </p:txBody>
      </p:sp>
      <p:sp>
        <p:nvSpPr>
          <p:cNvPr id="6" name="Footer Placeholder 5">
            <a:extLst>
              <a:ext uri="{FF2B5EF4-FFF2-40B4-BE49-F238E27FC236}">
                <a16:creationId xmlns:a16="http://schemas.microsoft.com/office/drawing/2014/main" id="{661C394B-D250-74F3-6ECF-BD568F12AB2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14988DB-A0A7-F5EC-42D7-8278DFBAA28E}"/>
              </a:ext>
            </a:extLst>
          </p:cNvPr>
          <p:cNvSpPr>
            <a:spLocks noGrp="1"/>
          </p:cNvSpPr>
          <p:nvPr>
            <p:ph type="sldNum" sz="quarter" idx="12"/>
          </p:nvPr>
        </p:nvSpPr>
        <p:spPr/>
        <p:txBody>
          <a:bodyPr/>
          <a:lstStyle/>
          <a:p>
            <a:fld id="{92E773D0-8039-41DE-9EAA-38744617136D}" type="slidenum">
              <a:rPr lang="en-GB" smtClean="0"/>
              <a:t>‹#›</a:t>
            </a:fld>
            <a:endParaRPr lang="en-GB"/>
          </a:p>
        </p:txBody>
      </p:sp>
    </p:spTree>
    <p:extLst>
      <p:ext uri="{BB962C8B-B14F-4D97-AF65-F5344CB8AC3E}">
        <p14:creationId xmlns:p14="http://schemas.microsoft.com/office/powerpoint/2010/main" val="2907444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5FB22-9640-B0D6-3B23-9AD1455A74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9A63962-9DA9-3730-233B-3D7CBD534B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D7E7939-A0DF-6C95-612C-991B4FCEC1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A21EE2-0FE2-08CA-DFD6-55B87BFF59FB}"/>
              </a:ext>
            </a:extLst>
          </p:cNvPr>
          <p:cNvSpPr>
            <a:spLocks noGrp="1"/>
          </p:cNvSpPr>
          <p:nvPr>
            <p:ph type="dt" sz="half" idx="10"/>
          </p:nvPr>
        </p:nvSpPr>
        <p:spPr/>
        <p:txBody>
          <a:bodyPr/>
          <a:lstStyle/>
          <a:p>
            <a:fld id="{1EA78B13-AD1D-4114-9ED1-C88B46CDBFEA}" type="datetime1">
              <a:rPr lang="en-GB" smtClean="0"/>
              <a:t>11/10/2026</a:t>
            </a:fld>
            <a:endParaRPr lang="en-GB"/>
          </a:p>
        </p:txBody>
      </p:sp>
      <p:sp>
        <p:nvSpPr>
          <p:cNvPr id="6" name="Footer Placeholder 5">
            <a:extLst>
              <a:ext uri="{FF2B5EF4-FFF2-40B4-BE49-F238E27FC236}">
                <a16:creationId xmlns:a16="http://schemas.microsoft.com/office/drawing/2014/main" id="{AC137D40-8134-C0B8-001A-6984FAFA2B8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1A26B81-9D2C-8442-DDDF-E63155A5E8A3}"/>
              </a:ext>
            </a:extLst>
          </p:cNvPr>
          <p:cNvSpPr>
            <a:spLocks noGrp="1"/>
          </p:cNvSpPr>
          <p:nvPr>
            <p:ph type="sldNum" sz="quarter" idx="12"/>
          </p:nvPr>
        </p:nvSpPr>
        <p:spPr/>
        <p:txBody>
          <a:bodyPr/>
          <a:lstStyle/>
          <a:p>
            <a:fld id="{92E773D0-8039-41DE-9EAA-38744617136D}" type="slidenum">
              <a:rPr lang="en-GB" smtClean="0"/>
              <a:t>‹#›</a:t>
            </a:fld>
            <a:endParaRPr lang="en-GB"/>
          </a:p>
        </p:txBody>
      </p:sp>
    </p:spTree>
    <p:extLst>
      <p:ext uri="{BB962C8B-B14F-4D97-AF65-F5344CB8AC3E}">
        <p14:creationId xmlns:p14="http://schemas.microsoft.com/office/powerpoint/2010/main" val="3246607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C70B0-E61E-E027-4044-95F3072D236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4BBF63B-18EC-B988-CFC1-24BA65AD2E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CC756B1-969D-BC4F-5554-F1B42C1EBD89}"/>
              </a:ext>
            </a:extLst>
          </p:cNvPr>
          <p:cNvSpPr>
            <a:spLocks noGrp="1"/>
          </p:cNvSpPr>
          <p:nvPr>
            <p:ph type="dt" sz="half" idx="10"/>
          </p:nvPr>
        </p:nvSpPr>
        <p:spPr/>
        <p:txBody>
          <a:bodyPr/>
          <a:lstStyle/>
          <a:p>
            <a:fld id="{0AF115E5-BE2E-4C5E-A3DE-5B5DD8AD4A36}" type="datetime1">
              <a:rPr lang="en-GB" smtClean="0"/>
              <a:t>11/10/2026</a:t>
            </a:fld>
            <a:endParaRPr lang="en-GB"/>
          </a:p>
        </p:txBody>
      </p:sp>
      <p:sp>
        <p:nvSpPr>
          <p:cNvPr id="5" name="Footer Placeholder 4">
            <a:extLst>
              <a:ext uri="{FF2B5EF4-FFF2-40B4-BE49-F238E27FC236}">
                <a16:creationId xmlns:a16="http://schemas.microsoft.com/office/drawing/2014/main" id="{5EFEBD8C-8EC4-6441-7E33-12F0BF84CBD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CB018B8-592F-AE03-4702-AD83CC83068D}"/>
              </a:ext>
            </a:extLst>
          </p:cNvPr>
          <p:cNvSpPr>
            <a:spLocks noGrp="1"/>
          </p:cNvSpPr>
          <p:nvPr>
            <p:ph type="sldNum" sz="quarter" idx="12"/>
          </p:nvPr>
        </p:nvSpPr>
        <p:spPr/>
        <p:txBody>
          <a:bodyPr/>
          <a:lstStyle/>
          <a:p>
            <a:fld id="{92E773D0-8039-41DE-9EAA-38744617136D}" type="slidenum">
              <a:rPr lang="en-GB" smtClean="0"/>
              <a:t>‹#›</a:t>
            </a:fld>
            <a:endParaRPr lang="en-GB"/>
          </a:p>
        </p:txBody>
      </p:sp>
    </p:spTree>
    <p:extLst>
      <p:ext uri="{BB962C8B-B14F-4D97-AF65-F5344CB8AC3E}">
        <p14:creationId xmlns:p14="http://schemas.microsoft.com/office/powerpoint/2010/main" val="2127758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1C6DB7-13B1-ED4F-1911-D0C547CFC8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CF44776-323C-9295-1F24-81E5E6CB54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E1438B-88A2-3231-FF7B-CD5CEEC04229}"/>
              </a:ext>
            </a:extLst>
          </p:cNvPr>
          <p:cNvSpPr>
            <a:spLocks noGrp="1"/>
          </p:cNvSpPr>
          <p:nvPr>
            <p:ph type="dt" sz="half" idx="10"/>
          </p:nvPr>
        </p:nvSpPr>
        <p:spPr/>
        <p:txBody>
          <a:bodyPr/>
          <a:lstStyle/>
          <a:p>
            <a:fld id="{97F57F90-4DD1-4358-9493-3824C7952DA1}" type="datetime1">
              <a:rPr lang="en-GB" smtClean="0"/>
              <a:t>11/10/2026</a:t>
            </a:fld>
            <a:endParaRPr lang="en-GB"/>
          </a:p>
        </p:txBody>
      </p:sp>
      <p:sp>
        <p:nvSpPr>
          <p:cNvPr id="5" name="Footer Placeholder 4">
            <a:extLst>
              <a:ext uri="{FF2B5EF4-FFF2-40B4-BE49-F238E27FC236}">
                <a16:creationId xmlns:a16="http://schemas.microsoft.com/office/drawing/2014/main" id="{81E5062B-508B-A91A-49D7-636260CB5E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F5265D5-FDFC-7BFE-DB71-A9126C3CE395}"/>
              </a:ext>
            </a:extLst>
          </p:cNvPr>
          <p:cNvSpPr>
            <a:spLocks noGrp="1"/>
          </p:cNvSpPr>
          <p:nvPr>
            <p:ph type="sldNum" sz="quarter" idx="12"/>
          </p:nvPr>
        </p:nvSpPr>
        <p:spPr/>
        <p:txBody>
          <a:bodyPr/>
          <a:lstStyle/>
          <a:p>
            <a:fld id="{92E773D0-8039-41DE-9EAA-38744617136D}" type="slidenum">
              <a:rPr lang="en-GB" smtClean="0"/>
              <a:t>‹#›</a:t>
            </a:fld>
            <a:endParaRPr lang="en-GB"/>
          </a:p>
        </p:txBody>
      </p:sp>
    </p:spTree>
    <p:extLst>
      <p:ext uri="{BB962C8B-B14F-4D97-AF65-F5344CB8AC3E}">
        <p14:creationId xmlns:p14="http://schemas.microsoft.com/office/powerpoint/2010/main" val="2172686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15600" y="593367"/>
            <a:ext cx="11360800" cy="763600"/>
          </a:xfrm>
          <a:prstGeom prst="rect">
            <a:avLst/>
          </a:prstGeom>
        </p:spPr>
        <p:txBody>
          <a:bodyPr wrap="square" lIns="121897" tIns="121897" rIns="121897" bIns="121897"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dirty="0"/>
          </a:p>
        </p:txBody>
      </p:sp>
      <p:sp>
        <p:nvSpPr>
          <p:cNvPr id="18" name="Shape 18"/>
          <p:cNvSpPr txBox="1">
            <a:spLocks noGrp="1"/>
          </p:cNvSpPr>
          <p:nvPr>
            <p:ph type="body" idx="1"/>
          </p:nvPr>
        </p:nvSpPr>
        <p:spPr>
          <a:xfrm>
            <a:off x="415600" y="1536633"/>
            <a:ext cx="11360800" cy="4555200"/>
          </a:xfrm>
          <a:prstGeom prst="rect">
            <a:avLst/>
          </a:prstGeom>
        </p:spPr>
        <p:txBody>
          <a:bodyPr wrap="square" lIns="121897" tIns="121897" rIns="121897" bIns="121897"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9" name="Shape 19"/>
          <p:cNvSpPr txBox="1">
            <a:spLocks noGrp="1"/>
          </p:cNvSpPr>
          <p:nvPr>
            <p:ph type="sldNum" idx="12"/>
          </p:nvPr>
        </p:nvSpPr>
        <p:spPr>
          <a:xfrm>
            <a:off x="11296611" y="6217623"/>
            <a:ext cx="731600" cy="524800"/>
          </a:xfrm>
          <a:prstGeom prst="rect">
            <a:avLst/>
          </a:prstGeom>
        </p:spPr>
        <p:txBody>
          <a:bodyPr wrap="square" lIns="121897" tIns="121897" rIns="121897" bIns="121897" anchor="ctr" anchorCtr="0">
            <a:noAutofit/>
          </a:bodyPr>
          <a:lstStyle/>
          <a:p>
            <a:fld id="{00000000-1234-1234-1234-123412341234}" type="slidenum">
              <a:rPr lang="sv" smtClean="0"/>
              <a:pPr/>
              <a:t>‹#›</a:t>
            </a:fld>
            <a:endParaRPr lang="sv"/>
          </a:p>
        </p:txBody>
      </p:sp>
    </p:spTree>
    <p:extLst>
      <p:ext uri="{BB962C8B-B14F-4D97-AF65-F5344CB8AC3E}">
        <p14:creationId xmlns:p14="http://schemas.microsoft.com/office/powerpoint/2010/main" val="2376910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DBC7D8-874F-F16D-3FFA-E00720F2EC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641D689-EAA7-7A81-A863-961A1CCF6C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8552BF7-54FC-ABBD-E33D-0110FC9A74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740B95-FC79-4EA1-8D85-7262467523DE}" type="datetime1">
              <a:rPr lang="en-GB" smtClean="0"/>
              <a:t>11/10/2026</a:t>
            </a:fld>
            <a:endParaRPr lang="en-GB"/>
          </a:p>
        </p:txBody>
      </p:sp>
      <p:sp>
        <p:nvSpPr>
          <p:cNvPr id="5" name="Footer Placeholder 4">
            <a:extLst>
              <a:ext uri="{FF2B5EF4-FFF2-40B4-BE49-F238E27FC236}">
                <a16:creationId xmlns:a16="http://schemas.microsoft.com/office/drawing/2014/main" id="{38BBE07B-9364-99F0-CF89-4A2B2E9E43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C2E37F0-3C5E-9963-D6AD-F6C0BF7B92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E773D0-8039-41DE-9EAA-38744617136D}" type="slidenum">
              <a:rPr lang="en-GB" smtClean="0"/>
              <a:t>‹#›</a:t>
            </a:fld>
            <a:endParaRPr lang="en-GB"/>
          </a:p>
        </p:txBody>
      </p:sp>
      <p:sp>
        <p:nvSpPr>
          <p:cNvPr id="11" name="Rectangle 10">
            <a:extLst>
              <a:ext uri="{FF2B5EF4-FFF2-40B4-BE49-F238E27FC236}">
                <a16:creationId xmlns:a16="http://schemas.microsoft.com/office/drawing/2014/main" id="{C559E7B3-6684-AE9C-313A-45AF70728373}"/>
              </a:ext>
            </a:extLst>
          </p:cNvPr>
          <p:cNvSpPr/>
          <p:nvPr userDrawn="1"/>
        </p:nvSpPr>
        <p:spPr>
          <a:xfrm>
            <a:off x="0" y="6721475"/>
            <a:ext cx="12192000" cy="1365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A58E5321-57F5-7B98-4EFD-7B9150FE4E2D}"/>
              </a:ext>
            </a:extLst>
          </p:cNvPr>
          <p:cNvSpPr/>
          <p:nvPr userDrawn="1"/>
        </p:nvSpPr>
        <p:spPr>
          <a:xfrm>
            <a:off x="0" y="0"/>
            <a:ext cx="12192000" cy="8286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5039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www.inlabru.org/" TargetMode="External"/><Relationship Id="rId2" Type="http://schemas.openxmlformats.org/officeDocument/2006/relationships/hyperlink" Target="http://www.r-inla.org/"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inlabru-org.github.io/inlabru/index.html" TargetMode="External"/><Relationship Id="rId2" Type="http://schemas.openxmlformats.org/officeDocument/2006/relationships/hyperlink" Target="https://www.r-inla.org/" TargetMode="External"/><Relationship Id="rId1" Type="http://schemas.openxmlformats.org/officeDocument/2006/relationships/slideLayout" Target="../slideLayouts/slideLayout2.xml"/><Relationship Id="rId4" Type="http://schemas.openxmlformats.org/officeDocument/2006/relationships/hyperlink" Target="https://inlabru-org.github.io/inlabruCourseMay2025/index.htm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paulamoraga.com/book-spatial/" TargetMode="External"/><Relationship Id="rId2" Type="http://schemas.openxmlformats.org/officeDocument/2006/relationships/hyperlink" Target="https://www.paulamoraga.com/book-geospatial/index.html" TargetMode="External"/><Relationship Id="rId1" Type="http://schemas.openxmlformats.org/officeDocument/2006/relationships/slideLayout" Target="../slideLayouts/slideLayout2.xml"/><Relationship Id="rId5" Type="http://schemas.openxmlformats.org/officeDocument/2006/relationships/hyperlink" Target="https://becarioprecario.bitbucket.io/inla-gitbook/" TargetMode="External"/><Relationship Id="rId4" Type="http://schemas.openxmlformats.org/officeDocument/2006/relationships/hyperlink" Target="https://www.routledge.com/Bayesian-Modeling-of-Spatio-Temporal-Data-with-R/Sahu/p/book/9781032209579" TargetMode="External"/></Relationships>
</file>

<file path=ppt/slides/_rels/slide48.xml.rels><?xml version="1.0" encoding="UTF-8" standalone="yes"?>
<Relationships xmlns="http://schemas.openxmlformats.org/package/2006/relationships"><Relationship Id="rId2" Type="http://schemas.openxmlformats.org/officeDocument/2006/relationships/hyperlink" Target="https://doi.org/10.1002/978111895020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Shape 141"/>
          <p:cNvPicPr preferRelativeResize="0"/>
          <p:nvPr/>
        </p:nvPicPr>
        <p:blipFill rotWithShape="1">
          <a:blip r:embed="rId3">
            <a:alphaModFix/>
          </a:blip>
          <a:srcRect t="16840"/>
          <a:stretch/>
        </p:blipFill>
        <p:spPr>
          <a:xfrm>
            <a:off x="0" y="0"/>
            <a:ext cx="12191992" cy="5519080"/>
          </a:xfrm>
          <a:prstGeom prst="rect">
            <a:avLst/>
          </a:prstGeom>
          <a:noFill/>
          <a:ln>
            <a:noFill/>
          </a:ln>
        </p:spPr>
      </p:pic>
      <p:sp>
        <p:nvSpPr>
          <p:cNvPr id="142" name="Shape 142"/>
          <p:cNvSpPr txBox="1"/>
          <p:nvPr/>
        </p:nvSpPr>
        <p:spPr>
          <a:xfrm>
            <a:off x="980220" y="748559"/>
            <a:ext cx="10231548" cy="1499949"/>
          </a:xfrm>
          <a:prstGeom prst="rect">
            <a:avLst/>
          </a:prstGeom>
          <a:noFill/>
          <a:ln>
            <a:noFill/>
          </a:ln>
        </p:spPr>
        <p:txBody>
          <a:bodyPr wrap="square" lIns="121897" tIns="121897" rIns="121897" bIns="121897" anchor="t" anchorCtr="0">
            <a:noAutofit/>
          </a:bodyPr>
          <a:lstStyle/>
          <a:p>
            <a:pPr algn="ctr">
              <a:buClr>
                <a:schemeClr val="dk1"/>
              </a:buClr>
              <a:buSzPct val="34375"/>
            </a:pPr>
            <a:r>
              <a:rPr lang="en-GB" sz="4400" b="1" dirty="0">
                <a:solidFill>
                  <a:schemeClr val="bg1"/>
                </a:solidFill>
              </a:rPr>
              <a:t>Introduction to Bayesian inference and computation using INLA and </a:t>
            </a:r>
            <a:r>
              <a:rPr lang="en-GB" sz="4400" b="1" dirty="0" err="1">
                <a:solidFill>
                  <a:schemeClr val="bg1"/>
                </a:solidFill>
              </a:rPr>
              <a:t>inlabru</a:t>
            </a:r>
            <a:endParaRPr lang="en-GB" sz="4400" b="1" dirty="0">
              <a:solidFill>
                <a:schemeClr val="bg1"/>
              </a:solidFill>
              <a:latin typeface="Merriweather"/>
              <a:ea typeface="Merriweather"/>
              <a:cs typeface="Arial" panose="020B0604020202020204" pitchFamily="34" charset="0"/>
              <a:sym typeface="Merriweather"/>
            </a:endParaRPr>
          </a:p>
        </p:txBody>
      </p:sp>
      <p:cxnSp>
        <p:nvCxnSpPr>
          <p:cNvPr id="143" name="Shape 143"/>
          <p:cNvCxnSpPr>
            <a:cxnSpLocks/>
          </p:cNvCxnSpPr>
          <p:nvPr/>
        </p:nvCxnSpPr>
        <p:spPr>
          <a:xfrm>
            <a:off x="5062862" y="3254457"/>
            <a:ext cx="1995791" cy="0"/>
          </a:xfrm>
          <a:prstGeom prst="straightConnector1">
            <a:avLst/>
          </a:prstGeom>
          <a:noFill/>
          <a:ln w="38100" cap="flat" cmpd="sng">
            <a:solidFill>
              <a:srgbClr val="FFFFFF"/>
            </a:solidFill>
            <a:prstDash val="solid"/>
            <a:round/>
            <a:headEnd type="none" w="lg" len="lg"/>
            <a:tailEnd type="none" w="lg" len="lg"/>
          </a:ln>
        </p:spPr>
      </p:cxnSp>
      <p:sp>
        <p:nvSpPr>
          <p:cNvPr id="144" name="Shape 144"/>
          <p:cNvSpPr txBox="1"/>
          <p:nvPr/>
        </p:nvSpPr>
        <p:spPr>
          <a:xfrm>
            <a:off x="4826936" y="3262280"/>
            <a:ext cx="2503870" cy="624085"/>
          </a:xfrm>
          <a:prstGeom prst="rect">
            <a:avLst/>
          </a:prstGeom>
          <a:noFill/>
          <a:ln>
            <a:noFill/>
          </a:ln>
        </p:spPr>
        <p:txBody>
          <a:bodyPr wrap="square" lIns="121897" tIns="121897" rIns="121897" bIns="121897" anchor="t" anchorCtr="0">
            <a:noAutofit/>
          </a:bodyPr>
          <a:lstStyle/>
          <a:p>
            <a:pPr algn="ctr"/>
            <a:r>
              <a:rPr lang="en-US" sz="2400" b="1" dirty="0">
                <a:solidFill>
                  <a:srgbClr val="FFFFFF"/>
                </a:solidFill>
                <a:latin typeface="Arial"/>
                <a:ea typeface="Roboto"/>
                <a:cs typeface="Arial"/>
                <a:sym typeface="Roboto"/>
              </a:rPr>
              <a:t>C. Edson Utazi</a:t>
            </a:r>
            <a:endParaRPr lang="en-US" sz="2400" i="1" dirty="0">
              <a:solidFill>
                <a:srgbClr val="FFFFFF"/>
              </a:solidFill>
              <a:latin typeface="Arial"/>
              <a:ea typeface="Roboto"/>
              <a:cs typeface="Arial"/>
            </a:endParaRPr>
          </a:p>
        </p:txBody>
      </p:sp>
      <p:sp>
        <p:nvSpPr>
          <p:cNvPr id="3" name="TextBox 2"/>
          <p:cNvSpPr txBox="1"/>
          <p:nvPr/>
        </p:nvSpPr>
        <p:spPr>
          <a:xfrm>
            <a:off x="5038975" y="4579462"/>
            <a:ext cx="2114041" cy="461665"/>
          </a:xfrm>
          <a:prstGeom prst="rect">
            <a:avLst/>
          </a:prstGeom>
          <a:noFill/>
        </p:spPr>
        <p:txBody>
          <a:bodyPr wrap="square" rtlCol="0">
            <a:spAutoFit/>
          </a:bodyPr>
          <a:lstStyle/>
          <a:p>
            <a:r>
              <a:rPr lang="en-GB" sz="2400" b="1" dirty="0">
                <a:solidFill>
                  <a:schemeClr val="bg1"/>
                </a:solidFill>
              </a:rPr>
              <a:t>October 2026</a:t>
            </a:r>
          </a:p>
        </p:txBody>
      </p:sp>
      <p:pic>
        <p:nvPicPr>
          <p:cNvPr id="8" name="object 3">
            <a:extLst>
              <a:ext uri="{FF2B5EF4-FFF2-40B4-BE49-F238E27FC236}">
                <a16:creationId xmlns:a16="http://schemas.microsoft.com/office/drawing/2014/main" id="{EF639841-7CC3-503D-2851-2B503B1C0D06}"/>
              </a:ext>
            </a:extLst>
          </p:cNvPr>
          <p:cNvPicPr/>
          <p:nvPr/>
        </p:nvPicPr>
        <p:blipFill>
          <a:blip r:embed="rId4" cstate="print"/>
          <a:stretch>
            <a:fillRect/>
          </a:stretch>
        </p:blipFill>
        <p:spPr>
          <a:xfrm>
            <a:off x="655710" y="5821569"/>
            <a:ext cx="2047296" cy="505410"/>
          </a:xfrm>
          <a:prstGeom prst="rect">
            <a:avLst/>
          </a:prstGeom>
        </p:spPr>
      </p:pic>
      <p:pic>
        <p:nvPicPr>
          <p:cNvPr id="9" name="Picture 8" descr="CISON - Chartered Institute of Statisticians of Nigeria | Chartered Institute of Statisticians of Nigeria (CISON)">
            <a:extLst>
              <a:ext uri="{FF2B5EF4-FFF2-40B4-BE49-F238E27FC236}">
                <a16:creationId xmlns:a16="http://schemas.microsoft.com/office/drawing/2014/main" id="{49DD535F-9456-13E4-5EB7-7326A0099AAC}"/>
              </a:ext>
            </a:extLst>
          </p:cNvPr>
          <p:cNvPicPr>
            <a:picLocks noChangeAspect="1"/>
          </p:cNvPicPr>
          <p:nvPr/>
        </p:nvPicPr>
        <p:blipFill>
          <a:blip r:embed="rId5"/>
          <a:stretch>
            <a:fillRect/>
          </a:stretch>
        </p:blipFill>
        <p:spPr>
          <a:xfrm>
            <a:off x="5670232" y="5718960"/>
            <a:ext cx="781049" cy="710627"/>
          </a:xfrm>
          <a:prstGeom prst="rect">
            <a:avLst/>
          </a:prstGeom>
        </p:spPr>
      </p:pic>
      <p:pic>
        <p:nvPicPr>
          <p:cNvPr id="13" name="Picture 12" descr="University of Southampton Vector Logo | Free Download - (.SVG + .PNG)  format - SeekVectorLogo.Com">
            <a:extLst>
              <a:ext uri="{FF2B5EF4-FFF2-40B4-BE49-F238E27FC236}">
                <a16:creationId xmlns:a16="http://schemas.microsoft.com/office/drawing/2014/main" id="{C0679261-FDE1-5A03-6963-FE84A5C275E7}"/>
              </a:ext>
            </a:extLst>
          </p:cNvPr>
          <p:cNvPicPr>
            <a:picLocks noChangeAspect="1"/>
          </p:cNvPicPr>
          <p:nvPr/>
        </p:nvPicPr>
        <p:blipFill>
          <a:blip r:embed="rId6"/>
          <a:srcRect t="30908" b="31538"/>
          <a:stretch>
            <a:fillRect/>
          </a:stretch>
        </p:blipFill>
        <p:spPr>
          <a:xfrm>
            <a:off x="8536939" y="5625849"/>
            <a:ext cx="3360643" cy="701130"/>
          </a:xfrm>
          <a:prstGeom prst="rect">
            <a:avLst/>
          </a:prstGeom>
        </p:spPr>
      </p:pic>
    </p:spTree>
    <p:extLst>
      <p:ext uri="{BB962C8B-B14F-4D97-AF65-F5344CB8AC3E}">
        <p14:creationId xmlns:p14="http://schemas.microsoft.com/office/powerpoint/2010/main" val="587861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4BD87-7066-F2A0-30A4-744D30E4BB45}"/>
              </a:ext>
            </a:extLst>
          </p:cNvPr>
          <p:cNvSpPr>
            <a:spLocks noGrp="1"/>
          </p:cNvSpPr>
          <p:nvPr>
            <p:ph type="title"/>
          </p:nvPr>
        </p:nvSpPr>
        <p:spPr>
          <a:xfrm>
            <a:off x="219075" y="66675"/>
            <a:ext cx="5476875" cy="714375"/>
          </a:xfrm>
        </p:spPr>
        <p:txBody>
          <a:bodyPr>
            <a:normAutofit/>
          </a:bodyPr>
          <a:lstStyle/>
          <a:p>
            <a:r>
              <a:rPr lang="en-GB" sz="4000" b="1" dirty="0">
                <a:solidFill>
                  <a:schemeClr val="bg1"/>
                </a:solidFill>
                <a:latin typeface="+mn-lt"/>
              </a:rPr>
              <a:t>Learning</a:t>
            </a:r>
            <a:r>
              <a:rPr lang="en-GB" sz="4000" b="1" dirty="0">
                <a:solidFill>
                  <a:schemeClr val="bg1"/>
                </a:solidFill>
              </a:rPr>
              <a:t> </a:t>
            </a:r>
            <a:r>
              <a:rPr lang="en-GB" sz="4000" b="1" dirty="0">
                <a:solidFill>
                  <a:schemeClr val="bg1"/>
                </a:solidFill>
                <a:latin typeface="+mn-lt"/>
              </a:rPr>
              <a:t>objectives</a:t>
            </a:r>
          </a:p>
        </p:txBody>
      </p:sp>
      <p:sp>
        <p:nvSpPr>
          <p:cNvPr id="3" name="Content Placeholder 2">
            <a:extLst>
              <a:ext uri="{FF2B5EF4-FFF2-40B4-BE49-F238E27FC236}">
                <a16:creationId xmlns:a16="http://schemas.microsoft.com/office/drawing/2014/main" id="{78B8933A-047B-4D9A-71DF-8C9D28DFE2B8}"/>
              </a:ext>
            </a:extLst>
          </p:cNvPr>
          <p:cNvSpPr>
            <a:spLocks noGrp="1"/>
          </p:cNvSpPr>
          <p:nvPr>
            <p:ph idx="1"/>
          </p:nvPr>
        </p:nvSpPr>
        <p:spPr>
          <a:xfrm>
            <a:off x="619125" y="1625198"/>
            <a:ext cx="10515600" cy="3889777"/>
          </a:xfrm>
        </p:spPr>
        <p:txBody>
          <a:bodyPr>
            <a:normAutofit lnSpcReduction="10000"/>
          </a:bodyPr>
          <a:lstStyle/>
          <a:p>
            <a:pPr marL="0" indent="0">
              <a:buNone/>
            </a:pPr>
            <a:r>
              <a:rPr lang="en-GB" dirty="0"/>
              <a:t>At the end of this session, you will be able to:</a:t>
            </a:r>
          </a:p>
          <a:p>
            <a:pPr marL="0" indent="0">
              <a:buNone/>
            </a:pPr>
            <a:endParaRPr lang="en-GB" dirty="0"/>
          </a:p>
          <a:p>
            <a:pPr lvl="1"/>
            <a:r>
              <a:rPr lang="en-GB" dirty="0"/>
              <a:t>Explain the underlying principles and key components of Bayesian inference and contrast these with frequentist inference</a:t>
            </a:r>
          </a:p>
          <a:p>
            <a:pPr lvl="1"/>
            <a:endParaRPr lang="en-GB" dirty="0"/>
          </a:p>
          <a:p>
            <a:pPr lvl="1"/>
            <a:r>
              <a:rPr lang="en-GB" dirty="0"/>
              <a:t>Describe the principles of Bayesian computation and how INLA enables approximate Bayesian inference</a:t>
            </a:r>
          </a:p>
          <a:p>
            <a:pPr lvl="1"/>
            <a:endParaRPr lang="en-GB" dirty="0"/>
          </a:p>
          <a:p>
            <a:pPr lvl="1"/>
            <a:r>
              <a:rPr lang="en-GB" dirty="0"/>
              <a:t>Apply basic INLA and </a:t>
            </a:r>
            <a:r>
              <a:rPr lang="en-GB" dirty="0" err="1"/>
              <a:t>inlabru</a:t>
            </a:r>
            <a:r>
              <a:rPr lang="en-GB" dirty="0"/>
              <a:t> syntax to implement and fit Bayesian statistical models and interpret the key outputs</a:t>
            </a:r>
          </a:p>
        </p:txBody>
      </p:sp>
      <p:sp>
        <p:nvSpPr>
          <p:cNvPr id="4" name="Slide Number Placeholder 3">
            <a:extLst>
              <a:ext uri="{FF2B5EF4-FFF2-40B4-BE49-F238E27FC236}">
                <a16:creationId xmlns:a16="http://schemas.microsoft.com/office/drawing/2014/main" id="{CC6219A7-51E0-A7EE-986B-CF48895B258D}"/>
              </a:ext>
            </a:extLst>
          </p:cNvPr>
          <p:cNvSpPr>
            <a:spLocks noGrp="1"/>
          </p:cNvSpPr>
          <p:nvPr>
            <p:ph type="sldNum" sz="quarter" idx="12"/>
          </p:nvPr>
        </p:nvSpPr>
        <p:spPr/>
        <p:txBody>
          <a:bodyPr/>
          <a:lstStyle/>
          <a:p>
            <a:fld id="{92E773D0-8039-41DE-9EAA-38744617136D}" type="slidenum">
              <a:rPr lang="en-GB" smtClean="0"/>
              <a:t>2</a:t>
            </a:fld>
            <a:endParaRPr lang="en-GB"/>
          </a:p>
        </p:txBody>
      </p:sp>
    </p:spTree>
    <p:extLst>
      <p:ext uri="{BB962C8B-B14F-4D97-AF65-F5344CB8AC3E}">
        <p14:creationId xmlns:p14="http://schemas.microsoft.com/office/powerpoint/2010/main" val="4118702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CBAD4-D390-8F1F-8B72-5F8419B70471}"/>
              </a:ext>
            </a:extLst>
          </p:cNvPr>
          <p:cNvSpPr>
            <a:spLocks noGrp="1"/>
          </p:cNvSpPr>
          <p:nvPr>
            <p:ph type="title"/>
          </p:nvPr>
        </p:nvSpPr>
        <p:spPr>
          <a:xfrm>
            <a:off x="495300" y="155575"/>
            <a:ext cx="10515600" cy="587375"/>
          </a:xfrm>
        </p:spPr>
        <p:txBody>
          <a:bodyPr>
            <a:normAutofit fontScale="90000"/>
          </a:bodyPr>
          <a:lstStyle/>
          <a:p>
            <a:r>
              <a:rPr lang="en-GB" b="1" dirty="0">
                <a:solidFill>
                  <a:schemeClr val="bg1"/>
                </a:solidFill>
                <a:latin typeface="+mn-lt"/>
              </a:rPr>
              <a:t>Introduction</a:t>
            </a:r>
            <a:r>
              <a:rPr lang="en-GB" b="1" dirty="0">
                <a:solidFill>
                  <a:schemeClr val="bg1"/>
                </a:solidFill>
              </a:rPr>
              <a:t> to Bayesian inference</a:t>
            </a:r>
          </a:p>
        </p:txBody>
      </p:sp>
      <p:sp>
        <p:nvSpPr>
          <p:cNvPr id="3" name="Content Placeholder 2">
            <a:extLst>
              <a:ext uri="{FF2B5EF4-FFF2-40B4-BE49-F238E27FC236}">
                <a16:creationId xmlns:a16="http://schemas.microsoft.com/office/drawing/2014/main" id="{89A89F95-A63B-7083-D691-075C7D46EE26}"/>
              </a:ext>
            </a:extLst>
          </p:cNvPr>
          <p:cNvSpPr>
            <a:spLocks noGrp="1"/>
          </p:cNvSpPr>
          <p:nvPr>
            <p:ph idx="1"/>
          </p:nvPr>
        </p:nvSpPr>
        <p:spPr>
          <a:xfrm>
            <a:off x="609705" y="1345816"/>
            <a:ext cx="10696470" cy="4705804"/>
          </a:xfrm>
        </p:spPr>
        <p:txBody>
          <a:bodyPr>
            <a:normAutofit/>
          </a:bodyPr>
          <a:lstStyle/>
          <a:p>
            <a:r>
              <a:rPr lang="en-GB" dirty="0"/>
              <a:t>Statistical inference is the process of drawing conclusions about a population based on a finite sample drawn from that population</a:t>
            </a:r>
          </a:p>
          <a:p>
            <a:endParaRPr lang="en-GB" dirty="0"/>
          </a:p>
          <a:p>
            <a:r>
              <a:rPr lang="en-GB" dirty="0"/>
              <a:t>For example, suppose we want to estimate vaccination coverage in a population. We take a representative sample of 500 children and find that 72% have received the vaccine. Statistical inference allows us to use this sample information to estimate vaccination coverage in the wider population and to quantify the associated uncertainty. Under Bayesian inference, we might report the uncertainty that there is a 95% probability that the population coverage lies between 68% and 76%.</a:t>
            </a:r>
          </a:p>
        </p:txBody>
      </p:sp>
      <p:sp>
        <p:nvSpPr>
          <p:cNvPr id="4" name="Slide Number Placeholder 3">
            <a:extLst>
              <a:ext uri="{FF2B5EF4-FFF2-40B4-BE49-F238E27FC236}">
                <a16:creationId xmlns:a16="http://schemas.microsoft.com/office/drawing/2014/main" id="{A82ADBB5-165D-6BF9-6AE5-CDC31D8F4F8D}"/>
              </a:ext>
            </a:extLst>
          </p:cNvPr>
          <p:cNvSpPr>
            <a:spLocks noGrp="1"/>
          </p:cNvSpPr>
          <p:nvPr>
            <p:ph type="sldNum" sz="quarter" idx="12"/>
          </p:nvPr>
        </p:nvSpPr>
        <p:spPr/>
        <p:txBody>
          <a:bodyPr/>
          <a:lstStyle/>
          <a:p>
            <a:fld id="{92E773D0-8039-41DE-9EAA-38744617136D}" type="slidenum">
              <a:rPr lang="en-GB" smtClean="0"/>
              <a:t>3</a:t>
            </a:fld>
            <a:endParaRPr lang="en-GB"/>
          </a:p>
        </p:txBody>
      </p:sp>
    </p:spTree>
    <p:extLst>
      <p:ext uri="{BB962C8B-B14F-4D97-AF65-F5344CB8AC3E}">
        <p14:creationId xmlns:p14="http://schemas.microsoft.com/office/powerpoint/2010/main" val="212002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AF3C5-0D3E-A4F0-A701-1900E5A843A9}"/>
              </a:ext>
            </a:extLst>
          </p:cNvPr>
          <p:cNvSpPr>
            <a:spLocks noGrp="1"/>
          </p:cNvSpPr>
          <p:nvPr>
            <p:ph type="title"/>
          </p:nvPr>
        </p:nvSpPr>
        <p:spPr>
          <a:xfrm>
            <a:off x="468366" y="0"/>
            <a:ext cx="11447410" cy="857286"/>
          </a:xfrm>
        </p:spPr>
        <p:txBody>
          <a:bodyPr>
            <a:normAutofit/>
          </a:bodyPr>
          <a:lstStyle/>
          <a:p>
            <a:r>
              <a:rPr lang="en-GB" sz="3600" b="1" dirty="0">
                <a:solidFill>
                  <a:schemeClr val="bg1"/>
                </a:solidFill>
                <a:latin typeface="+mn-lt"/>
              </a:rPr>
              <a:t>Introduction to Bayesian inference</a:t>
            </a:r>
          </a:p>
        </p:txBody>
      </p:sp>
      <p:sp>
        <p:nvSpPr>
          <p:cNvPr id="3" name="Content Placeholder 2">
            <a:extLst>
              <a:ext uri="{FF2B5EF4-FFF2-40B4-BE49-F238E27FC236}">
                <a16:creationId xmlns:a16="http://schemas.microsoft.com/office/drawing/2014/main" id="{3BC9DD0E-C213-C14A-DB26-ED01008B3838}"/>
              </a:ext>
            </a:extLst>
          </p:cNvPr>
          <p:cNvSpPr>
            <a:spLocks noGrp="1"/>
          </p:cNvSpPr>
          <p:nvPr>
            <p:ph idx="1"/>
          </p:nvPr>
        </p:nvSpPr>
        <p:spPr>
          <a:xfrm>
            <a:off x="838200" y="1023938"/>
            <a:ext cx="10515600" cy="857285"/>
          </a:xfrm>
        </p:spPr>
        <p:txBody>
          <a:bodyPr>
            <a:normAutofit lnSpcReduction="10000"/>
          </a:bodyPr>
          <a:lstStyle/>
          <a:p>
            <a:pPr marL="0" indent="0">
              <a:buNone/>
            </a:pPr>
            <a:r>
              <a:rPr lang="en-GB" dirty="0"/>
              <a:t>Two approaches to statistical inference: Frequentist and Bayesian approaches</a:t>
            </a:r>
          </a:p>
          <a:p>
            <a:pPr marL="0" indent="0">
              <a:buNone/>
            </a:pPr>
            <a:endParaRPr lang="en-GB" dirty="0"/>
          </a:p>
        </p:txBody>
      </p:sp>
      <p:graphicFrame>
        <p:nvGraphicFramePr>
          <p:cNvPr id="4" name="Table 3">
            <a:extLst>
              <a:ext uri="{FF2B5EF4-FFF2-40B4-BE49-F238E27FC236}">
                <a16:creationId xmlns:a16="http://schemas.microsoft.com/office/drawing/2014/main" id="{871EE213-3FE9-4F13-9C17-1C3E7DAC28DB}"/>
              </a:ext>
            </a:extLst>
          </p:cNvPr>
          <p:cNvGraphicFramePr>
            <a:graphicFrameLocks noGrp="1"/>
          </p:cNvGraphicFramePr>
          <p:nvPr>
            <p:extLst>
              <p:ext uri="{D42A27DB-BD31-4B8C-83A1-F6EECF244321}">
                <p14:modId xmlns:p14="http://schemas.microsoft.com/office/powerpoint/2010/main" val="1119526620"/>
              </p:ext>
            </p:extLst>
          </p:nvPr>
        </p:nvGraphicFramePr>
        <p:xfrm>
          <a:off x="914400" y="2047875"/>
          <a:ext cx="10145766" cy="3942080"/>
        </p:xfrm>
        <a:graphic>
          <a:graphicData uri="http://schemas.openxmlformats.org/drawingml/2006/table">
            <a:tbl>
              <a:tblPr firstRow="1" bandRow="1">
                <a:tableStyleId>{5C22544A-7EE6-4342-B048-85BDC9FD1C3A}</a:tableStyleId>
              </a:tblPr>
              <a:tblGrid>
                <a:gridCol w="3381922">
                  <a:extLst>
                    <a:ext uri="{9D8B030D-6E8A-4147-A177-3AD203B41FA5}">
                      <a16:colId xmlns:a16="http://schemas.microsoft.com/office/drawing/2014/main" val="2908549716"/>
                    </a:ext>
                  </a:extLst>
                </a:gridCol>
                <a:gridCol w="3381922">
                  <a:extLst>
                    <a:ext uri="{9D8B030D-6E8A-4147-A177-3AD203B41FA5}">
                      <a16:colId xmlns:a16="http://schemas.microsoft.com/office/drawing/2014/main" val="1246416600"/>
                    </a:ext>
                  </a:extLst>
                </a:gridCol>
                <a:gridCol w="3381922">
                  <a:extLst>
                    <a:ext uri="{9D8B030D-6E8A-4147-A177-3AD203B41FA5}">
                      <a16:colId xmlns:a16="http://schemas.microsoft.com/office/drawing/2014/main" val="109449997"/>
                    </a:ext>
                  </a:extLst>
                </a:gridCol>
              </a:tblGrid>
              <a:tr h="370840">
                <a:tc>
                  <a:txBody>
                    <a:bodyPr/>
                    <a:lstStyle/>
                    <a:p>
                      <a:pPr>
                        <a:buNone/>
                      </a:pPr>
                      <a:r>
                        <a:rPr lang="en-GB"/>
                        <a:t>Aspect</a:t>
                      </a:r>
                    </a:p>
                  </a:txBody>
                  <a:tcPr anchor="ctr"/>
                </a:tc>
                <a:tc>
                  <a:txBody>
                    <a:bodyPr/>
                    <a:lstStyle/>
                    <a:p>
                      <a:pPr>
                        <a:buNone/>
                      </a:pPr>
                      <a:r>
                        <a:rPr lang="en-GB" dirty="0"/>
                        <a:t>Frequentist inference</a:t>
                      </a:r>
                    </a:p>
                  </a:txBody>
                  <a:tcPr anchor="ctr"/>
                </a:tc>
                <a:tc>
                  <a:txBody>
                    <a:bodyPr/>
                    <a:lstStyle/>
                    <a:p>
                      <a:pPr>
                        <a:buNone/>
                      </a:pPr>
                      <a:r>
                        <a:rPr lang="en-GB" dirty="0"/>
                        <a:t>Bayesian inference</a:t>
                      </a:r>
                    </a:p>
                  </a:txBody>
                  <a:tcPr anchor="ctr"/>
                </a:tc>
                <a:extLst>
                  <a:ext uri="{0D108BD9-81ED-4DB2-BD59-A6C34878D82A}">
                    <a16:rowId xmlns:a16="http://schemas.microsoft.com/office/drawing/2014/main" val="3444319308"/>
                  </a:ext>
                </a:extLst>
              </a:tr>
              <a:tr h="370840">
                <a:tc>
                  <a:txBody>
                    <a:bodyPr/>
                    <a:lstStyle/>
                    <a:p>
                      <a:pPr>
                        <a:buNone/>
                      </a:pPr>
                      <a:r>
                        <a:rPr lang="en-GB" b="1" dirty="0"/>
                        <a:t>View of parameters</a:t>
                      </a:r>
                      <a:endParaRPr lang="en-GB" dirty="0"/>
                    </a:p>
                  </a:txBody>
                  <a:tcPr anchor="ctr"/>
                </a:tc>
                <a:tc>
                  <a:txBody>
                    <a:bodyPr/>
                    <a:lstStyle/>
                    <a:p>
                      <a:pPr>
                        <a:buNone/>
                      </a:pPr>
                      <a:r>
                        <a:rPr lang="en-GB" dirty="0"/>
                        <a:t>Fixed, unknown constants - not random</a:t>
                      </a:r>
                    </a:p>
                  </a:txBody>
                  <a:tcPr anchor="ctr"/>
                </a:tc>
                <a:tc>
                  <a:txBody>
                    <a:bodyPr/>
                    <a:lstStyle/>
                    <a:p>
                      <a:pPr>
                        <a:buNone/>
                      </a:pPr>
                      <a:r>
                        <a:rPr lang="en-GB" dirty="0"/>
                        <a:t>Random variables with their own probability distribution</a:t>
                      </a:r>
                    </a:p>
                  </a:txBody>
                  <a:tcPr anchor="ctr"/>
                </a:tc>
                <a:extLst>
                  <a:ext uri="{0D108BD9-81ED-4DB2-BD59-A6C34878D82A}">
                    <a16:rowId xmlns:a16="http://schemas.microsoft.com/office/drawing/2014/main" val="3461350074"/>
                  </a:ext>
                </a:extLst>
              </a:tr>
              <a:tr h="370840">
                <a:tc>
                  <a:txBody>
                    <a:bodyPr/>
                    <a:lstStyle/>
                    <a:p>
                      <a:pPr>
                        <a:buNone/>
                      </a:pPr>
                      <a:r>
                        <a:rPr lang="en-GB" b="1"/>
                        <a:t>View of data</a:t>
                      </a:r>
                      <a:endParaRPr lang="en-GB"/>
                    </a:p>
                  </a:txBody>
                  <a:tcPr anchor="ctr"/>
                </a:tc>
                <a:tc>
                  <a:txBody>
                    <a:bodyPr/>
                    <a:lstStyle/>
                    <a:p>
                      <a:pPr>
                        <a:buNone/>
                      </a:pPr>
                      <a:r>
                        <a:rPr lang="en-GB" dirty="0"/>
                        <a:t>Random - one realization of a repeatable sampling process</a:t>
                      </a:r>
                    </a:p>
                  </a:txBody>
                  <a:tcPr anchor="ctr"/>
                </a:tc>
                <a:tc>
                  <a:txBody>
                    <a:bodyPr/>
                    <a:lstStyle/>
                    <a:p>
                      <a:pPr>
                        <a:buNone/>
                      </a:pPr>
                      <a:r>
                        <a:rPr lang="en-GB" dirty="0"/>
                        <a:t>Fixed, once observed - treated as given</a:t>
                      </a:r>
                    </a:p>
                  </a:txBody>
                  <a:tcPr anchor="ctr"/>
                </a:tc>
                <a:extLst>
                  <a:ext uri="{0D108BD9-81ED-4DB2-BD59-A6C34878D82A}">
                    <a16:rowId xmlns:a16="http://schemas.microsoft.com/office/drawing/2014/main" val="3458609917"/>
                  </a:ext>
                </a:extLst>
              </a:tr>
              <a:tr h="370840">
                <a:tc>
                  <a:txBody>
                    <a:bodyPr/>
                    <a:lstStyle/>
                    <a:p>
                      <a:pPr>
                        <a:buNone/>
                      </a:pPr>
                      <a:r>
                        <a:rPr lang="en-GB" b="1"/>
                        <a:t>Source of uncertainty</a:t>
                      </a:r>
                      <a:endParaRPr lang="en-GB"/>
                    </a:p>
                  </a:txBody>
                  <a:tcPr anchor="ctr"/>
                </a:tc>
                <a:tc>
                  <a:txBody>
                    <a:bodyPr/>
                    <a:lstStyle/>
                    <a:p>
                      <a:pPr>
                        <a:buNone/>
                      </a:pPr>
                      <a:r>
                        <a:rPr lang="en-GB" dirty="0"/>
                        <a:t>Sampling variability (what would happen over repeated samples)</a:t>
                      </a:r>
                    </a:p>
                  </a:txBody>
                  <a:tcPr anchor="ctr"/>
                </a:tc>
                <a:tc>
                  <a:txBody>
                    <a:bodyPr/>
                    <a:lstStyle/>
                    <a:p>
                      <a:pPr>
                        <a:buNone/>
                      </a:pPr>
                      <a:r>
                        <a:rPr lang="en-GB" dirty="0"/>
                        <a:t>Degree of belief about the parameter, updated by data</a:t>
                      </a:r>
                    </a:p>
                  </a:txBody>
                  <a:tcPr anchor="ctr"/>
                </a:tc>
                <a:extLst>
                  <a:ext uri="{0D108BD9-81ED-4DB2-BD59-A6C34878D82A}">
                    <a16:rowId xmlns:a16="http://schemas.microsoft.com/office/drawing/2014/main" val="1974247663"/>
                  </a:ext>
                </a:extLst>
              </a:tr>
              <a:tr h="370840">
                <a:tc>
                  <a:txBody>
                    <a:bodyPr/>
                    <a:lstStyle/>
                    <a:p>
                      <a:pPr>
                        <a:buNone/>
                      </a:pPr>
                      <a:r>
                        <a:rPr lang="en-GB" b="1" dirty="0"/>
                        <a:t>Basis for inference</a:t>
                      </a:r>
                      <a:endParaRPr lang="en-GB" dirty="0"/>
                    </a:p>
                  </a:txBody>
                  <a:tcPr anchor="ctr"/>
                </a:tc>
                <a:tc>
                  <a:txBody>
                    <a:bodyPr/>
                    <a:lstStyle/>
                    <a:p>
                      <a:pPr>
                        <a:buNone/>
                      </a:pPr>
                      <a:r>
                        <a:rPr lang="en-GB"/>
                        <a:t>Likelihood function, estimators (e.g. MLE)</a:t>
                      </a:r>
                    </a:p>
                  </a:txBody>
                  <a:tcPr anchor="ctr"/>
                </a:tc>
                <a:tc>
                  <a:txBody>
                    <a:bodyPr/>
                    <a:lstStyle/>
                    <a:p>
                      <a:pPr>
                        <a:buNone/>
                      </a:pPr>
                      <a:r>
                        <a:rPr lang="en-GB" dirty="0"/>
                        <a:t>Bayes' theorem: posterior ∝ likelihood × prior</a:t>
                      </a:r>
                    </a:p>
                  </a:txBody>
                  <a:tcPr anchor="ctr"/>
                </a:tc>
                <a:extLst>
                  <a:ext uri="{0D108BD9-81ED-4DB2-BD59-A6C34878D82A}">
                    <a16:rowId xmlns:a16="http://schemas.microsoft.com/office/drawing/2014/main" val="4080697286"/>
                  </a:ext>
                </a:extLst>
              </a:tr>
              <a:tr h="370840">
                <a:tc>
                  <a:txBody>
                    <a:bodyPr/>
                    <a:lstStyle/>
                    <a:p>
                      <a:pPr>
                        <a:buNone/>
                      </a:pPr>
                      <a:r>
                        <a:rPr lang="en-GB" b="1"/>
                        <a:t>Point estimate</a:t>
                      </a:r>
                      <a:endParaRPr lang="en-GB"/>
                    </a:p>
                  </a:txBody>
                  <a:tcPr anchor="ctr"/>
                </a:tc>
                <a:tc>
                  <a:txBody>
                    <a:bodyPr/>
                    <a:lstStyle/>
                    <a:p>
                      <a:pPr>
                        <a:buNone/>
                      </a:pPr>
                      <a:r>
                        <a:rPr lang="en-GB"/>
                        <a:t>Maximum likelihood estimate (MLE), method of moments</a:t>
                      </a:r>
                    </a:p>
                  </a:txBody>
                  <a:tcPr anchor="ctr"/>
                </a:tc>
                <a:tc>
                  <a:txBody>
                    <a:bodyPr/>
                    <a:lstStyle/>
                    <a:p>
                      <a:pPr>
                        <a:buNone/>
                      </a:pPr>
                      <a:r>
                        <a:rPr lang="en-GB" dirty="0"/>
                        <a:t>Posterior mean, median, or mode</a:t>
                      </a:r>
                    </a:p>
                  </a:txBody>
                  <a:tcPr anchor="ctr"/>
                </a:tc>
                <a:extLst>
                  <a:ext uri="{0D108BD9-81ED-4DB2-BD59-A6C34878D82A}">
                    <a16:rowId xmlns:a16="http://schemas.microsoft.com/office/drawing/2014/main" val="4274676753"/>
                  </a:ext>
                </a:extLst>
              </a:tr>
              <a:tr h="370840">
                <a:tc>
                  <a:txBody>
                    <a:bodyPr/>
                    <a:lstStyle/>
                    <a:p>
                      <a:pPr>
                        <a:buNone/>
                      </a:pPr>
                      <a:r>
                        <a:rPr lang="en-GB" b="1"/>
                        <a:t>Interval estimate</a:t>
                      </a:r>
                      <a:endParaRPr lang="en-GB"/>
                    </a:p>
                  </a:txBody>
                  <a:tcPr anchor="ctr"/>
                </a:tc>
                <a:tc>
                  <a:txBody>
                    <a:bodyPr/>
                    <a:lstStyle/>
                    <a:p>
                      <a:pPr>
                        <a:buNone/>
                      </a:pPr>
                      <a:r>
                        <a:rPr lang="en-GB"/>
                        <a:t>Confidence interval (CI)</a:t>
                      </a:r>
                    </a:p>
                  </a:txBody>
                  <a:tcPr anchor="ctr"/>
                </a:tc>
                <a:tc>
                  <a:txBody>
                    <a:bodyPr/>
                    <a:lstStyle/>
                    <a:p>
                      <a:pPr>
                        <a:buNone/>
                      </a:pPr>
                      <a:r>
                        <a:rPr lang="en-GB" dirty="0"/>
                        <a:t>Credible interval (</a:t>
                      </a:r>
                      <a:r>
                        <a:rPr lang="en-GB" dirty="0" err="1"/>
                        <a:t>CrI</a:t>
                      </a:r>
                      <a:r>
                        <a:rPr lang="en-GB" dirty="0"/>
                        <a:t>)</a:t>
                      </a:r>
                    </a:p>
                  </a:txBody>
                  <a:tcPr anchor="ctr"/>
                </a:tc>
                <a:extLst>
                  <a:ext uri="{0D108BD9-81ED-4DB2-BD59-A6C34878D82A}">
                    <a16:rowId xmlns:a16="http://schemas.microsoft.com/office/drawing/2014/main" val="4022695755"/>
                  </a:ext>
                </a:extLst>
              </a:tr>
            </a:tbl>
          </a:graphicData>
        </a:graphic>
      </p:graphicFrame>
      <p:sp>
        <p:nvSpPr>
          <p:cNvPr id="5" name="Slide Number Placeholder 4">
            <a:extLst>
              <a:ext uri="{FF2B5EF4-FFF2-40B4-BE49-F238E27FC236}">
                <a16:creationId xmlns:a16="http://schemas.microsoft.com/office/drawing/2014/main" id="{771A84D9-B5B6-8A84-A3F0-3C34D40D09BA}"/>
              </a:ext>
            </a:extLst>
          </p:cNvPr>
          <p:cNvSpPr>
            <a:spLocks noGrp="1"/>
          </p:cNvSpPr>
          <p:nvPr>
            <p:ph type="sldNum" sz="quarter" idx="12"/>
          </p:nvPr>
        </p:nvSpPr>
        <p:spPr/>
        <p:txBody>
          <a:bodyPr/>
          <a:lstStyle/>
          <a:p>
            <a:fld id="{92E773D0-8039-41DE-9EAA-38744617136D}" type="slidenum">
              <a:rPr lang="en-GB" smtClean="0"/>
              <a:t>4</a:t>
            </a:fld>
            <a:endParaRPr lang="en-GB"/>
          </a:p>
        </p:txBody>
      </p:sp>
    </p:spTree>
    <p:extLst>
      <p:ext uri="{BB962C8B-B14F-4D97-AF65-F5344CB8AC3E}">
        <p14:creationId xmlns:p14="http://schemas.microsoft.com/office/powerpoint/2010/main" val="2226325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DED8D105-EA47-0503-158B-F90A5F36AFA6}"/>
                  </a:ext>
                </a:extLst>
              </p:cNvPr>
              <p:cNvGraphicFramePr>
                <a:graphicFrameLocks noGrp="1"/>
              </p:cNvGraphicFramePr>
              <p:nvPr>
                <p:extLst>
                  <p:ext uri="{D42A27DB-BD31-4B8C-83A1-F6EECF244321}">
                    <p14:modId xmlns:p14="http://schemas.microsoft.com/office/powerpoint/2010/main" val="178780183"/>
                  </p:ext>
                </p:extLst>
              </p:nvPr>
            </p:nvGraphicFramePr>
            <p:xfrm>
              <a:off x="889489" y="1292274"/>
              <a:ext cx="10145766" cy="4942840"/>
            </p:xfrm>
            <a:graphic>
              <a:graphicData uri="http://schemas.openxmlformats.org/drawingml/2006/table">
                <a:tbl>
                  <a:tblPr firstRow="1" bandRow="1">
                    <a:tableStyleId>{5C22544A-7EE6-4342-B048-85BDC9FD1C3A}</a:tableStyleId>
                  </a:tblPr>
                  <a:tblGrid>
                    <a:gridCol w="3381922">
                      <a:extLst>
                        <a:ext uri="{9D8B030D-6E8A-4147-A177-3AD203B41FA5}">
                          <a16:colId xmlns:a16="http://schemas.microsoft.com/office/drawing/2014/main" val="2908549716"/>
                        </a:ext>
                      </a:extLst>
                    </a:gridCol>
                    <a:gridCol w="3381922">
                      <a:extLst>
                        <a:ext uri="{9D8B030D-6E8A-4147-A177-3AD203B41FA5}">
                          <a16:colId xmlns:a16="http://schemas.microsoft.com/office/drawing/2014/main" val="1246416600"/>
                        </a:ext>
                      </a:extLst>
                    </a:gridCol>
                    <a:gridCol w="3381922">
                      <a:extLst>
                        <a:ext uri="{9D8B030D-6E8A-4147-A177-3AD203B41FA5}">
                          <a16:colId xmlns:a16="http://schemas.microsoft.com/office/drawing/2014/main" val="109449997"/>
                        </a:ext>
                      </a:extLst>
                    </a:gridCol>
                  </a:tblGrid>
                  <a:tr h="370840">
                    <a:tc>
                      <a:txBody>
                        <a:bodyPr/>
                        <a:lstStyle/>
                        <a:p>
                          <a:pPr>
                            <a:buNone/>
                          </a:pPr>
                          <a:r>
                            <a:rPr lang="en-GB"/>
                            <a:t>Aspect</a:t>
                          </a:r>
                        </a:p>
                      </a:txBody>
                      <a:tcPr anchor="ctr"/>
                    </a:tc>
                    <a:tc>
                      <a:txBody>
                        <a:bodyPr/>
                        <a:lstStyle/>
                        <a:p>
                          <a:pPr>
                            <a:buNone/>
                          </a:pPr>
                          <a:r>
                            <a:rPr lang="en-GB"/>
                            <a:t>Frequentist inference</a:t>
                          </a:r>
                        </a:p>
                      </a:txBody>
                      <a:tcPr anchor="ctr"/>
                    </a:tc>
                    <a:tc>
                      <a:txBody>
                        <a:bodyPr/>
                        <a:lstStyle/>
                        <a:p>
                          <a:pPr>
                            <a:buNone/>
                          </a:pPr>
                          <a:r>
                            <a:rPr lang="en-GB" dirty="0"/>
                            <a:t>Bayesian inference</a:t>
                          </a:r>
                        </a:p>
                      </a:txBody>
                      <a:tcPr anchor="ctr"/>
                    </a:tc>
                    <a:extLst>
                      <a:ext uri="{0D108BD9-81ED-4DB2-BD59-A6C34878D82A}">
                        <a16:rowId xmlns:a16="http://schemas.microsoft.com/office/drawing/2014/main" val="3444319308"/>
                      </a:ext>
                    </a:extLst>
                  </a:tr>
                  <a:tr h="370840">
                    <a:tc>
                      <a:txBody>
                        <a:bodyPr/>
                        <a:lstStyle/>
                        <a:p>
                          <a:pPr>
                            <a:buNone/>
                          </a:pPr>
                          <a:r>
                            <a:rPr lang="en-GB" b="1"/>
                            <a:t>Interpretation of interval</a:t>
                          </a:r>
                          <a:endParaRPr lang="en-GB"/>
                        </a:p>
                      </a:txBody>
                      <a:tcPr anchor="ctr"/>
                    </a:tc>
                    <a:tc>
                      <a:txBody>
                        <a:bodyPr/>
                        <a:lstStyle/>
                        <a:p>
                          <a:pPr>
                            <a:buNone/>
                          </a:pPr>
                          <a:r>
                            <a:rPr lang="en-GB" dirty="0"/>
                            <a:t>"95% of such intervals, across repeated sampling, would contain the true parameter" (a statement about the </a:t>
                          </a:r>
                          <a:r>
                            <a:rPr lang="en-GB" i="1" dirty="0"/>
                            <a:t>procedure</a:t>
                          </a:r>
                          <a:r>
                            <a:rPr lang="en-GB" dirty="0"/>
                            <a:t>, not this specific interval)</a:t>
                          </a:r>
                        </a:p>
                      </a:txBody>
                      <a:tcPr anchor="ctr"/>
                    </a:tc>
                    <a:tc>
                      <a:txBody>
                        <a:bodyPr/>
                        <a:lstStyle/>
                        <a:p>
                          <a:pPr>
                            <a:buNone/>
                          </a:pPr>
                          <a:r>
                            <a:rPr lang="en-GB" dirty="0"/>
                            <a:t>"There is a 95% probability the true parameter lies in this interval" (a direct probability statement about the parameter, given the data and prior)</a:t>
                          </a:r>
                        </a:p>
                      </a:txBody>
                      <a:tcPr anchor="ctr"/>
                    </a:tc>
                    <a:extLst>
                      <a:ext uri="{0D108BD9-81ED-4DB2-BD59-A6C34878D82A}">
                        <a16:rowId xmlns:a16="http://schemas.microsoft.com/office/drawing/2014/main" val="3461350074"/>
                      </a:ext>
                    </a:extLst>
                  </a:tr>
                  <a:tr h="370840">
                    <a:tc>
                      <a:txBody>
                        <a:bodyPr/>
                        <a:lstStyle/>
                        <a:p>
                          <a:pPr>
                            <a:buNone/>
                          </a:pPr>
                          <a:r>
                            <a:rPr lang="en-GB" b="1"/>
                            <a:t>Hypothesis testing</a:t>
                          </a:r>
                          <a:endParaRPr lang="en-GB"/>
                        </a:p>
                      </a:txBody>
                      <a:tcPr anchor="ctr"/>
                    </a:tc>
                    <a:tc>
                      <a:txBody>
                        <a:bodyPr/>
                        <a:lstStyle/>
                        <a:p>
                          <a:pPr>
                            <a:buNone/>
                          </a:pPr>
                          <a:r>
                            <a:rPr lang="en-GB"/>
                            <a:t>p-values, significance testing (reject/fail to reject H₀)</a:t>
                          </a:r>
                        </a:p>
                      </a:txBody>
                      <a:tcPr anchor="ctr"/>
                    </a:tc>
                    <a:tc>
                      <a:txBody>
                        <a:bodyPr/>
                        <a:lstStyle/>
                        <a:p>
                          <a:pPr>
                            <a:buNone/>
                          </a:pPr>
                          <a:r>
                            <a:rPr lang="en-GB" dirty="0"/>
                            <a:t>Posterior probabilities (e.g. </a:t>
                          </a:r>
                          <a14:m>
                            <m:oMath xmlns:m="http://schemas.openxmlformats.org/officeDocument/2006/math">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𝛽</m:t>
                              </m:r>
                              <m:r>
                                <a:rPr lang="en-GB" b="0" i="1" smtClean="0">
                                  <a:latin typeface="Cambria Math" panose="02040503050406030204" pitchFamily="18" charset="0"/>
                                </a:rPr>
                                <m:t>&gt;0|</m:t>
                              </m:r>
                              <m:r>
                                <m:rPr>
                                  <m:sty m:val="p"/>
                                </m:rPr>
                                <a:rPr lang="en-GB" b="0" i="0" smtClean="0">
                                  <a:latin typeface="Cambria Math" panose="02040503050406030204" pitchFamily="18" charset="0"/>
                                </a:rPr>
                                <m:t>data</m:t>
                              </m:r>
                              <m:r>
                                <a:rPr lang="en-GB" b="0" i="1" smtClean="0">
                                  <a:latin typeface="Cambria Math" panose="02040503050406030204" pitchFamily="18" charset="0"/>
                                </a:rPr>
                                <m:t>)</m:t>
                              </m:r>
                            </m:oMath>
                          </a14:m>
                          <a:r>
                            <a:rPr lang="en-GB" dirty="0"/>
                            <a:t>),</a:t>
                          </a:r>
                          <a:r>
                            <a:rPr lang="en-GB" baseline="0" dirty="0"/>
                            <a:t> Bayes factors</a:t>
                          </a:r>
                          <a:endParaRPr lang="en-GB" dirty="0"/>
                        </a:p>
                      </a:txBody>
                      <a:tcPr anchor="ctr"/>
                    </a:tc>
                    <a:extLst>
                      <a:ext uri="{0D108BD9-81ED-4DB2-BD59-A6C34878D82A}">
                        <a16:rowId xmlns:a16="http://schemas.microsoft.com/office/drawing/2014/main" val="3458609917"/>
                      </a:ext>
                    </a:extLst>
                  </a:tr>
                  <a:tr h="370840">
                    <a:tc>
                      <a:txBody>
                        <a:bodyPr/>
                        <a:lstStyle/>
                        <a:p>
                          <a:pPr>
                            <a:buNone/>
                          </a:pPr>
                          <a:r>
                            <a:rPr lang="en-GB" b="1"/>
                            <a:t>Behavior with small samples</a:t>
                          </a:r>
                          <a:endParaRPr lang="en-GB"/>
                        </a:p>
                      </a:txBody>
                      <a:tcPr anchor="ctr"/>
                    </a:tc>
                    <a:tc>
                      <a:txBody>
                        <a:bodyPr/>
                        <a:lstStyle/>
                        <a:p>
                          <a:pPr>
                            <a:buNone/>
                          </a:pPr>
                          <a:r>
                            <a:rPr lang="en-GB"/>
                            <a:t>Can be unstable; relies on asymptotic theory (large-sample approximations)</a:t>
                          </a:r>
                        </a:p>
                      </a:txBody>
                      <a:tcPr anchor="ctr"/>
                    </a:tc>
                    <a:tc>
                      <a:txBody>
                        <a:bodyPr/>
                        <a:lstStyle/>
                        <a:p>
                          <a:pPr>
                            <a:buNone/>
                          </a:pPr>
                          <a:r>
                            <a:rPr lang="en-GB"/>
                            <a:t>Prior can stabilize/regularize estimates even with limited data</a:t>
                          </a:r>
                        </a:p>
                      </a:txBody>
                      <a:tcPr anchor="ctr"/>
                    </a:tc>
                    <a:extLst>
                      <a:ext uri="{0D108BD9-81ED-4DB2-BD59-A6C34878D82A}">
                        <a16:rowId xmlns:a16="http://schemas.microsoft.com/office/drawing/2014/main" val="1974247663"/>
                      </a:ext>
                    </a:extLst>
                  </a:tr>
                  <a:tr h="370840">
                    <a:tc>
                      <a:txBody>
                        <a:bodyPr/>
                        <a:lstStyle/>
                        <a:p>
                          <a:pPr>
                            <a:buNone/>
                          </a:pPr>
                          <a:r>
                            <a:rPr lang="en-GB" b="1"/>
                            <a:t>Computation</a:t>
                          </a:r>
                          <a:endParaRPr lang="en-GB"/>
                        </a:p>
                      </a:txBody>
                      <a:tcPr anchor="ctr"/>
                    </a:tc>
                    <a:tc>
                      <a:txBody>
                        <a:bodyPr/>
                        <a:lstStyle/>
                        <a:p>
                          <a:pPr>
                            <a:buNone/>
                          </a:pPr>
                          <a:r>
                            <a:rPr lang="en-GB"/>
                            <a:t>Closed-form formulas or numerical optimization (e.g. IRLS for GLMs)</a:t>
                          </a:r>
                        </a:p>
                      </a:txBody>
                      <a:tcPr anchor="ctr"/>
                    </a:tc>
                    <a:tc>
                      <a:txBody>
                        <a:bodyPr/>
                        <a:lstStyle/>
                        <a:p>
                          <a:pPr>
                            <a:buNone/>
                          </a:pPr>
                          <a:r>
                            <a:rPr lang="en-GB"/>
                            <a:t>Posterior often requires approximation — MCMC, or fast deterministic methods like INLA</a:t>
                          </a:r>
                        </a:p>
                      </a:txBody>
                      <a:tcPr anchor="ctr"/>
                    </a:tc>
                    <a:extLst>
                      <a:ext uri="{0D108BD9-81ED-4DB2-BD59-A6C34878D82A}">
                        <a16:rowId xmlns:a16="http://schemas.microsoft.com/office/drawing/2014/main" val="4080697286"/>
                      </a:ext>
                    </a:extLst>
                  </a:tr>
                  <a:tr h="370840">
                    <a:tc>
                      <a:txBody>
                        <a:bodyPr/>
                        <a:lstStyle/>
                        <a:p>
                          <a:pPr>
                            <a:buNone/>
                          </a:pPr>
                          <a:r>
                            <a:rPr lang="en-GB" b="1"/>
                            <a:t>Model comparison</a:t>
                          </a:r>
                          <a:endParaRPr lang="en-GB"/>
                        </a:p>
                      </a:txBody>
                      <a:tcPr anchor="ctr"/>
                    </a:tc>
                    <a:tc>
                      <a:txBody>
                        <a:bodyPr/>
                        <a:lstStyle/>
                        <a:p>
                          <a:pPr>
                            <a:buNone/>
                          </a:pPr>
                          <a:r>
                            <a:rPr lang="en-GB"/>
                            <a:t>AIC, likelihood ratio tests</a:t>
                          </a:r>
                        </a:p>
                      </a:txBody>
                      <a:tcPr anchor="ctr"/>
                    </a:tc>
                    <a:tc>
                      <a:txBody>
                        <a:bodyPr/>
                        <a:lstStyle/>
                        <a:p>
                          <a:pPr>
                            <a:buNone/>
                          </a:pPr>
                          <a:r>
                            <a:rPr lang="en-GB" dirty="0"/>
                            <a:t>DIC, WAIC, Bayes factors, posterior predictive checks</a:t>
                          </a:r>
                        </a:p>
                      </a:txBody>
                      <a:tcPr anchor="ctr"/>
                    </a:tc>
                    <a:extLst>
                      <a:ext uri="{0D108BD9-81ED-4DB2-BD59-A6C34878D82A}">
                        <a16:rowId xmlns:a16="http://schemas.microsoft.com/office/drawing/2014/main" val="4274676753"/>
                      </a:ext>
                    </a:extLst>
                  </a:tr>
                </a:tbl>
              </a:graphicData>
            </a:graphic>
          </p:graphicFrame>
        </mc:Choice>
        <mc:Fallback xmlns="">
          <p:graphicFrame>
            <p:nvGraphicFramePr>
              <p:cNvPr id="5" name="Table 4">
                <a:extLst>
                  <a:ext uri="{FF2B5EF4-FFF2-40B4-BE49-F238E27FC236}">
                    <a16:creationId xmlns:a16="http://schemas.microsoft.com/office/drawing/2014/main" id="{DED8D105-EA47-0503-158B-F90A5F36AFA6}"/>
                  </a:ext>
                </a:extLst>
              </p:cNvPr>
              <p:cNvGraphicFramePr>
                <a:graphicFrameLocks noGrp="1"/>
              </p:cNvGraphicFramePr>
              <p:nvPr>
                <p:extLst>
                  <p:ext uri="{D42A27DB-BD31-4B8C-83A1-F6EECF244321}">
                    <p14:modId xmlns:p14="http://schemas.microsoft.com/office/powerpoint/2010/main" val="178780183"/>
                  </p:ext>
                </p:extLst>
              </p:nvPr>
            </p:nvGraphicFramePr>
            <p:xfrm>
              <a:off x="889489" y="1292274"/>
              <a:ext cx="10145766" cy="4942840"/>
            </p:xfrm>
            <a:graphic>
              <a:graphicData uri="http://schemas.openxmlformats.org/drawingml/2006/table">
                <a:tbl>
                  <a:tblPr firstRow="1" bandRow="1">
                    <a:tableStyleId>{5C22544A-7EE6-4342-B048-85BDC9FD1C3A}</a:tableStyleId>
                  </a:tblPr>
                  <a:tblGrid>
                    <a:gridCol w="3381922">
                      <a:extLst>
                        <a:ext uri="{9D8B030D-6E8A-4147-A177-3AD203B41FA5}">
                          <a16:colId xmlns:a16="http://schemas.microsoft.com/office/drawing/2014/main" val="2908549716"/>
                        </a:ext>
                      </a:extLst>
                    </a:gridCol>
                    <a:gridCol w="3381922">
                      <a:extLst>
                        <a:ext uri="{9D8B030D-6E8A-4147-A177-3AD203B41FA5}">
                          <a16:colId xmlns:a16="http://schemas.microsoft.com/office/drawing/2014/main" val="1246416600"/>
                        </a:ext>
                      </a:extLst>
                    </a:gridCol>
                    <a:gridCol w="3381922">
                      <a:extLst>
                        <a:ext uri="{9D8B030D-6E8A-4147-A177-3AD203B41FA5}">
                          <a16:colId xmlns:a16="http://schemas.microsoft.com/office/drawing/2014/main" val="109449997"/>
                        </a:ext>
                      </a:extLst>
                    </a:gridCol>
                  </a:tblGrid>
                  <a:tr h="370840">
                    <a:tc>
                      <a:txBody>
                        <a:bodyPr/>
                        <a:lstStyle/>
                        <a:p>
                          <a:pPr>
                            <a:buNone/>
                          </a:pPr>
                          <a:r>
                            <a:rPr lang="en-GB"/>
                            <a:t>Aspect</a:t>
                          </a:r>
                        </a:p>
                      </a:txBody>
                      <a:tcPr anchor="ctr"/>
                    </a:tc>
                    <a:tc>
                      <a:txBody>
                        <a:bodyPr/>
                        <a:lstStyle/>
                        <a:p>
                          <a:pPr>
                            <a:buNone/>
                          </a:pPr>
                          <a:r>
                            <a:rPr lang="en-GB"/>
                            <a:t>Frequentist inference</a:t>
                          </a:r>
                        </a:p>
                      </a:txBody>
                      <a:tcPr anchor="ctr"/>
                    </a:tc>
                    <a:tc>
                      <a:txBody>
                        <a:bodyPr/>
                        <a:lstStyle/>
                        <a:p>
                          <a:pPr>
                            <a:buNone/>
                          </a:pPr>
                          <a:r>
                            <a:rPr lang="en-GB" dirty="0"/>
                            <a:t>Bayesian inference</a:t>
                          </a:r>
                        </a:p>
                      </a:txBody>
                      <a:tcPr anchor="ctr"/>
                    </a:tc>
                    <a:extLst>
                      <a:ext uri="{0D108BD9-81ED-4DB2-BD59-A6C34878D82A}">
                        <a16:rowId xmlns:a16="http://schemas.microsoft.com/office/drawing/2014/main" val="3444319308"/>
                      </a:ext>
                    </a:extLst>
                  </a:tr>
                  <a:tr h="1463040">
                    <a:tc>
                      <a:txBody>
                        <a:bodyPr/>
                        <a:lstStyle/>
                        <a:p>
                          <a:pPr>
                            <a:buNone/>
                          </a:pPr>
                          <a:r>
                            <a:rPr lang="en-GB" b="1"/>
                            <a:t>Interpretation of interval</a:t>
                          </a:r>
                          <a:endParaRPr lang="en-GB"/>
                        </a:p>
                      </a:txBody>
                      <a:tcPr anchor="ctr"/>
                    </a:tc>
                    <a:tc>
                      <a:txBody>
                        <a:bodyPr/>
                        <a:lstStyle/>
                        <a:p>
                          <a:pPr>
                            <a:buNone/>
                          </a:pPr>
                          <a:r>
                            <a:rPr lang="en-GB" dirty="0"/>
                            <a:t>"95% of such intervals, across repeated sampling, would contain the true parameter" (a statement about the </a:t>
                          </a:r>
                          <a:r>
                            <a:rPr lang="en-GB" i="1" dirty="0"/>
                            <a:t>procedure</a:t>
                          </a:r>
                          <a:r>
                            <a:rPr lang="en-GB" dirty="0"/>
                            <a:t>, not this specific interval)</a:t>
                          </a:r>
                        </a:p>
                      </a:txBody>
                      <a:tcPr anchor="ctr"/>
                    </a:tc>
                    <a:tc>
                      <a:txBody>
                        <a:bodyPr/>
                        <a:lstStyle/>
                        <a:p>
                          <a:pPr>
                            <a:buNone/>
                          </a:pPr>
                          <a:r>
                            <a:rPr lang="en-GB" dirty="0"/>
                            <a:t>"There is a 95% probability the true parameter lies in this interval" (a direct probability statement about the parameter, given the data and prior)</a:t>
                          </a:r>
                        </a:p>
                      </a:txBody>
                      <a:tcPr anchor="ctr"/>
                    </a:tc>
                    <a:extLst>
                      <a:ext uri="{0D108BD9-81ED-4DB2-BD59-A6C34878D82A}">
                        <a16:rowId xmlns:a16="http://schemas.microsoft.com/office/drawing/2014/main" val="3461350074"/>
                      </a:ext>
                    </a:extLst>
                  </a:tr>
                  <a:tr h="640080">
                    <a:tc>
                      <a:txBody>
                        <a:bodyPr/>
                        <a:lstStyle/>
                        <a:p>
                          <a:pPr>
                            <a:buNone/>
                          </a:pPr>
                          <a:r>
                            <a:rPr lang="en-GB" b="1"/>
                            <a:t>Hypothesis testing</a:t>
                          </a:r>
                          <a:endParaRPr lang="en-GB"/>
                        </a:p>
                      </a:txBody>
                      <a:tcPr anchor="ctr"/>
                    </a:tc>
                    <a:tc>
                      <a:txBody>
                        <a:bodyPr/>
                        <a:lstStyle/>
                        <a:p>
                          <a:pPr>
                            <a:buNone/>
                          </a:pPr>
                          <a:r>
                            <a:rPr lang="en-GB"/>
                            <a:t>p-values, significance testing (reject/fail to reject H₀)</a:t>
                          </a:r>
                        </a:p>
                      </a:txBody>
                      <a:tcPr anchor="ctr"/>
                    </a:tc>
                    <a:tc>
                      <a:txBody>
                        <a:bodyPr/>
                        <a:lstStyle/>
                        <a:p>
                          <a:endParaRPr lang="en-US"/>
                        </a:p>
                      </a:txBody>
                      <a:tcPr anchor="ctr">
                        <a:blipFill>
                          <a:blip r:embed="rId2"/>
                          <a:stretch>
                            <a:fillRect l="-200360" t="-289524" r="-721" b="-402857"/>
                          </a:stretch>
                        </a:blipFill>
                      </a:tcPr>
                    </a:tc>
                    <a:extLst>
                      <a:ext uri="{0D108BD9-81ED-4DB2-BD59-A6C34878D82A}">
                        <a16:rowId xmlns:a16="http://schemas.microsoft.com/office/drawing/2014/main" val="3458609917"/>
                      </a:ext>
                    </a:extLst>
                  </a:tr>
                  <a:tr h="914400">
                    <a:tc>
                      <a:txBody>
                        <a:bodyPr/>
                        <a:lstStyle/>
                        <a:p>
                          <a:pPr>
                            <a:buNone/>
                          </a:pPr>
                          <a:r>
                            <a:rPr lang="en-GB" b="1"/>
                            <a:t>Behavior with small samples</a:t>
                          </a:r>
                          <a:endParaRPr lang="en-GB"/>
                        </a:p>
                      </a:txBody>
                      <a:tcPr anchor="ctr"/>
                    </a:tc>
                    <a:tc>
                      <a:txBody>
                        <a:bodyPr/>
                        <a:lstStyle/>
                        <a:p>
                          <a:pPr>
                            <a:buNone/>
                          </a:pPr>
                          <a:r>
                            <a:rPr lang="en-GB"/>
                            <a:t>Can be unstable; relies on asymptotic theory (large-sample approximations)</a:t>
                          </a:r>
                        </a:p>
                      </a:txBody>
                      <a:tcPr anchor="ctr"/>
                    </a:tc>
                    <a:tc>
                      <a:txBody>
                        <a:bodyPr/>
                        <a:lstStyle/>
                        <a:p>
                          <a:pPr>
                            <a:buNone/>
                          </a:pPr>
                          <a:r>
                            <a:rPr lang="en-GB"/>
                            <a:t>Prior can stabilize/regularize estimates even with limited data</a:t>
                          </a:r>
                        </a:p>
                      </a:txBody>
                      <a:tcPr anchor="ctr"/>
                    </a:tc>
                    <a:extLst>
                      <a:ext uri="{0D108BD9-81ED-4DB2-BD59-A6C34878D82A}">
                        <a16:rowId xmlns:a16="http://schemas.microsoft.com/office/drawing/2014/main" val="1974247663"/>
                      </a:ext>
                    </a:extLst>
                  </a:tr>
                  <a:tr h="914400">
                    <a:tc>
                      <a:txBody>
                        <a:bodyPr/>
                        <a:lstStyle/>
                        <a:p>
                          <a:pPr>
                            <a:buNone/>
                          </a:pPr>
                          <a:r>
                            <a:rPr lang="en-GB" b="1"/>
                            <a:t>Computation</a:t>
                          </a:r>
                          <a:endParaRPr lang="en-GB"/>
                        </a:p>
                      </a:txBody>
                      <a:tcPr anchor="ctr"/>
                    </a:tc>
                    <a:tc>
                      <a:txBody>
                        <a:bodyPr/>
                        <a:lstStyle/>
                        <a:p>
                          <a:pPr>
                            <a:buNone/>
                          </a:pPr>
                          <a:r>
                            <a:rPr lang="en-GB"/>
                            <a:t>Closed-form formulas or numerical optimization (e.g. IRLS for GLMs)</a:t>
                          </a:r>
                        </a:p>
                      </a:txBody>
                      <a:tcPr anchor="ctr"/>
                    </a:tc>
                    <a:tc>
                      <a:txBody>
                        <a:bodyPr/>
                        <a:lstStyle/>
                        <a:p>
                          <a:pPr>
                            <a:buNone/>
                          </a:pPr>
                          <a:r>
                            <a:rPr lang="en-GB"/>
                            <a:t>Posterior often requires approximation — MCMC, or fast deterministic methods like INLA</a:t>
                          </a:r>
                        </a:p>
                      </a:txBody>
                      <a:tcPr anchor="ctr"/>
                    </a:tc>
                    <a:extLst>
                      <a:ext uri="{0D108BD9-81ED-4DB2-BD59-A6C34878D82A}">
                        <a16:rowId xmlns:a16="http://schemas.microsoft.com/office/drawing/2014/main" val="4080697286"/>
                      </a:ext>
                    </a:extLst>
                  </a:tr>
                  <a:tr h="640080">
                    <a:tc>
                      <a:txBody>
                        <a:bodyPr/>
                        <a:lstStyle/>
                        <a:p>
                          <a:pPr>
                            <a:buNone/>
                          </a:pPr>
                          <a:r>
                            <a:rPr lang="en-GB" b="1"/>
                            <a:t>Model comparison</a:t>
                          </a:r>
                          <a:endParaRPr lang="en-GB"/>
                        </a:p>
                      </a:txBody>
                      <a:tcPr anchor="ctr"/>
                    </a:tc>
                    <a:tc>
                      <a:txBody>
                        <a:bodyPr/>
                        <a:lstStyle/>
                        <a:p>
                          <a:pPr>
                            <a:buNone/>
                          </a:pPr>
                          <a:r>
                            <a:rPr lang="en-GB"/>
                            <a:t>AIC, likelihood ratio tests</a:t>
                          </a:r>
                        </a:p>
                      </a:txBody>
                      <a:tcPr anchor="ctr"/>
                    </a:tc>
                    <a:tc>
                      <a:txBody>
                        <a:bodyPr/>
                        <a:lstStyle/>
                        <a:p>
                          <a:pPr>
                            <a:buNone/>
                          </a:pPr>
                          <a:r>
                            <a:rPr lang="en-GB" dirty="0"/>
                            <a:t>DIC, WAIC, Bayes factors, posterior predictive checks</a:t>
                          </a:r>
                        </a:p>
                      </a:txBody>
                      <a:tcPr anchor="ctr"/>
                    </a:tc>
                    <a:extLst>
                      <a:ext uri="{0D108BD9-81ED-4DB2-BD59-A6C34878D82A}">
                        <a16:rowId xmlns:a16="http://schemas.microsoft.com/office/drawing/2014/main" val="4274676753"/>
                      </a:ext>
                    </a:extLst>
                  </a:tr>
                </a:tbl>
              </a:graphicData>
            </a:graphic>
          </p:graphicFrame>
        </mc:Fallback>
      </mc:AlternateContent>
      <p:sp>
        <p:nvSpPr>
          <p:cNvPr id="9" name="Title 1">
            <a:extLst>
              <a:ext uri="{FF2B5EF4-FFF2-40B4-BE49-F238E27FC236}">
                <a16:creationId xmlns:a16="http://schemas.microsoft.com/office/drawing/2014/main" id="{B28069FD-696E-4B13-EC3D-AB8D14D5B874}"/>
              </a:ext>
            </a:extLst>
          </p:cNvPr>
          <p:cNvSpPr>
            <a:spLocks noGrp="1"/>
          </p:cNvSpPr>
          <p:nvPr>
            <p:ph type="title"/>
          </p:nvPr>
        </p:nvSpPr>
        <p:spPr>
          <a:xfrm>
            <a:off x="468366" y="0"/>
            <a:ext cx="11447410" cy="857286"/>
          </a:xfrm>
        </p:spPr>
        <p:txBody>
          <a:bodyPr>
            <a:normAutofit/>
          </a:bodyPr>
          <a:lstStyle/>
          <a:p>
            <a:r>
              <a:rPr lang="en-GB" sz="3600" b="1" dirty="0">
                <a:solidFill>
                  <a:schemeClr val="bg1"/>
                </a:solidFill>
                <a:latin typeface="+mn-lt"/>
              </a:rPr>
              <a:t>Introduction to Bayesian inference</a:t>
            </a:r>
          </a:p>
        </p:txBody>
      </p:sp>
      <p:sp>
        <p:nvSpPr>
          <p:cNvPr id="10" name="Slide Number Placeholder 9">
            <a:extLst>
              <a:ext uri="{FF2B5EF4-FFF2-40B4-BE49-F238E27FC236}">
                <a16:creationId xmlns:a16="http://schemas.microsoft.com/office/drawing/2014/main" id="{9C04AFD8-7DDE-24CD-20A3-C0B78CD0F3EB}"/>
              </a:ext>
            </a:extLst>
          </p:cNvPr>
          <p:cNvSpPr>
            <a:spLocks noGrp="1"/>
          </p:cNvSpPr>
          <p:nvPr>
            <p:ph type="sldNum" sz="quarter" idx="12"/>
          </p:nvPr>
        </p:nvSpPr>
        <p:spPr/>
        <p:txBody>
          <a:bodyPr/>
          <a:lstStyle/>
          <a:p>
            <a:fld id="{92E773D0-8039-41DE-9EAA-38744617136D}" type="slidenum">
              <a:rPr lang="en-GB" smtClean="0"/>
              <a:t>5</a:t>
            </a:fld>
            <a:endParaRPr lang="en-GB"/>
          </a:p>
        </p:txBody>
      </p:sp>
    </p:spTree>
    <p:extLst>
      <p:ext uri="{BB962C8B-B14F-4D97-AF65-F5344CB8AC3E}">
        <p14:creationId xmlns:p14="http://schemas.microsoft.com/office/powerpoint/2010/main" val="2937827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9760FA-A09A-E0B1-8700-DC5EEC182B21}"/>
              </a:ext>
            </a:extLst>
          </p:cNvPr>
          <p:cNvSpPr>
            <a:spLocks noGrp="1"/>
          </p:cNvSpPr>
          <p:nvPr>
            <p:ph idx="1"/>
          </p:nvPr>
        </p:nvSpPr>
        <p:spPr/>
        <p:txBody>
          <a:bodyPr/>
          <a:lstStyle/>
          <a:p>
            <a:r>
              <a:rPr lang="en-GB" dirty="0"/>
              <a:t>Bayesian interpretation feels more natural – consider how you interpret a 95% confidence interval vs a 95% credible interval</a:t>
            </a:r>
          </a:p>
          <a:p>
            <a:endParaRPr lang="en-GB" dirty="0"/>
          </a:p>
          <a:p>
            <a:r>
              <a:rPr lang="en-GB" dirty="0"/>
              <a:t>95% conf int: If we repeat the experiment a large number of times, then 95% of the time, the true value of the parameter will lie within the interval.  </a:t>
            </a:r>
          </a:p>
          <a:p>
            <a:endParaRPr lang="en-GB" dirty="0"/>
          </a:p>
          <a:p>
            <a:r>
              <a:rPr lang="en-GB" dirty="0"/>
              <a:t>95% cred interval: There is a 95% probability that the true value of the parameter falls within the interval.</a:t>
            </a:r>
          </a:p>
          <a:p>
            <a:endParaRPr lang="en-GB" dirty="0"/>
          </a:p>
        </p:txBody>
      </p:sp>
      <p:cxnSp>
        <p:nvCxnSpPr>
          <p:cNvPr id="5" name="Straight Arrow Connector 4">
            <a:extLst>
              <a:ext uri="{FF2B5EF4-FFF2-40B4-BE49-F238E27FC236}">
                <a16:creationId xmlns:a16="http://schemas.microsoft.com/office/drawing/2014/main" id="{CEE686B3-86CB-F2FC-FD20-99E05E7AD80C}"/>
              </a:ext>
            </a:extLst>
          </p:cNvPr>
          <p:cNvCxnSpPr/>
          <p:nvPr/>
        </p:nvCxnSpPr>
        <p:spPr>
          <a:xfrm flipV="1">
            <a:off x="7536264" y="3004457"/>
            <a:ext cx="683288" cy="424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755ACA9E-96CE-1BB9-EED0-3486987F37AB}"/>
              </a:ext>
            </a:extLst>
          </p:cNvPr>
          <p:cNvSpPr txBox="1"/>
          <p:nvPr/>
        </p:nvSpPr>
        <p:spPr>
          <a:xfrm>
            <a:off x="8109020" y="2682910"/>
            <a:ext cx="2723103" cy="369332"/>
          </a:xfrm>
          <a:prstGeom prst="rect">
            <a:avLst/>
          </a:prstGeom>
          <a:noFill/>
        </p:spPr>
        <p:txBody>
          <a:bodyPr wrap="square" rtlCol="0">
            <a:spAutoFit/>
          </a:bodyPr>
          <a:lstStyle/>
          <a:p>
            <a:r>
              <a:rPr lang="en-GB" dirty="0"/>
              <a:t>Really? Are we doing this?</a:t>
            </a:r>
          </a:p>
        </p:txBody>
      </p:sp>
      <p:cxnSp>
        <p:nvCxnSpPr>
          <p:cNvPr id="7" name="Straight Arrow Connector 6">
            <a:extLst>
              <a:ext uri="{FF2B5EF4-FFF2-40B4-BE49-F238E27FC236}">
                <a16:creationId xmlns:a16="http://schemas.microsoft.com/office/drawing/2014/main" id="{1270474D-9AF2-ED12-3D74-85F90B6E8717}"/>
              </a:ext>
            </a:extLst>
          </p:cNvPr>
          <p:cNvCxnSpPr/>
          <p:nvPr/>
        </p:nvCxnSpPr>
        <p:spPr>
          <a:xfrm flipV="1">
            <a:off x="6834554" y="4675284"/>
            <a:ext cx="683288" cy="424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507B2CBC-1EAD-F13C-8AC3-9AD3461CABE1}"/>
              </a:ext>
            </a:extLst>
          </p:cNvPr>
          <p:cNvSpPr txBox="1"/>
          <p:nvPr/>
        </p:nvSpPr>
        <p:spPr>
          <a:xfrm>
            <a:off x="7407310" y="4353737"/>
            <a:ext cx="3424813" cy="369332"/>
          </a:xfrm>
          <a:prstGeom prst="rect">
            <a:avLst/>
          </a:prstGeom>
          <a:noFill/>
        </p:spPr>
        <p:txBody>
          <a:bodyPr wrap="square" rtlCol="0">
            <a:spAutoFit/>
          </a:bodyPr>
          <a:lstStyle/>
          <a:p>
            <a:r>
              <a:rPr lang="en-GB" dirty="0"/>
              <a:t>This is what we would like to say!</a:t>
            </a:r>
          </a:p>
        </p:txBody>
      </p:sp>
      <p:sp>
        <p:nvSpPr>
          <p:cNvPr id="10" name="Title 1">
            <a:extLst>
              <a:ext uri="{FF2B5EF4-FFF2-40B4-BE49-F238E27FC236}">
                <a16:creationId xmlns:a16="http://schemas.microsoft.com/office/drawing/2014/main" id="{28789543-8603-9DDA-7794-5D7FDA68A61E}"/>
              </a:ext>
            </a:extLst>
          </p:cNvPr>
          <p:cNvSpPr>
            <a:spLocks noGrp="1"/>
          </p:cNvSpPr>
          <p:nvPr>
            <p:ph type="title"/>
          </p:nvPr>
        </p:nvSpPr>
        <p:spPr>
          <a:xfrm>
            <a:off x="468366" y="0"/>
            <a:ext cx="11447410" cy="857286"/>
          </a:xfrm>
        </p:spPr>
        <p:txBody>
          <a:bodyPr>
            <a:normAutofit/>
          </a:bodyPr>
          <a:lstStyle/>
          <a:p>
            <a:r>
              <a:rPr lang="en-GB" sz="3600" b="1" dirty="0">
                <a:solidFill>
                  <a:schemeClr val="bg1"/>
                </a:solidFill>
                <a:latin typeface="+mn-lt"/>
              </a:rPr>
              <a:t>Introduction to Bayesian inference</a:t>
            </a:r>
          </a:p>
        </p:txBody>
      </p:sp>
      <p:sp>
        <p:nvSpPr>
          <p:cNvPr id="11" name="Slide Number Placeholder 10">
            <a:extLst>
              <a:ext uri="{FF2B5EF4-FFF2-40B4-BE49-F238E27FC236}">
                <a16:creationId xmlns:a16="http://schemas.microsoft.com/office/drawing/2014/main" id="{04780559-1191-00FC-D6DB-6D006D5A688E}"/>
              </a:ext>
            </a:extLst>
          </p:cNvPr>
          <p:cNvSpPr>
            <a:spLocks noGrp="1"/>
          </p:cNvSpPr>
          <p:nvPr>
            <p:ph type="sldNum" sz="quarter" idx="12"/>
          </p:nvPr>
        </p:nvSpPr>
        <p:spPr/>
        <p:txBody>
          <a:bodyPr/>
          <a:lstStyle/>
          <a:p>
            <a:fld id="{92E773D0-8039-41DE-9EAA-38744617136D}" type="slidenum">
              <a:rPr lang="en-GB" smtClean="0"/>
              <a:t>6</a:t>
            </a:fld>
            <a:endParaRPr lang="en-GB"/>
          </a:p>
        </p:txBody>
      </p:sp>
    </p:spTree>
    <p:extLst>
      <p:ext uri="{BB962C8B-B14F-4D97-AF65-F5344CB8AC3E}">
        <p14:creationId xmlns:p14="http://schemas.microsoft.com/office/powerpoint/2010/main" val="1518404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62F55B-2125-4227-6C84-656AEEEA9D97}"/>
              </a:ext>
            </a:extLst>
          </p:cNvPr>
          <p:cNvSpPr>
            <a:spLocks noGrp="1"/>
          </p:cNvSpPr>
          <p:nvPr>
            <p:ph idx="1"/>
          </p:nvPr>
        </p:nvSpPr>
        <p:spPr>
          <a:xfrm>
            <a:off x="767862" y="1690688"/>
            <a:ext cx="10515600" cy="4351338"/>
          </a:xfrm>
        </p:spPr>
        <p:txBody>
          <a:bodyPr>
            <a:normAutofit fontScale="92500" lnSpcReduction="10000"/>
          </a:bodyPr>
          <a:lstStyle/>
          <a:p>
            <a:r>
              <a:rPr lang="en-GB" dirty="0"/>
              <a:t>The </a:t>
            </a:r>
            <a:r>
              <a:rPr lang="en-GB" b="1" dirty="0"/>
              <a:t>basic philosophy </a:t>
            </a:r>
            <a:r>
              <a:rPr lang="en-GB" dirty="0"/>
              <a:t>underpinning Bayesian inference is </a:t>
            </a:r>
            <a:r>
              <a:rPr lang="en-GB" b="1" dirty="0"/>
              <a:t>the use of probability to measure uncertainty </a:t>
            </a:r>
            <a:r>
              <a:rPr lang="en-GB" dirty="0"/>
              <a:t>about unknown quantities, including parameters </a:t>
            </a:r>
            <a:r>
              <a:rPr lang="en-GB" sz="1900" dirty="0"/>
              <a:t>(In contrast, frequentist approach uses probability to describe the long run behaviour of </a:t>
            </a:r>
            <a:r>
              <a:rPr lang="en-GB" sz="1900" b="1" dirty="0"/>
              <a:t>data</a:t>
            </a:r>
            <a:r>
              <a:rPr lang="en-GB" sz="1900" dirty="0"/>
              <a:t> under repeated sampling)</a:t>
            </a:r>
          </a:p>
          <a:p>
            <a:endParaRPr lang="en-GB" dirty="0"/>
          </a:p>
          <a:p>
            <a:r>
              <a:rPr lang="en-GB" dirty="0"/>
              <a:t>In a Bayesian approach to a data analysis and modelling problem, the main task involves formulating and estimating probabilities of events or quantities of interest, using the </a:t>
            </a:r>
            <a:r>
              <a:rPr lang="en-GB" b="1" dirty="0"/>
              <a:t>observed data </a:t>
            </a:r>
            <a:r>
              <a:rPr lang="en-GB" dirty="0"/>
              <a:t>and any </a:t>
            </a:r>
            <a:r>
              <a:rPr lang="en-GB" b="1" dirty="0"/>
              <a:t>prior information </a:t>
            </a:r>
            <a:r>
              <a:rPr lang="en-GB" dirty="0"/>
              <a:t>relevant to the scientific enquiry</a:t>
            </a:r>
          </a:p>
          <a:p>
            <a:endParaRPr lang="en-GB" b="1" dirty="0"/>
          </a:p>
          <a:p>
            <a:r>
              <a:rPr lang="en-GB" dirty="0"/>
              <a:t>The integration of information from the observed data and prior information is facilitated by the application of the </a:t>
            </a:r>
            <a:r>
              <a:rPr lang="en-GB" b="1" dirty="0"/>
              <a:t>Bayes’ theorem</a:t>
            </a:r>
          </a:p>
        </p:txBody>
      </p:sp>
      <p:sp>
        <p:nvSpPr>
          <p:cNvPr id="6" name="Title 1">
            <a:extLst>
              <a:ext uri="{FF2B5EF4-FFF2-40B4-BE49-F238E27FC236}">
                <a16:creationId xmlns:a16="http://schemas.microsoft.com/office/drawing/2014/main" id="{A240172D-FAFD-6C9C-7A5D-2141708216D8}"/>
              </a:ext>
            </a:extLst>
          </p:cNvPr>
          <p:cNvSpPr>
            <a:spLocks noGrp="1"/>
          </p:cNvSpPr>
          <p:nvPr>
            <p:ph type="title"/>
          </p:nvPr>
        </p:nvSpPr>
        <p:spPr>
          <a:xfrm>
            <a:off x="468366" y="0"/>
            <a:ext cx="11447410" cy="857286"/>
          </a:xfrm>
        </p:spPr>
        <p:txBody>
          <a:bodyPr>
            <a:normAutofit/>
          </a:bodyPr>
          <a:lstStyle/>
          <a:p>
            <a:r>
              <a:rPr lang="en-GB" sz="3600" b="1" dirty="0">
                <a:solidFill>
                  <a:schemeClr val="bg1"/>
                </a:solidFill>
                <a:latin typeface="+mn-lt"/>
              </a:rPr>
              <a:t>Introduction to Bayesian inference</a:t>
            </a:r>
          </a:p>
        </p:txBody>
      </p:sp>
      <p:sp>
        <p:nvSpPr>
          <p:cNvPr id="7" name="Slide Number Placeholder 6">
            <a:extLst>
              <a:ext uri="{FF2B5EF4-FFF2-40B4-BE49-F238E27FC236}">
                <a16:creationId xmlns:a16="http://schemas.microsoft.com/office/drawing/2014/main" id="{FA0B9090-4574-A9BD-6D71-0613E962A049}"/>
              </a:ext>
            </a:extLst>
          </p:cNvPr>
          <p:cNvSpPr>
            <a:spLocks noGrp="1"/>
          </p:cNvSpPr>
          <p:nvPr>
            <p:ph type="sldNum" sz="quarter" idx="12"/>
          </p:nvPr>
        </p:nvSpPr>
        <p:spPr/>
        <p:txBody>
          <a:bodyPr/>
          <a:lstStyle/>
          <a:p>
            <a:fld id="{92E773D0-8039-41DE-9EAA-38744617136D}" type="slidenum">
              <a:rPr lang="en-GB" smtClean="0"/>
              <a:t>7</a:t>
            </a:fld>
            <a:endParaRPr lang="en-GB" dirty="0"/>
          </a:p>
        </p:txBody>
      </p:sp>
    </p:spTree>
    <p:extLst>
      <p:ext uri="{BB962C8B-B14F-4D97-AF65-F5344CB8AC3E}">
        <p14:creationId xmlns:p14="http://schemas.microsoft.com/office/powerpoint/2010/main" val="2611253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038467-61CF-99B8-AB52-D46674DD9E00}"/>
                  </a:ext>
                </a:extLst>
              </p:cNvPr>
              <p:cNvSpPr>
                <a:spLocks noGrp="1"/>
              </p:cNvSpPr>
              <p:nvPr>
                <p:ph idx="1"/>
              </p:nvPr>
            </p:nvSpPr>
            <p:spPr>
              <a:xfrm>
                <a:off x="314849" y="1539926"/>
                <a:ext cx="7627374" cy="3149498"/>
              </a:xfrm>
            </p:spPr>
            <p:txBody>
              <a:bodyPr/>
              <a:lstStyle/>
              <a:p>
                <a:pPr marL="0" indent="0">
                  <a:buNone/>
                </a:pPr>
                <a:r>
                  <a:rPr lang="en-GB" b="1" dirty="0"/>
                  <a:t>Bayes’ theorem</a:t>
                </a:r>
              </a:p>
              <a:p>
                <a:pPr marL="0" indent="0">
                  <a:buNone/>
                </a:pPr>
                <a:r>
                  <a:rPr lang="en-GB" dirty="0"/>
                  <a:t>Let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𝑙</m:t>
                        </m:r>
                      </m:sub>
                    </m:sSub>
                  </m:oMath>
                </a14:m>
                <a:r>
                  <a:rPr lang="en-GB" dirty="0"/>
                  <a:t> be a set of mutually exclusive and exhaustive events, and let </a:t>
                </a:r>
                <a14:m>
                  <m:oMath xmlns:m="http://schemas.openxmlformats.org/officeDocument/2006/math">
                    <m:r>
                      <a:rPr lang="en-GB" b="0" i="1" smtClean="0">
                        <a:latin typeface="Cambria Math" panose="02040503050406030204" pitchFamily="18" charset="0"/>
                      </a:rPr>
                      <m:t>𝐴</m:t>
                    </m:r>
                  </m:oMath>
                </a14:m>
                <a:r>
                  <a:rPr lang="en-GB" dirty="0"/>
                  <a:t> be another event with positive probability. Bayes’ theorem states that for any </a:t>
                </a:r>
                <a14:m>
                  <m:oMath xmlns:m="http://schemas.openxmlformats.org/officeDocument/2006/math">
                    <m:r>
                      <a:rPr lang="en-GB" b="0" i="1" smtClean="0">
                        <a:latin typeface="Cambria Math" panose="02040503050406030204" pitchFamily="18" charset="0"/>
                      </a:rPr>
                      <m:t>𝑖</m:t>
                    </m:r>
                    <m:r>
                      <a:rPr lang="en-GB" b="0" i="1" smtClean="0">
                        <a:latin typeface="Cambria Math" panose="02040503050406030204" pitchFamily="18" charset="0"/>
                      </a:rPr>
                      <m:t>, </m:t>
                    </m:r>
                    <m:r>
                      <a:rPr lang="en-GB" b="0" i="1" smtClean="0">
                        <a:latin typeface="Cambria Math" panose="02040503050406030204" pitchFamily="18" charset="0"/>
                      </a:rPr>
                      <m:t>𝑖</m:t>
                    </m:r>
                    <m:r>
                      <a:rPr lang="en-GB" b="0" i="1" smtClean="0">
                        <a:latin typeface="Cambria Math" panose="02040503050406030204" pitchFamily="18" charset="0"/>
                      </a:rPr>
                      <m:t>=1,…,</m:t>
                    </m:r>
                    <m:r>
                      <a:rPr lang="en-GB" b="0" i="1" smtClean="0">
                        <a:latin typeface="Cambria Math" panose="02040503050406030204" pitchFamily="18" charset="0"/>
                      </a:rPr>
                      <m:t>𝑙</m:t>
                    </m:r>
                    <m:r>
                      <a:rPr lang="en-GB" b="0" i="1" smtClean="0">
                        <a:latin typeface="Cambria Math" panose="02040503050406030204" pitchFamily="18" charset="0"/>
                      </a:rPr>
                      <m:t>,</m:t>
                    </m:r>
                  </m:oMath>
                </a14:m>
                <a:endParaRPr lang="en-GB" dirty="0"/>
              </a:p>
              <a:p>
                <a:pPr marL="0" indent="0">
                  <a:buNone/>
                </a:pPr>
                <a14:m>
                  <m:oMathPara xmlns:m="http://schemas.openxmlformats.org/officeDocument/2006/math">
                    <m:oMath>
                      <m:r>
                        <a:rPr lang="en-GB" b="0" i="1" smtClean="0">
                          <a:latin typeface="Cambria Math" panose="02040503050406030204" pitchFamily="18" charset="0"/>
                        </a:rPr>
                        <m:t>𝑃</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e>
                        <m:e>
                          <m:r>
                            <a:rPr lang="en-GB" b="0" i="1" smtClean="0">
                              <a:latin typeface="Cambria Math" panose="02040503050406030204" pitchFamily="18" charset="0"/>
                            </a:rPr>
                            <m:t>𝐴</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𝑃</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𝐴</m:t>
                          </m:r>
                          <m:r>
                            <a:rPr lang="en-GB" b="0" i="1" smtClean="0">
                              <a:latin typeface="Cambria Math" panose="02040503050406030204" pitchFamily="18" charset="0"/>
                              <a:ea typeface="Cambria Math" panose="02040503050406030204" pitchFamily="18" charset="0"/>
                            </a:rPr>
                            <m:t>)</m:t>
                          </m:r>
                        </m:num>
                        <m:den>
                          <m:r>
                            <a:rPr lang="en-GB" b="0" i="1" smtClean="0">
                              <a:latin typeface="Cambria Math" panose="02040503050406030204" pitchFamily="18" charset="0"/>
                            </a:rPr>
                            <m:t>𝑃</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e>
                          </m:d>
                          <m:r>
                            <a:rPr lang="en-GB" b="0" i="1" smtClean="0">
                              <a:latin typeface="Cambria Math" panose="02040503050406030204" pitchFamily="18" charset="0"/>
                            </a:rPr>
                            <m:t>𝑃</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r>
                            <a:rPr lang="en-GB" b="0" i="1" smtClean="0">
                              <a:latin typeface="Cambria Math" panose="02040503050406030204" pitchFamily="18" charset="0"/>
                            </a:rPr>
                            <m:t>)</m:t>
                          </m:r>
                        </m:num>
                        <m:den>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𝑖</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𝑙</m:t>
                              </m:r>
                            </m:sup>
                            <m:e>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e>
                              </m:d>
                              <m:r>
                                <a:rPr lang="en-GB" b="0" i="1" smtClean="0">
                                  <a:latin typeface="Cambria Math" panose="02040503050406030204" pitchFamily="18" charset="0"/>
                                </a:rPr>
                                <m:t>𝑃</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r>
                                <a:rPr lang="en-GB" b="0" i="1" smtClean="0">
                                  <a:latin typeface="Cambria Math" panose="02040503050406030204" pitchFamily="18" charset="0"/>
                                </a:rPr>
                                <m:t>)</m:t>
                              </m:r>
                            </m:e>
                          </m:nary>
                        </m:den>
                      </m:f>
                    </m:oMath>
                  </m:oMathPara>
                </a14:m>
                <a:endParaRPr lang="en-GB" dirty="0"/>
              </a:p>
            </p:txBody>
          </p:sp>
        </mc:Choice>
        <mc:Fallback xmlns="">
          <p:sp>
            <p:nvSpPr>
              <p:cNvPr id="3" name="Content Placeholder 2">
                <a:extLst>
                  <a:ext uri="{FF2B5EF4-FFF2-40B4-BE49-F238E27FC236}">
                    <a16:creationId xmlns:a16="http://schemas.microsoft.com/office/drawing/2014/main" id="{5E038467-61CF-99B8-AB52-D46674DD9E00}"/>
                  </a:ext>
                </a:extLst>
              </p:cNvPr>
              <p:cNvSpPr>
                <a:spLocks noGrp="1" noRot="1" noChangeAspect="1" noMove="1" noResize="1" noEditPoints="1" noAdjustHandles="1" noChangeArrowheads="1" noChangeShapeType="1" noTextEdit="1"/>
              </p:cNvSpPr>
              <p:nvPr>
                <p:ph idx="1"/>
              </p:nvPr>
            </p:nvSpPr>
            <p:spPr>
              <a:xfrm>
                <a:off x="314849" y="1539926"/>
                <a:ext cx="7627374" cy="3149498"/>
              </a:xfrm>
              <a:blipFill>
                <a:blip r:embed="rId2"/>
                <a:stretch>
                  <a:fillRect l="-1679" t="-3488"/>
                </a:stretch>
              </a:blipFill>
            </p:spPr>
            <p:txBody>
              <a:bodyPr/>
              <a:lstStyle/>
              <a:p>
                <a:r>
                  <a:rPr lang="en-GB">
                    <a:noFill/>
                  </a:rPr>
                  <a:t> </a:t>
                </a:r>
              </a:p>
            </p:txBody>
          </p:sp>
        </mc:Fallback>
      </mc:AlternateContent>
      <p:sp>
        <p:nvSpPr>
          <p:cNvPr id="4" name="Title 1">
            <a:extLst>
              <a:ext uri="{FF2B5EF4-FFF2-40B4-BE49-F238E27FC236}">
                <a16:creationId xmlns:a16="http://schemas.microsoft.com/office/drawing/2014/main" id="{45EB1227-0C62-BA7F-71C5-E8D65122099D}"/>
              </a:ext>
            </a:extLst>
          </p:cNvPr>
          <p:cNvSpPr>
            <a:spLocks noGrp="1"/>
          </p:cNvSpPr>
          <p:nvPr>
            <p:ph type="title"/>
          </p:nvPr>
        </p:nvSpPr>
        <p:spPr>
          <a:xfrm>
            <a:off x="301451" y="114301"/>
            <a:ext cx="3975274" cy="609600"/>
          </a:xfrm>
        </p:spPr>
        <p:txBody>
          <a:bodyPr>
            <a:normAutofit fontScale="90000"/>
          </a:bodyPr>
          <a:lstStyle/>
          <a:p>
            <a:r>
              <a:rPr lang="en-GB" sz="4000" b="1" dirty="0">
                <a:solidFill>
                  <a:schemeClr val="bg1"/>
                </a:solidFill>
                <a:latin typeface="+mn-lt"/>
              </a:rPr>
              <a:t>Bayes’ theorem</a:t>
            </a:r>
          </a:p>
        </p:txBody>
      </p:sp>
      <p:pic>
        <p:nvPicPr>
          <p:cNvPr id="5" name="Picture 4">
            <a:extLst>
              <a:ext uri="{FF2B5EF4-FFF2-40B4-BE49-F238E27FC236}">
                <a16:creationId xmlns:a16="http://schemas.microsoft.com/office/drawing/2014/main" id="{00710A87-D982-B336-13BB-55574B68EACB}"/>
              </a:ext>
            </a:extLst>
          </p:cNvPr>
          <p:cNvPicPr>
            <a:picLocks noChangeAspect="1"/>
          </p:cNvPicPr>
          <p:nvPr/>
        </p:nvPicPr>
        <p:blipFill>
          <a:blip r:embed="rId3"/>
          <a:stretch>
            <a:fillRect/>
          </a:stretch>
        </p:blipFill>
        <p:spPr>
          <a:xfrm>
            <a:off x="8260687" y="1635176"/>
            <a:ext cx="3721239" cy="3721239"/>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C0318E4-D72E-FB32-7AF5-484B85C71F70}"/>
                  </a:ext>
                </a:extLst>
              </p:cNvPr>
              <p:cNvSpPr txBox="1"/>
              <p:nvPr/>
            </p:nvSpPr>
            <p:spPr>
              <a:xfrm>
                <a:off x="314849" y="5596178"/>
                <a:ext cx="8229600" cy="923330"/>
              </a:xfrm>
              <a:prstGeom prst="rect">
                <a:avLst/>
              </a:prstGeom>
              <a:noFill/>
            </p:spPr>
            <p:txBody>
              <a:bodyPr wrap="square" rtlCol="0">
                <a:spAutoFit/>
              </a:bodyPr>
              <a:lstStyle/>
              <a:p>
                <a:r>
                  <a:rPr lang="en-GB" dirty="0"/>
                  <a:t>For example, A could denote the event that a child is vaccinated and the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oMath>
                </a14:m>
                <a:r>
                  <a:rPr lang="en-GB" dirty="0"/>
                  <a:t>’s could denote the mother’s educational status (none, primary, secondary and tertiary).</a:t>
                </a:r>
              </a:p>
            </p:txBody>
          </p:sp>
        </mc:Choice>
        <mc:Fallback xmlns="">
          <p:sp>
            <p:nvSpPr>
              <p:cNvPr id="7" name="TextBox 6">
                <a:extLst>
                  <a:ext uri="{FF2B5EF4-FFF2-40B4-BE49-F238E27FC236}">
                    <a16:creationId xmlns:a16="http://schemas.microsoft.com/office/drawing/2014/main" id="{2C0318E4-D72E-FB32-7AF5-484B85C71F70}"/>
                  </a:ext>
                </a:extLst>
              </p:cNvPr>
              <p:cNvSpPr txBox="1">
                <a:spLocks noRot="1" noChangeAspect="1" noMove="1" noResize="1" noEditPoints="1" noAdjustHandles="1" noChangeArrowheads="1" noChangeShapeType="1" noTextEdit="1"/>
              </p:cNvSpPr>
              <p:nvPr/>
            </p:nvSpPr>
            <p:spPr>
              <a:xfrm>
                <a:off x="314849" y="5596178"/>
                <a:ext cx="8229600" cy="923330"/>
              </a:xfrm>
              <a:prstGeom prst="rect">
                <a:avLst/>
              </a:prstGeom>
              <a:blipFill>
                <a:blip r:embed="rId4"/>
                <a:stretch>
                  <a:fillRect l="-667" t="-2649" b="-10596"/>
                </a:stretch>
              </a:blipFill>
            </p:spPr>
            <p:txBody>
              <a:bodyPr/>
              <a:lstStyle/>
              <a:p>
                <a:r>
                  <a:rPr lang="en-GB">
                    <a:noFill/>
                  </a:rPr>
                  <a:t> </a:t>
                </a:r>
              </a:p>
            </p:txBody>
          </p:sp>
        </mc:Fallback>
      </mc:AlternateContent>
      <p:sp>
        <p:nvSpPr>
          <p:cNvPr id="8" name="Slide Number Placeholder 7">
            <a:extLst>
              <a:ext uri="{FF2B5EF4-FFF2-40B4-BE49-F238E27FC236}">
                <a16:creationId xmlns:a16="http://schemas.microsoft.com/office/drawing/2014/main" id="{F64EA297-D57D-8211-F42E-483084EEF309}"/>
              </a:ext>
            </a:extLst>
          </p:cNvPr>
          <p:cNvSpPr>
            <a:spLocks noGrp="1"/>
          </p:cNvSpPr>
          <p:nvPr>
            <p:ph type="sldNum" sz="quarter" idx="12"/>
          </p:nvPr>
        </p:nvSpPr>
        <p:spPr/>
        <p:txBody>
          <a:bodyPr/>
          <a:lstStyle/>
          <a:p>
            <a:fld id="{92E773D0-8039-41DE-9EAA-38744617136D}" type="slidenum">
              <a:rPr lang="en-GB" smtClean="0"/>
              <a:t>8</a:t>
            </a:fld>
            <a:endParaRPr lang="en-GB"/>
          </a:p>
        </p:txBody>
      </p:sp>
    </p:spTree>
    <p:extLst>
      <p:ext uri="{BB962C8B-B14F-4D97-AF65-F5344CB8AC3E}">
        <p14:creationId xmlns:p14="http://schemas.microsoft.com/office/powerpoint/2010/main" val="425356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DCCB7F-9A87-F68E-6852-46D237456EF6}"/>
                  </a:ext>
                </a:extLst>
              </p:cNvPr>
              <p:cNvSpPr>
                <a:spLocks noGrp="1"/>
              </p:cNvSpPr>
              <p:nvPr>
                <p:ph idx="1"/>
              </p:nvPr>
            </p:nvSpPr>
            <p:spPr>
              <a:xfrm>
                <a:off x="838200" y="1473200"/>
                <a:ext cx="10515600" cy="4351338"/>
              </a:xfrm>
            </p:spPr>
            <p:txBody>
              <a:bodyPr/>
              <a:lstStyle/>
              <a:p>
                <a:r>
                  <a:rPr lang="en-GB" dirty="0"/>
                  <a:t>We can generalize the Bayes’ theorem for two </a:t>
                </a:r>
                <a:r>
                  <a:rPr lang="en-GB" b="1" dirty="0"/>
                  <a:t>random variables </a:t>
                </a:r>
                <a:r>
                  <a:rPr lang="en-GB" dirty="0"/>
                  <a:t>instead of events by replacing the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oMath>
                </a14:m>
                <a:r>
                  <a:rPr lang="en-GB" dirty="0"/>
                  <a:t>’s with the generic parameter </a:t>
                </a:r>
                <a14:m>
                  <m:oMath xmlns:m="http://schemas.openxmlformats.org/officeDocument/2006/math">
                    <m:r>
                      <a:rPr lang="en-GB" b="0" i="1" smtClean="0">
                        <a:latin typeface="Cambria Math" panose="02040503050406030204" pitchFamily="18" charset="0"/>
                      </a:rPr>
                      <m:t>𝜃</m:t>
                    </m:r>
                  </m:oMath>
                </a14:m>
                <a:r>
                  <a:rPr lang="en-GB" dirty="0"/>
                  <a:t> (which we want to estimate), and </a:t>
                </a:r>
                <a14:m>
                  <m:oMath xmlns:m="http://schemas.openxmlformats.org/officeDocument/2006/math">
                    <m:r>
                      <a:rPr lang="en-GB" b="0" i="1" smtClean="0">
                        <a:latin typeface="Cambria Math" panose="02040503050406030204" pitchFamily="18" charset="0"/>
                      </a:rPr>
                      <m:t>𝐴</m:t>
                    </m:r>
                  </m:oMath>
                </a14:m>
                <a:r>
                  <a:rPr lang="en-GB" dirty="0"/>
                  <a:t> by the observation random variable, </a:t>
                </a:r>
                <a14:m>
                  <m:oMath xmlns:m="http://schemas.openxmlformats.org/officeDocument/2006/math">
                    <m:r>
                      <a:rPr lang="en-GB" b="0" i="1" smtClean="0">
                        <a:latin typeface="Cambria Math" panose="02040503050406030204" pitchFamily="18" charset="0"/>
                      </a:rPr>
                      <m:t>𝑌</m:t>
                    </m:r>
                  </m:oMath>
                </a14:m>
                <a:r>
                  <a:rPr lang="en-GB" dirty="0"/>
                  <a:t>. </a:t>
                </a:r>
              </a:p>
              <a:p>
                <a:r>
                  <a:rPr lang="en-GB" dirty="0"/>
                  <a:t>The probabilities of events will also be replaced by the probability (mass or density) function (</a:t>
                </a:r>
                <a:r>
                  <a:rPr lang="en-GB" dirty="0" err="1"/>
                  <a:t>pmf</a:t>
                </a:r>
                <a:r>
                  <a:rPr lang="en-GB" dirty="0"/>
                  <a:t> or pdf) of the random variable in question.</a:t>
                </a:r>
              </a:p>
              <a:p>
                <a:r>
                  <a:rPr lang="en-GB" dirty="0"/>
                  <a:t>Thus, we have  </a:t>
                </a:r>
                <a14:m>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e>
                    </m:d>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𝑝</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𝑦</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𝜃</m:t>
                    </m:r>
                    <m:r>
                      <a:rPr lang="en-GB" b="0" i="1" smtClean="0">
                        <a:latin typeface="Cambria Math" panose="02040503050406030204" pitchFamily="18" charset="0"/>
                        <a:ea typeface="Cambria Math" panose="02040503050406030204" pitchFamily="18" charset="0"/>
                      </a:rPr>
                      <m:t>)</m:t>
                    </m:r>
                  </m:oMath>
                </a14:m>
                <a:r>
                  <a:rPr lang="en-GB" dirty="0"/>
                  <a:t> (</a:t>
                </a:r>
                <a14:m>
                  <m:oMath xmlns:m="http://schemas.openxmlformats.org/officeDocument/2006/math">
                    <m:r>
                      <a:rPr lang="en-GB" b="0" i="1" dirty="0" smtClean="0">
                        <a:latin typeface="Cambria Math" panose="02040503050406030204" pitchFamily="18" charset="0"/>
                      </a:rPr>
                      <m:t>𝑝</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m:t>
                        </m:r>
                      </m:e>
                    </m:d>
                  </m:oMath>
                </a14:m>
                <a:r>
                  <a:rPr lang="en-GB" dirty="0"/>
                  <a:t> is a </a:t>
                </a:r>
                <a:r>
                  <a:rPr lang="en-GB" dirty="0" err="1"/>
                  <a:t>pmf</a:t>
                </a:r>
                <a:r>
                  <a:rPr lang="en-GB" dirty="0"/>
                  <a:t> or a pdf), and</a:t>
                </a:r>
              </a:p>
              <a:p>
                <a:pPr marL="0" indent="0">
                  <a:buNone/>
                </a:pPr>
                <a:r>
                  <a:rPr lang="en-GB" dirty="0"/>
                  <a:t> </a:t>
                </a:r>
                <a14:m>
                  <m:oMath xmlns:m="http://schemas.openxmlformats.org/officeDocument/2006/math">
                    <m:r>
                      <a:rPr lang="en-GB" b="0" i="1" smtClean="0">
                        <a:latin typeface="Cambria Math" panose="02040503050406030204" pitchFamily="18" charset="0"/>
                      </a:rPr>
                      <m:t>𝑃</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𝑝</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𝜃</m:t>
                    </m:r>
                    <m:r>
                      <a:rPr lang="en-GB" b="0" i="1" smtClean="0">
                        <a:latin typeface="Cambria Math" panose="02040503050406030204" pitchFamily="18" charset="0"/>
                        <a:ea typeface="Cambria Math" panose="02040503050406030204" pitchFamily="18" charset="0"/>
                      </a:rPr>
                      <m:t>)</m:t>
                    </m:r>
                  </m:oMath>
                </a14:m>
                <a:r>
                  <a:rPr lang="en-GB" dirty="0"/>
                  <a:t> (prior distribution for unknown parameter </a:t>
                </a:r>
                <a14:m>
                  <m:oMath xmlns:m="http://schemas.openxmlformats.org/officeDocument/2006/math">
                    <m:r>
                      <a:rPr lang="en-GB" b="0" i="1" smtClean="0">
                        <a:latin typeface="Cambria Math" panose="02040503050406030204" pitchFamily="18" charset="0"/>
                      </a:rPr>
                      <m:t>𝜃</m:t>
                    </m:r>
                    <m:r>
                      <a:rPr lang="en-GB" b="0" i="1" smtClean="0">
                        <a:latin typeface="Cambria Math" panose="02040503050406030204" pitchFamily="18" charset="0"/>
                      </a:rPr>
                      <m:t>)</m:t>
                    </m:r>
                  </m:oMath>
                </a14:m>
                <a:r>
                  <a:rPr lang="en-GB" dirty="0"/>
                  <a:t>.</a:t>
                </a:r>
              </a:p>
              <a:p>
                <a:pPr marL="0" indent="0">
                  <a:buNone/>
                </a:pPr>
                <a:endParaRPr lang="en-GB" dirty="0"/>
              </a:p>
              <a:p>
                <a:endParaRPr lang="en-GB" dirty="0"/>
              </a:p>
              <a:p>
                <a:endParaRPr lang="en-GB" dirty="0"/>
              </a:p>
            </p:txBody>
          </p:sp>
        </mc:Choice>
        <mc:Fallback xmlns="">
          <p:sp>
            <p:nvSpPr>
              <p:cNvPr id="3" name="Content Placeholder 2">
                <a:extLst>
                  <a:ext uri="{FF2B5EF4-FFF2-40B4-BE49-F238E27FC236}">
                    <a16:creationId xmlns:a16="http://schemas.microsoft.com/office/drawing/2014/main" id="{50DCCB7F-9A87-F68E-6852-46D237456EF6}"/>
                  </a:ext>
                </a:extLst>
              </p:cNvPr>
              <p:cNvSpPr>
                <a:spLocks noGrp="1" noRot="1" noChangeAspect="1" noMove="1" noResize="1" noEditPoints="1" noAdjustHandles="1" noChangeArrowheads="1" noChangeShapeType="1" noTextEdit="1"/>
              </p:cNvSpPr>
              <p:nvPr>
                <p:ph idx="1"/>
              </p:nvPr>
            </p:nvSpPr>
            <p:spPr>
              <a:xfrm>
                <a:off x="838200" y="1473200"/>
                <a:ext cx="10515600" cy="4351338"/>
              </a:xfrm>
              <a:blipFill>
                <a:blip r:embed="rId2"/>
                <a:stretch>
                  <a:fillRect l="-1043" t="-2525" r="-174"/>
                </a:stretch>
              </a:blipFill>
            </p:spPr>
            <p:txBody>
              <a:bodyPr/>
              <a:lstStyle/>
              <a:p>
                <a:r>
                  <a:rPr lang="en-GB">
                    <a:noFill/>
                  </a:rPr>
                  <a:t> </a:t>
                </a:r>
              </a:p>
            </p:txBody>
          </p:sp>
        </mc:Fallback>
      </mc:AlternateContent>
      <p:sp>
        <p:nvSpPr>
          <p:cNvPr id="6" name="Title 1">
            <a:extLst>
              <a:ext uri="{FF2B5EF4-FFF2-40B4-BE49-F238E27FC236}">
                <a16:creationId xmlns:a16="http://schemas.microsoft.com/office/drawing/2014/main" id="{6E443AEA-6B0C-FB21-9368-1F3C2F53F1FA}"/>
              </a:ext>
            </a:extLst>
          </p:cNvPr>
          <p:cNvSpPr>
            <a:spLocks noGrp="1"/>
          </p:cNvSpPr>
          <p:nvPr>
            <p:ph type="title"/>
          </p:nvPr>
        </p:nvSpPr>
        <p:spPr>
          <a:xfrm>
            <a:off x="301451" y="114301"/>
            <a:ext cx="3975274" cy="609600"/>
          </a:xfrm>
        </p:spPr>
        <p:txBody>
          <a:bodyPr>
            <a:normAutofit fontScale="90000"/>
          </a:bodyPr>
          <a:lstStyle/>
          <a:p>
            <a:r>
              <a:rPr lang="en-GB" sz="4000" b="1" dirty="0">
                <a:solidFill>
                  <a:schemeClr val="bg1"/>
                </a:solidFill>
                <a:latin typeface="+mn-lt"/>
              </a:rPr>
              <a:t>Bayes’ theorem</a:t>
            </a:r>
          </a:p>
        </p:txBody>
      </p:sp>
      <p:sp>
        <p:nvSpPr>
          <p:cNvPr id="7" name="Slide Number Placeholder 6">
            <a:extLst>
              <a:ext uri="{FF2B5EF4-FFF2-40B4-BE49-F238E27FC236}">
                <a16:creationId xmlns:a16="http://schemas.microsoft.com/office/drawing/2014/main" id="{1486C73E-8A0A-F1CD-400E-43B2A75AE4B6}"/>
              </a:ext>
            </a:extLst>
          </p:cNvPr>
          <p:cNvSpPr>
            <a:spLocks noGrp="1"/>
          </p:cNvSpPr>
          <p:nvPr>
            <p:ph type="sldNum" sz="quarter" idx="12"/>
          </p:nvPr>
        </p:nvSpPr>
        <p:spPr/>
        <p:txBody>
          <a:bodyPr/>
          <a:lstStyle/>
          <a:p>
            <a:fld id="{92E773D0-8039-41DE-9EAA-38744617136D}" type="slidenum">
              <a:rPr lang="en-GB" smtClean="0"/>
              <a:t>9</a:t>
            </a:fld>
            <a:endParaRPr lang="en-GB"/>
          </a:p>
        </p:txBody>
      </p:sp>
    </p:spTree>
    <p:extLst>
      <p:ext uri="{BB962C8B-B14F-4D97-AF65-F5344CB8AC3E}">
        <p14:creationId xmlns:p14="http://schemas.microsoft.com/office/powerpoint/2010/main" val="2357298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C96C03-B26A-AC84-F521-F1DE13220A07}"/>
                  </a:ext>
                </a:extLst>
              </p:cNvPr>
              <p:cNvSpPr>
                <a:spLocks noGrp="1"/>
              </p:cNvSpPr>
              <p:nvPr>
                <p:ph idx="1"/>
              </p:nvPr>
            </p:nvSpPr>
            <p:spPr/>
            <p:txBody>
              <a:bodyPr/>
              <a:lstStyle/>
              <a:p>
                <a:r>
                  <a:rPr lang="en-GB" dirty="0"/>
                  <a:t>The Bayes’ theorem for random variables can now be stated as follows. If we have two random variables </a:t>
                </a:r>
                <a14:m>
                  <m:oMath xmlns:m="http://schemas.openxmlformats.org/officeDocument/2006/math">
                    <m:r>
                      <a:rPr lang="en-GB" b="0" i="1" smtClean="0">
                        <a:latin typeface="Cambria Math" panose="02040503050406030204" pitchFamily="18" charset="0"/>
                      </a:rPr>
                      <m:t>𝑌</m:t>
                    </m:r>
                  </m:oMath>
                </a14:m>
                <a:r>
                  <a:rPr lang="en-GB" dirty="0"/>
                  <a:t> and </a:t>
                </a:r>
                <a14:m>
                  <m:oMath xmlns:m="http://schemas.openxmlformats.org/officeDocument/2006/math">
                    <m:r>
                      <a:rPr lang="en-GB" b="0" i="1" smtClean="0">
                        <a:latin typeface="Cambria Math" panose="02040503050406030204" pitchFamily="18" charset="0"/>
                      </a:rPr>
                      <m:t>𝜃</m:t>
                    </m:r>
                  </m:oMath>
                </a14:m>
                <a:r>
                  <a:rPr lang="en-GB" dirty="0"/>
                  <a:t> with probability density functions </a:t>
                </a:r>
                <a14:m>
                  <m:oMath xmlns:m="http://schemas.openxmlformats.org/officeDocument/2006/math">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𝜃</m:t>
                    </m:r>
                    <m:r>
                      <a:rPr lang="en-GB" b="0" i="1" smtClean="0">
                        <a:latin typeface="Cambria Math" panose="02040503050406030204" pitchFamily="18" charset="0"/>
                      </a:rPr>
                      <m:t>)</m:t>
                    </m:r>
                  </m:oMath>
                </a14:m>
                <a:r>
                  <a:rPr lang="en-GB" dirty="0"/>
                  <a:t> and </a:t>
                </a:r>
                <a14:m>
                  <m:oMath xmlns:m="http://schemas.openxmlformats.org/officeDocument/2006/math">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𝜃</m:t>
                    </m:r>
                    <m:r>
                      <a:rPr lang="en-GB" b="0" i="1" smtClean="0">
                        <a:latin typeface="Cambria Math" panose="02040503050406030204" pitchFamily="18" charset="0"/>
                      </a:rPr>
                      <m:t>)</m:t>
                    </m:r>
                  </m:oMath>
                </a14:m>
                <a:r>
                  <a:rPr lang="en-GB" dirty="0"/>
                  <a:t>, then</a:t>
                </a:r>
              </a:p>
              <a:p>
                <a:pPr marL="0" indent="0" algn="ctr">
                  <a:buNone/>
                </a:pP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𝜃</m:t>
                        </m:r>
                      </m:e>
                      <m:e>
                        <m:r>
                          <a:rPr lang="en-GB" b="0" i="1" smtClean="0">
                            <a:latin typeface="Cambria Math" panose="02040503050406030204" pitchFamily="18" charset="0"/>
                          </a:rPr>
                          <m:t>𝑦</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𝑦</m:t>
                            </m:r>
                          </m:e>
                          <m:e>
                            <m:r>
                              <a:rPr lang="en-GB" b="0" i="1" smtClean="0">
                                <a:latin typeface="Cambria Math" panose="02040503050406030204" pitchFamily="18" charset="0"/>
                              </a:rPr>
                              <m:t>𝜃</m:t>
                            </m:r>
                          </m:e>
                        </m:d>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𝜃</m:t>
                        </m:r>
                        <m:r>
                          <a:rPr lang="en-GB" b="0" i="1" smtClean="0">
                            <a:latin typeface="Cambria Math" panose="02040503050406030204" pitchFamily="18" charset="0"/>
                          </a:rPr>
                          <m:t>)</m:t>
                        </m:r>
                      </m:num>
                      <m:den>
                        <m:nary>
                          <m:naryPr>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m:t>
                            </m:r>
                            <m:r>
                              <a:rPr lang="en-GB" b="0" i="1" smtClean="0">
                                <a:latin typeface="Cambria Math" panose="02040503050406030204" pitchFamily="18" charset="0"/>
                              </a:rPr>
                              <m:t>∞</m:t>
                            </m:r>
                          </m:sub>
                          <m:sup>
                            <m:r>
                              <a:rPr lang="en-GB" b="0" i="1" smtClean="0">
                                <a:latin typeface="Cambria Math" panose="02040503050406030204" pitchFamily="18" charset="0"/>
                              </a:rPr>
                              <m:t>∞</m:t>
                            </m:r>
                          </m:sup>
                          <m:e>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𝑦</m:t>
                                </m:r>
                              </m:e>
                              <m:e>
                                <m:r>
                                  <a:rPr lang="en-GB" b="0" i="1" smtClean="0">
                                    <a:latin typeface="Cambria Math" panose="02040503050406030204" pitchFamily="18" charset="0"/>
                                  </a:rPr>
                                  <m:t>𝜃</m:t>
                                </m:r>
                              </m:e>
                            </m:d>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𝜃</m:t>
                                </m:r>
                              </m:e>
                            </m:d>
                            <m:r>
                              <a:rPr lang="en-GB" b="0" i="1" smtClean="0">
                                <a:latin typeface="Cambria Math" panose="02040503050406030204" pitchFamily="18" charset="0"/>
                              </a:rPr>
                              <m:t>𝑑</m:t>
                            </m:r>
                            <m:r>
                              <a:rPr lang="en-GB" b="0" i="1" smtClean="0">
                                <a:latin typeface="Cambria Math" panose="02040503050406030204" pitchFamily="18" charset="0"/>
                              </a:rPr>
                              <m:t>𝜃</m:t>
                            </m:r>
                          </m:e>
                        </m:nary>
                      </m:den>
                    </m:f>
                    <m:r>
                      <a:rPr lang="en-GB" b="0" i="1" smtClean="0">
                        <a:latin typeface="Cambria Math" panose="02040503050406030204" pitchFamily="18" charset="0"/>
                      </a:rPr>
                      <m:t>, −∞&lt;</m:t>
                    </m:r>
                    <m:r>
                      <a:rPr lang="en-GB" b="0" i="1" smtClean="0">
                        <a:latin typeface="Cambria Math" panose="02040503050406030204" pitchFamily="18" charset="0"/>
                      </a:rPr>
                      <m:t>𝜃</m:t>
                    </m:r>
                    <m:r>
                      <a:rPr lang="en-GB" b="0" i="1" smtClean="0">
                        <a:latin typeface="Cambria Math" panose="02040503050406030204" pitchFamily="18" charset="0"/>
                      </a:rPr>
                      <m:t>&lt;∞</m:t>
                    </m:r>
                  </m:oMath>
                </a14:m>
                <a:r>
                  <a:rPr lang="en-GB" dirty="0"/>
                  <a:t>. </a:t>
                </a:r>
              </a:p>
              <a:p>
                <a:r>
                  <a:rPr lang="en-GB" dirty="0"/>
                  <a:t>Note that if </a:t>
                </a:r>
                <a14:m>
                  <m:oMath xmlns:m="http://schemas.openxmlformats.org/officeDocument/2006/math">
                    <m:r>
                      <a:rPr lang="en-GB" b="0" i="1" smtClean="0">
                        <a:latin typeface="Cambria Math" panose="02040503050406030204" pitchFamily="18" charset="0"/>
                      </a:rPr>
                      <m:t>𝜃</m:t>
                    </m:r>
                  </m:oMath>
                </a14:m>
                <a:r>
                  <a:rPr lang="en-GB" dirty="0"/>
                  <a:t> is a discrete random variable, then we would replace the integral in the expression above with a summation over the values of </a:t>
                </a:r>
                <a14:m>
                  <m:oMath xmlns:m="http://schemas.openxmlformats.org/officeDocument/2006/math">
                    <m:r>
                      <a:rPr lang="en-GB" b="0" i="1" smtClean="0">
                        <a:latin typeface="Cambria Math" panose="02040503050406030204" pitchFamily="18" charset="0"/>
                      </a:rPr>
                      <m:t>𝜃</m:t>
                    </m:r>
                    <m:r>
                      <a:rPr lang="en-GB" b="0" i="1" smtClean="0">
                        <a:latin typeface="Cambria Math" panose="02040503050406030204" pitchFamily="18" charset="0"/>
                      </a:rPr>
                      <m:t>.</m:t>
                    </m:r>
                  </m:oMath>
                </a14:m>
                <a:endParaRPr lang="en-GB" dirty="0"/>
              </a:p>
            </p:txBody>
          </p:sp>
        </mc:Choice>
        <mc:Fallback xmlns="">
          <p:sp>
            <p:nvSpPr>
              <p:cNvPr id="3" name="Content Placeholder 2">
                <a:extLst>
                  <a:ext uri="{FF2B5EF4-FFF2-40B4-BE49-F238E27FC236}">
                    <a16:creationId xmlns:a16="http://schemas.microsoft.com/office/drawing/2014/main" id="{83C96C03-B26A-AC84-F521-F1DE13220A07}"/>
                  </a:ext>
                </a:extLst>
              </p:cNvPr>
              <p:cNvSpPr>
                <a:spLocks noGrp="1" noRot="1" noChangeAspect="1" noMove="1" noResize="1" noEditPoints="1" noAdjustHandles="1" noChangeArrowheads="1" noChangeShapeType="1" noTextEdit="1"/>
              </p:cNvSpPr>
              <p:nvPr>
                <p:ph idx="1"/>
              </p:nvPr>
            </p:nvSpPr>
            <p:spPr>
              <a:blipFill>
                <a:blip r:embed="rId2"/>
                <a:stretch>
                  <a:fillRect l="-1043" t="-2381" r="-1449"/>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D9621132-2829-16EA-55B2-BB5CA107A83A}"/>
              </a:ext>
            </a:extLst>
          </p:cNvPr>
          <p:cNvCxnSpPr/>
          <p:nvPr/>
        </p:nvCxnSpPr>
        <p:spPr>
          <a:xfrm flipV="1">
            <a:off x="6223819" y="2802194"/>
            <a:ext cx="2792362" cy="4522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418F05E-6A98-B608-8ADF-0EECC97DDB3A}"/>
              </a:ext>
            </a:extLst>
          </p:cNvPr>
          <p:cNvSpPr txBox="1"/>
          <p:nvPr/>
        </p:nvSpPr>
        <p:spPr>
          <a:xfrm>
            <a:off x="9085006" y="2635045"/>
            <a:ext cx="2841523" cy="369332"/>
          </a:xfrm>
          <a:prstGeom prst="rect">
            <a:avLst/>
          </a:prstGeom>
          <a:noFill/>
        </p:spPr>
        <p:txBody>
          <a:bodyPr wrap="square" rtlCol="0">
            <a:spAutoFit/>
          </a:bodyPr>
          <a:lstStyle/>
          <a:p>
            <a:r>
              <a:rPr lang="en-GB" dirty="0">
                <a:solidFill>
                  <a:schemeClr val="tx2">
                    <a:lumMod val="75000"/>
                    <a:lumOff val="25000"/>
                  </a:schemeClr>
                </a:solidFill>
              </a:rPr>
              <a:t>Prior distribution</a:t>
            </a:r>
          </a:p>
        </p:txBody>
      </p:sp>
      <p:cxnSp>
        <p:nvCxnSpPr>
          <p:cNvPr id="9" name="Straight Arrow Connector 8">
            <a:extLst>
              <a:ext uri="{FF2B5EF4-FFF2-40B4-BE49-F238E27FC236}">
                <a16:creationId xmlns:a16="http://schemas.microsoft.com/office/drawing/2014/main" id="{F6E8687E-C69D-6913-E85C-F2E19ACEE822}"/>
              </a:ext>
            </a:extLst>
          </p:cNvPr>
          <p:cNvCxnSpPr/>
          <p:nvPr/>
        </p:nvCxnSpPr>
        <p:spPr>
          <a:xfrm>
            <a:off x="3441290" y="3608439"/>
            <a:ext cx="1111045" cy="23105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9247D05-1B47-851E-80F3-DFAB4BCDE6A3}"/>
              </a:ext>
            </a:extLst>
          </p:cNvPr>
          <p:cNvSpPr txBox="1"/>
          <p:nvPr/>
        </p:nvSpPr>
        <p:spPr>
          <a:xfrm>
            <a:off x="4552335" y="5678659"/>
            <a:ext cx="2467897" cy="369332"/>
          </a:xfrm>
          <a:prstGeom prst="rect">
            <a:avLst/>
          </a:prstGeom>
          <a:noFill/>
        </p:spPr>
        <p:txBody>
          <a:bodyPr wrap="square" rtlCol="0">
            <a:spAutoFit/>
          </a:bodyPr>
          <a:lstStyle/>
          <a:p>
            <a:r>
              <a:rPr lang="en-GB" dirty="0">
                <a:solidFill>
                  <a:schemeClr val="tx2">
                    <a:lumMod val="75000"/>
                    <a:lumOff val="25000"/>
                  </a:schemeClr>
                </a:solidFill>
              </a:rPr>
              <a:t>Posterior distribution</a:t>
            </a:r>
          </a:p>
        </p:txBody>
      </p:sp>
      <p:cxnSp>
        <p:nvCxnSpPr>
          <p:cNvPr id="12" name="Straight Arrow Connector 11">
            <a:extLst>
              <a:ext uri="{FF2B5EF4-FFF2-40B4-BE49-F238E27FC236}">
                <a16:creationId xmlns:a16="http://schemas.microsoft.com/office/drawing/2014/main" id="{66698B11-B889-F938-B422-9930774B5034}"/>
              </a:ext>
            </a:extLst>
          </p:cNvPr>
          <p:cNvCxnSpPr>
            <a:cxnSpLocks/>
          </p:cNvCxnSpPr>
          <p:nvPr/>
        </p:nvCxnSpPr>
        <p:spPr>
          <a:xfrm>
            <a:off x="5114003" y="3378072"/>
            <a:ext cx="2540410" cy="21656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D5F2F9ED-483B-E73C-B13D-E6F00E2CC8FE}"/>
              </a:ext>
            </a:extLst>
          </p:cNvPr>
          <p:cNvSpPr txBox="1"/>
          <p:nvPr/>
        </p:nvSpPr>
        <p:spPr>
          <a:xfrm>
            <a:off x="7609553" y="5359056"/>
            <a:ext cx="1308305" cy="369332"/>
          </a:xfrm>
          <a:prstGeom prst="rect">
            <a:avLst/>
          </a:prstGeom>
          <a:noFill/>
        </p:spPr>
        <p:txBody>
          <a:bodyPr wrap="square" rtlCol="0">
            <a:spAutoFit/>
          </a:bodyPr>
          <a:lstStyle/>
          <a:p>
            <a:r>
              <a:rPr lang="en-GB" dirty="0">
                <a:solidFill>
                  <a:schemeClr val="tx2">
                    <a:lumMod val="75000"/>
                    <a:lumOff val="25000"/>
                  </a:schemeClr>
                </a:solidFill>
              </a:rPr>
              <a:t>Likelihood</a:t>
            </a:r>
          </a:p>
        </p:txBody>
      </p:sp>
      <p:sp>
        <p:nvSpPr>
          <p:cNvPr id="8" name="Title 1">
            <a:extLst>
              <a:ext uri="{FF2B5EF4-FFF2-40B4-BE49-F238E27FC236}">
                <a16:creationId xmlns:a16="http://schemas.microsoft.com/office/drawing/2014/main" id="{8EE87DA9-8CEB-6F4E-AA60-F16DE8AA7556}"/>
              </a:ext>
            </a:extLst>
          </p:cNvPr>
          <p:cNvSpPr>
            <a:spLocks noGrp="1"/>
          </p:cNvSpPr>
          <p:nvPr>
            <p:ph type="title"/>
          </p:nvPr>
        </p:nvSpPr>
        <p:spPr>
          <a:xfrm>
            <a:off x="301450" y="114301"/>
            <a:ext cx="9528350" cy="609600"/>
          </a:xfrm>
        </p:spPr>
        <p:txBody>
          <a:bodyPr>
            <a:normAutofit fontScale="90000"/>
          </a:bodyPr>
          <a:lstStyle/>
          <a:p>
            <a:r>
              <a:rPr lang="en-GB" sz="4000" b="1" dirty="0">
                <a:solidFill>
                  <a:schemeClr val="bg1"/>
                </a:solidFill>
                <a:latin typeface="+mn-lt"/>
              </a:rPr>
              <a:t>Bayes’ theorem – the posterior distribution </a:t>
            </a:r>
          </a:p>
        </p:txBody>
      </p:sp>
      <p:sp>
        <p:nvSpPr>
          <p:cNvPr id="10" name="Slide Number Placeholder 9">
            <a:extLst>
              <a:ext uri="{FF2B5EF4-FFF2-40B4-BE49-F238E27FC236}">
                <a16:creationId xmlns:a16="http://schemas.microsoft.com/office/drawing/2014/main" id="{8F836B91-9EE6-5CC5-9A46-7196CA9F5274}"/>
              </a:ext>
            </a:extLst>
          </p:cNvPr>
          <p:cNvSpPr>
            <a:spLocks noGrp="1"/>
          </p:cNvSpPr>
          <p:nvPr>
            <p:ph type="sldNum" sz="quarter" idx="12"/>
          </p:nvPr>
        </p:nvSpPr>
        <p:spPr/>
        <p:txBody>
          <a:bodyPr/>
          <a:lstStyle/>
          <a:p>
            <a:fld id="{92E773D0-8039-41DE-9EAA-38744617136D}" type="slidenum">
              <a:rPr lang="en-GB" smtClean="0"/>
              <a:t>10</a:t>
            </a:fld>
            <a:endParaRPr lang="en-GB"/>
          </a:p>
        </p:txBody>
      </p:sp>
    </p:spTree>
    <p:extLst>
      <p:ext uri="{BB962C8B-B14F-4D97-AF65-F5344CB8AC3E}">
        <p14:creationId xmlns:p14="http://schemas.microsoft.com/office/powerpoint/2010/main" val="965456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504E87-9DEF-4AEC-AEA3-362487AB730B}"/>
                  </a:ext>
                </a:extLst>
              </p:cNvPr>
              <p:cNvSpPr>
                <a:spLocks noGrp="1"/>
              </p:cNvSpPr>
              <p:nvPr>
                <p:ph idx="1"/>
              </p:nvPr>
            </p:nvSpPr>
            <p:spPr/>
            <p:txBody>
              <a:bodyPr/>
              <a:lstStyle/>
              <a:p>
                <a:r>
                  <a:rPr lang="en-GB" dirty="0"/>
                  <a:t>If we observe a joint distribution of an n-dimensional variable,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𝑛</m:t>
                        </m:r>
                      </m:sub>
                    </m:sSub>
                  </m:oMath>
                </a14:m>
                <a:r>
                  <a:rPr lang="en-GB" dirty="0"/>
                  <a:t>, instead of a single variable </a:t>
                </a:r>
                <a14:m>
                  <m:oMath xmlns:m="http://schemas.openxmlformats.org/officeDocument/2006/math">
                    <m:r>
                      <a:rPr lang="en-GB" b="0" i="1" smtClean="0">
                        <a:latin typeface="Cambria Math" panose="02040503050406030204" pitchFamily="18" charset="0"/>
                      </a:rPr>
                      <m:t>𝑌</m:t>
                    </m:r>
                  </m:oMath>
                </a14:m>
                <a:r>
                  <a:rPr lang="en-GB" dirty="0"/>
                  <a:t>, the Bayes’ theorem for random variables still holds. In this case, we have the posterior distribution</a:t>
                </a:r>
              </a:p>
              <a:p>
                <a:pPr marL="0" indent="0">
                  <a:buNone/>
                </a:pPr>
                <a:endParaRPr lang="en-GB" dirty="0"/>
              </a:p>
              <a:p>
                <a:pPr marL="0" indent="0">
                  <a:buNone/>
                </a:pP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𝜃</m:t>
                        </m:r>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𝑛</m:t>
                            </m:r>
                          </m:sub>
                        </m:sSub>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𝑝</m:t>
                        </m:r>
                        <m:r>
                          <a:rPr lang="en-GB" b="0" i="1" smtClean="0">
                            <a:latin typeface="Cambria Math" panose="02040503050406030204" pitchFamily="18" charset="0"/>
                          </a:rPr>
                          <m:t>(</m:t>
                        </m:r>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y</m:t>
                            </m:r>
                          </m:e>
                          <m:sub>
                            <m:r>
                              <a:rPr lang="en-GB" b="0" i="0" smtClean="0">
                                <a:latin typeface="Cambria Math" panose="02040503050406030204" pitchFamily="18" charset="0"/>
                              </a:rPr>
                              <m:t>1</m:t>
                            </m:r>
                          </m:sub>
                        </m:sSub>
                        <m:r>
                          <a:rPr lang="en-GB" b="0" i="0" smtClean="0">
                            <a:latin typeface="Cambria Math" panose="02040503050406030204" pitchFamily="18" charset="0"/>
                          </a:rPr>
                          <m:t>,</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𝑛</m:t>
                            </m:r>
                          </m:sub>
                        </m:sSub>
                        <m:r>
                          <a:rPr lang="en-GB" b="0" i="1" smtClean="0">
                            <a:latin typeface="Cambria Math" panose="02040503050406030204" pitchFamily="18" charset="0"/>
                          </a:rPr>
                          <m:t>|</m:t>
                        </m:r>
                        <m:r>
                          <a:rPr lang="en-GB" b="0" i="1" smtClean="0">
                            <a:latin typeface="Cambria Math" panose="02040503050406030204" pitchFamily="18" charset="0"/>
                          </a:rPr>
                          <m:t>𝜃</m:t>
                        </m:r>
                        <m:r>
                          <a:rPr lang="en-GB" b="0" i="1" smtClean="0">
                            <a:latin typeface="Cambria Math" panose="02040503050406030204" pitchFamily="18" charset="0"/>
                          </a:rPr>
                          <m:t>)</m:t>
                        </m:r>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𝜃</m:t>
                        </m:r>
                        <m:r>
                          <a:rPr lang="en-GB" b="0" i="1" smtClean="0">
                            <a:latin typeface="Cambria Math" panose="02040503050406030204" pitchFamily="18" charset="0"/>
                          </a:rPr>
                          <m:t>)</m:t>
                        </m:r>
                        <m:r>
                          <m:rPr>
                            <m:nor/>
                          </m:rPr>
                          <a:rPr lang="en-GB" i="0" dirty="0"/>
                          <m:t> </m:t>
                        </m:r>
                      </m:num>
                      <m:den>
                        <m:nary>
                          <m:naryPr>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m:t>
                            </m:r>
                            <m:r>
                              <a:rPr lang="en-GB" b="0" i="1" smtClean="0">
                                <a:latin typeface="Cambria Math" panose="02040503050406030204" pitchFamily="18" charset="0"/>
                              </a:rPr>
                              <m:t>∞</m:t>
                            </m:r>
                          </m:sub>
                          <m:sup>
                            <m:r>
                              <a:rPr lang="en-GB" b="0" i="1" smtClean="0">
                                <a:latin typeface="Cambria Math" panose="02040503050406030204" pitchFamily="18" charset="0"/>
                              </a:rPr>
                              <m:t>∞</m:t>
                            </m:r>
                          </m:sup>
                          <m:e>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𝑛</m:t>
                                    </m:r>
                                  </m:sub>
                                </m:sSub>
                              </m:e>
                              <m:e>
                                <m:r>
                                  <a:rPr lang="en-GB" b="0" i="1" smtClean="0">
                                    <a:latin typeface="Cambria Math" panose="02040503050406030204" pitchFamily="18" charset="0"/>
                                  </a:rPr>
                                  <m:t>𝜃</m:t>
                                </m:r>
                              </m:e>
                            </m:d>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𝜃</m:t>
                                </m:r>
                              </m:e>
                            </m:d>
                            <m:r>
                              <a:rPr lang="en-GB" b="0" i="1" smtClean="0">
                                <a:latin typeface="Cambria Math" panose="02040503050406030204" pitchFamily="18" charset="0"/>
                              </a:rPr>
                              <m:t>𝑑</m:t>
                            </m:r>
                            <m:r>
                              <a:rPr lang="en-GB" b="0" i="1" smtClean="0">
                                <a:latin typeface="Cambria Math" panose="02040503050406030204" pitchFamily="18" charset="0"/>
                              </a:rPr>
                              <m:t>𝜃</m:t>
                            </m:r>
                          </m:e>
                        </m:nary>
                      </m:den>
                    </m:f>
                    <m:r>
                      <a:rPr lang="en-GB" b="0" i="0" smtClean="0">
                        <a:latin typeface="Cambria Math" panose="02040503050406030204" pitchFamily="18" charset="0"/>
                      </a:rPr>
                      <m:t>,−</m:t>
                    </m:r>
                    <m:r>
                      <a:rPr lang="en-GB" b="0" i="1" smtClean="0">
                        <a:latin typeface="Cambria Math" panose="02040503050406030204" pitchFamily="18" charset="0"/>
                      </a:rPr>
                      <m:t>∞&lt;</m:t>
                    </m:r>
                    <m:r>
                      <a:rPr lang="en-GB" b="0" i="1" smtClean="0">
                        <a:latin typeface="Cambria Math" panose="02040503050406030204" pitchFamily="18" charset="0"/>
                      </a:rPr>
                      <m:t>𝜃</m:t>
                    </m:r>
                    <m:r>
                      <a:rPr lang="en-GB" b="0" i="1" smtClean="0">
                        <a:latin typeface="Cambria Math" panose="02040503050406030204" pitchFamily="18" charset="0"/>
                      </a:rPr>
                      <m:t>&lt;∞.</m:t>
                    </m:r>
                  </m:oMath>
                </a14:m>
                <a:r>
                  <a:rPr lang="en-GB" dirty="0"/>
                  <a:t>  </a:t>
                </a:r>
              </a:p>
            </p:txBody>
          </p:sp>
        </mc:Choice>
        <mc:Fallback xmlns="">
          <p:sp>
            <p:nvSpPr>
              <p:cNvPr id="3" name="Content Placeholder 2">
                <a:extLst>
                  <a:ext uri="{FF2B5EF4-FFF2-40B4-BE49-F238E27FC236}">
                    <a16:creationId xmlns:a16="http://schemas.microsoft.com/office/drawing/2014/main" id="{19504E87-9DEF-4AEC-AEA3-362487AB730B}"/>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GB">
                    <a:noFill/>
                  </a:rPr>
                  <a:t> </a:t>
                </a:r>
              </a:p>
            </p:txBody>
          </p:sp>
        </mc:Fallback>
      </mc:AlternateContent>
      <p:sp>
        <p:nvSpPr>
          <p:cNvPr id="9" name="Title 1">
            <a:extLst>
              <a:ext uri="{FF2B5EF4-FFF2-40B4-BE49-F238E27FC236}">
                <a16:creationId xmlns:a16="http://schemas.microsoft.com/office/drawing/2014/main" id="{5A68C090-428A-41C7-7300-28671BCC10F8}"/>
              </a:ext>
            </a:extLst>
          </p:cNvPr>
          <p:cNvSpPr txBox="1">
            <a:spLocks/>
          </p:cNvSpPr>
          <p:nvPr/>
        </p:nvSpPr>
        <p:spPr>
          <a:xfrm>
            <a:off x="301450" y="114301"/>
            <a:ext cx="9528350" cy="609600"/>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b="1" dirty="0">
                <a:solidFill>
                  <a:schemeClr val="bg1"/>
                </a:solidFill>
                <a:latin typeface="+mn-lt"/>
              </a:rPr>
              <a:t>Bayes’ theorem – the posterior distribution </a:t>
            </a:r>
          </a:p>
        </p:txBody>
      </p:sp>
      <p:sp>
        <p:nvSpPr>
          <p:cNvPr id="10" name="Slide Number Placeholder 9">
            <a:extLst>
              <a:ext uri="{FF2B5EF4-FFF2-40B4-BE49-F238E27FC236}">
                <a16:creationId xmlns:a16="http://schemas.microsoft.com/office/drawing/2014/main" id="{2D904EB0-6891-C09F-79DF-270B4CD51424}"/>
              </a:ext>
            </a:extLst>
          </p:cNvPr>
          <p:cNvSpPr>
            <a:spLocks noGrp="1"/>
          </p:cNvSpPr>
          <p:nvPr>
            <p:ph type="sldNum" sz="quarter" idx="12"/>
          </p:nvPr>
        </p:nvSpPr>
        <p:spPr/>
        <p:txBody>
          <a:bodyPr/>
          <a:lstStyle/>
          <a:p>
            <a:fld id="{92E773D0-8039-41DE-9EAA-38744617136D}" type="slidenum">
              <a:rPr lang="en-GB" smtClean="0"/>
              <a:t>11</a:t>
            </a:fld>
            <a:endParaRPr lang="en-GB"/>
          </a:p>
        </p:txBody>
      </p:sp>
    </p:spTree>
    <p:extLst>
      <p:ext uri="{BB962C8B-B14F-4D97-AF65-F5344CB8AC3E}">
        <p14:creationId xmlns:p14="http://schemas.microsoft.com/office/powerpoint/2010/main" val="3402065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E1888B-D0BD-91EC-F016-741975AB339C}"/>
                  </a:ext>
                </a:extLst>
              </p:cNvPr>
              <p:cNvSpPr>
                <a:spLocks noGrp="1"/>
              </p:cNvSpPr>
              <p:nvPr>
                <p:ph idx="1"/>
              </p:nvPr>
            </p:nvSpPr>
            <p:spPr>
              <a:xfrm>
                <a:off x="838200" y="1292224"/>
                <a:ext cx="10515600" cy="4575175"/>
              </a:xfrm>
            </p:spPr>
            <p:txBody>
              <a:bodyPr>
                <a:normAutofit lnSpcReduction="10000"/>
              </a:bodyPr>
              <a:lstStyle/>
              <a:p>
                <a:pPr marL="0" indent="0">
                  <a:buNone/>
                </a:pPr>
                <a:r>
                  <a:rPr lang="en-GB" dirty="0"/>
                  <a:t>Why we often write Posterior </a:t>
                </a:r>
                <a14:m>
                  <m:oMath xmlns:m="http://schemas.openxmlformats.org/officeDocument/2006/math">
                    <m:r>
                      <a:rPr lang="en-GB" b="0" i="1" smtClean="0">
                        <a:latin typeface="Cambria Math" panose="02040503050406030204" pitchFamily="18" charset="0"/>
                      </a:rPr>
                      <m:t>∝</m:t>
                    </m:r>
                  </m:oMath>
                </a14:m>
                <a:r>
                  <a:rPr lang="en-GB" dirty="0"/>
                  <a:t> Likelihood </a:t>
                </a:r>
                <a14:m>
                  <m:oMath xmlns:m="http://schemas.openxmlformats.org/officeDocument/2006/math">
                    <m:r>
                      <a:rPr lang="en-GB" b="0" i="1" smtClean="0">
                        <a:latin typeface="Cambria Math" panose="02040503050406030204" pitchFamily="18" charset="0"/>
                      </a:rPr>
                      <m:t>×</m:t>
                    </m:r>
                  </m:oMath>
                </a14:m>
                <a:r>
                  <a:rPr lang="en-GB" dirty="0"/>
                  <a:t> Prior</a:t>
                </a:r>
              </a:p>
              <a:p>
                <a:r>
                  <a:rPr lang="en-GB" dirty="0"/>
                  <a:t>The denominator in the posterior, given by</a:t>
                </a:r>
                <a:r>
                  <a:rPr lang="en-GB" b="0" dirty="0"/>
                  <a:t> </a:t>
                </a:r>
                <a14:m>
                  <m:oMath xmlns:m="http://schemas.openxmlformats.org/officeDocument/2006/math">
                    <m:nary>
                      <m:naryPr>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m:t>
                        </m:r>
                        <m:r>
                          <a:rPr lang="en-GB" b="0" i="1" smtClean="0">
                            <a:latin typeface="Cambria Math" panose="02040503050406030204" pitchFamily="18" charset="0"/>
                          </a:rPr>
                          <m:t>∞</m:t>
                        </m:r>
                      </m:sub>
                      <m:sup>
                        <m:r>
                          <a:rPr lang="en-GB" b="0" i="1" smtClean="0">
                            <a:latin typeface="Cambria Math" panose="02040503050406030204" pitchFamily="18" charset="0"/>
                          </a:rPr>
                          <m:t>∞</m:t>
                        </m:r>
                      </m:sup>
                      <m:e>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𝑦</m:t>
                            </m:r>
                          </m:e>
                          <m:e>
                            <m:r>
                              <a:rPr lang="en-GB" b="0" i="1" smtClean="0">
                                <a:latin typeface="Cambria Math" panose="02040503050406030204" pitchFamily="18" charset="0"/>
                              </a:rPr>
                              <m:t>𝜃</m:t>
                            </m:r>
                          </m:e>
                        </m:d>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𝜃</m:t>
                            </m:r>
                          </m:e>
                        </m:d>
                        <m:r>
                          <a:rPr lang="en-GB" b="0" i="1" smtClean="0">
                            <a:latin typeface="Cambria Math" panose="02040503050406030204" pitchFamily="18" charset="0"/>
                          </a:rPr>
                          <m:t>𝑑</m:t>
                        </m:r>
                        <m:r>
                          <a:rPr lang="en-GB" b="0" i="1" smtClean="0">
                            <a:latin typeface="Cambria Math" panose="02040503050406030204" pitchFamily="18" charset="0"/>
                          </a:rPr>
                          <m:t>𝜃</m:t>
                        </m:r>
                      </m:e>
                    </m:nary>
                  </m:oMath>
                </a14:m>
                <a:r>
                  <a:rPr lang="en-GB" dirty="0"/>
                  <a:t> or </a:t>
                </a:r>
                <a14:m>
                  <m:oMath xmlns:m="http://schemas.openxmlformats.org/officeDocument/2006/math">
                    <m:nary>
                      <m:naryPr>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m:t>
                        </m:r>
                        <m:r>
                          <a:rPr lang="en-GB" b="0" i="1" smtClean="0">
                            <a:latin typeface="Cambria Math" panose="02040503050406030204" pitchFamily="18" charset="0"/>
                          </a:rPr>
                          <m:t>∞</m:t>
                        </m:r>
                      </m:sub>
                      <m:sup>
                        <m:r>
                          <a:rPr lang="en-GB" b="0" i="1" smtClean="0">
                            <a:latin typeface="Cambria Math" panose="02040503050406030204" pitchFamily="18" charset="0"/>
                          </a:rPr>
                          <m:t>∞</m:t>
                        </m:r>
                      </m:sup>
                      <m:e>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𝑛</m:t>
                                </m:r>
                              </m:sub>
                            </m:sSub>
                          </m:e>
                          <m:e>
                            <m:r>
                              <a:rPr lang="en-GB" b="0" i="1" smtClean="0">
                                <a:latin typeface="Cambria Math" panose="02040503050406030204" pitchFamily="18" charset="0"/>
                              </a:rPr>
                              <m:t>𝜃</m:t>
                            </m:r>
                          </m:e>
                        </m:d>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𝜃</m:t>
                            </m:r>
                          </m:e>
                        </m:d>
                        <m:r>
                          <a:rPr lang="en-GB" b="0" i="1" smtClean="0">
                            <a:latin typeface="Cambria Math" panose="02040503050406030204" pitchFamily="18" charset="0"/>
                          </a:rPr>
                          <m:t>𝑑</m:t>
                        </m:r>
                        <m:r>
                          <a:rPr lang="en-GB" b="0" i="1" smtClean="0">
                            <a:latin typeface="Cambria Math" panose="02040503050406030204" pitchFamily="18" charset="0"/>
                          </a:rPr>
                          <m:t>𝜃</m:t>
                        </m:r>
                      </m:e>
                    </m:nary>
                  </m:oMath>
                </a14:m>
                <a:r>
                  <a:rPr lang="en-GB" dirty="0"/>
                  <a:t> is free of the unknown parameter </a:t>
                </a:r>
                <a14:m>
                  <m:oMath xmlns:m="http://schemas.openxmlformats.org/officeDocument/2006/math">
                    <m:r>
                      <a:rPr lang="en-GB" b="0" i="1" smtClean="0">
                        <a:latin typeface="Cambria Math" panose="02040503050406030204" pitchFamily="18" charset="0"/>
                      </a:rPr>
                      <m:t>𝜃</m:t>
                    </m:r>
                  </m:oMath>
                </a14:m>
                <a:r>
                  <a:rPr lang="en-GB" dirty="0"/>
                  <a:t>. It is therefore merely a constant. This is why we often write the posterior distribution as</a:t>
                </a:r>
              </a:p>
              <a:p>
                <a:endParaRPr lang="en-GB" dirty="0"/>
              </a:p>
              <a:p>
                <a:pPr marL="0" indent="0" algn="ctr">
                  <a:buNone/>
                </a:pP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𝜃</m:t>
                        </m:r>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𝑛</m:t>
                            </m:r>
                          </m:sub>
                        </m:sSub>
                      </m:e>
                    </m:d>
                    <m:r>
                      <a:rPr lang="en-GB" b="0" i="1" smtClean="0">
                        <a:latin typeface="Cambria Math" panose="02040503050406030204" pitchFamily="18" charset="0"/>
                      </a:rPr>
                      <m:t>∝</m:t>
                    </m:r>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𝑛</m:t>
                            </m:r>
                          </m:sub>
                        </m:sSub>
                        <m:r>
                          <a:rPr lang="en-GB" b="0" i="1" smtClean="0">
                            <a:latin typeface="Cambria Math" panose="02040503050406030204" pitchFamily="18" charset="0"/>
                          </a:rPr>
                          <m:t>|</m:t>
                        </m:r>
                        <m:r>
                          <a:rPr lang="en-GB" b="0" i="1" smtClean="0">
                            <a:latin typeface="Cambria Math" panose="02040503050406030204" pitchFamily="18" charset="0"/>
                          </a:rPr>
                          <m:t>𝜃</m:t>
                        </m:r>
                      </m:e>
                    </m:d>
                    <m:r>
                      <a:rPr lang="en-GB" b="0" i="1" smtClean="0">
                        <a:latin typeface="Cambria Math" panose="02040503050406030204" pitchFamily="18" charset="0"/>
                      </a:rPr>
                      <m:t>×</m:t>
                    </m:r>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𝜃</m:t>
                    </m:r>
                    <m:r>
                      <a:rPr lang="en-GB" b="0" i="1" smtClean="0">
                        <a:latin typeface="Cambria Math" panose="02040503050406030204" pitchFamily="18" charset="0"/>
                      </a:rPr>
                      <m:t>)</m:t>
                    </m:r>
                  </m:oMath>
                </a14:m>
                <a:r>
                  <a:rPr lang="en-GB" dirty="0"/>
                  <a:t>.</a:t>
                </a:r>
              </a:p>
              <a:p>
                <a:pPr marL="0" indent="0">
                  <a:buNone/>
                </a:pPr>
                <a:r>
                  <a:rPr lang="en-GB" dirty="0"/>
                  <a:t>                                         Posterior </a:t>
                </a:r>
                <a14:m>
                  <m:oMath xmlns:m="http://schemas.openxmlformats.org/officeDocument/2006/math">
                    <m:r>
                      <a:rPr lang="en-GB" b="0" i="1" smtClean="0">
                        <a:latin typeface="Cambria Math" panose="02040503050406030204" pitchFamily="18" charset="0"/>
                      </a:rPr>
                      <m:t>∝</m:t>
                    </m:r>
                  </m:oMath>
                </a14:m>
                <a:r>
                  <a:rPr lang="en-GB" dirty="0"/>
                  <a:t> Likelihood </a:t>
                </a:r>
                <a14:m>
                  <m:oMath xmlns:m="http://schemas.openxmlformats.org/officeDocument/2006/math">
                    <m:r>
                      <a:rPr lang="en-GB" b="0" i="1" smtClean="0">
                        <a:latin typeface="Cambria Math" panose="02040503050406030204" pitchFamily="18" charset="0"/>
                      </a:rPr>
                      <m:t>×</m:t>
                    </m:r>
                  </m:oMath>
                </a14:m>
                <a:r>
                  <a:rPr lang="en-GB" dirty="0"/>
                  <a:t> Prior</a:t>
                </a:r>
              </a:p>
              <a:p>
                <a:r>
                  <a:rPr lang="en-GB" dirty="0"/>
                  <a:t>Hence, we only know the posterior up to a normalizing constant (if it follows a known distribution, we will still be able to identify it).</a:t>
                </a:r>
              </a:p>
            </p:txBody>
          </p:sp>
        </mc:Choice>
        <mc:Fallback xmlns="">
          <p:sp>
            <p:nvSpPr>
              <p:cNvPr id="3" name="Content Placeholder 2">
                <a:extLst>
                  <a:ext uri="{FF2B5EF4-FFF2-40B4-BE49-F238E27FC236}">
                    <a16:creationId xmlns:a16="http://schemas.microsoft.com/office/drawing/2014/main" id="{E0E1888B-D0BD-91EC-F016-741975AB339C}"/>
                  </a:ext>
                </a:extLst>
              </p:cNvPr>
              <p:cNvSpPr>
                <a:spLocks noGrp="1" noRot="1" noChangeAspect="1" noMove="1" noResize="1" noEditPoints="1" noAdjustHandles="1" noChangeArrowheads="1" noChangeShapeType="1" noTextEdit="1"/>
              </p:cNvSpPr>
              <p:nvPr>
                <p:ph idx="1"/>
              </p:nvPr>
            </p:nvSpPr>
            <p:spPr>
              <a:xfrm>
                <a:off x="838200" y="1292224"/>
                <a:ext cx="10515600" cy="4575175"/>
              </a:xfrm>
              <a:blipFill>
                <a:blip r:embed="rId2"/>
                <a:stretch>
                  <a:fillRect l="-1217" t="-3067" r="-1159"/>
                </a:stretch>
              </a:blipFill>
            </p:spPr>
            <p:txBody>
              <a:bodyPr/>
              <a:lstStyle/>
              <a:p>
                <a:r>
                  <a:rPr lang="en-GB">
                    <a:noFill/>
                  </a:rPr>
                  <a:t> </a:t>
                </a:r>
              </a:p>
            </p:txBody>
          </p:sp>
        </mc:Fallback>
      </mc:AlternateContent>
      <p:sp>
        <p:nvSpPr>
          <p:cNvPr id="4" name="Rectangle 3">
            <a:extLst>
              <a:ext uri="{FF2B5EF4-FFF2-40B4-BE49-F238E27FC236}">
                <a16:creationId xmlns:a16="http://schemas.microsoft.com/office/drawing/2014/main" id="{7ABDF0E7-3CBF-1DF8-2042-2A227D5AF6AD}"/>
              </a:ext>
            </a:extLst>
          </p:cNvPr>
          <p:cNvSpPr/>
          <p:nvPr/>
        </p:nvSpPr>
        <p:spPr>
          <a:xfrm>
            <a:off x="3856700" y="4397475"/>
            <a:ext cx="4658032" cy="363793"/>
          </a:xfrm>
          <a:prstGeom prst="rect">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1">
            <a:extLst>
              <a:ext uri="{FF2B5EF4-FFF2-40B4-BE49-F238E27FC236}">
                <a16:creationId xmlns:a16="http://schemas.microsoft.com/office/drawing/2014/main" id="{96866A73-D7F5-BE76-C1EE-B7E883D11FB2}"/>
              </a:ext>
            </a:extLst>
          </p:cNvPr>
          <p:cNvSpPr txBox="1">
            <a:spLocks/>
          </p:cNvSpPr>
          <p:nvPr/>
        </p:nvSpPr>
        <p:spPr>
          <a:xfrm>
            <a:off x="301450" y="114301"/>
            <a:ext cx="9528350" cy="609600"/>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b="1" dirty="0">
                <a:solidFill>
                  <a:schemeClr val="bg1"/>
                </a:solidFill>
                <a:latin typeface="+mn-lt"/>
              </a:rPr>
              <a:t>Bayes’ theorem – the posterior distribution </a:t>
            </a:r>
          </a:p>
        </p:txBody>
      </p:sp>
      <p:sp>
        <p:nvSpPr>
          <p:cNvPr id="9" name="Slide Number Placeholder 8">
            <a:extLst>
              <a:ext uri="{FF2B5EF4-FFF2-40B4-BE49-F238E27FC236}">
                <a16:creationId xmlns:a16="http://schemas.microsoft.com/office/drawing/2014/main" id="{718CEF54-8242-D8ED-A7C5-4062731D4410}"/>
              </a:ext>
            </a:extLst>
          </p:cNvPr>
          <p:cNvSpPr>
            <a:spLocks noGrp="1"/>
          </p:cNvSpPr>
          <p:nvPr>
            <p:ph type="sldNum" sz="quarter" idx="12"/>
          </p:nvPr>
        </p:nvSpPr>
        <p:spPr/>
        <p:txBody>
          <a:bodyPr/>
          <a:lstStyle/>
          <a:p>
            <a:fld id="{92E773D0-8039-41DE-9EAA-38744617136D}" type="slidenum">
              <a:rPr lang="en-GB" smtClean="0"/>
              <a:t>12</a:t>
            </a:fld>
            <a:endParaRPr lang="en-GB"/>
          </a:p>
        </p:txBody>
      </p:sp>
    </p:spTree>
    <p:extLst>
      <p:ext uri="{BB962C8B-B14F-4D97-AF65-F5344CB8AC3E}">
        <p14:creationId xmlns:p14="http://schemas.microsoft.com/office/powerpoint/2010/main" val="718436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3125D-A2AB-1902-D306-69361B440364}"/>
              </a:ext>
            </a:extLst>
          </p:cNvPr>
          <p:cNvSpPr>
            <a:spLocks noGrp="1"/>
          </p:cNvSpPr>
          <p:nvPr>
            <p:ph type="title"/>
          </p:nvPr>
        </p:nvSpPr>
        <p:spPr>
          <a:xfrm>
            <a:off x="280516" y="47625"/>
            <a:ext cx="10515600" cy="719137"/>
          </a:xfrm>
        </p:spPr>
        <p:txBody>
          <a:bodyPr>
            <a:normAutofit fontScale="90000"/>
          </a:bodyPr>
          <a:lstStyle/>
          <a:p>
            <a:r>
              <a:rPr lang="en-GB" b="1" dirty="0">
                <a:solidFill>
                  <a:schemeClr val="bg1"/>
                </a:solidFill>
                <a:latin typeface="+mn-lt"/>
              </a:rPr>
              <a:t>The likelihood – How do we model the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829C07-C527-ED2B-D943-E74EF8FFF3AF}"/>
                  </a:ext>
                </a:extLst>
              </p:cNvPr>
              <p:cNvSpPr>
                <a:spLocks noGrp="1"/>
              </p:cNvSpPr>
              <p:nvPr>
                <p:ph idx="1"/>
              </p:nvPr>
            </p:nvSpPr>
            <p:spPr>
              <a:xfrm>
                <a:off x="838200" y="1577975"/>
                <a:ext cx="10515600" cy="4351338"/>
              </a:xfrm>
            </p:spPr>
            <p:txBody>
              <a:bodyPr/>
              <a:lstStyle/>
              <a:p>
                <a:r>
                  <a:rPr lang="en-GB" dirty="0"/>
                  <a:t>For observations </a:t>
                </a:r>
                <a14:m>
                  <m:oMath xmlns:m="http://schemas.openxmlformats.org/officeDocument/2006/math">
                    <m:r>
                      <a:rPr lang="en-GB" b="1" i="1" smtClean="0">
                        <a:latin typeface="Cambria Math" panose="02040503050406030204" pitchFamily="18" charset="0"/>
                      </a:rPr>
                      <m:t>𝒚</m:t>
                    </m:r>
                    <m:r>
                      <a:rPr lang="en-GB" b="0" i="0"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𝑛</m:t>
                        </m:r>
                      </m:sub>
                    </m:sSub>
                    <m:r>
                      <a:rPr lang="en-GB" b="0" i="1" smtClean="0">
                        <a:latin typeface="Cambria Math" panose="02040503050406030204" pitchFamily="18" charset="0"/>
                      </a:rPr>
                      <m:t>)</m:t>
                    </m:r>
                  </m:oMath>
                </a14:m>
                <a:r>
                  <a:rPr lang="en-GB" dirty="0"/>
                  <a:t>, the likelihood is </a:t>
                </a:r>
              </a:p>
              <a:p>
                <a:pPr marL="0" indent="0" algn="ctr">
                  <a:buNone/>
                </a:pPr>
                <a14:m>
                  <m:oMath xmlns:m="http://schemas.openxmlformats.org/officeDocument/2006/math">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𝒚</m:t>
                        </m:r>
                      </m:e>
                      <m:e>
                        <m:r>
                          <a:rPr lang="en-GB" b="1" i="1" smtClean="0">
                            <a:latin typeface="Cambria Math" panose="02040503050406030204" pitchFamily="18" charset="0"/>
                          </a:rPr>
                          <m:t>𝜽</m:t>
                        </m:r>
                      </m:e>
                    </m:d>
                    <m:r>
                      <a:rPr lang="en-GB" b="0" i="1" smtClean="0">
                        <a:latin typeface="Cambria Math" panose="02040503050406030204" pitchFamily="18" charset="0"/>
                      </a:rPr>
                      <m:t>=</m:t>
                    </m:r>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𝑖</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𝑛</m:t>
                        </m:r>
                      </m:sup>
                      <m:e>
                        <m:r>
                          <a:rPr lang="en-GB" b="0" i="1" smtClean="0">
                            <a:latin typeface="Cambria Math" panose="02040503050406030204" pitchFamily="18" charset="0"/>
                          </a:rPr>
                          <m:t>𝑝</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e>
                    </m:nary>
                  </m:oMath>
                </a14:m>
                <a:r>
                  <a:rPr lang="en-GB" dirty="0"/>
                  <a:t>  </a:t>
                </a:r>
                <a:r>
                  <a:rPr lang="en-GB" sz="1600" dirty="0"/>
                  <a:t>(conditional independence assumed)</a:t>
                </a:r>
              </a:p>
              <a:p>
                <a:endParaRPr lang="en-GB" dirty="0"/>
              </a:p>
              <a:p>
                <a:r>
                  <a:rPr lang="en-GB" dirty="0"/>
                  <a:t>Describes how the observed data are generated conditional on the unknown quantities in the model</a:t>
                </a:r>
              </a:p>
              <a:p>
                <a:endParaRPr lang="en-GB" dirty="0"/>
              </a:p>
              <a:p>
                <a:r>
                  <a:rPr lang="en-GB" dirty="0"/>
                  <a:t>For example, if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m:rPr>
                        <m:sty m:val="p"/>
                      </m:rPr>
                      <a:rPr lang="en-GB" b="0" i="0" smtClean="0">
                        <a:latin typeface="Cambria Math" panose="02040503050406030204" pitchFamily="18" charset="0"/>
                      </a:rPr>
                      <m:t>Poisson</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r>
                      <a:rPr lang="en-GB" b="0" i="1" smtClean="0">
                        <a:latin typeface="Cambria Math" panose="02040503050406030204" pitchFamily="18" charset="0"/>
                      </a:rPr>
                      <m:t>)</m:t>
                    </m:r>
                  </m:oMath>
                </a14:m>
                <a:r>
                  <a:rPr lang="en-GB" dirty="0"/>
                  <a:t>, the likelihood tells us how plausible the observed count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oMath>
                </a14:m>
                <a:r>
                  <a:rPr lang="en-GB" dirty="0"/>
                  <a:t> is for different values of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oMath>
                </a14:m>
                <a:endParaRPr lang="en-GB" dirty="0"/>
              </a:p>
            </p:txBody>
          </p:sp>
        </mc:Choice>
        <mc:Fallback xmlns="">
          <p:sp>
            <p:nvSpPr>
              <p:cNvPr id="3" name="Content Placeholder 2">
                <a:extLst>
                  <a:ext uri="{FF2B5EF4-FFF2-40B4-BE49-F238E27FC236}">
                    <a16:creationId xmlns:a16="http://schemas.microsoft.com/office/drawing/2014/main" id="{33829C07-C527-ED2B-D943-E74EF8FFF3AF}"/>
                  </a:ext>
                </a:extLst>
              </p:cNvPr>
              <p:cNvSpPr>
                <a:spLocks noGrp="1" noRot="1" noChangeAspect="1" noMove="1" noResize="1" noEditPoints="1" noAdjustHandles="1" noChangeArrowheads="1" noChangeShapeType="1" noTextEdit="1"/>
              </p:cNvSpPr>
              <p:nvPr>
                <p:ph idx="1"/>
              </p:nvPr>
            </p:nvSpPr>
            <p:spPr>
              <a:xfrm>
                <a:off x="838200" y="1577975"/>
                <a:ext cx="10515600" cy="4351338"/>
              </a:xfrm>
              <a:blipFill>
                <a:blip r:embed="rId2"/>
                <a:stretch>
                  <a:fillRect l="-1043" t="-2521"/>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E9AA0B63-BD22-7B1B-5DA5-F74BC088E486}"/>
              </a:ext>
            </a:extLst>
          </p:cNvPr>
          <p:cNvSpPr>
            <a:spLocks noGrp="1"/>
          </p:cNvSpPr>
          <p:nvPr>
            <p:ph type="sldNum" sz="quarter" idx="12"/>
          </p:nvPr>
        </p:nvSpPr>
        <p:spPr/>
        <p:txBody>
          <a:bodyPr/>
          <a:lstStyle/>
          <a:p>
            <a:fld id="{92E773D0-8039-41DE-9EAA-38744617136D}" type="slidenum">
              <a:rPr lang="en-GB" smtClean="0"/>
              <a:t>13</a:t>
            </a:fld>
            <a:endParaRPr lang="en-GB"/>
          </a:p>
        </p:txBody>
      </p:sp>
    </p:spTree>
    <p:extLst>
      <p:ext uri="{BB962C8B-B14F-4D97-AF65-F5344CB8AC3E}">
        <p14:creationId xmlns:p14="http://schemas.microsoft.com/office/powerpoint/2010/main" val="2722387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6857-2964-1116-099C-7E4AF7E0C6D2}"/>
              </a:ext>
            </a:extLst>
          </p:cNvPr>
          <p:cNvSpPr>
            <a:spLocks noGrp="1"/>
          </p:cNvSpPr>
          <p:nvPr>
            <p:ph type="title"/>
          </p:nvPr>
        </p:nvSpPr>
        <p:spPr>
          <a:xfrm>
            <a:off x="299884" y="76406"/>
            <a:ext cx="6110441" cy="596900"/>
          </a:xfrm>
        </p:spPr>
        <p:txBody>
          <a:bodyPr>
            <a:normAutofit fontScale="90000"/>
          </a:bodyPr>
          <a:lstStyle/>
          <a:p>
            <a:r>
              <a:rPr lang="en-GB" b="1" dirty="0">
                <a:solidFill>
                  <a:schemeClr val="bg1"/>
                </a:solidFill>
              </a:rPr>
              <a:t>Choosing a likelihood</a:t>
            </a:r>
          </a:p>
        </p:txBody>
      </p:sp>
      <p:sp>
        <p:nvSpPr>
          <p:cNvPr id="3" name="Content Placeholder 2">
            <a:extLst>
              <a:ext uri="{FF2B5EF4-FFF2-40B4-BE49-F238E27FC236}">
                <a16:creationId xmlns:a16="http://schemas.microsoft.com/office/drawing/2014/main" id="{D0787C71-B6F3-FDB4-1D7C-CB7FF0F2C74E}"/>
              </a:ext>
            </a:extLst>
          </p:cNvPr>
          <p:cNvSpPr>
            <a:spLocks noGrp="1"/>
          </p:cNvSpPr>
          <p:nvPr>
            <p:ph idx="1"/>
          </p:nvPr>
        </p:nvSpPr>
        <p:spPr>
          <a:xfrm>
            <a:off x="299884" y="1067710"/>
            <a:ext cx="11176820" cy="1209828"/>
          </a:xfrm>
        </p:spPr>
        <p:txBody>
          <a:bodyPr>
            <a:normAutofit lnSpcReduction="10000"/>
          </a:bodyPr>
          <a:lstStyle/>
          <a:p>
            <a:r>
              <a:rPr lang="en-GB" dirty="0"/>
              <a:t>Choosing a likelihood – The choice of a likelihood should primarily be driven by the nature of the outcome and the data-generating mechanism</a:t>
            </a:r>
          </a:p>
        </p:txBody>
      </p:sp>
      <p:graphicFrame>
        <p:nvGraphicFramePr>
          <p:cNvPr id="4" name="Table 3">
            <a:extLst>
              <a:ext uri="{FF2B5EF4-FFF2-40B4-BE49-F238E27FC236}">
                <a16:creationId xmlns:a16="http://schemas.microsoft.com/office/drawing/2014/main" id="{35BEDD76-556B-22C8-DB05-A329561496A0}"/>
              </a:ext>
            </a:extLst>
          </p:cNvPr>
          <p:cNvGraphicFramePr>
            <a:graphicFrameLocks noGrp="1"/>
          </p:cNvGraphicFramePr>
          <p:nvPr>
            <p:extLst>
              <p:ext uri="{D42A27DB-BD31-4B8C-83A1-F6EECF244321}">
                <p14:modId xmlns:p14="http://schemas.microsoft.com/office/powerpoint/2010/main" val="3732137444"/>
              </p:ext>
            </p:extLst>
          </p:nvPr>
        </p:nvGraphicFramePr>
        <p:xfrm>
          <a:off x="4102203" y="2259544"/>
          <a:ext cx="6646606" cy="4114800"/>
        </p:xfrm>
        <a:graphic>
          <a:graphicData uri="http://schemas.openxmlformats.org/drawingml/2006/table">
            <a:tbl>
              <a:tblPr>
                <a:tableStyleId>{5C22544A-7EE6-4342-B048-85BDC9FD1C3A}</a:tableStyleId>
              </a:tblPr>
              <a:tblGrid>
                <a:gridCol w="2949677">
                  <a:extLst>
                    <a:ext uri="{9D8B030D-6E8A-4147-A177-3AD203B41FA5}">
                      <a16:colId xmlns:a16="http://schemas.microsoft.com/office/drawing/2014/main" val="3753925333"/>
                    </a:ext>
                  </a:extLst>
                </a:gridCol>
                <a:gridCol w="3696929">
                  <a:extLst>
                    <a:ext uri="{9D8B030D-6E8A-4147-A177-3AD203B41FA5}">
                      <a16:colId xmlns:a16="http://schemas.microsoft.com/office/drawing/2014/main" val="65886346"/>
                    </a:ext>
                  </a:extLst>
                </a:gridCol>
              </a:tblGrid>
              <a:tr h="0">
                <a:tc>
                  <a:txBody>
                    <a:bodyPr/>
                    <a:lstStyle/>
                    <a:p>
                      <a:pPr>
                        <a:buNone/>
                      </a:pPr>
                      <a:r>
                        <a:rPr lang="en-GB" b="1" dirty="0"/>
                        <a:t>Outcome</a:t>
                      </a:r>
                    </a:p>
                  </a:txBody>
                  <a:tcPr anchor="ctr"/>
                </a:tc>
                <a:tc>
                  <a:txBody>
                    <a:bodyPr/>
                    <a:lstStyle/>
                    <a:p>
                      <a:pPr>
                        <a:buNone/>
                      </a:pPr>
                      <a:r>
                        <a:rPr lang="en-GB" b="1" dirty="0"/>
                        <a:t>Possible likelihood</a:t>
                      </a:r>
                    </a:p>
                  </a:txBody>
                  <a:tcPr anchor="ctr"/>
                </a:tc>
                <a:extLst>
                  <a:ext uri="{0D108BD9-81ED-4DB2-BD59-A6C34878D82A}">
                    <a16:rowId xmlns:a16="http://schemas.microsoft.com/office/drawing/2014/main" val="2805439279"/>
                  </a:ext>
                </a:extLst>
              </a:tr>
              <a:tr h="0">
                <a:tc>
                  <a:txBody>
                    <a:bodyPr/>
                    <a:lstStyle/>
                    <a:p>
                      <a:pPr>
                        <a:buNone/>
                      </a:pPr>
                      <a:r>
                        <a:rPr lang="en-GB"/>
                        <a:t>Continuous approximately Gaussian</a:t>
                      </a:r>
                    </a:p>
                  </a:txBody>
                  <a:tcPr anchor="ctr"/>
                </a:tc>
                <a:tc>
                  <a:txBody>
                    <a:bodyPr/>
                    <a:lstStyle/>
                    <a:p>
                      <a:pPr>
                        <a:buNone/>
                      </a:pPr>
                      <a:r>
                        <a:rPr lang="en-GB" dirty="0"/>
                        <a:t>Normal</a:t>
                      </a:r>
                    </a:p>
                  </a:txBody>
                  <a:tcPr anchor="ctr"/>
                </a:tc>
                <a:extLst>
                  <a:ext uri="{0D108BD9-81ED-4DB2-BD59-A6C34878D82A}">
                    <a16:rowId xmlns:a16="http://schemas.microsoft.com/office/drawing/2014/main" val="2982588229"/>
                  </a:ext>
                </a:extLst>
              </a:tr>
              <a:tr h="0">
                <a:tc>
                  <a:txBody>
                    <a:bodyPr/>
                    <a:lstStyle/>
                    <a:p>
                      <a:pPr>
                        <a:buNone/>
                      </a:pPr>
                      <a:r>
                        <a:rPr lang="en-GB" dirty="0"/>
                        <a:t>Binary</a:t>
                      </a:r>
                    </a:p>
                  </a:txBody>
                  <a:tcPr anchor="ctr"/>
                </a:tc>
                <a:tc>
                  <a:txBody>
                    <a:bodyPr/>
                    <a:lstStyle/>
                    <a:p>
                      <a:pPr>
                        <a:buNone/>
                      </a:pPr>
                      <a:r>
                        <a:rPr lang="en-GB"/>
                        <a:t>Bernoulli</a:t>
                      </a:r>
                    </a:p>
                  </a:txBody>
                  <a:tcPr anchor="ctr"/>
                </a:tc>
                <a:extLst>
                  <a:ext uri="{0D108BD9-81ED-4DB2-BD59-A6C34878D82A}">
                    <a16:rowId xmlns:a16="http://schemas.microsoft.com/office/drawing/2014/main" val="3392894733"/>
                  </a:ext>
                </a:extLst>
              </a:tr>
              <a:tr h="0">
                <a:tc>
                  <a:txBody>
                    <a:bodyPr/>
                    <a:lstStyle/>
                    <a:p>
                      <a:pPr>
                        <a:buNone/>
                      </a:pPr>
                      <a:r>
                        <a:rPr lang="en-GB"/>
                        <a:t>Proportion / number successes</a:t>
                      </a:r>
                    </a:p>
                  </a:txBody>
                  <a:tcPr anchor="ctr"/>
                </a:tc>
                <a:tc>
                  <a:txBody>
                    <a:bodyPr/>
                    <a:lstStyle/>
                    <a:p>
                      <a:pPr>
                        <a:buNone/>
                      </a:pPr>
                      <a:r>
                        <a:rPr lang="en-GB"/>
                        <a:t>Binomial</a:t>
                      </a:r>
                    </a:p>
                  </a:txBody>
                  <a:tcPr anchor="ctr"/>
                </a:tc>
                <a:extLst>
                  <a:ext uri="{0D108BD9-81ED-4DB2-BD59-A6C34878D82A}">
                    <a16:rowId xmlns:a16="http://schemas.microsoft.com/office/drawing/2014/main" val="2019903011"/>
                  </a:ext>
                </a:extLst>
              </a:tr>
              <a:tr h="0">
                <a:tc>
                  <a:txBody>
                    <a:bodyPr/>
                    <a:lstStyle/>
                    <a:p>
                      <a:pPr>
                        <a:buNone/>
                      </a:pPr>
                      <a:r>
                        <a:rPr lang="en-GB"/>
                        <a:t>Counts</a:t>
                      </a:r>
                    </a:p>
                  </a:txBody>
                  <a:tcPr anchor="ctr"/>
                </a:tc>
                <a:tc>
                  <a:txBody>
                    <a:bodyPr/>
                    <a:lstStyle/>
                    <a:p>
                      <a:pPr>
                        <a:buNone/>
                      </a:pPr>
                      <a:r>
                        <a:rPr lang="en-GB"/>
                        <a:t>Poisson</a:t>
                      </a:r>
                    </a:p>
                  </a:txBody>
                  <a:tcPr anchor="ctr"/>
                </a:tc>
                <a:extLst>
                  <a:ext uri="{0D108BD9-81ED-4DB2-BD59-A6C34878D82A}">
                    <a16:rowId xmlns:a16="http://schemas.microsoft.com/office/drawing/2014/main" val="1121054252"/>
                  </a:ext>
                </a:extLst>
              </a:tr>
              <a:tr h="0">
                <a:tc>
                  <a:txBody>
                    <a:bodyPr/>
                    <a:lstStyle/>
                    <a:p>
                      <a:pPr>
                        <a:buNone/>
                      </a:pPr>
                      <a:r>
                        <a:rPr lang="en-GB"/>
                        <a:t>Overdispersed counts</a:t>
                      </a:r>
                    </a:p>
                  </a:txBody>
                  <a:tcPr anchor="ctr"/>
                </a:tc>
                <a:tc>
                  <a:txBody>
                    <a:bodyPr/>
                    <a:lstStyle/>
                    <a:p>
                      <a:pPr>
                        <a:buNone/>
                      </a:pPr>
                      <a:r>
                        <a:rPr lang="en-GB"/>
                        <a:t>Negative binomial</a:t>
                      </a:r>
                    </a:p>
                  </a:txBody>
                  <a:tcPr anchor="ctr"/>
                </a:tc>
                <a:extLst>
                  <a:ext uri="{0D108BD9-81ED-4DB2-BD59-A6C34878D82A}">
                    <a16:rowId xmlns:a16="http://schemas.microsoft.com/office/drawing/2014/main" val="2344543112"/>
                  </a:ext>
                </a:extLst>
              </a:tr>
              <a:tr h="0">
                <a:tc>
                  <a:txBody>
                    <a:bodyPr/>
                    <a:lstStyle/>
                    <a:p>
                      <a:pPr>
                        <a:buNone/>
                      </a:pPr>
                      <a:r>
                        <a:rPr lang="en-GB"/>
                        <a:t>Excess zeros</a:t>
                      </a:r>
                    </a:p>
                  </a:txBody>
                  <a:tcPr anchor="ctr"/>
                </a:tc>
                <a:tc>
                  <a:txBody>
                    <a:bodyPr/>
                    <a:lstStyle/>
                    <a:p>
                      <a:pPr>
                        <a:buNone/>
                      </a:pPr>
                      <a:r>
                        <a:rPr lang="en-GB" dirty="0"/>
                        <a:t>Zero-inflated / hurdle models</a:t>
                      </a:r>
                    </a:p>
                  </a:txBody>
                  <a:tcPr anchor="ctr"/>
                </a:tc>
                <a:extLst>
                  <a:ext uri="{0D108BD9-81ED-4DB2-BD59-A6C34878D82A}">
                    <a16:rowId xmlns:a16="http://schemas.microsoft.com/office/drawing/2014/main" val="643041247"/>
                  </a:ext>
                </a:extLst>
              </a:tr>
              <a:tr h="0">
                <a:tc>
                  <a:txBody>
                    <a:bodyPr/>
                    <a:lstStyle/>
                    <a:p>
                      <a:pPr>
                        <a:buNone/>
                      </a:pPr>
                      <a:r>
                        <a:rPr lang="en-GB"/>
                        <a:t>Time-to-event</a:t>
                      </a:r>
                    </a:p>
                  </a:txBody>
                  <a:tcPr anchor="ctr"/>
                </a:tc>
                <a:tc>
                  <a:txBody>
                    <a:bodyPr/>
                    <a:lstStyle/>
                    <a:p>
                      <a:pPr>
                        <a:buNone/>
                      </a:pPr>
                      <a:r>
                        <a:rPr lang="en-GB"/>
                        <a:t>Survival likelihoods</a:t>
                      </a:r>
                    </a:p>
                  </a:txBody>
                  <a:tcPr anchor="ctr"/>
                </a:tc>
                <a:extLst>
                  <a:ext uri="{0D108BD9-81ED-4DB2-BD59-A6C34878D82A}">
                    <a16:rowId xmlns:a16="http://schemas.microsoft.com/office/drawing/2014/main" val="1662131543"/>
                  </a:ext>
                </a:extLst>
              </a:tr>
              <a:tr h="0">
                <a:tc>
                  <a:txBody>
                    <a:bodyPr/>
                    <a:lstStyle/>
                    <a:p>
                      <a:pPr>
                        <a:buNone/>
                      </a:pPr>
                      <a:r>
                        <a:rPr lang="en-GB" dirty="0"/>
                        <a:t>Spatially continuous measurements</a:t>
                      </a:r>
                    </a:p>
                  </a:txBody>
                  <a:tcPr anchor="ctr"/>
                </a:tc>
                <a:tc>
                  <a:txBody>
                    <a:bodyPr/>
                    <a:lstStyle/>
                    <a:p>
                      <a:pPr>
                        <a:buNone/>
                      </a:pPr>
                      <a:r>
                        <a:rPr lang="en-GB" dirty="0"/>
                        <a:t>Gaussian</a:t>
                      </a:r>
                    </a:p>
                  </a:txBody>
                  <a:tcPr anchor="ctr"/>
                </a:tc>
                <a:extLst>
                  <a:ext uri="{0D108BD9-81ED-4DB2-BD59-A6C34878D82A}">
                    <a16:rowId xmlns:a16="http://schemas.microsoft.com/office/drawing/2014/main" val="2170249022"/>
                  </a:ext>
                </a:extLst>
              </a:tr>
            </a:tbl>
          </a:graphicData>
        </a:graphic>
      </p:graphicFrame>
      <p:sp>
        <p:nvSpPr>
          <p:cNvPr id="5" name="TextBox 4">
            <a:extLst>
              <a:ext uri="{FF2B5EF4-FFF2-40B4-BE49-F238E27FC236}">
                <a16:creationId xmlns:a16="http://schemas.microsoft.com/office/drawing/2014/main" id="{9BCB629B-9197-0413-C858-A0FB1E09F8A3}"/>
              </a:ext>
            </a:extLst>
          </p:cNvPr>
          <p:cNvSpPr txBox="1"/>
          <p:nvPr/>
        </p:nvSpPr>
        <p:spPr>
          <a:xfrm>
            <a:off x="549225" y="3793724"/>
            <a:ext cx="3303638" cy="523220"/>
          </a:xfrm>
          <a:prstGeom prst="rect">
            <a:avLst/>
          </a:prstGeom>
          <a:noFill/>
        </p:spPr>
        <p:txBody>
          <a:bodyPr wrap="square" rtlCol="0">
            <a:spAutoFit/>
          </a:bodyPr>
          <a:lstStyle/>
          <a:p>
            <a:r>
              <a:rPr lang="en-GB" sz="2800" dirty="0"/>
              <a:t>Example likelihoods</a:t>
            </a:r>
          </a:p>
        </p:txBody>
      </p:sp>
      <p:sp>
        <p:nvSpPr>
          <p:cNvPr id="6" name="Slide Number Placeholder 5">
            <a:extLst>
              <a:ext uri="{FF2B5EF4-FFF2-40B4-BE49-F238E27FC236}">
                <a16:creationId xmlns:a16="http://schemas.microsoft.com/office/drawing/2014/main" id="{28C5869F-E69C-149E-C7FF-50C12B8A5671}"/>
              </a:ext>
            </a:extLst>
          </p:cNvPr>
          <p:cNvSpPr>
            <a:spLocks noGrp="1"/>
          </p:cNvSpPr>
          <p:nvPr>
            <p:ph type="sldNum" sz="quarter" idx="12"/>
          </p:nvPr>
        </p:nvSpPr>
        <p:spPr/>
        <p:txBody>
          <a:bodyPr/>
          <a:lstStyle/>
          <a:p>
            <a:fld id="{92E773D0-8039-41DE-9EAA-38744617136D}" type="slidenum">
              <a:rPr lang="en-GB" smtClean="0"/>
              <a:t>14</a:t>
            </a:fld>
            <a:endParaRPr lang="en-GB"/>
          </a:p>
        </p:txBody>
      </p:sp>
    </p:spTree>
    <p:extLst>
      <p:ext uri="{BB962C8B-B14F-4D97-AF65-F5344CB8AC3E}">
        <p14:creationId xmlns:p14="http://schemas.microsoft.com/office/powerpoint/2010/main" val="1030255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648EC-3159-1AC6-0156-3147AAB9B426}"/>
              </a:ext>
            </a:extLst>
          </p:cNvPr>
          <p:cNvSpPr>
            <a:spLocks noGrp="1"/>
          </p:cNvSpPr>
          <p:nvPr>
            <p:ph type="title"/>
          </p:nvPr>
        </p:nvSpPr>
        <p:spPr>
          <a:xfrm>
            <a:off x="485775" y="84137"/>
            <a:ext cx="6210300" cy="596900"/>
          </a:xfrm>
        </p:spPr>
        <p:txBody>
          <a:bodyPr>
            <a:normAutofit fontScale="90000"/>
          </a:bodyPr>
          <a:lstStyle/>
          <a:p>
            <a:r>
              <a:rPr lang="en-GB" b="1" dirty="0">
                <a:solidFill>
                  <a:schemeClr val="bg1"/>
                </a:solidFill>
                <a:latin typeface="+mn-lt"/>
              </a:rPr>
              <a:t>Prior distributions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59298B-7120-D319-6C21-329D8B3EDE87}"/>
                  </a:ext>
                </a:extLst>
              </p:cNvPr>
              <p:cNvSpPr>
                <a:spLocks noGrp="1"/>
              </p:cNvSpPr>
              <p:nvPr>
                <p:ph idx="1"/>
              </p:nvPr>
            </p:nvSpPr>
            <p:spPr>
              <a:xfrm>
                <a:off x="838200" y="1693862"/>
                <a:ext cx="10515600" cy="3470275"/>
              </a:xfrm>
            </p:spPr>
            <p:txBody>
              <a:bodyPr/>
              <a:lstStyle/>
              <a:p>
                <a:r>
                  <a:rPr lang="en-GB" dirty="0"/>
                  <a:t>Signify your beliefs about </a:t>
                </a:r>
                <a14:m>
                  <m:oMath xmlns:m="http://schemas.openxmlformats.org/officeDocument/2006/math">
                    <m:r>
                      <a:rPr lang="en-GB" b="0" i="1" smtClean="0">
                        <a:latin typeface="Cambria Math" panose="02040503050406030204" pitchFamily="18" charset="0"/>
                      </a:rPr>
                      <m:t>𝜃</m:t>
                    </m:r>
                  </m:oMath>
                </a14:m>
                <a:r>
                  <a:rPr lang="en-GB" dirty="0"/>
                  <a:t> before observing the data: </a:t>
                </a:r>
                <a14:m>
                  <m:oMath xmlns:m="http://schemas.openxmlformats.org/officeDocument/2006/math">
                    <m:r>
                      <a:rPr lang="en-GB" b="0" i="1" smtClean="0">
                        <a:latin typeface="Cambria Math" panose="02040503050406030204" pitchFamily="18" charset="0"/>
                      </a:rPr>
                      <m:t>𝜃</m:t>
                    </m:r>
                    <m:r>
                      <a:rPr lang="en-GB" b="0" i="1" smtClean="0">
                        <a:latin typeface="Cambria Math" panose="02040503050406030204" pitchFamily="18" charset="0"/>
                      </a:rPr>
                      <m:t>∼</m:t>
                    </m:r>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𝜃</m:t>
                        </m:r>
                      </m:e>
                    </m:d>
                    <m:r>
                      <a:rPr lang="en-GB" b="0" i="1" smtClean="0">
                        <a:latin typeface="Cambria Math" panose="02040503050406030204" pitchFamily="18" charset="0"/>
                      </a:rPr>
                      <m:t>.</m:t>
                    </m:r>
                  </m:oMath>
                </a14:m>
                <a:endParaRPr lang="en-GB" dirty="0"/>
              </a:p>
              <a:p>
                <a:r>
                  <a:rPr lang="en-GB" dirty="0"/>
                  <a:t>Priors are often unique to the modeller – someone else’s prior could lead to different posterior estimates </a:t>
                </a:r>
              </a:p>
              <a:p>
                <a:r>
                  <a:rPr lang="en-GB" dirty="0"/>
                  <a:t>As long as the chosen prior is reasonable, the effect of the prior becomes less important as more and more data are observed.</a:t>
                </a:r>
              </a:p>
              <a:p>
                <a:r>
                  <a:rPr lang="en-GB" dirty="0"/>
                  <a:t>When reliable prior information is unavailable, we may use a prior that reflects our ignorance about the parameter</a:t>
                </a:r>
              </a:p>
            </p:txBody>
          </p:sp>
        </mc:Choice>
        <mc:Fallback xmlns="">
          <p:sp>
            <p:nvSpPr>
              <p:cNvPr id="3" name="Content Placeholder 2">
                <a:extLst>
                  <a:ext uri="{FF2B5EF4-FFF2-40B4-BE49-F238E27FC236}">
                    <a16:creationId xmlns:a16="http://schemas.microsoft.com/office/drawing/2014/main" id="{F459298B-7120-D319-6C21-329D8B3EDE87}"/>
                  </a:ext>
                </a:extLst>
              </p:cNvPr>
              <p:cNvSpPr>
                <a:spLocks noGrp="1" noRot="1" noChangeAspect="1" noMove="1" noResize="1" noEditPoints="1" noAdjustHandles="1" noChangeArrowheads="1" noChangeShapeType="1" noTextEdit="1"/>
              </p:cNvSpPr>
              <p:nvPr>
                <p:ph idx="1"/>
              </p:nvPr>
            </p:nvSpPr>
            <p:spPr>
              <a:xfrm>
                <a:off x="838200" y="1693862"/>
                <a:ext cx="10515600" cy="3470275"/>
              </a:xfrm>
              <a:blipFill>
                <a:blip r:embed="rId2"/>
                <a:stretch>
                  <a:fillRect l="-1043" t="-3163" r="-406"/>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C72A607E-8FC0-1D82-200D-EB8F57FFF70A}"/>
              </a:ext>
            </a:extLst>
          </p:cNvPr>
          <p:cNvSpPr>
            <a:spLocks noGrp="1"/>
          </p:cNvSpPr>
          <p:nvPr>
            <p:ph type="sldNum" sz="quarter" idx="12"/>
          </p:nvPr>
        </p:nvSpPr>
        <p:spPr/>
        <p:txBody>
          <a:bodyPr/>
          <a:lstStyle/>
          <a:p>
            <a:fld id="{92E773D0-8039-41DE-9EAA-38744617136D}" type="slidenum">
              <a:rPr lang="en-GB" smtClean="0"/>
              <a:t>15</a:t>
            </a:fld>
            <a:endParaRPr lang="en-GB"/>
          </a:p>
        </p:txBody>
      </p:sp>
    </p:spTree>
    <p:extLst>
      <p:ext uri="{BB962C8B-B14F-4D97-AF65-F5344CB8AC3E}">
        <p14:creationId xmlns:p14="http://schemas.microsoft.com/office/powerpoint/2010/main" val="71093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725C01-4B77-4F38-F232-0CA1B6F1D23E}"/>
                  </a:ext>
                </a:extLst>
              </p:cNvPr>
              <p:cNvSpPr>
                <a:spLocks noGrp="1"/>
              </p:cNvSpPr>
              <p:nvPr>
                <p:ph idx="1"/>
              </p:nvPr>
            </p:nvSpPr>
            <p:spPr>
              <a:xfrm>
                <a:off x="838200" y="1384710"/>
                <a:ext cx="10515600" cy="4351338"/>
              </a:xfrm>
            </p:spPr>
            <p:txBody>
              <a:bodyPr>
                <a:normAutofit fontScale="85000" lnSpcReduction="20000"/>
              </a:bodyPr>
              <a:lstStyle/>
              <a:p>
                <a:pPr marL="0" indent="0">
                  <a:buNone/>
                </a:pPr>
                <a:r>
                  <a:rPr lang="en-GB" dirty="0"/>
                  <a:t>Priors can be: </a:t>
                </a:r>
              </a:p>
              <a:p>
                <a:r>
                  <a:rPr lang="en-GB" b="1" dirty="0"/>
                  <a:t>Informative - </a:t>
                </a:r>
                <a:r>
                  <a:rPr lang="en-GB" dirty="0"/>
                  <a:t>based on previous studies or substantive knowledge, e.g. </a:t>
                </a:r>
                <a14:m>
                  <m:oMath xmlns:m="http://schemas.openxmlformats.org/officeDocument/2006/math">
                    <m:r>
                      <a:rPr lang="en-GB" b="0" i="1" smtClean="0">
                        <a:latin typeface="Cambria Math" panose="02040503050406030204" pitchFamily="18" charset="0"/>
                      </a:rPr>
                      <m:t>𝛽</m:t>
                    </m:r>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(0.5, </m:t>
                    </m:r>
                    <m:sSup>
                      <m:sSupPr>
                        <m:ctrlPr>
                          <a:rPr lang="en-GB" b="0" i="1" smtClean="0">
                            <a:latin typeface="Cambria Math" panose="02040503050406030204" pitchFamily="18" charset="0"/>
                          </a:rPr>
                        </m:ctrlPr>
                      </m:sSupPr>
                      <m:e>
                        <m:r>
                          <a:rPr lang="en-GB" b="0" i="1" smtClean="0">
                            <a:latin typeface="Cambria Math" panose="02040503050406030204" pitchFamily="18" charset="0"/>
                          </a:rPr>
                          <m:t>0.01</m:t>
                        </m:r>
                      </m:e>
                      <m:sup>
                        <m:r>
                          <a:rPr lang="en-GB" b="0" i="1" smtClean="0">
                            <a:latin typeface="Cambria Math" panose="02040503050406030204" pitchFamily="18" charset="0"/>
                          </a:rPr>
                          <m:t>2</m:t>
                        </m:r>
                      </m:sup>
                    </m:sSup>
                    <m:r>
                      <a:rPr lang="en-GB" b="0" i="1" smtClean="0">
                        <a:latin typeface="Cambria Math" panose="02040503050406030204" pitchFamily="18" charset="0"/>
                      </a:rPr>
                      <m:t>)</m:t>
                    </m:r>
                  </m:oMath>
                </a14:m>
                <a:r>
                  <a:rPr lang="en-GB" dirty="0"/>
                  <a:t> (for a standardized covariate) which concentrates almost all mass between 0.47 and 0.53.</a:t>
                </a:r>
              </a:p>
              <a:p>
                <a:r>
                  <a:rPr lang="en-GB" dirty="0"/>
                  <a:t> </a:t>
                </a:r>
                <a:r>
                  <a:rPr lang="en-GB" b="1" dirty="0"/>
                  <a:t>Weakly informative – </a:t>
                </a:r>
                <a:r>
                  <a:rPr lang="en-GB" dirty="0"/>
                  <a:t>constrains implausible values while allowing the data substantial influence (common in INLA/</a:t>
                </a:r>
                <a:r>
                  <a:rPr lang="en-GB" dirty="0" err="1"/>
                  <a:t>inlabru</a:t>
                </a:r>
                <a:r>
                  <a:rPr lang="en-GB" dirty="0"/>
                  <a:t> context), e.g. </a:t>
                </a:r>
                <a14:m>
                  <m:oMath xmlns:m="http://schemas.openxmlformats.org/officeDocument/2006/math">
                    <m:r>
                      <a:rPr lang="en-GB" b="0" i="1" smtClean="0">
                        <a:latin typeface="Cambria Math" panose="02040503050406030204" pitchFamily="18" charset="0"/>
                      </a:rPr>
                      <m:t>𝛽</m:t>
                    </m:r>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0,1</m:t>
                        </m:r>
                      </m:e>
                      <m:sup>
                        <m:r>
                          <a:rPr lang="en-GB" b="0" i="1" smtClean="0">
                            <a:latin typeface="Cambria Math" panose="02040503050406030204" pitchFamily="18" charset="0"/>
                          </a:rPr>
                          <m:t>2</m:t>
                        </m:r>
                      </m:sup>
                    </m:sSup>
                    <m:r>
                      <a:rPr lang="en-GB" b="0" i="1" smtClean="0">
                        <a:latin typeface="Cambria Math" panose="02040503050406030204" pitchFamily="18" charset="0"/>
                      </a:rPr>
                      <m:t>)</m:t>
                    </m:r>
                  </m:oMath>
                </a14:m>
                <a:r>
                  <a:rPr lang="en-GB" dirty="0"/>
                  <a:t> (99.7% of </a:t>
                </a:r>
                <a14:m>
                  <m:oMath xmlns:m="http://schemas.openxmlformats.org/officeDocument/2006/math">
                    <m:r>
                      <a:rPr lang="en-GB" i="1">
                        <a:latin typeface="Cambria Math" panose="02040503050406030204" pitchFamily="18" charset="0"/>
                      </a:rPr>
                      <m:t>𝛽</m:t>
                    </m:r>
                  </m:oMath>
                </a14:m>
                <a:r>
                  <a:rPr lang="en-GB" dirty="0"/>
                  <a:t> is in the interval </a:t>
                </a:r>
                <a14:m>
                  <m:oMath xmlns:m="http://schemas.openxmlformats.org/officeDocument/2006/math">
                    <m:r>
                      <a:rPr lang="en-GB" b="0" i="1" smtClean="0">
                        <a:latin typeface="Cambria Math" panose="02040503050406030204" pitchFamily="18" charset="0"/>
                      </a:rPr>
                      <m:t>(−3,3)</m:t>
                    </m:r>
                  </m:oMath>
                </a14:m>
                <a:r>
                  <a:rPr lang="en-GB" dirty="0"/>
                  <a:t>) or </a:t>
                </a:r>
                <a14:m>
                  <m:oMath xmlns:m="http://schemas.openxmlformats.org/officeDocument/2006/math">
                    <m:r>
                      <a:rPr lang="en-GB" b="0" i="1" smtClean="0">
                        <a:latin typeface="Cambria Math" panose="02040503050406030204" pitchFamily="18" charset="0"/>
                      </a:rPr>
                      <m:t>𝑁</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0,2</m:t>
                        </m:r>
                      </m:e>
                      <m:sup>
                        <m:r>
                          <a:rPr lang="en-GB" b="0" i="1" smtClean="0">
                            <a:latin typeface="Cambria Math" panose="02040503050406030204" pitchFamily="18" charset="0"/>
                          </a:rPr>
                          <m:t>2</m:t>
                        </m:r>
                      </m:sup>
                    </m:sSup>
                    <m:r>
                      <a:rPr lang="en-GB" b="0" i="1" smtClean="0">
                        <a:latin typeface="Cambria Math" panose="02040503050406030204" pitchFamily="18" charset="0"/>
                      </a:rPr>
                      <m:t>)</m:t>
                    </m:r>
                  </m:oMath>
                </a14:m>
                <a:r>
                  <a:rPr lang="en-GB" dirty="0"/>
                  <a:t> </a:t>
                </a:r>
              </a:p>
              <a:p>
                <a:r>
                  <a:rPr lang="en-GB" b="1" dirty="0"/>
                  <a:t>Vague/diffuse prior </a:t>
                </a:r>
                <a:r>
                  <a:rPr lang="en-GB" dirty="0"/>
                  <a:t>– designed to exert relatively little influence over the parameter and to let the data dominate, e.g. </a:t>
                </a:r>
                <a14:m>
                  <m:oMath xmlns:m="http://schemas.openxmlformats.org/officeDocument/2006/math">
                    <m:r>
                      <a:rPr lang="en-GB" b="0" i="1" smtClean="0">
                        <a:latin typeface="Cambria Math" panose="02040503050406030204" pitchFamily="18" charset="0"/>
                      </a:rPr>
                      <m:t>𝛽</m:t>
                    </m:r>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0,1000</m:t>
                        </m:r>
                      </m:e>
                      <m:sup>
                        <m:r>
                          <a:rPr lang="en-GB" b="0" i="1" smtClean="0">
                            <a:latin typeface="Cambria Math" panose="02040503050406030204" pitchFamily="18" charset="0"/>
                          </a:rPr>
                          <m:t>2</m:t>
                        </m:r>
                      </m:sup>
                    </m:sSup>
                    <m:r>
                      <a:rPr lang="en-GB" b="0" i="1" smtClean="0">
                        <a:latin typeface="Cambria Math" panose="02040503050406030204" pitchFamily="18" charset="0"/>
                      </a:rPr>
                      <m:t>)</m:t>
                    </m:r>
                  </m:oMath>
                </a14:m>
                <a:endParaRPr lang="en-GB" dirty="0"/>
              </a:p>
              <a:p>
                <a:r>
                  <a:rPr lang="en-GB" dirty="0"/>
                  <a:t>There are other classes such as </a:t>
                </a:r>
                <a:r>
                  <a:rPr lang="en-GB" b="1" dirty="0"/>
                  <a:t>proper/improper </a:t>
                </a:r>
                <a:r>
                  <a:rPr lang="en-GB" dirty="0"/>
                  <a:t>priors, </a:t>
                </a:r>
                <a:r>
                  <a:rPr lang="en-GB" b="1" dirty="0"/>
                  <a:t>conjugate priors</a:t>
                </a:r>
                <a:r>
                  <a:rPr lang="en-GB" dirty="0"/>
                  <a:t>, etc</a:t>
                </a:r>
              </a:p>
              <a:p>
                <a:pPr marL="0" indent="0">
                  <a:buNone/>
                </a:pPr>
                <a:r>
                  <a:rPr lang="en-GB" b="1" dirty="0"/>
                  <a:t>NB: </a:t>
                </a:r>
                <a:r>
                  <a:rPr lang="en-GB" dirty="0"/>
                  <a:t>Priors are scale dependent (relative to the possible range of values of the parameters in question). Different parameter require different types of priors.</a:t>
                </a:r>
                <a:endParaRPr lang="en-GB" b="1" dirty="0"/>
              </a:p>
            </p:txBody>
          </p:sp>
        </mc:Choice>
        <mc:Fallback xmlns="">
          <p:sp>
            <p:nvSpPr>
              <p:cNvPr id="3" name="Content Placeholder 2">
                <a:extLst>
                  <a:ext uri="{FF2B5EF4-FFF2-40B4-BE49-F238E27FC236}">
                    <a16:creationId xmlns:a16="http://schemas.microsoft.com/office/drawing/2014/main" id="{E9725C01-4B77-4F38-F232-0CA1B6F1D23E}"/>
                  </a:ext>
                </a:extLst>
              </p:cNvPr>
              <p:cNvSpPr>
                <a:spLocks noGrp="1" noRot="1" noChangeAspect="1" noMove="1" noResize="1" noEditPoints="1" noAdjustHandles="1" noChangeArrowheads="1" noChangeShapeType="1" noTextEdit="1"/>
              </p:cNvSpPr>
              <p:nvPr>
                <p:ph idx="1"/>
              </p:nvPr>
            </p:nvSpPr>
            <p:spPr>
              <a:xfrm>
                <a:off x="838200" y="1384710"/>
                <a:ext cx="10515600" cy="4351338"/>
              </a:xfrm>
              <a:blipFill>
                <a:blip r:embed="rId2"/>
                <a:stretch>
                  <a:fillRect l="-928" t="-3081" r="-174"/>
                </a:stretch>
              </a:blipFill>
            </p:spPr>
            <p:txBody>
              <a:bodyPr/>
              <a:lstStyle/>
              <a:p>
                <a:r>
                  <a:rPr lang="en-GB">
                    <a:noFill/>
                  </a:rPr>
                  <a:t> </a:t>
                </a:r>
              </a:p>
            </p:txBody>
          </p:sp>
        </mc:Fallback>
      </mc:AlternateContent>
      <p:sp>
        <p:nvSpPr>
          <p:cNvPr id="2" name="Slide Number Placeholder 1">
            <a:extLst>
              <a:ext uri="{FF2B5EF4-FFF2-40B4-BE49-F238E27FC236}">
                <a16:creationId xmlns:a16="http://schemas.microsoft.com/office/drawing/2014/main" id="{AC48D784-D942-1E4A-4338-585737ECBCCD}"/>
              </a:ext>
            </a:extLst>
          </p:cNvPr>
          <p:cNvSpPr>
            <a:spLocks noGrp="1"/>
          </p:cNvSpPr>
          <p:nvPr>
            <p:ph type="sldNum" sz="quarter" idx="12"/>
          </p:nvPr>
        </p:nvSpPr>
        <p:spPr/>
        <p:txBody>
          <a:bodyPr/>
          <a:lstStyle/>
          <a:p>
            <a:fld id="{92E773D0-8039-41DE-9EAA-38744617136D}" type="slidenum">
              <a:rPr lang="en-GB" smtClean="0"/>
              <a:t>16</a:t>
            </a:fld>
            <a:endParaRPr lang="en-GB"/>
          </a:p>
        </p:txBody>
      </p:sp>
      <p:sp>
        <p:nvSpPr>
          <p:cNvPr id="7" name="Title 1">
            <a:extLst>
              <a:ext uri="{FF2B5EF4-FFF2-40B4-BE49-F238E27FC236}">
                <a16:creationId xmlns:a16="http://schemas.microsoft.com/office/drawing/2014/main" id="{A51A34A6-B762-8861-0450-EC946D05DBCF}"/>
              </a:ext>
            </a:extLst>
          </p:cNvPr>
          <p:cNvSpPr txBox="1">
            <a:spLocks/>
          </p:cNvSpPr>
          <p:nvPr/>
        </p:nvSpPr>
        <p:spPr>
          <a:xfrm>
            <a:off x="485775" y="84137"/>
            <a:ext cx="6210300" cy="59690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chemeClr val="bg1"/>
                </a:solidFill>
                <a:latin typeface="+mn-lt"/>
              </a:rPr>
              <a:t>Prior distributions</a:t>
            </a:r>
          </a:p>
        </p:txBody>
      </p:sp>
    </p:spTree>
    <p:extLst>
      <p:ext uri="{BB962C8B-B14F-4D97-AF65-F5344CB8AC3E}">
        <p14:creationId xmlns:p14="http://schemas.microsoft.com/office/powerpoint/2010/main" val="2328245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3">
            <a:extLst>
              <a:ext uri="{FF2B5EF4-FFF2-40B4-BE49-F238E27FC236}">
                <a16:creationId xmlns:a16="http://schemas.microsoft.com/office/drawing/2014/main" id="{5DE998EE-D547-CA78-3B3B-9ED34E296E92}"/>
              </a:ext>
            </a:extLst>
          </p:cNvPr>
          <p:cNvGraphicFramePr>
            <a:graphicFrameLocks noGrp="1"/>
          </p:cNvGraphicFramePr>
          <p:nvPr>
            <p:ph idx="1"/>
            <p:extLst>
              <p:ext uri="{D42A27DB-BD31-4B8C-83A1-F6EECF244321}">
                <p14:modId xmlns:p14="http://schemas.microsoft.com/office/powerpoint/2010/main" val="1887354282"/>
              </p:ext>
            </p:extLst>
          </p:nvPr>
        </p:nvGraphicFramePr>
        <p:xfrm>
          <a:off x="1418303" y="2002606"/>
          <a:ext cx="7010398" cy="222504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998458633"/>
                    </a:ext>
                  </a:extLst>
                </a:gridCol>
                <a:gridCol w="3505199">
                  <a:extLst>
                    <a:ext uri="{9D8B030D-6E8A-4147-A177-3AD203B41FA5}">
                      <a16:colId xmlns:a16="http://schemas.microsoft.com/office/drawing/2014/main" val="4256245325"/>
                    </a:ext>
                  </a:extLst>
                </a:gridCol>
              </a:tblGrid>
              <a:tr h="370840">
                <a:tc>
                  <a:txBody>
                    <a:bodyPr/>
                    <a:lstStyle/>
                    <a:p>
                      <a:r>
                        <a:rPr lang="en-GB" dirty="0"/>
                        <a:t>Likelihood</a:t>
                      </a:r>
                    </a:p>
                  </a:txBody>
                  <a:tcPr/>
                </a:tc>
                <a:tc>
                  <a:txBody>
                    <a:bodyPr/>
                    <a:lstStyle/>
                    <a:p>
                      <a:r>
                        <a:rPr lang="en-GB" dirty="0"/>
                        <a:t>Conjugate priors</a:t>
                      </a:r>
                    </a:p>
                  </a:txBody>
                  <a:tcPr/>
                </a:tc>
                <a:extLst>
                  <a:ext uri="{0D108BD9-81ED-4DB2-BD59-A6C34878D82A}">
                    <a16:rowId xmlns:a16="http://schemas.microsoft.com/office/drawing/2014/main" val="3771468921"/>
                  </a:ext>
                </a:extLst>
              </a:tr>
              <a:tr h="370840">
                <a:tc>
                  <a:txBody>
                    <a:bodyPr/>
                    <a:lstStyle/>
                    <a:p>
                      <a:r>
                        <a:rPr lang="en-GB" dirty="0"/>
                        <a:t>Normal</a:t>
                      </a:r>
                    </a:p>
                  </a:txBody>
                  <a:tcPr/>
                </a:tc>
                <a:tc>
                  <a:txBody>
                    <a:bodyPr/>
                    <a:lstStyle/>
                    <a:p>
                      <a:r>
                        <a:rPr lang="en-GB" dirty="0"/>
                        <a:t>Normal</a:t>
                      </a:r>
                    </a:p>
                  </a:txBody>
                  <a:tcPr/>
                </a:tc>
                <a:extLst>
                  <a:ext uri="{0D108BD9-81ED-4DB2-BD59-A6C34878D82A}">
                    <a16:rowId xmlns:a16="http://schemas.microsoft.com/office/drawing/2014/main" val="602291274"/>
                  </a:ext>
                </a:extLst>
              </a:tr>
              <a:tr h="370840">
                <a:tc>
                  <a:txBody>
                    <a:bodyPr/>
                    <a:lstStyle/>
                    <a:p>
                      <a:r>
                        <a:rPr lang="en-GB" dirty="0"/>
                        <a:t>Binomial</a:t>
                      </a:r>
                    </a:p>
                  </a:txBody>
                  <a:tcPr/>
                </a:tc>
                <a:tc>
                  <a:txBody>
                    <a:bodyPr/>
                    <a:lstStyle/>
                    <a:p>
                      <a:r>
                        <a:rPr lang="en-GB" dirty="0"/>
                        <a:t>Beta</a:t>
                      </a:r>
                    </a:p>
                  </a:txBody>
                  <a:tcPr/>
                </a:tc>
                <a:extLst>
                  <a:ext uri="{0D108BD9-81ED-4DB2-BD59-A6C34878D82A}">
                    <a16:rowId xmlns:a16="http://schemas.microsoft.com/office/drawing/2014/main" val="4286617511"/>
                  </a:ext>
                </a:extLst>
              </a:tr>
              <a:tr h="370840">
                <a:tc>
                  <a:txBody>
                    <a:bodyPr/>
                    <a:lstStyle/>
                    <a:p>
                      <a:r>
                        <a:rPr lang="en-GB" dirty="0"/>
                        <a:t>Poisson</a:t>
                      </a:r>
                    </a:p>
                  </a:txBody>
                  <a:tcPr/>
                </a:tc>
                <a:tc>
                  <a:txBody>
                    <a:bodyPr/>
                    <a:lstStyle/>
                    <a:p>
                      <a:r>
                        <a:rPr lang="en-GB" dirty="0"/>
                        <a:t>Gamma</a:t>
                      </a:r>
                    </a:p>
                  </a:txBody>
                  <a:tcPr/>
                </a:tc>
                <a:extLst>
                  <a:ext uri="{0D108BD9-81ED-4DB2-BD59-A6C34878D82A}">
                    <a16:rowId xmlns:a16="http://schemas.microsoft.com/office/drawing/2014/main" val="4062915187"/>
                  </a:ext>
                </a:extLst>
              </a:tr>
              <a:tr h="370840">
                <a:tc>
                  <a:txBody>
                    <a:bodyPr/>
                    <a:lstStyle/>
                    <a:p>
                      <a:r>
                        <a:rPr lang="en-GB" dirty="0"/>
                        <a:t>Exponential</a:t>
                      </a:r>
                    </a:p>
                  </a:txBody>
                  <a:tcPr/>
                </a:tc>
                <a:tc>
                  <a:txBody>
                    <a:bodyPr/>
                    <a:lstStyle/>
                    <a:p>
                      <a:r>
                        <a:rPr lang="en-GB" dirty="0"/>
                        <a:t>Gamma</a:t>
                      </a:r>
                    </a:p>
                  </a:txBody>
                  <a:tcPr/>
                </a:tc>
                <a:extLst>
                  <a:ext uri="{0D108BD9-81ED-4DB2-BD59-A6C34878D82A}">
                    <a16:rowId xmlns:a16="http://schemas.microsoft.com/office/drawing/2014/main" val="1874487785"/>
                  </a:ext>
                </a:extLst>
              </a:tr>
              <a:tr h="370840">
                <a:tc>
                  <a:txBody>
                    <a:bodyPr/>
                    <a:lstStyle/>
                    <a:p>
                      <a:r>
                        <a:rPr lang="en-GB" dirty="0"/>
                        <a:t>Negative binomial </a:t>
                      </a:r>
                    </a:p>
                  </a:txBody>
                  <a:tcPr/>
                </a:tc>
                <a:tc>
                  <a:txBody>
                    <a:bodyPr/>
                    <a:lstStyle/>
                    <a:p>
                      <a:r>
                        <a:rPr lang="en-GB" dirty="0"/>
                        <a:t>Beta</a:t>
                      </a:r>
                    </a:p>
                  </a:txBody>
                  <a:tcPr/>
                </a:tc>
                <a:extLst>
                  <a:ext uri="{0D108BD9-81ED-4DB2-BD59-A6C34878D82A}">
                    <a16:rowId xmlns:a16="http://schemas.microsoft.com/office/drawing/2014/main" val="624456152"/>
                  </a:ext>
                </a:extLst>
              </a:tr>
            </a:tbl>
          </a:graphicData>
        </a:graphic>
      </p:graphicFrame>
      <p:sp>
        <p:nvSpPr>
          <p:cNvPr id="8" name="TextBox 7">
            <a:extLst>
              <a:ext uri="{FF2B5EF4-FFF2-40B4-BE49-F238E27FC236}">
                <a16:creationId xmlns:a16="http://schemas.microsoft.com/office/drawing/2014/main" id="{A614820A-0DE6-FEBB-6B96-ADD3AB641E40}"/>
              </a:ext>
            </a:extLst>
          </p:cNvPr>
          <p:cNvSpPr txBox="1"/>
          <p:nvPr/>
        </p:nvSpPr>
        <p:spPr>
          <a:xfrm>
            <a:off x="576416" y="4945626"/>
            <a:ext cx="11039168" cy="646331"/>
          </a:xfrm>
          <a:prstGeom prst="rect">
            <a:avLst/>
          </a:prstGeom>
          <a:noFill/>
        </p:spPr>
        <p:txBody>
          <a:bodyPr wrap="square" rtlCol="0">
            <a:spAutoFit/>
          </a:bodyPr>
          <a:lstStyle/>
          <a:p>
            <a:r>
              <a:rPr lang="en-GB" dirty="0"/>
              <a:t>For conjugate priors, the posterior distribution belongs to the same parametric family as the prior distribution</a:t>
            </a:r>
          </a:p>
          <a:p>
            <a:r>
              <a:rPr lang="en-GB" dirty="0"/>
              <a:t>Conjugacy is a desirable attribute when solving Bayesian analytically.</a:t>
            </a:r>
          </a:p>
        </p:txBody>
      </p:sp>
      <p:sp>
        <p:nvSpPr>
          <p:cNvPr id="2" name="Slide Number Placeholder 1">
            <a:extLst>
              <a:ext uri="{FF2B5EF4-FFF2-40B4-BE49-F238E27FC236}">
                <a16:creationId xmlns:a16="http://schemas.microsoft.com/office/drawing/2014/main" id="{6E4EE860-F0C1-8208-FE7F-264A841330B0}"/>
              </a:ext>
            </a:extLst>
          </p:cNvPr>
          <p:cNvSpPr>
            <a:spLocks noGrp="1"/>
          </p:cNvSpPr>
          <p:nvPr>
            <p:ph type="sldNum" sz="quarter" idx="12"/>
          </p:nvPr>
        </p:nvSpPr>
        <p:spPr/>
        <p:txBody>
          <a:bodyPr/>
          <a:lstStyle/>
          <a:p>
            <a:fld id="{92E773D0-8039-41DE-9EAA-38744617136D}" type="slidenum">
              <a:rPr lang="en-GB" smtClean="0"/>
              <a:t>17</a:t>
            </a:fld>
            <a:endParaRPr lang="en-GB"/>
          </a:p>
        </p:txBody>
      </p:sp>
      <p:sp>
        <p:nvSpPr>
          <p:cNvPr id="9" name="Title 1">
            <a:extLst>
              <a:ext uri="{FF2B5EF4-FFF2-40B4-BE49-F238E27FC236}">
                <a16:creationId xmlns:a16="http://schemas.microsoft.com/office/drawing/2014/main" id="{9F920167-D326-3C93-C6C8-54C7A7CAFDC4}"/>
              </a:ext>
            </a:extLst>
          </p:cNvPr>
          <p:cNvSpPr txBox="1">
            <a:spLocks/>
          </p:cNvSpPr>
          <p:nvPr/>
        </p:nvSpPr>
        <p:spPr>
          <a:xfrm>
            <a:off x="485775" y="84137"/>
            <a:ext cx="6210300" cy="59690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chemeClr val="bg1"/>
                </a:solidFill>
                <a:latin typeface="+mn-lt"/>
              </a:rPr>
              <a:t>Prior distributions</a:t>
            </a:r>
          </a:p>
        </p:txBody>
      </p:sp>
    </p:spTree>
    <p:extLst>
      <p:ext uri="{BB962C8B-B14F-4D97-AF65-F5344CB8AC3E}">
        <p14:creationId xmlns:p14="http://schemas.microsoft.com/office/powerpoint/2010/main" val="315583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25051-318B-FC8D-004F-D6468C74E56D}"/>
              </a:ext>
            </a:extLst>
          </p:cNvPr>
          <p:cNvSpPr>
            <a:spLocks noGrp="1"/>
          </p:cNvSpPr>
          <p:nvPr>
            <p:ph type="title"/>
          </p:nvPr>
        </p:nvSpPr>
        <p:spPr>
          <a:xfrm>
            <a:off x="371683" y="34706"/>
            <a:ext cx="8524667" cy="646332"/>
          </a:xfrm>
        </p:spPr>
        <p:txBody>
          <a:bodyPr>
            <a:normAutofit fontScale="90000"/>
          </a:bodyPr>
          <a:lstStyle/>
          <a:p>
            <a:r>
              <a:rPr lang="en-GB" b="1" dirty="0">
                <a:solidFill>
                  <a:schemeClr val="bg1"/>
                </a:solidFill>
              </a:rPr>
              <a:t>Penalized complexity (PC) priors</a:t>
            </a:r>
          </a:p>
        </p:txBody>
      </p:sp>
      <p:sp>
        <p:nvSpPr>
          <p:cNvPr id="3" name="Content Placeholder 2">
            <a:extLst>
              <a:ext uri="{FF2B5EF4-FFF2-40B4-BE49-F238E27FC236}">
                <a16:creationId xmlns:a16="http://schemas.microsoft.com/office/drawing/2014/main" id="{F618B3A2-DB37-CD25-A47B-885A54992CBE}"/>
              </a:ext>
            </a:extLst>
          </p:cNvPr>
          <p:cNvSpPr>
            <a:spLocks noGrp="1"/>
          </p:cNvSpPr>
          <p:nvPr>
            <p:ph idx="1"/>
          </p:nvPr>
        </p:nvSpPr>
        <p:spPr>
          <a:xfrm>
            <a:off x="838200" y="1454346"/>
            <a:ext cx="10515600" cy="3949308"/>
          </a:xfrm>
        </p:spPr>
        <p:txBody>
          <a:bodyPr>
            <a:normAutofit lnSpcReduction="10000"/>
          </a:bodyPr>
          <a:lstStyle/>
          <a:p>
            <a:r>
              <a:rPr lang="en-GB" dirty="0"/>
              <a:t>Introduced by Simpson et al (2017)*, PC priors provide a principled way to construct informative, flexible priors by shrinking  a complex model toward a simpler, base model.</a:t>
            </a:r>
          </a:p>
          <a:p>
            <a:r>
              <a:rPr lang="en-GB" dirty="0"/>
              <a:t>PC priors </a:t>
            </a:r>
          </a:p>
          <a:p>
            <a:pPr lvl="1">
              <a:buFont typeface="Aptos" panose="020B0004020202020204" pitchFamily="34" charset="0"/>
              <a:buChar char="-"/>
            </a:pPr>
            <a:r>
              <a:rPr lang="en-GB" dirty="0"/>
              <a:t>define a base model representing the simplest plausible model. </a:t>
            </a:r>
          </a:p>
          <a:p>
            <a:pPr lvl="1">
              <a:buFont typeface="Aptos" panose="020B0004020202020204" pitchFamily="34" charset="0"/>
              <a:buChar char="-"/>
            </a:pPr>
            <a:r>
              <a:rPr lang="en-GB" dirty="0"/>
              <a:t>measure the complexity of a more flexible model using a distance (</a:t>
            </a:r>
            <a:r>
              <a:rPr lang="en-GB" dirty="0" err="1"/>
              <a:t>Kullback</a:t>
            </a:r>
            <a:r>
              <a:rPr lang="en-GB" dirty="0"/>
              <a:t>-Leibler distance) from the base model. </a:t>
            </a:r>
          </a:p>
          <a:p>
            <a:pPr lvl="1">
              <a:buFont typeface="Aptos" panose="020B0004020202020204" pitchFamily="34" charset="0"/>
              <a:buChar char="-"/>
            </a:pPr>
            <a:r>
              <a:rPr lang="en-GB" dirty="0"/>
              <a:t>assign a prior that penalizes increasing complexity, while allowing the data to support departure from the base model. </a:t>
            </a:r>
          </a:p>
          <a:p>
            <a:pPr lvl="1">
              <a:buFont typeface="Aptos" panose="020B0004020202020204" pitchFamily="34" charset="0"/>
              <a:buChar char="-"/>
            </a:pPr>
            <a:r>
              <a:rPr lang="en-GB" dirty="0"/>
              <a:t>the prior is typically calibrated through an interpretable probability statement. </a:t>
            </a:r>
          </a:p>
        </p:txBody>
      </p:sp>
      <p:sp>
        <p:nvSpPr>
          <p:cNvPr id="4" name="TextBox 3">
            <a:extLst>
              <a:ext uri="{FF2B5EF4-FFF2-40B4-BE49-F238E27FC236}">
                <a16:creationId xmlns:a16="http://schemas.microsoft.com/office/drawing/2014/main" id="{EEA3AAA6-025F-A0D4-0EF5-43284645549E}"/>
              </a:ext>
            </a:extLst>
          </p:cNvPr>
          <p:cNvSpPr txBox="1"/>
          <p:nvPr/>
        </p:nvSpPr>
        <p:spPr>
          <a:xfrm>
            <a:off x="624672" y="5853796"/>
            <a:ext cx="10942655" cy="646331"/>
          </a:xfrm>
          <a:prstGeom prst="rect">
            <a:avLst/>
          </a:prstGeom>
          <a:noFill/>
        </p:spPr>
        <p:txBody>
          <a:bodyPr wrap="square" rtlCol="0">
            <a:spAutoFit/>
          </a:bodyPr>
          <a:lstStyle/>
          <a:p>
            <a:r>
              <a:rPr lang="en-GB" dirty="0"/>
              <a:t>* Daniel Simpson, Håvard Rue, Andrea </a:t>
            </a:r>
            <a:r>
              <a:rPr lang="en-GB" dirty="0" err="1"/>
              <a:t>Riebler</a:t>
            </a:r>
            <a:r>
              <a:rPr lang="en-GB" dirty="0"/>
              <a:t>, Thiago G. Martins, Sigrunn H. </a:t>
            </a:r>
            <a:r>
              <a:rPr lang="en-GB" dirty="0" err="1"/>
              <a:t>Sørbye</a:t>
            </a:r>
            <a:r>
              <a:rPr lang="en-GB" dirty="0"/>
              <a:t> (2017). Penalising Model Component Complexity: A Principled, Practical Approach to Constructing Priors, Statist. Sci. 32(1), 1-28.</a:t>
            </a:r>
          </a:p>
        </p:txBody>
      </p:sp>
      <p:sp>
        <p:nvSpPr>
          <p:cNvPr id="5" name="Slide Number Placeholder 4">
            <a:extLst>
              <a:ext uri="{FF2B5EF4-FFF2-40B4-BE49-F238E27FC236}">
                <a16:creationId xmlns:a16="http://schemas.microsoft.com/office/drawing/2014/main" id="{049BB091-AF04-74F8-B506-178607F4E69E}"/>
              </a:ext>
            </a:extLst>
          </p:cNvPr>
          <p:cNvSpPr>
            <a:spLocks noGrp="1"/>
          </p:cNvSpPr>
          <p:nvPr>
            <p:ph type="sldNum" sz="quarter" idx="12"/>
          </p:nvPr>
        </p:nvSpPr>
        <p:spPr/>
        <p:txBody>
          <a:bodyPr/>
          <a:lstStyle/>
          <a:p>
            <a:fld id="{92E773D0-8039-41DE-9EAA-38744617136D}" type="slidenum">
              <a:rPr lang="en-GB" smtClean="0"/>
              <a:t>18</a:t>
            </a:fld>
            <a:endParaRPr lang="en-GB"/>
          </a:p>
        </p:txBody>
      </p:sp>
    </p:spTree>
    <p:extLst>
      <p:ext uri="{BB962C8B-B14F-4D97-AF65-F5344CB8AC3E}">
        <p14:creationId xmlns:p14="http://schemas.microsoft.com/office/powerpoint/2010/main" val="3154302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6159C4-6D90-768D-589F-96E10E8211BD}"/>
                  </a:ext>
                </a:extLst>
              </p:cNvPr>
              <p:cNvSpPr>
                <a:spLocks noGrp="1"/>
              </p:cNvSpPr>
              <p:nvPr>
                <p:ph idx="1"/>
              </p:nvPr>
            </p:nvSpPr>
            <p:spPr>
              <a:xfrm>
                <a:off x="712177" y="1218397"/>
                <a:ext cx="10767646" cy="5017303"/>
              </a:xfrm>
            </p:spPr>
            <p:txBody>
              <a:bodyPr>
                <a:normAutofit fontScale="92500" lnSpcReduction="10000"/>
              </a:bodyPr>
              <a:lstStyle/>
              <a:p>
                <a:pPr marL="0" indent="0">
                  <a:buNone/>
                </a:pPr>
                <a:r>
                  <a:rPr lang="en-GB" b="1" dirty="0"/>
                  <a:t>Example</a:t>
                </a:r>
                <a:r>
                  <a:rPr lang="en-GB" dirty="0"/>
                  <a:t>: Prior specification for an IID random effect</a:t>
                </a:r>
              </a:p>
              <a:p>
                <a:pPr marL="0" indent="0">
                  <a:buNone/>
                </a:pPr>
                <a:r>
                  <a:rPr lang="en-GB" dirty="0"/>
                  <a:t>Suppose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(0,</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2</m:t>
                        </m:r>
                      </m:sup>
                    </m:sSup>
                    <m:r>
                      <a:rPr lang="en-GB" b="0" i="1" smtClean="0">
                        <a:latin typeface="Cambria Math" panose="02040503050406030204" pitchFamily="18" charset="0"/>
                      </a:rPr>
                      <m:t>)</m:t>
                    </m:r>
                  </m:oMath>
                </a14:m>
                <a:r>
                  <a:rPr lang="en-GB" dirty="0"/>
                  <a:t> and the base model is </a:t>
                </a:r>
                <a14:m>
                  <m:oMath xmlns:m="http://schemas.openxmlformats.org/officeDocument/2006/math">
                    <m:r>
                      <a:rPr lang="en-GB" b="0" i="1" smtClean="0">
                        <a:latin typeface="Cambria Math" panose="02040503050406030204" pitchFamily="18" charset="0"/>
                      </a:rPr>
                      <m:t>𝜎</m:t>
                    </m:r>
                    <m:r>
                      <a:rPr lang="en-GB" b="0" i="1" smtClean="0">
                        <a:latin typeface="Cambria Math" panose="02040503050406030204" pitchFamily="18" charset="0"/>
                      </a:rPr>
                      <m:t>=0</m:t>
                    </m:r>
                  </m:oMath>
                </a14:m>
                <a:r>
                  <a:rPr lang="en-GB" dirty="0"/>
                  <a:t> (implying no random effect variation).</a:t>
                </a:r>
              </a:p>
              <a:p>
                <a:pPr marL="0" indent="0">
                  <a:buNone/>
                </a:pPr>
                <a:r>
                  <a:rPr lang="en-GB" dirty="0"/>
                  <a:t>A PC prior for </a:t>
                </a:r>
                <a14:m>
                  <m:oMath xmlns:m="http://schemas.openxmlformats.org/officeDocument/2006/math">
                    <m:r>
                      <a:rPr lang="en-GB" b="0" i="1" smtClean="0">
                        <a:latin typeface="Cambria Math" panose="02040503050406030204" pitchFamily="18" charset="0"/>
                      </a:rPr>
                      <m:t>𝜎</m:t>
                    </m:r>
                  </m:oMath>
                </a14:m>
                <a:r>
                  <a:rPr lang="en-GB" dirty="0"/>
                  <a:t> is an exponential distribution:</a:t>
                </a:r>
              </a:p>
              <a:p>
                <a:pPr marL="0" indent="0" algn="ctr">
                  <a:buNone/>
                </a:pP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𝜎</m:t>
                        </m:r>
                      </m:e>
                    </m:d>
                    <m:r>
                      <a:rPr lang="en-GB" b="0" i="1" smtClean="0">
                        <a:latin typeface="Cambria Math" panose="02040503050406030204" pitchFamily="18" charset="0"/>
                      </a:rPr>
                      <m:t>=</m:t>
                    </m:r>
                    <m:r>
                      <a:rPr lang="en-GB" b="0" i="1" smtClean="0">
                        <a:latin typeface="Cambria Math" panose="02040503050406030204" pitchFamily="18" charset="0"/>
                      </a:rPr>
                      <m:t>𝜆</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𝑒</m:t>
                        </m:r>
                      </m:e>
                      <m:sup>
                        <m:r>
                          <a:rPr lang="en-GB" b="0" i="1" smtClean="0">
                            <a:latin typeface="Cambria Math" panose="02040503050406030204" pitchFamily="18" charset="0"/>
                          </a:rPr>
                          <m:t>−</m:t>
                        </m:r>
                        <m:r>
                          <a:rPr lang="en-GB" b="0" i="1" smtClean="0">
                            <a:latin typeface="Cambria Math" panose="02040503050406030204" pitchFamily="18" charset="0"/>
                          </a:rPr>
                          <m:t>𝜆𝜎</m:t>
                        </m:r>
                      </m:sup>
                    </m:sSup>
                    <m:r>
                      <a:rPr lang="en-GB" b="0" i="1" smtClean="0">
                        <a:latin typeface="Cambria Math" panose="02040503050406030204" pitchFamily="18" charset="0"/>
                      </a:rPr>
                      <m:t>,  </m:t>
                    </m:r>
                    <m:r>
                      <a:rPr lang="en-GB" b="0" i="1" smtClean="0">
                        <a:latin typeface="Cambria Math" panose="02040503050406030204" pitchFamily="18" charset="0"/>
                      </a:rPr>
                      <m:t>𝜆</m:t>
                    </m:r>
                    <m:r>
                      <a:rPr lang="en-GB" b="0" i="1" smtClean="0">
                        <a:latin typeface="Cambria Math" panose="02040503050406030204" pitchFamily="18" charset="0"/>
                      </a:rPr>
                      <m:t>&gt;0</m:t>
                    </m:r>
                  </m:oMath>
                </a14:m>
                <a:r>
                  <a:rPr lang="en-GB" dirty="0"/>
                  <a:t>,</a:t>
                </a:r>
              </a:p>
              <a:p>
                <a:pPr marL="0" indent="0">
                  <a:buNone/>
                </a:pPr>
                <a:r>
                  <a:rPr lang="en-GB" dirty="0"/>
                  <a:t>which can be specified through the probability statement </a:t>
                </a:r>
              </a:p>
              <a:p>
                <a:pPr marL="0" indent="0" algn="ctr">
                  <a:buNone/>
                </a:pP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𝜎</m:t>
                        </m:r>
                        <m:r>
                          <a:rPr lang="en-GB" b="0" i="1" smtClean="0">
                            <a:latin typeface="Cambria Math" panose="02040503050406030204" pitchFamily="18" charset="0"/>
                          </a:rPr>
                          <m:t>&gt;</m:t>
                        </m:r>
                        <m:r>
                          <a:rPr lang="en-GB" b="0" i="1" smtClean="0">
                            <a:latin typeface="Cambria Math" panose="02040503050406030204" pitchFamily="18" charset="0"/>
                          </a:rPr>
                          <m:t>𝑎</m:t>
                        </m:r>
                        <m:r>
                          <a:rPr lang="en-GB" b="0" i="1" smtClean="0">
                            <a:latin typeface="Cambria Math" panose="02040503050406030204" pitchFamily="18" charset="0"/>
                          </a:rPr>
                          <m:t>=1</m:t>
                        </m:r>
                      </m:e>
                    </m:d>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=0.05</m:t>
                    </m:r>
                  </m:oMath>
                </a14:m>
                <a:r>
                  <a:rPr lang="en-GB" dirty="0"/>
                  <a:t>.</a:t>
                </a:r>
              </a:p>
              <a:p>
                <a:pPr marL="0" indent="0">
                  <a:buNone/>
                </a:pPr>
                <a:r>
                  <a:rPr lang="en-GB" dirty="0"/>
                  <a:t>(If </a:t>
                </a:r>
                <a14:m>
                  <m:oMath xmlns:m="http://schemas.openxmlformats.org/officeDocument/2006/math">
                    <m:r>
                      <a:rPr lang="en-GB" b="0" i="1" smtClean="0">
                        <a:latin typeface="Cambria Math" panose="02040503050406030204" pitchFamily="18" charset="0"/>
                      </a:rPr>
                      <m:t>𝜎</m:t>
                    </m:r>
                    <m:r>
                      <a:rPr lang="en-GB" b="0" i="1" smtClean="0">
                        <a:latin typeface="Cambria Math" panose="02040503050406030204" pitchFamily="18" charset="0"/>
                      </a:rPr>
                      <m:t>∼</m:t>
                    </m:r>
                    <m:r>
                      <m:rPr>
                        <m:sty m:val="p"/>
                      </m:rPr>
                      <a:rPr lang="en-GB" b="0" i="0" smtClean="0">
                        <a:latin typeface="Cambria Math" panose="02040503050406030204" pitchFamily="18" charset="0"/>
                      </a:rPr>
                      <m:t>Exp</m:t>
                    </m:r>
                    <m:d>
                      <m:dPr>
                        <m:ctrlPr>
                          <a:rPr lang="en-GB" b="0" i="1" smtClean="0">
                            <a:latin typeface="Cambria Math" panose="02040503050406030204" pitchFamily="18" charset="0"/>
                          </a:rPr>
                        </m:ctrlPr>
                      </m:dPr>
                      <m:e>
                        <m:r>
                          <a:rPr lang="en-GB" b="0" i="1" smtClean="0">
                            <a:latin typeface="Cambria Math" panose="02040503050406030204" pitchFamily="18" charset="0"/>
                          </a:rPr>
                          <m:t>𝜆</m:t>
                        </m:r>
                      </m:e>
                    </m:d>
                  </m:oMath>
                </a14:m>
                <a:r>
                  <a:rPr lang="en-GB" dirty="0"/>
                  <a:t>, </a:t>
                </a:r>
                <a14:m>
                  <m:oMath xmlns:m="http://schemas.openxmlformats.org/officeDocument/2006/math">
                    <m:r>
                      <m:rPr>
                        <m:sty m:val="p"/>
                      </m:rPr>
                      <a:rPr lang="en-GB" b="0" i="0" smtClean="0">
                        <a:latin typeface="Cambria Math" panose="02040503050406030204" pitchFamily="18" charset="0"/>
                      </a:rPr>
                      <m:t>E</m:t>
                    </m:r>
                    <m:d>
                      <m:dPr>
                        <m:ctrlPr>
                          <a:rPr lang="en-GB" b="0" i="1" smtClean="0">
                            <a:latin typeface="Cambria Math" panose="02040503050406030204" pitchFamily="18" charset="0"/>
                          </a:rPr>
                        </m:ctrlPr>
                      </m:dPr>
                      <m:e>
                        <m:r>
                          <a:rPr lang="en-GB" b="0" i="1" smtClean="0">
                            <a:latin typeface="Cambria Math" panose="02040503050406030204" pitchFamily="18" charset="0"/>
                          </a:rPr>
                          <m:t>𝜎</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𝜆</m:t>
                        </m:r>
                      </m:den>
                    </m:f>
                    <m:r>
                      <a:rPr lang="en-GB" b="0" i="1" smtClean="0">
                        <a:latin typeface="Cambria Math" panose="02040503050406030204" pitchFamily="18" charset="0"/>
                      </a:rPr>
                      <m:t>, </m:t>
                    </m:r>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𝜎</m:t>
                        </m:r>
                        <m:r>
                          <a:rPr lang="en-GB" b="0" i="1" smtClean="0">
                            <a:latin typeface="Cambria Math" panose="02040503050406030204" pitchFamily="18" charset="0"/>
                          </a:rPr>
                          <m:t>&gt;</m:t>
                        </m:r>
                        <m:r>
                          <a:rPr lang="en-GB" b="0" i="1" smtClean="0">
                            <a:latin typeface="Cambria Math" panose="02040503050406030204" pitchFamily="18" charset="0"/>
                          </a:rPr>
                          <m:t>𝑎</m:t>
                        </m:r>
                      </m:e>
                    </m:d>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𝑒</m:t>
                        </m:r>
                      </m:e>
                      <m:sup>
                        <m:r>
                          <a:rPr lang="en-GB" b="0" i="1" smtClean="0">
                            <a:latin typeface="Cambria Math" panose="02040503050406030204" pitchFamily="18" charset="0"/>
                          </a:rPr>
                          <m:t>−</m:t>
                        </m:r>
                        <m:r>
                          <a:rPr lang="en-GB" b="0" i="1" smtClean="0">
                            <a:latin typeface="Cambria Math" panose="02040503050406030204" pitchFamily="18" charset="0"/>
                          </a:rPr>
                          <m:t>𝜆</m:t>
                        </m:r>
                        <m:r>
                          <a:rPr lang="en-GB" b="0" i="1" smtClean="0">
                            <a:latin typeface="Cambria Math" panose="02040503050406030204" pitchFamily="18" charset="0"/>
                          </a:rPr>
                          <m:t>𝑎</m:t>
                        </m:r>
                      </m:sup>
                    </m:sSup>
                  </m:oMath>
                </a14:m>
                <a:r>
                  <a:rPr lang="en-GB" dirty="0"/>
                  <a:t> and for the prior above, </a:t>
                </a:r>
                <a14:m>
                  <m:oMath xmlns:m="http://schemas.openxmlformats.org/officeDocument/2006/math">
                    <m:r>
                      <a:rPr lang="en-GB" b="0" i="1" smtClean="0">
                        <a:latin typeface="Cambria Math" panose="02040503050406030204" pitchFamily="18" charset="0"/>
                      </a:rPr>
                      <m:t>𝜆</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m:t>
                        </m:r>
                        <m:r>
                          <m:rPr>
                            <m:sty m:val="p"/>
                          </m:rPr>
                          <a:rPr lang="en-GB" b="0" i="0" smtClean="0">
                            <a:latin typeface="Cambria Math" panose="02040503050406030204" pitchFamily="18" charset="0"/>
                          </a:rPr>
                          <m:t>log</m:t>
                        </m:r>
                        <m:r>
                          <a:rPr lang="en-GB" b="0" i="1" smtClean="0">
                            <a:latin typeface="Cambria Math" panose="02040503050406030204" pitchFamily="18" charset="0"/>
                          </a:rPr>
                          <m:t>⁡(0.05)</m:t>
                        </m:r>
                      </m:num>
                      <m:den>
                        <m:r>
                          <a:rPr lang="en-GB" b="0" i="1" smtClean="0">
                            <a:latin typeface="Cambria Math" panose="02040503050406030204" pitchFamily="18" charset="0"/>
                          </a:rPr>
                          <m:t>1</m:t>
                        </m:r>
                      </m:den>
                    </m:f>
                    <m:r>
                      <a:rPr lang="en-GB" b="0" i="1" smtClean="0">
                        <a:latin typeface="Cambria Math" panose="02040503050406030204" pitchFamily="18" charset="0"/>
                      </a:rPr>
                      <m:t>≈3.0</m:t>
                    </m:r>
                    <m:r>
                      <a:rPr lang="en-GB" b="0" i="0" smtClean="0">
                        <a:latin typeface="Cambria Math" panose="02040503050406030204" pitchFamily="18" charset="0"/>
                      </a:rPr>
                      <m:t>.</m:t>
                    </m:r>
                  </m:oMath>
                </a14:m>
                <a:r>
                  <a:rPr lang="en-GB" dirty="0"/>
                  <a:t> So, larger values of </a:t>
                </a:r>
                <a14:m>
                  <m:oMath xmlns:m="http://schemas.openxmlformats.org/officeDocument/2006/math">
                    <m:r>
                      <a:rPr lang="en-GB" b="0" i="1" smtClean="0">
                        <a:latin typeface="Cambria Math" panose="02040503050406030204" pitchFamily="18" charset="0"/>
                      </a:rPr>
                      <m:t>𝜆</m:t>
                    </m:r>
                  </m:oMath>
                </a14:m>
                <a:r>
                  <a:rPr lang="en-GB" dirty="0"/>
                  <a:t> make the exponential density decay faster, concentrating more mass near </a:t>
                </a:r>
                <a14:m>
                  <m:oMath xmlns:m="http://schemas.openxmlformats.org/officeDocument/2006/math">
                    <m:r>
                      <a:rPr lang="en-GB" b="0" i="1" smtClean="0">
                        <a:latin typeface="Cambria Math" panose="02040503050406030204" pitchFamily="18" charset="0"/>
                      </a:rPr>
                      <m:t>𝜎</m:t>
                    </m:r>
                    <m:r>
                      <a:rPr lang="en-GB" b="0" i="1" smtClean="0">
                        <a:latin typeface="Cambria Math" panose="02040503050406030204" pitchFamily="18" charset="0"/>
                      </a:rPr>
                      <m:t>=0</m:t>
                    </m:r>
                  </m:oMath>
                </a14:m>
                <a:r>
                  <a:rPr lang="en-GB" dirty="0"/>
                  <a:t>. </a:t>
                </a:r>
                <a:r>
                  <a:rPr lang="en-GB" dirty="0">
                    <a:solidFill>
                      <a:schemeClr val="tx2">
                        <a:lumMod val="75000"/>
                        <a:lumOff val="25000"/>
                      </a:schemeClr>
                    </a:solidFill>
                  </a:rPr>
                  <a:t>Choosing </a:t>
                </a:r>
                <a14:m>
                  <m:oMath xmlns:m="http://schemas.openxmlformats.org/officeDocument/2006/math">
                    <m:r>
                      <a:rPr lang="en-GB" b="0" i="1" smtClean="0">
                        <a:solidFill>
                          <a:schemeClr val="tx2">
                            <a:lumMod val="75000"/>
                            <a:lumOff val="25000"/>
                          </a:schemeClr>
                        </a:solidFill>
                        <a:latin typeface="Cambria Math" panose="02040503050406030204" pitchFamily="18" charset="0"/>
                      </a:rPr>
                      <m:t>𝛼</m:t>
                    </m:r>
                  </m:oMath>
                </a14:m>
                <a:r>
                  <a:rPr lang="en-GB" dirty="0">
                    <a:solidFill>
                      <a:schemeClr val="tx2">
                        <a:lumMod val="75000"/>
                        <a:lumOff val="25000"/>
                      </a:schemeClr>
                    </a:solidFill>
                  </a:rPr>
                  <a:t> to be small </a:t>
                </a:r>
                <a:r>
                  <a:rPr lang="en-GB" dirty="0"/>
                  <a:t>– </a:t>
                </a:r>
                <a:r>
                  <a:rPr lang="en-GB" dirty="0">
                    <a:solidFill>
                      <a:schemeClr val="tx2">
                        <a:lumMod val="75000"/>
                        <a:lumOff val="25000"/>
                      </a:schemeClr>
                    </a:solidFill>
                  </a:rPr>
                  <a:t>a tighter tail constraint</a:t>
                </a:r>
                <a:r>
                  <a:rPr lang="en-GB" dirty="0"/>
                  <a:t> – increases </a:t>
                </a:r>
                <a14:m>
                  <m:oMath xmlns:m="http://schemas.openxmlformats.org/officeDocument/2006/math">
                    <m:r>
                      <a:rPr lang="en-GB" b="0" i="1" smtClean="0">
                        <a:latin typeface="Cambria Math" panose="02040503050406030204" pitchFamily="18" charset="0"/>
                      </a:rPr>
                      <m:t>𝜆</m:t>
                    </m:r>
                  </m:oMath>
                </a14:m>
                <a:r>
                  <a:rPr lang="en-GB" dirty="0"/>
                  <a:t>, making the prior more concentrated near zero. Choosing </a:t>
                </a:r>
                <a14:m>
                  <m:oMath xmlns:m="http://schemas.openxmlformats.org/officeDocument/2006/math">
                    <m:r>
                      <a:rPr lang="en-GB" b="0" i="1" smtClean="0">
                        <a:latin typeface="Cambria Math" panose="02040503050406030204" pitchFamily="18" charset="0"/>
                      </a:rPr>
                      <m:t>𝑎</m:t>
                    </m:r>
                  </m:oMath>
                </a14:m>
                <a:r>
                  <a:rPr lang="en-GB" dirty="0"/>
                  <a:t> to be small also increases </a:t>
                </a:r>
                <a14:m>
                  <m:oMath xmlns:m="http://schemas.openxmlformats.org/officeDocument/2006/math">
                    <m:r>
                      <a:rPr lang="en-GB" b="0" i="1" smtClean="0">
                        <a:latin typeface="Cambria Math" panose="02040503050406030204" pitchFamily="18" charset="0"/>
                      </a:rPr>
                      <m:t>𝜆</m:t>
                    </m:r>
                  </m:oMath>
                </a14:m>
                <a:r>
                  <a:rPr lang="en-GB" dirty="0"/>
                  <a:t>.)</a:t>
                </a:r>
              </a:p>
              <a:p>
                <a:pPr marL="0" indent="0">
                  <a:buNone/>
                </a:pPr>
                <a:endParaRPr lang="en-GB" dirty="0"/>
              </a:p>
            </p:txBody>
          </p:sp>
        </mc:Choice>
        <mc:Fallback xmlns="">
          <p:sp>
            <p:nvSpPr>
              <p:cNvPr id="3" name="Content Placeholder 2">
                <a:extLst>
                  <a:ext uri="{FF2B5EF4-FFF2-40B4-BE49-F238E27FC236}">
                    <a16:creationId xmlns:a16="http://schemas.microsoft.com/office/drawing/2014/main" id="{FC6159C4-6D90-768D-589F-96E10E8211BD}"/>
                  </a:ext>
                </a:extLst>
              </p:cNvPr>
              <p:cNvSpPr>
                <a:spLocks noGrp="1" noRot="1" noChangeAspect="1" noMove="1" noResize="1" noEditPoints="1" noAdjustHandles="1" noChangeArrowheads="1" noChangeShapeType="1" noTextEdit="1"/>
              </p:cNvSpPr>
              <p:nvPr>
                <p:ph idx="1"/>
              </p:nvPr>
            </p:nvSpPr>
            <p:spPr>
              <a:xfrm>
                <a:off x="712177" y="1218397"/>
                <a:ext cx="10767646" cy="5017303"/>
              </a:xfrm>
              <a:blipFill>
                <a:blip r:embed="rId2"/>
                <a:stretch>
                  <a:fillRect l="-1019" t="-2430" b="-1944"/>
                </a:stretch>
              </a:blipFill>
            </p:spPr>
            <p:txBody>
              <a:bodyPr/>
              <a:lstStyle/>
              <a:p>
                <a:r>
                  <a:rPr lang="en-GB">
                    <a:noFill/>
                  </a:rPr>
                  <a:t> </a:t>
                </a:r>
              </a:p>
            </p:txBody>
          </p:sp>
        </mc:Fallback>
      </mc:AlternateContent>
      <p:sp>
        <p:nvSpPr>
          <p:cNvPr id="5" name="Slide Number Placeholder 4">
            <a:extLst>
              <a:ext uri="{FF2B5EF4-FFF2-40B4-BE49-F238E27FC236}">
                <a16:creationId xmlns:a16="http://schemas.microsoft.com/office/drawing/2014/main" id="{049AA1C7-11CE-EDF7-06B9-577D965D521D}"/>
              </a:ext>
            </a:extLst>
          </p:cNvPr>
          <p:cNvSpPr>
            <a:spLocks noGrp="1"/>
          </p:cNvSpPr>
          <p:nvPr>
            <p:ph type="sldNum" sz="quarter" idx="12"/>
          </p:nvPr>
        </p:nvSpPr>
        <p:spPr/>
        <p:txBody>
          <a:bodyPr/>
          <a:lstStyle/>
          <a:p>
            <a:fld id="{92E773D0-8039-41DE-9EAA-38744617136D}" type="slidenum">
              <a:rPr lang="en-GB" smtClean="0"/>
              <a:t>19</a:t>
            </a:fld>
            <a:endParaRPr lang="en-GB" dirty="0"/>
          </a:p>
        </p:txBody>
      </p:sp>
      <p:sp>
        <p:nvSpPr>
          <p:cNvPr id="8" name="Title 1">
            <a:extLst>
              <a:ext uri="{FF2B5EF4-FFF2-40B4-BE49-F238E27FC236}">
                <a16:creationId xmlns:a16="http://schemas.microsoft.com/office/drawing/2014/main" id="{DC209DE9-A8C8-A8FB-9302-54AAFB4AAA43}"/>
              </a:ext>
            </a:extLst>
          </p:cNvPr>
          <p:cNvSpPr>
            <a:spLocks noGrp="1"/>
          </p:cNvSpPr>
          <p:nvPr>
            <p:ph type="title"/>
          </p:nvPr>
        </p:nvSpPr>
        <p:spPr>
          <a:xfrm>
            <a:off x="371683" y="34706"/>
            <a:ext cx="8524667" cy="646332"/>
          </a:xfrm>
        </p:spPr>
        <p:txBody>
          <a:bodyPr>
            <a:normAutofit fontScale="90000"/>
          </a:bodyPr>
          <a:lstStyle/>
          <a:p>
            <a:r>
              <a:rPr lang="en-GB" b="1" dirty="0">
                <a:solidFill>
                  <a:schemeClr val="bg1"/>
                </a:solidFill>
              </a:rPr>
              <a:t>Penalized complexity (PC) priors</a:t>
            </a:r>
          </a:p>
        </p:txBody>
      </p:sp>
    </p:spTree>
    <p:extLst>
      <p:ext uri="{BB962C8B-B14F-4D97-AF65-F5344CB8AC3E}">
        <p14:creationId xmlns:p14="http://schemas.microsoft.com/office/powerpoint/2010/main" val="1617162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4E090-609F-E1D4-86CB-2F34660493C8}"/>
              </a:ext>
            </a:extLst>
          </p:cNvPr>
          <p:cNvSpPr>
            <a:spLocks noGrp="1"/>
          </p:cNvSpPr>
          <p:nvPr>
            <p:ph type="title"/>
          </p:nvPr>
        </p:nvSpPr>
        <p:spPr>
          <a:xfrm>
            <a:off x="307258" y="52228"/>
            <a:ext cx="5788742" cy="611585"/>
          </a:xfrm>
        </p:spPr>
        <p:txBody>
          <a:bodyPr>
            <a:normAutofit fontScale="90000"/>
          </a:bodyPr>
          <a:lstStyle/>
          <a:p>
            <a:r>
              <a:rPr lang="en-GB" b="1" dirty="0">
                <a:solidFill>
                  <a:schemeClr val="bg1"/>
                </a:solidFill>
                <a:latin typeface="+mn-lt"/>
              </a:rPr>
              <a:t>Bayesian estimators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DC6F38B6-CA23-E17D-008E-F79C06BB3AFF}"/>
                  </a:ext>
                </a:extLst>
              </p:cNvPr>
              <p:cNvSpPr>
                <a:spLocks noGrp="1"/>
              </p:cNvSpPr>
              <p:nvPr>
                <p:ph idx="1"/>
              </p:nvPr>
            </p:nvSpPr>
            <p:spPr>
              <a:xfrm>
                <a:off x="762934" y="1148951"/>
                <a:ext cx="10515600" cy="5093229"/>
              </a:xfrm>
            </p:spPr>
            <p:txBody>
              <a:bodyPr>
                <a:normAutofit lnSpcReduction="10000"/>
              </a:bodyPr>
              <a:lstStyle/>
              <a:p>
                <a:r>
                  <a:rPr lang="en-GB" dirty="0"/>
                  <a:t>The posterior density </a:t>
                </a: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𝜃</m:t>
                        </m:r>
                      </m:e>
                      <m:e>
                        <m:r>
                          <a:rPr lang="en-GB" b="1" i="1" smtClean="0">
                            <a:latin typeface="Cambria Math" panose="02040503050406030204" pitchFamily="18" charset="0"/>
                          </a:rPr>
                          <m:t>𝒚</m:t>
                        </m:r>
                        <m:r>
                          <a:rPr lang="en-GB" b="0" i="1" smtClean="0">
                            <a:latin typeface="Cambria Math" panose="02040503050406030204" pitchFamily="18" charset="0"/>
                          </a:rPr>
                          <m:t> </m:t>
                        </m:r>
                      </m:e>
                    </m:d>
                  </m:oMath>
                </a14:m>
                <a:r>
                  <a:rPr lang="en-GB" dirty="0"/>
                  <a:t> describes our uncertainty about the unknown parameter </a:t>
                </a:r>
                <a14:m>
                  <m:oMath xmlns:m="http://schemas.openxmlformats.org/officeDocument/2006/math">
                    <m:r>
                      <a:rPr lang="en-GB" b="0" i="1" smtClean="0">
                        <a:latin typeface="Cambria Math" panose="02040503050406030204" pitchFamily="18" charset="0"/>
                      </a:rPr>
                      <m:t>𝜃</m:t>
                    </m:r>
                  </m:oMath>
                </a14:m>
                <a:r>
                  <a:rPr lang="en-GB" dirty="0"/>
                  <a:t>, after observing the data </a:t>
                </a:r>
                <a14:m>
                  <m:oMath xmlns:m="http://schemas.openxmlformats.org/officeDocument/2006/math">
                    <m:r>
                      <a:rPr lang="en-GB" b="1" i="1" smtClean="0">
                        <a:latin typeface="Cambria Math" panose="02040503050406030204" pitchFamily="18" charset="0"/>
                      </a:rPr>
                      <m:t>𝒚</m:t>
                    </m:r>
                  </m:oMath>
                </a14:m>
                <a:r>
                  <a:rPr lang="en-GB" dirty="0"/>
                  <a:t>. </a:t>
                </a:r>
                <a:r>
                  <a:rPr lang="en-GB" b="1" dirty="0"/>
                  <a:t> </a:t>
                </a:r>
              </a:p>
              <a:p>
                <a:r>
                  <a:rPr lang="en-GB" dirty="0"/>
                  <a:t>Bayes estimators provide a mechanism to choose a reasonable estimator </a:t>
                </a:r>
                <a14:m>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𝜃</m:t>
                        </m:r>
                      </m:e>
                    </m:acc>
                  </m:oMath>
                </a14:m>
                <a:endParaRPr lang="en-GB" b="1" dirty="0"/>
              </a:p>
              <a:p>
                <a:r>
                  <a:rPr lang="en-GB" dirty="0"/>
                  <a:t>A Bayes estimator is the value of the parameter that minimizes the </a:t>
                </a:r>
                <a:r>
                  <a:rPr lang="en-GB" b="1" dirty="0"/>
                  <a:t>posterior expected loss</a:t>
                </a:r>
                <a:r>
                  <a:rPr lang="en-GB" dirty="0"/>
                  <a:t>. That is,</a:t>
                </a:r>
              </a:p>
              <a:p>
                <a:pPr marL="0" indent="0">
                  <a:buNone/>
                </a:pPr>
                <a14:m>
                  <m:oMathPara xmlns:m="http://schemas.openxmlformats.org/officeDocument/2006/math">
                    <m:o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𝜃</m:t>
                          </m:r>
                        </m:e>
                      </m:acc>
                      <m:r>
                        <a:rPr lang="en-GB" b="0" i="1" smtClean="0">
                          <a:latin typeface="Cambria Math" panose="02040503050406030204" pitchFamily="18" charset="0"/>
                        </a:rPr>
                        <m:t>=</m:t>
                      </m:r>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argmin</m:t>
                          </m:r>
                        </m:e>
                        <m:sub>
                          <m:r>
                            <a:rPr lang="en-GB" b="0" i="1" smtClean="0">
                              <a:latin typeface="Cambria Math" panose="02040503050406030204" pitchFamily="18" charset="0"/>
                            </a:rPr>
                            <m:t>𝑎</m:t>
                          </m:r>
                        </m:sub>
                      </m:sSub>
                      <m:r>
                        <a:rPr lang="en-GB" b="0" i="1" smtClean="0">
                          <a:latin typeface="Cambria Math" panose="02040503050406030204" pitchFamily="18" charset="0"/>
                        </a:rPr>
                        <m:t> </m:t>
                      </m:r>
                      <m:r>
                        <a:rPr lang="en-GB" b="0" i="1" smtClean="0">
                          <a:latin typeface="Cambria Math" panose="02040503050406030204" pitchFamily="18" charset="0"/>
                        </a:rPr>
                        <m:t>𝐸</m:t>
                      </m:r>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𝐿</m:t>
                          </m:r>
                          <m:d>
                            <m:dPr>
                              <m:ctrlPr>
                                <a:rPr lang="en-GB" b="0" i="1" smtClean="0">
                                  <a:latin typeface="Cambria Math" panose="02040503050406030204" pitchFamily="18" charset="0"/>
                                </a:rPr>
                              </m:ctrlPr>
                            </m:dPr>
                            <m:e>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𝜃</m:t>
                              </m:r>
                            </m:e>
                          </m:d>
                          <m:r>
                            <a:rPr lang="en-GB" b="0" i="1" smtClean="0">
                              <a:latin typeface="Cambria Math" panose="02040503050406030204" pitchFamily="18" charset="0"/>
                            </a:rPr>
                            <m:t>|</m:t>
                          </m:r>
                          <m:r>
                            <a:rPr lang="en-GB" b="1" i="1" smtClean="0">
                              <a:latin typeface="Cambria Math" panose="02040503050406030204" pitchFamily="18" charset="0"/>
                            </a:rPr>
                            <m:t>𝒚</m:t>
                          </m:r>
                        </m:e>
                      </m:d>
                    </m:oMath>
                  </m:oMathPara>
                </a14:m>
                <a:endParaRPr lang="en-GB" dirty="0"/>
              </a:p>
              <a:p>
                <a:pPr marL="0" indent="0">
                  <a:buNone/>
                </a:pPr>
                <a:endParaRPr lang="en-GB" dirty="0"/>
              </a:p>
              <a:p>
                <a:pPr marL="0" indent="0">
                  <a:buNone/>
                </a:pPr>
                <a:endParaRPr lang="en-GB" dirty="0"/>
              </a:p>
              <a:p>
                <a:endParaRPr lang="en-GB" dirty="0"/>
              </a:p>
              <a:p>
                <a:r>
                  <a:rPr lang="en-GB" dirty="0"/>
                  <a:t>The penalty may be measured by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𝜃</m:t>
                            </m:r>
                          </m:e>
                        </m:d>
                      </m:e>
                      <m:sup>
                        <m:r>
                          <a:rPr lang="en-GB" b="0" i="1" smtClean="0">
                            <a:latin typeface="Cambria Math" panose="02040503050406030204" pitchFamily="18" charset="0"/>
                          </a:rPr>
                          <m:t>2</m:t>
                        </m:r>
                      </m:sup>
                    </m:sSup>
                  </m:oMath>
                </a14:m>
                <a:r>
                  <a:rPr lang="en-GB" dirty="0"/>
                  <a:t> or </a:t>
                </a:r>
                <a14:m>
                  <m:oMath xmlns:m="http://schemas.openxmlformats.org/officeDocument/2006/math">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𝜃</m:t>
                        </m:r>
                      </m:e>
                    </m:d>
                  </m:oMath>
                </a14:m>
                <a:r>
                  <a:rPr lang="en-GB" dirty="0"/>
                  <a:t> or any other suitable function</a:t>
                </a:r>
              </a:p>
            </p:txBody>
          </p:sp>
        </mc:Choice>
        <mc:Fallback xmlns="">
          <p:sp>
            <p:nvSpPr>
              <p:cNvPr id="6" name="Content Placeholder 5">
                <a:extLst>
                  <a:ext uri="{FF2B5EF4-FFF2-40B4-BE49-F238E27FC236}">
                    <a16:creationId xmlns:a16="http://schemas.microsoft.com/office/drawing/2014/main" id="{DC6F38B6-CA23-E17D-008E-F79C06BB3AFF}"/>
                  </a:ext>
                </a:extLst>
              </p:cNvPr>
              <p:cNvSpPr>
                <a:spLocks noGrp="1" noRot="1" noChangeAspect="1" noMove="1" noResize="1" noEditPoints="1" noAdjustHandles="1" noChangeArrowheads="1" noChangeShapeType="1" noTextEdit="1"/>
              </p:cNvSpPr>
              <p:nvPr>
                <p:ph idx="1"/>
              </p:nvPr>
            </p:nvSpPr>
            <p:spPr>
              <a:xfrm>
                <a:off x="762934" y="1148951"/>
                <a:ext cx="10515600" cy="5093229"/>
              </a:xfrm>
              <a:blipFill>
                <a:blip r:embed="rId2"/>
                <a:stretch>
                  <a:fillRect l="-1043" t="-2632" r="-1449" b="-2153"/>
                </a:stretch>
              </a:blipFill>
            </p:spPr>
            <p:txBody>
              <a:bodyPr/>
              <a:lstStyle/>
              <a:p>
                <a:r>
                  <a:rPr lang="en-GB">
                    <a:noFill/>
                  </a:rPr>
                  <a:t> </a:t>
                </a:r>
              </a:p>
            </p:txBody>
          </p:sp>
        </mc:Fallback>
      </mc:AlternateContent>
      <p:cxnSp>
        <p:nvCxnSpPr>
          <p:cNvPr id="8" name="Straight Arrow Connector 7">
            <a:extLst>
              <a:ext uri="{FF2B5EF4-FFF2-40B4-BE49-F238E27FC236}">
                <a16:creationId xmlns:a16="http://schemas.microsoft.com/office/drawing/2014/main" id="{C4195C58-271F-28BD-5DCB-65D37D95AF07}"/>
              </a:ext>
            </a:extLst>
          </p:cNvPr>
          <p:cNvCxnSpPr/>
          <p:nvPr/>
        </p:nvCxnSpPr>
        <p:spPr>
          <a:xfrm flipH="1">
            <a:off x="5300849" y="3810165"/>
            <a:ext cx="1268361" cy="6980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2FF14F2-D902-F9A0-6352-6169CEFB968C}"/>
              </a:ext>
            </a:extLst>
          </p:cNvPr>
          <p:cNvSpPr txBox="1"/>
          <p:nvPr/>
        </p:nvSpPr>
        <p:spPr>
          <a:xfrm>
            <a:off x="4160307" y="4518088"/>
            <a:ext cx="2408903" cy="646331"/>
          </a:xfrm>
          <a:prstGeom prst="rect">
            <a:avLst/>
          </a:prstGeom>
          <a:noFill/>
        </p:spPr>
        <p:txBody>
          <a:bodyPr wrap="square" rtlCol="0">
            <a:spAutoFit/>
          </a:bodyPr>
          <a:lstStyle/>
          <a:p>
            <a:r>
              <a:rPr lang="en-GB" dirty="0"/>
              <a:t>Penalty we pay for estimating incorrectly</a:t>
            </a:r>
          </a:p>
        </p:txBody>
      </p:sp>
      <p:cxnSp>
        <p:nvCxnSpPr>
          <p:cNvPr id="10" name="Straight Arrow Connector 9">
            <a:extLst>
              <a:ext uri="{FF2B5EF4-FFF2-40B4-BE49-F238E27FC236}">
                <a16:creationId xmlns:a16="http://schemas.microsoft.com/office/drawing/2014/main" id="{156729AB-26F4-F7A4-80D6-0D468C6C7431}"/>
              </a:ext>
            </a:extLst>
          </p:cNvPr>
          <p:cNvCxnSpPr>
            <a:cxnSpLocks/>
          </p:cNvCxnSpPr>
          <p:nvPr/>
        </p:nvCxnSpPr>
        <p:spPr>
          <a:xfrm>
            <a:off x="7203390" y="3864242"/>
            <a:ext cx="201562" cy="3465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C537D05-EF96-F340-BAF8-660AD22640E2}"/>
              </a:ext>
            </a:extLst>
          </p:cNvPr>
          <p:cNvSpPr txBox="1"/>
          <p:nvPr/>
        </p:nvSpPr>
        <p:spPr>
          <a:xfrm>
            <a:off x="6569210" y="4190007"/>
            <a:ext cx="2664542" cy="646331"/>
          </a:xfrm>
          <a:prstGeom prst="rect">
            <a:avLst/>
          </a:prstGeom>
          <a:noFill/>
        </p:spPr>
        <p:txBody>
          <a:bodyPr wrap="square" rtlCol="0">
            <a:spAutoFit/>
          </a:bodyPr>
          <a:lstStyle/>
          <a:p>
            <a:r>
              <a:rPr lang="en-GB" dirty="0"/>
              <a:t>Our estimate of the true unknown parameter</a:t>
            </a:r>
          </a:p>
        </p:txBody>
      </p:sp>
      <p:sp>
        <p:nvSpPr>
          <p:cNvPr id="3" name="Slide Number Placeholder 2">
            <a:extLst>
              <a:ext uri="{FF2B5EF4-FFF2-40B4-BE49-F238E27FC236}">
                <a16:creationId xmlns:a16="http://schemas.microsoft.com/office/drawing/2014/main" id="{A1297178-DA0B-A58D-D057-23B236851731}"/>
              </a:ext>
            </a:extLst>
          </p:cNvPr>
          <p:cNvSpPr>
            <a:spLocks noGrp="1"/>
          </p:cNvSpPr>
          <p:nvPr>
            <p:ph type="sldNum" sz="quarter" idx="12"/>
          </p:nvPr>
        </p:nvSpPr>
        <p:spPr>
          <a:xfrm>
            <a:off x="8648700" y="6360410"/>
            <a:ext cx="2743200" cy="365125"/>
          </a:xfrm>
        </p:spPr>
        <p:txBody>
          <a:bodyPr/>
          <a:lstStyle/>
          <a:p>
            <a:fld id="{92E773D0-8039-41DE-9EAA-38744617136D}" type="slidenum">
              <a:rPr lang="en-GB" smtClean="0"/>
              <a:t>20</a:t>
            </a:fld>
            <a:endParaRPr lang="en-GB"/>
          </a:p>
        </p:txBody>
      </p:sp>
    </p:spTree>
    <p:extLst>
      <p:ext uri="{BB962C8B-B14F-4D97-AF65-F5344CB8AC3E}">
        <p14:creationId xmlns:p14="http://schemas.microsoft.com/office/powerpoint/2010/main" val="200878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8FC08F60-EC3C-E874-FB7A-30CFDD7A3968}"/>
                  </a:ext>
                </a:extLst>
              </p:cNvPr>
              <p:cNvGraphicFramePr>
                <a:graphicFrameLocks noGrp="1"/>
              </p:cNvGraphicFramePr>
              <p:nvPr>
                <p:extLst>
                  <p:ext uri="{D42A27DB-BD31-4B8C-83A1-F6EECF244321}">
                    <p14:modId xmlns:p14="http://schemas.microsoft.com/office/powerpoint/2010/main" val="4210199513"/>
                  </p:ext>
                </p:extLst>
              </p:nvPr>
            </p:nvGraphicFramePr>
            <p:xfrm>
              <a:off x="687255" y="1493489"/>
              <a:ext cx="9707715" cy="3558732"/>
            </p:xfrm>
            <a:graphic>
              <a:graphicData uri="http://schemas.openxmlformats.org/drawingml/2006/table">
                <a:tbl>
                  <a:tblPr firstRow="1" bandRow="1">
                    <a:tableStyleId>{5C22544A-7EE6-4342-B048-85BDC9FD1C3A}</a:tableStyleId>
                  </a:tblPr>
                  <a:tblGrid>
                    <a:gridCol w="3411793">
                      <a:extLst>
                        <a:ext uri="{9D8B030D-6E8A-4147-A177-3AD203B41FA5}">
                          <a16:colId xmlns:a16="http://schemas.microsoft.com/office/drawing/2014/main" val="1378564729"/>
                        </a:ext>
                      </a:extLst>
                    </a:gridCol>
                    <a:gridCol w="3060017">
                      <a:extLst>
                        <a:ext uri="{9D8B030D-6E8A-4147-A177-3AD203B41FA5}">
                          <a16:colId xmlns:a16="http://schemas.microsoft.com/office/drawing/2014/main" val="3606575223"/>
                        </a:ext>
                      </a:extLst>
                    </a:gridCol>
                    <a:gridCol w="3235905">
                      <a:extLst>
                        <a:ext uri="{9D8B030D-6E8A-4147-A177-3AD203B41FA5}">
                          <a16:colId xmlns:a16="http://schemas.microsoft.com/office/drawing/2014/main" val="2630720745"/>
                        </a:ext>
                      </a:extLst>
                    </a:gridCol>
                  </a:tblGrid>
                  <a:tr h="370840">
                    <a:tc>
                      <a:txBody>
                        <a:bodyPr/>
                        <a:lstStyle/>
                        <a:p>
                          <a:pPr>
                            <a:lnSpc>
                              <a:spcPct val="115000"/>
                            </a:lnSpc>
                            <a:spcAft>
                              <a:spcPts val="800"/>
                            </a:spcAft>
                            <a:buNone/>
                          </a:pPr>
                          <a:r>
                            <a:rPr lang="en-GB" sz="2400" b="1" kern="100" dirty="0">
                              <a:effectLst/>
                              <a:latin typeface="Aptos" panose="020B0004020202020204" pitchFamily="34" charset="0"/>
                              <a:ea typeface="Aptos" panose="020B0004020202020204" pitchFamily="34" charset="0"/>
                              <a:cs typeface="Times New Roman" panose="02020603050405020304" pitchFamily="18" charset="0"/>
                            </a:rPr>
                            <a:t>Loss function</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2400" b="1" kern="100">
                              <a:effectLst/>
                              <a:latin typeface="Aptos" panose="020B0004020202020204" pitchFamily="34" charset="0"/>
                              <a:ea typeface="Aptos" panose="020B0004020202020204" pitchFamily="34" charset="0"/>
                              <a:cs typeface="Times New Roman" panose="02020603050405020304" pitchFamily="18" charset="0"/>
                            </a:rPr>
                            <a:t>Bayes estimator</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2400" b="1" kern="100">
                              <a:effectLst/>
                              <a:latin typeface="Aptos" panose="020B0004020202020204" pitchFamily="34" charset="0"/>
                              <a:ea typeface="Aptos" panose="020B0004020202020204" pitchFamily="34" charset="0"/>
                              <a:cs typeface="Times New Roman" panose="02020603050405020304" pitchFamily="18" charset="0"/>
                            </a:rPr>
                            <a:t>Interpretation</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45268671"/>
                      </a:ext>
                    </a:extLst>
                  </a:tr>
                  <a:tr h="370840">
                    <a:tc>
                      <a:txBody>
                        <a:bodyPr/>
                        <a:lstStyle/>
                        <a:p>
                          <a:pPr>
                            <a:lnSpc>
                              <a:spcPct val="115000"/>
                            </a:lnSpc>
                            <a:spcAft>
                              <a:spcPts val="800"/>
                            </a:spcAft>
                            <a:buNone/>
                          </a:pPr>
                          <a:r>
                            <a:rPr lang="en-GB" sz="2400" b="1" kern="100" dirty="0">
                              <a:effectLst/>
                              <a:latin typeface="Aptos" panose="020B0004020202020204" pitchFamily="34" charset="0"/>
                              <a:ea typeface="Aptos" panose="020B0004020202020204" pitchFamily="34" charset="0"/>
                              <a:cs typeface="Times New Roman" panose="02020603050405020304" pitchFamily="18" charset="0"/>
                            </a:rPr>
                            <a:t>Squared-error loss</a:t>
                          </a:r>
                          <a:r>
                            <a:rPr lang="en-GB" sz="2400" kern="100" dirty="0">
                              <a:effectLst/>
                              <a:latin typeface="Aptos" panose="020B0004020202020204" pitchFamily="34" charset="0"/>
                              <a:ea typeface="Aptos" panose="020B0004020202020204" pitchFamily="34" charset="0"/>
                              <a:cs typeface="Times New Roman" panose="02020603050405020304" pitchFamily="18" charset="0"/>
                            </a:rPr>
                            <a:t> </a:t>
                          </a:r>
                          <a14:m>
                            <m:oMath xmlns:m="http://schemas.openxmlformats.org/officeDocument/2006/math">
                              <m:r>
                                <a:rPr lang="en-GB" sz="2400" i="1" kern="100">
                                  <a:effectLst/>
                                  <a:latin typeface="Cambria Math" panose="02040503050406030204" pitchFamily="18" charset="0"/>
                                  <a:ea typeface="Aptos" panose="020B0004020202020204" pitchFamily="34" charset="0"/>
                                  <a:cs typeface="Times New Roman" panose="02020603050405020304" pitchFamily="18" charset="0"/>
                                </a:rPr>
                                <m:t>𝐿</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𝑎</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𝜃</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𝑎</m:t>
                                      </m:r>
                                      <m:r>
                                        <a:rPr lang="en-GB" sz="2400" i="1" kern="100">
                                          <a:effectLst/>
                                          <a:latin typeface="Cambria Math" panose="02040503050406030204" pitchFamily="18" charset="0"/>
                                          <a:ea typeface="Aptos" panose="020B0004020202020204" pitchFamily="34" charset="0"/>
                                          <a:cs typeface="Times New Roman" panose="02020603050405020304" pitchFamily="18" charset="0"/>
                                        </a:rPr>
                                        <m:t>−</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𝜃</m:t>
                                      </m:r>
                                    </m:e>
                                  </m:d>
                                </m:e>
                                <m:sup>
                                  <m:r>
                                    <a:rPr lang="en-GB" sz="2400" i="1" kern="100">
                                      <a:effectLst/>
                                      <a:latin typeface="Cambria Math" panose="02040503050406030204" pitchFamily="18" charset="0"/>
                                      <a:ea typeface="Aptos" panose="020B0004020202020204" pitchFamily="34" charset="0"/>
                                      <a:cs typeface="Times New Roman" panose="02020603050405020304" pitchFamily="18" charset="0"/>
                                    </a:rPr>
                                    <m:t>2</m:t>
                                  </m:r>
                                </m:sup>
                              </m:sSup>
                            </m:oMath>
                          </a14:m>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2400" b="1" kern="100" dirty="0">
                              <a:effectLst/>
                              <a:latin typeface="Aptos" panose="020B0004020202020204" pitchFamily="34" charset="0"/>
                              <a:ea typeface="Aptos" panose="020B0004020202020204" pitchFamily="34" charset="0"/>
                              <a:cs typeface="Times New Roman" panose="02020603050405020304" pitchFamily="18" charset="0"/>
                            </a:rPr>
                            <a:t>Posterior mean</a:t>
                          </a:r>
                          <a:r>
                            <a:rPr lang="en-GB" sz="2400" kern="100" dirty="0">
                              <a:effectLst/>
                              <a:latin typeface="Aptos" panose="020B0004020202020204" pitchFamily="34" charset="0"/>
                              <a:ea typeface="Aptos" panose="020B0004020202020204" pitchFamily="34" charset="0"/>
                              <a:cs typeface="Times New Roman" panose="02020603050405020304" pitchFamily="18" charset="0"/>
                            </a:rPr>
                            <a:t> </a:t>
                          </a:r>
                          <a14:m>
                            <m:oMath xmlns:m="http://schemas.openxmlformats.org/officeDocument/2006/math">
                              <m:r>
                                <a:rPr lang="en-GB" sz="2400" i="1" kern="100">
                                  <a:effectLst/>
                                  <a:latin typeface="Cambria Math" panose="02040503050406030204" pitchFamily="18" charset="0"/>
                                  <a:ea typeface="Aptos" panose="020B0004020202020204" pitchFamily="34" charset="0"/>
                                  <a:cs typeface="Times New Roman" panose="02020603050405020304" pitchFamily="18" charset="0"/>
                                </a:rPr>
                                <m:t>𝐸</m:t>
                              </m:r>
                              <m:d>
                                <m:dPr>
                                  <m:begChr m:val="["/>
                                  <m:endChr m:val="]"/>
                                  <m:ctrlPr>
                                    <a:rPr lang="en-GB" sz="24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GB" sz="2400" i="1" kern="100">
                                      <a:effectLst/>
                                      <a:latin typeface="Cambria Math" panose="02040503050406030204" pitchFamily="18" charset="0"/>
                                      <a:ea typeface="Aptos" panose="020B0004020202020204" pitchFamily="34" charset="0"/>
                                      <a:cs typeface="Times New Roman" panose="02020603050405020304" pitchFamily="18" charset="0"/>
                                    </a:rPr>
                                    <m:t>𝜃</m:t>
                                  </m:r>
                                  <m:r>
                                    <a:rPr lang="en-GB" sz="2400" i="1" kern="100">
                                      <a:effectLst/>
                                      <a:latin typeface="Cambria Math" panose="02040503050406030204" pitchFamily="18" charset="0"/>
                                      <a:ea typeface="Aptos" panose="020B0004020202020204" pitchFamily="34" charset="0"/>
                                      <a:cs typeface="Times New Roman" panose="02020603050405020304" pitchFamily="18" charset="0"/>
                                    </a:rPr>
                                    <m:t>∣</m:t>
                                  </m:r>
                                  <m:r>
                                    <a:rPr lang="en-GB" sz="2400" i="1" kern="100">
                                      <a:effectLst/>
                                      <a:latin typeface="Cambria Math" panose="02040503050406030204" pitchFamily="18" charset="0"/>
                                      <a:ea typeface="Aptos" panose="020B0004020202020204" pitchFamily="34" charset="0"/>
                                      <a:cs typeface="Times New Roman" panose="02020603050405020304" pitchFamily="18" charset="0"/>
                                    </a:rPr>
                                    <m:t>𝑦</m:t>
                                  </m:r>
                                </m:e>
                              </m:d>
                            </m:oMath>
                          </a14:m>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2400" kern="100" dirty="0">
                              <a:effectLst/>
                              <a:latin typeface="Aptos" panose="020B0004020202020204" pitchFamily="34" charset="0"/>
                              <a:ea typeface="Aptos" panose="020B0004020202020204" pitchFamily="34" charset="0"/>
                              <a:cs typeface="Times New Roman" panose="02020603050405020304" pitchFamily="18" charset="0"/>
                            </a:rPr>
                            <a:t>Penalises large errors more heavily</a:t>
                          </a:r>
                        </a:p>
                      </a:txBody>
                      <a:tcPr marL="68580" marR="68580" marT="0" marB="0"/>
                    </a:tc>
                    <a:extLst>
                      <a:ext uri="{0D108BD9-81ED-4DB2-BD59-A6C34878D82A}">
                        <a16:rowId xmlns:a16="http://schemas.microsoft.com/office/drawing/2014/main" val="2057098515"/>
                      </a:ext>
                    </a:extLst>
                  </a:tr>
                  <a:tr h="370840">
                    <a:tc>
                      <a:txBody>
                        <a:bodyPr/>
                        <a:lstStyle/>
                        <a:p>
                          <a:pPr>
                            <a:lnSpc>
                              <a:spcPct val="115000"/>
                            </a:lnSpc>
                            <a:spcAft>
                              <a:spcPts val="800"/>
                            </a:spcAft>
                            <a:buNone/>
                          </a:pPr>
                          <a:r>
                            <a:rPr lang="en-GB" sz="2400" b="1" kern="100" dirty="0">
                              <a:effectLst/>
                              <a:latin typeface="Aptos" panose="020B0004020202020204" pitchFamily="34" charset="0"/>
                              <a:ea typeface="Aptos" panose="020B0004020202020204" pitchFamily="34" charset="0"/>
                              <a:cs typeface="Times New Roman" panose="02020603050405020304" pitchFamily="18" charset="0"/>
                            </a:rPr>
                            <a:t>Absolute-error loss</a:t>
                          </a:r>
                        </a:p>
                        <a:p>
                          <a:pPr>
                            <a:lnSpc>
                              <a:spcPct val="115000"/>
                            </a:lnSpc>
                            <a:spcAft>
                              <a:spcPts val="800"/>
                            </a:spcAft>
                            <a:buNone/>
                          </a:pPr>
                          <a14:m>
                            <m:oMath xmlns:m="http://schemas.openxmlformats.org/officeDocument/2006/math">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𝐿</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𝑎</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𝜃</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𝑎</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𝜃</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m:t>
                              </m:r>
                            </m:oMath>
                          </a14:m>
                          <a:r>
                            <a:rPr lang="en-GB" sz="2400" kern="100" dirty="0">
                              <a:effectLst/>
                              <a:latin typeface="Aptos" panose="020B0004020202020204" pitchFamily="34" charset="0"/>
                              <a:ea typeface="Aptos" panose="020B0004020202020204" pitchFamily="34" charset="0"/>
                              <a:cs typeface="Times New Roman" panose="02020603050405020304" pitchFamily="18" charset="0"/>
                            </a:rPr>
                            <a:t> </a:t>
                          </a:r>
                        </a:p>
                      </a:txBody>
                      <a:tcPr marL="68580" marR="68580" marT="0" marB="0"/>
                    </a:tc>
                    <a:tc>
                      <a:txBody>
                        <a:bodyPr/>
                        <a:lstStyle/>
                        <a:p>
                          <a:pPr>
                            <a:lnSpc>
                              <a:spcPct val="115000"/>
                            </a:lnSpc>
                            <a:spcAft>
                              <a:spcPts val="800"/>
                            </a:spcAft>
                            <a:buNone/>
                          </a:pPr>
                          <a:r>
                            <a:rPr lang="en-GB" sz="2400" kern="100" dirty="0">
                              <a:effectLst/>
                              <a:latin typeface="Aptos" panose="020B0004020202020204" pitchFamily="34" charset="0"/>
                              <a:ea typeface="Aptos" panose="020B0004020202020204" pitchFamily="34" charset="0"/>
                              <a:cs typeface="Times New Roman" panose="02020603050405020304" pitchFamily="18" charset="0"/>
                            </a:rPr>
                            <a:t>Posterior median</a:t>
                          </a:r>
                        </a:p>
                      </a:txBody>
                      <a:tcPr marL="68580" marR="68580" marT="0" marB="0"/>
                    </a:tc>
                    <a:tc>
                      <a:txBody>
                        <a:bodyPr/>
                        <a:lstStyle/>
                        <a:p>
                          <a:pPr>
                            <a:buNone/>
                          </a:pPr>
                          <a:r>
                            <a:rPr lang="en-GB" sz="2400" kern="100" dirty="0">
                              <a:effectLst/>
                              <a:latin typeface="Aptos" panose="020B0004020202020204" pitchFamily="34" charset="0"/>
                            </a:rPr>
                            <a:t>Errors are penalized proportional to their size</a:t>
                          </a:r>
                        </a:p>
                      </a:txBody>
                      <a:tcPr marL="68580" marR="68580" marT="0" marB="0"/>
                    </a:tc>
                    <a:extLst>
                      <a:ext uri="{0D108BD9-81ED-4DB2-BD59-A6C34878D82A}">
                        <a16:rowId xmlns:a16="http://schemas.microsoft.com/office/drawing/2014/main" val="1697851137"/>
                      </a:ext>
                    </a:extLst>
                  </a:tr>
                  <a:tr h="370840">
                    <a:tc>
                      <a:txBody>
                        <a:bodyPr/>
                        <a:lstStyle/>
                        <a:p>
                          <a:pPr>
                            <a:lnSpc>
                              <a:spcPct val="115000"/>
                            </a:lnSpc>
                            <a:spcAft>
                              <a:spcPts val="800"/>
                            </a:spcAft>
                            <a:buNone/>
                          </a:pPr>
                          <a:r>
                            <a:rPr lang="en-GB" sz="2400" b="1" kern="100" dirty="0">
                              <a:effectLst/>
                              <a:latin typeface="Aptos" panose="020B0004020202020204" pitchFamily="34" charset="0"/>
                              <a:ea typeface="Aptos" panose="020B0004020202020204" pitchFamily="34" charset="0"/>
                              <a:cs typeface="Times New Roman" panose="02020603050405020304" pitchFamily="18" charset="0"/>
                            </a:rPr>
                            <a:t>0–1 loss</a:t>
                          </a:r>
                          <a:r>
                            <a:rPr lang="en-GB" sz="2400" kern="100" dirty="0">
                              <a:effectLst/>
                              <a:latin typeface="Aptos" panose="020B0004020202020204" pitchFamily="34" charset="0"/>
                              <a:ea typeface="Aptos" panose="020B0004020202020204" pitchFamily="34" charset="0"/>
                              <a:cs typeface="Times New Roman" panose="02020603050405020304" pitchFamily="18" charset="0"/>
                            </a:rPr>
                            <a:t> </a:t>
                          </a:r>
                          <a:endParaRPr lang="en-GB" sz="2400" i="1" kern="100" dirty="0">
                            <a:effectLst/>
                            <a:latin typeface="Cambria Math" panose="02040503050406030204" pitchFamily="18" charset="0"/>
                            <a:ea typeface="Aptos" panose="020B0004020202020204" pitchFamily="34" charset="0"/>
                            <a:cs typeface="Times New Roman" panose="02020603050405020304" pitchFamily="18" charset="0"/>
                          </a:endParaRPr>
                        </a:p>
                        <a:p>
                          <a:pPr>
                            <a:lnSpc>
                              <a:spcPct val="115000"/>
                            </a:lnSpc>
                            <a:spcAft>
                              <a:spcPts val="800"/>
                            </a:spcAft>
                            <a:buNone/>
                          </a:pPr>
                          <a14:m>
                            <m:oMathPara xmlns:m="http://schemas.openxmlformats.org/officeDocument/2006/math">
                              <m:oMath>
                                <m:r>
                                  <a:rPr lang="en-GB" sz="2400" i="1" kern="100">
                                    <a:effectLst/>
                                    <a:latin typeface="Cambria Math" panose="02040503050406030204" pitchFamily="18" charset="0"/>
                                    <a:ea typeface="Aptos" panose="020B0004020202020204" pitchFamily="34" charset="0"/>
                                    <a:cs typeface="Times New Roman" panose="02020603050405020304" pitchFamily="18" charset="0"/>
                                  </a:rPr>
                                  <m:t>𝐿</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𝑎</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𝜃</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m:t>
                                </m:r>
                                <m:r>
                                  <a:rPr lang="en-GB" sz="2400" i="1" kern="100">
                                    <a:effectLst/>
                                    <a:latin typeface="Cambria Math" panose="02040503050406030204" pitchFamily="18" charset="0"/>
                                    <a:ea typeface="Aptos" panose="020B0004020202020204" pitchFamily="34" charset="0"/>
                                    <a:cs typeface="Times New Roman" panose="02020603050405020304" pitchFamily="18" charset="0"/>
                                  </a:rPr>
                                  <m:t>𝐼</m:t>
                                </m:r>
                                <m:d>
                                  <m:dPr>
                                    <m:ctrlP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𝑎</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𝜃</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|&gt;</m:t>
                                    </m:r>
                                    <m:r>
                                      <a:rPr lang="en-GB" sz="2400" b="0" i="1" kern="100" smtClean="0">
                                        <a:effectLst/>
                                        <a:latin typeface="Cambria Math" panose="02040503050406030204" pitchFamily="18" charset="0"/>
                                        <a:ea typeface="Aptos" panose="020B0004020202020204" pitchFamily="34" charset="0"/>
                                        <a:cs typeface="Times New Roman" panose="02020603050405020304" pitchFamily="18" charset="0"/>
                                      </a:rPr>
                                      <m:t>𝛿</m:t>
                                    </m:r>
                                  </m:e>
                                </m:d>
                              </m:oMath>
                            </m:oMathPara>
                          </a14:m>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2400" b="0" kern="100" dirty="0">
                              <a:effectLst/>
                              <a:latin typeface="Aptos" panose="020B0004020202020204" pitchFamily="34" charset="0"/>
                              <a:ea typeface="Aptos" panose="020B0004020202020204" pitchFamily="34" charset="0"/>
                              <a:cs typeface="Times New Roman" panose="02020603050405020304" pitchFamily="18" charset="0"/>
                            </a:rPr>
                            <a:t>Posterior mode</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2400" kern="100" dirty="0">
                              <a:effectLst/>
                              <a:latin typeface="Aptos" panose="020B0004020202020204" pitchFamily="34" charset="0"/>
                              <a:ea typeface="Aptos" panose="020B0004020202020204" pitchFamily="34" charset="0"/>
                              <a:cs typeface="Times New Roman" panose="02020603050405020304" pitchFamily="18" charset="0"/>
                            </a:rPr>
                            <a:t>Chooses the most probable value under the posterior</a:t>
                          </a:r>
                        </a:p>
                      </a:txBody>
                      <a:tcPr marL="68580" marR="68580" marT="0" marB="0"/>
                    </a:tc>
                    <a:extLst>
                      <a:ext uri="{0D108BD9-81ED-4DB2-BD59-A6C34878D82A}">
                        <a16:rowId xmlns:a16="http://schemas.microsoft.com/office/drawing/2014/main" val="1620603793"/>
                      </a:ext>
                    </a:extLst>
                  </a:tr>
                </a:tbl>
              </a:graphicData>
            </a:graphic>
          </p:graphicFrame>
        </mc:Choice>
        <mc:Fallback xmlns="">
          <p:graphicFrame>
            <p:nvGraphicFramePr>
              <p:cNvPr id="6" name="Table 5">
                <a:extLst>
                  <a:ext uri="{FF2B5EF4-FFF2-40B4-BE49-F238E27FC236}">
                    <a16:creationId xmlns:a16="http://schemas.microsoft.com/office/drawing/2014/main" id="{8FC08F60-EC3C-E874-FB7A-30CFDD7A3968}"/>
                  </a:ext>
                </a:extLst>
              </p:cNvPr>
              <p:cNvGraphicFramePr>
                <a:graphicFrameLocks noGrp="1"/>
              </p:cNvGraphicFramePr>
              <p:nvPr>
                <p:extLst>
                  <p:ext uri="{D42A27DB-BD31-4B8C-83A1-F6EECF244321}">
                    <p14:modId xmlns:p14="http://schemas.microsoft.com/office/powerpoint/2010/main" val="4210199513"/>
                  </p:ext>
                </p:extLst>
              </p:nvPr>
            </p:nvGraphicFramePr>
            <p:xfrm>
              <a:off x="687255" y="1493489"/>
              <a:ext cx="9707715" cy="3558732"/>
            </p:xfrm>
            <a:graphic>
              <a:graphicData uri="http://schemas.openxmlformats.org/drawingml/2006/table">
                <a:tbl>
                  <a:tblPr firstRow="1" bandRow="1">
                    <a:tableStyleId>{5C22544A-7EE6-4342-B048-85BDC9FD1C3A}</a:tableStyleId>
                  </a:tblPr>
                  <a:tblGrid>
                    <a:gridCol w="3411793">
                      <a:extLst>
                        <a:ext uri="{9D8B030D-6E8A-4147-A177-3AD203B41FA5}">
                          <a16:colId xmlns:a16="http://schemas.microsoft.com/office/drawing/2014/main" val="1378564729"/>
                        </a:ext>
                      </a:extLst>
                    </a:gridCol>
                    <a:gridCol w="3060017">
                      <a:extLst>
                        <a:ext uri="{9D8B030D-6E8A-4147-A177-3AD203B41FA5}">
                          <a16:colId xmlns:a16="http://schemas.microsoft.com/office/drawing/2014/main" val="3606575223"/>
                        </a:ext>
                      </a:extLst>
                    </a:gridCol>
                    <a:gridCol w="3235905">
                      <a:extLst>
                        <a:ext uri="{9D8B030D-6E8A-4147-A177-3AD203B41FA5}">
                          <a16:colId xmlns:a16="http://schemas.microsoft.com/office/drawing/2014/main" val="2630720745"/>
                        </a:ext>
                      </a:extLst>
                    </a:gridCol>
                  </a:tblGrid>
                  <a:tr h="399860">
                    <a:tc>
                      <a:txBody>
                        <a:bodyPr/>
                        <a:lstStyle/>
                        <a:p>
                          <a:pPr>
                            <a:lnSpc>
                              <a:spcPct val="115000"/>
                            </a:lnSpc>
                            <a:spcAft>
                              <a:spcPts val="800"/>
                            </a:spcAft>
                            <a:buNone/>
                          </a:pPr>
                          <a:r>
                            <a:rPr lang="en-GB" sz="2400" b="1" kern="100" dirty="0">
                              <a:effectLst/>
                              <a:latin typeface="Aptos" panose="020B0004020202020204" pitchFamily="34" charset="0"/>
                              <a:ea typeface="Aptos" panose="020B0004020202020204" pitchFamily="34" charset="0"/>
                              <a:cs typeface="Times New Roman" panose="02020603050405020304" pitchFamily="18" charset="0"/>
                            </a:rPr>
                            <a:t>Loss function</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2400" b="1" kern="100">
                              <a:effectLst/>
                              <a:latin typeface="Aptos" panose="020B0004020202020204" pitchFamily="34" charset="0"/>
                              <a:ea typeface="Aptos" panose="020B0004020202020204" pitchFamily="34" charset="0"/>
                              <a:cs typeface="Times New Roman" panose="02020603050405020304" pitchFamily="18" charset="0"/>
                            </a:rPr>
                            <a:t>Bayes estimator</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2400" b="1" kern="100">
                              <a:effectLst/>
                              <a:latin typeface="Aptos" panose="020B0004020202020204" pitchFamily="34" charset="0"/>
                              <a:ea typeface="Aptos" panose="020B0004020202020204" pitchFamily="34" charset="0"/>
                              <a:cs typeface="Times New Roman" panose="02020603050405020304" pitchFamily="18" charset="0"/>
                            </a:rPr>
                            <a:t>Interpretation</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45268671"/>
                      </a:ext>
                    </a:extLst>
                  </a:tr>
                  <a:tr h="820484">
                    <a:tc>
                      <a:txBody>
                        <a:bodyPr/>
                        <a:lstStyle/>
                        <a:p>
                          <a:endParaRPr lang="en-US"/>
                        </a:p>
                      </a:txBody>
                      <a:tcPr marL="68580" marR="68580" marT="0" marB="0">
                        <a:blipFill>
                          <a:blip r:embed="rId2"/>
                          <a:stretch>
                            <a:fillRect l="-179" t="-55556" r="-185357" b="-307407"/>
                          </a:stretch>
                        </a:blipFill>
                      </a:tcPr>
                    </a:tc>
                    <a:tc>
                      <a:txBody>
                        <a:bodyPr/>
                        <a:lstStyle/>
                        <a:p>
                          <a:endParaRPr lang="en-US"/>
                        </a:p>
                      </a:txBody>
                      <a:tcPr marL="68580" marR="68580" marT="0" marB="0">
                        <a:blipFill>
                          <a:blip r:embed="rId2"/>
                          <a:stretch>
                            <a:fillRect l="-111531" t="-55556" r="-106362" b="-307407"/>
                          </a:stretch>
                        </a:blipFill>
                      </a:tcPr>
                    </a:tc>
                    <a:tc>
                      <a:txBody>
                        <a:bodyPr/>
                        <a:lstStyle/>
                        <a:p>
                          <a:pPr>
                            <a:lnSpc>
                              <a:spcPct val="115000"/>
                            </a:lnSpc>
                            <a:spcAft>
                              <a:spcPts val="800"/>
                            </a:spcAft>
                            <a:buNone/>
                          </a:pPr>
                          <a:r>
                            <a:rPr lang="en-GB" sz="2400" kern="100" dirty="0">
                              <a:effectLst/>
                              <a:latin typeface="Aptos" panose="020B0004020202020204" pitchFamily="34" charset="0"/>
                              <a:ea typeface="Aptos" panose="020B0004020202020204" pitchFamily="34" charset="0"/>
                              <a:cs typeface="Times New Roman" panose="02020603050405020304" pitchFamily="18" charset="0"/>
                            </a:rPr>
                            <a:t>Penalises large errors more heavily</a:t>
                          </a:r>
                        </a:p>
                      </a:txBody>
                      <a:tcPr marL="68580" marR="68580" marT="0" marB="0"/>
                    </a:tc>
                    <a:extLst>
                      <a:ext uri="{0D108BD9-81ED-4DB2-BD59-A6C34878D82A}">
                        <a16:rowId xmlns:a16="http://schemas.microsoft.com/office/drawing/2014/main" val="2057098515"/>
                      </a:ext>
                    </a:extLst>
                  </a:tr>
                  <a:tr h="1097280">
                    <a:tc>
                      <a:txBody>
                        <a:bodyPr/>
                        <a:lstStyle/>
                        <a:p>
                          <a:endParaRPr lang="en-US"/>
                        </a:p>
                      </a:txBody>
                      <a:tcPr marL="68580" marR="68580" marT="0" marB="0">
                        <a:blipFill>
                          <a:blip r:embed="rId2"/>
                          <a:stretch>
                            <a:fillRect l="-179" t="-116667" r="-185357" b="-130556"/>
                          </a:stretch>
                        </a:blipFill>
                      </a:tcPr>
                    </a:tc>
                    <a:tc>
                      <a:txBody>
                        <a:bodyPr/>
                        <a:lstStyle/>
                        <a:p>
                          <a:pPr>
                            <a:lnSpc>
                              <a:spcPct val="115000"/>
                            </a:lnSpc>
                            <a:spcAft>
                              <a:spcPts val="800"/>
                            </a:spcAft>
                            <a:buNone/>
                          </a:pPr>
                          <a:r>
                            <a:rPr lang="en-GB" sz="2400" kern="100" dirty="0">
                              <a:effectLst/>
                              <a:latin typeface="Aptos" panose="020B0004020202020204" pitchFamily="34" charset="0"/>
                              <a:ea typeface="Aptos" panose="020B0004020202020204" pitchFamily="34" charset="0"/>
                              <a:cs typeface="Times New Roman" panose="02020603050405020304" pitchFamily="18" charset="0"/>
                            </a:rPr>
                            <a:t>Posterior median</a:t>
                          </a:r>
                        </a:p>
                      </a:txBody>
                      <a:tcPr marL="68580" marR="68580" marT="0" marB="0"/>
                    </a:tc>
                    <a:tc>
                      <a:txBody>
                        <a:bodyPr/>
                        <a:lstStyle/>
                        <a:p>
                          <a:pPr>
                            <a:buNone/>
                          </a:pPr>
                          <a:r>
                            <a:rPr lang="en-GB" sz="2400" kern="100" dirty="0">
                              <a:effectLst/>
                              <a:latin typeface="Aptos" panose="020B0004020202020204" pitchFamily="34" charset="0"/>
                            </a:rPr>
                            <a:t>Errors are penalized proportional to their size</a:t>
                          </a:r>
                        </a:p>
                      </a:txBody>
                      <a:tcPr marL="68580" marR="68580" marT="0" marB="0"/>
                    </a:tc>
                    <a:extLst>
                      <a:ext uri="{0D108BD9-81ED-4DB2-BD59-A6C34878D82A}">
                        <a16:rowId xmlns:a16="http://schemas.microsoft.com/office/drawing/2014/main" val="1697851137"/>
                      </a:ext>
                    </a:extLst>
                  </a:tr>
                  <a:tr h="1241108">
                    <a:tc>
                      <a:txBody>
                        <a:bodyPr/>
                        <a:lstStyle/>
                        <a:p>
                          <a:endParaRPr lang="en-US"/>
                        </a:p>
                      </a:txBody>
                      <a:tcPr marL="68580" marR="68580" marT="0" marB="0">
                        <a:blipFill>
                          <a:blip r:embed="rId2"/>
                          <a:stretch>
                            <a:fillRect l="-179" t="-191176" r="-185357" b="-15196"/>
                          </a:stretch>
                        </a:blipFill>
                      </a:tcPr>
                    </a:tc>
                    <a:tc>
                      <a:txBody>
                        <a:bodyPr/>
                        <a:lstStyle/>
                        <a:p>
                          <a:pPr>
                            <a:lnSpc>
                              <a:spcPct val="115000"/>
                            </a:lnSpc>
                            <a:spcAft>
                              <a:spcPts val="800"/>
                            </a:spcAft>
                            <a:buNone/>
                          </a:pPr>
                          <a:r>
                            <a:rPr lang="en-GB" sz="2400" b="0" kern="100" dirty="0">
                              <a:effectLst/>
                              <a:latin typeface="Aptos" panose="020B0004020202020204" pitchFamily="34" charset="0"/>
                              <a:ea typeface="Aptos" panose="020B0004020202020204" pitchFamily="34" charset="0"/>
                              <a:cs typeface="Times New Roman" panose="02020603050405020304" pitchFamily="18" charset="0"/>
                            </a:rPr>
                            <a:t>Posterior mode</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2400" kern="100" dirty="0">
                              <a:effectLst/>
                              <a:latin typeface="Aptos" panose="020B0004020202020204" pitchFamily="34" charset="0"/>
                              <a:ea typeface="Aptos" panose="020B0004020202020204" pitchFamily="34" charset="0"/>
                              <a:cs typeface="Times New Roman" panose="02020603050405020304" pitchFamily="18" charset="0"/>
                            </a:rPr>
                            <a:t>Chooses the most probable value under the posterior</a:t>
                          </a:r>
                        </a:p>
                      </a:txBody>
                      <a:tcPr marL="68580" marR="68580" marT="0" marB="0"/>
                    </a:tc>
                    <a:extLst>
                      <a:ext uri="{0D108BD9-81ED-4DB2-BD59-A6C34878D82A}">
                        <a16:rowId xmlns:a16="http://schemas.microsoft.com/office/drawing/2014/main" val="1620603793"/>
                      </a:ext>
                    </a:extLst>
                  </a:tr>
                </a:tbl>
              </a:graphicData>
            </a:graphic>
          </p:graphicFrame>
        </mc:Fallback>
      </mc:AlternateContent>
      <p:sp>
        <p:nvSpPr>
          <p:cNvPr id="7" name="TextBox 6">
            <a:extLst>
              <a:ext uri="{FF2B5EF4-FFF2-40B4-BE49-F238E27FC236}">
                <a16:creationId xmlns:a16="http://schemas.microsoft.com/office/drawing/2014/main" id="{B0EE175E-4448-B5F1-FDA6-9F141D65B590}"/>
              </a:ext>
            </a:extLst>
          </p:cNvPr>
          <p:cNvSpPr txBox="1"/>
          <p:nvPr/>
        </p:nvSpPr>
        <p:spPr>
          <a:xfrm>
            <a:off x="687255" y="5364511"/>
            <a:ext cx="10363200" cy="1200329"/>
          </a:xfrm>
          <a:prstGeom prst="rect">
            <a:avLst/>
          </a:prstGeom>
          <a:noFill/>
        </p:spPr>
        <p:txBody>
          <a:bodyPr wrap="square" rtlCol="0">
            <a:spAutoFit/>
          </a:bodyPr>
          <a:lstStyle/>
          <a:p>
            <a:pPr marL="285750" indent="-285750">
              <a:buFont typeface="Arial" panose="020B0604020202020204" pitchFamily="34" charset="0"/>
              <a:buChar char="•"/>
            </a:pPr>
            <a:r>
              <a:rPr lang="en-GB" sz="2400" dirty="0"/>
              <a:t>For a </a:t>
            </a:r>
            <a:r>
              <a:rPr lang="en-GB" sz="2400" b="1" dirty="0"/>
              <a:t>skewed posterior</a:t>
            </a:r>
            <a:r>
              <a:rPr lang="en-GB" sz="2400" dirty="0"/>
              <a:t>, the mean and median can differ substantially. </a:t>
            </a:r>
          </a:p>
          <a:p>
            <a:pPr marL="285750" indent="-285750">
              <a:buFont typeface="Arial" panose="020B0604020202020204" pitchFamily="34" charset="0"/>
              <a:buChar char="•"/>
            </a:pPr>
            <a:r>
              <a:rPr lang="en-GB" sz="2400" dirty="0"/>
              <a:t>The median is particularly useful when you want a point estimate that is relatively robust to extreme values in the posterior.</a:t>
            </a:r>
          </a:p>
        </p:txBody>
      </p:sp>
      <p:sp>
        <p:nvSpPr>
          <p:cNvPr id="2" name="Slide Number Placeholder 1">
            <a:extLst>
              <a:ext uri="{FF2B5EF4-FFF2-40B4-BE49-F238E27FC236}">
                <a16:creationId xmlns:a16="http://schemas.microsoft.com/office/drawing/2014/main" id="{ADC5E58B-85CD-4F2D-9DC7-503CBB760812}"/>
              </a:ext>
            </a:extLst>
          </p:cNvPr>
          <p:cNvSpPr>
            <a:spLocks noGrp="1"/>
          </p:cNvSpPr>
          <p:nvPr>
            <p:ph type="sldNum" sz="quarter" idx="12"/>
          </p:nvPr>
        </p:nvSpPr>
        <p:spPr/>
        <p:txBody>
          <a:bodyPr/>
          <a:lstStyle/>
          <a:p>
            <a:fld id="{92E773D0-8039-41DE-9EAA-38744617136D}" type="slidenum">
              <a:rPr lang="en-GB" smtClean="0"/>
              <a:t>21</a:t>
            </a:fld>
            <a:endParaRPr lang="en-GB"/>
          </a:p>
        </p:txBody>
      </p:sp>
      <p:sp>
        <p:nvSpPr>
          <p:cNvPr id="8" name="Title 1">
            <a:extLst>
              <a:ext uri="{FF2B5EF4-FFF2-40B4-BE49-F238E27FC236}">
                <a16:creationId xmlns:a16="http://schemas.microsoft.com/office/drawing/2014/main" id="{850AB4AA-D862-7D5F-C9A0-3283745019CC}"/>
              </a:ext>
            </a:extLst>
          </p:cNvPr>
          <p:cNvSpPr>
            <a:spLocks noGrp="1"/>
          </p:cNvSpPr>
          <p:nvPr>
            <p:ph type="title"/>
          </p:nvPr>
        </p:nvSpPr>
        <p:spPr>
          <a:xfrm>
            <a:off x="307258" y="52228"/>
            <a:ext cx="5788742" cy="611585"/>
          </a:xfrm>
        </p:spPr>
        <p:txBody>
          <a:bodyPr>
            <a:normAutofit fontScale="90000"/>
          </a:bodyPr>
          <a:lstStyle/>
          <a:p>
            <a:r>
              <a:rPr lang="en-GB" b="1" dirty="0">
                <a:solidFill>
                  <a:schemeClr val="bg1"/>
                </a:solidFill>
                <a:latin typeface="+mn-lt"/>
              </a:rPr>
              <a:t>Bayesian estimators</a:t>
            </a:r>
          </a:p>
        </p:txBody>
      </p:sp>
    </p:spTree>
    <p:extLst>
      <p:ext uri="{BB962C8B-B14F-4D97-AF65-F5344CB8AC3E}">
        <p14:creationId xmlns:p14="http://schemas.microsoft.com/office/powerpoint/2010/main" val="1557804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0FDA91-6129-1896-D006-3B385918A5CF}"/>
                  </a:ext>
                </a:extLst>
              </p:cNvPr>
              <p:cNvSpPr>
                <a:spLocks noGrp="1"/>
              </p:cNvSpPr>
              <p:nvPr>
                <p:ph idx="1"/>
              </p:nvPr>
            </p:nvSpPr>
            <p:spPr>
              <a:xfrm>
                <a:off x="641479" y="1163150"/>
                <a:ext cx="10909041" cy="5274971"/>
              </a:xfrm>
            </p:spPr>
            <p:txBody>
              <a:bodyPr>
                <a:normAutofit fontScale="92500" lnSpcReduction="20000"/>
              </a:bodyPr>
              <a:lstStyle/>
              <a:p>
                <a:pPr marL="0" indent="0">
                  <a:buNone/>
                </a:pPr>
                <a:r>
                  <a:rPr lang="en-GB" b="1" dirty="0"/>
                  <a:t>Deviance based</a:t>
                </a:r>
                <a:r>
                  <a:rPr lang="en-GB" dirty="0"/>
                  <a:t>: </a:t>
                </a:r>
              </a:p>
              <a:p>
                <a:pPr marL="0" indent="0">
                  <a:buNone/>
                </a:pPr>
                <a:r>
                  <a:rPr lang="en-GB" dirty="0"/>
                  <a:t>Let </a:t>
                </a:r>
                <a14:m>
                  <m:oMath xmlns:m="http://schemas.openxmlformats.org/officeDocument/2006/math">
                    <m:r>
                      <a:rPr lang="en-GB" i="1">
                        <a:latin typeface="Cambria Math" panose="02040503050406030204" pitchFamily="18" charset="0"/>
                      </a:rPr>
                      <m:t>𝐷</m:t>
                    </m:r>
                    <m:d>
                      <m:dPr>
                        <m:ctrlPr>
                          <a:rPr lang="en-GB" b="1" i="1">
                            <a:latin typeface="Cambria Math" panose="02040503050406030204" pitchFamily="18" charset="0"/>
                          </a:rPr>
                        </m:ctrlPr>
                      </m:dPr>
                      <m:e>
                        <m:r>
                          <a:rPr lang="en-GB" b="1" i="1">
                            <a:latin typeface="Cambria Math" panose="02040503050406030204" pitchFamily="18" charset="0"/>
                          </a:rPr>
                          <m:t>𝜽</m:t>
                        </m:r>
                      </m:e>
                    </m:d>
                    <m:r>
                      <a:rPr lang="en-GB" i="1">
                        <a:latin typeface="Cambria Math" panose="02040503050406030204" pitchFamily="18" charset="0"/>
                      </a:rPr>
                      <m:t>=−2</m:t>
                    </m:r>
                    <m:func>
                      <m:funcPr>
                        <m:ctrlPr>
                          <a:rPr lang="en-GB">
                            <a:latin typeface="Cambria Math" panose="02040503050406030204" pitchFamily="18" charset="0"/>
                          </a:rPr>
                        </m:ctrlPr>
                      </m:funcPr>
                      <m:fName>
                        <m:r>
                          <m:rPr>
                            <m:sty m:val="p"/>
                          </m:rPr>
                          <a:rPr lang="en-GB">
                            <a:latin typeface="Cambria Math" panose="02040503050406030204" pitchFamily="18" charset="0"/>
                          </a:rPr>
                          <m:t>log</m:t>
                        </m:r>
                      </m:fName>
                      <m:e>
                        <m:r>
                          <a:rPr lang="en-GB" i="1">
                            <a:latin typeface="Cambria Math" panose="02040503050406030204" pitchFamily="18" charset="0"/>
                          </a:rPr>
                          <m:t>𝑝</m:t>
                        </m:r>
                        <m:r>
                          <a:rPr lang="en-GB" i="1">
                            <a:latin typeface="Cambria Math" panose="02040503050406030204" pitchFamily="18" charset="0"/>
                          </a:rPr>
                          <m:t>(</m:t>
                        </m:r>
                      </m:e>
                    </m:func>
                    <m:r>
                      <a:rPr lang="en-GB" b="1" i="1">
                        <a:latin typeface="Cambria Math" panose="02040503050406030204" pitchFamily="18" charset="0"/>
                      </a:rPr>
                      <m:t>𝒚</m:t>
                    </m:r>
                    <m:d>
                      <m:dPr>
                        <m:begChr m:val="|"/>
                        <m:ctrlPr>
                          <a:rPr lang="en-GB" b="1" i="1">
                            <a:latin typeface="Cambria Math" panose="02040503050406030204" pitchFamily="18" charset="0"/>
                          </a:rPr>
                        </m:ctrlPr>
                      </m:dPr>
                      <m:e>
                        <m:r>
                          <a:rPr lang="en-GB" b="1" i="1">
                            <a:latin typeface="Cambria Math" panose="02040503050406030204" pitchFamily="18" charset="0"/>
                          </a:rPr>
                          <m:t>𝜽</m:t>
                        </m:r>
                      </m:e>
                    </m:d>
                  </m:oMath>
                </a14:m>
                <a:r>
                  <a:rPr lang="en-GB" dirty="0"/>
                  <a:t> denote the model deviance</a:t>
                </a:r>
              </a:p>
              <a:p>
                <a:r>
                  <a:rPr lang="en-GB" dirty="0"/>
                  <a:t>DIC</a:t>
                </a:r>
              </a:p>
              <a:p>
                <a:pPr marL="0" indent="0" algn="ctr">
                  <a:buNone/>
                </a:pPr>
                <a14:m>
                  <m:oMath xmlns:m="http://schemas.openxmlformats.org/officeDocument/2006/math">
                    <m:r>
                      <a:rPr lang="en-GB" b="0" i="1" smtClean="0">
                        <a:latin typeface="Cambria Math" panose="02040503050406030204" pitchFamily="18" charset="0"/>
                      </a:rPr>
                      <m:t>𝐷𝐼𝐶</m:t>
                    </m:r>
                    <m:r>
                      <a:rPr lang="en-GB" b="0" i="1" smtClean="0">
                        <a:latin typeface="Cambria Math" panose="02040503050406030204" pitchFamily="18" charset="0"/>
                      </a:rPr>
                      <m:t>=</m:t>
                    </m:r>
                    <m:r>
                      <a:rPr lang="en-GB" b="0" i="1" smtClean="0">
                        <a:latin typeface="Cambria Math" panose="02040503050406030204" pitchFamily="18" charset="0"/>
                      </a:rPr>
                      <m:t>𝐷</m:t>
                    </m:r>
                    <m:r>
                      <a:rPr lang="en-GB" b="0" i="1" smtClean="0">
                        <a:latin typeface="Cambria Math" panose="02040503050406030204" pitchFamily="18" charset="0"/>
                      </a:rPr>
                      <m:t>(</m:t>
                    </m:r>
                    <m:acc>
                      <m:accPr>
                        <m:chr m:val="̅"/>
                        <m:ctrlPr>
                          <a:rPr lang="en-GB" b="1" i="1">
                            <a:latin typeface="Cambria Math" panose="02040503050406030204" pitchFamily="18" charset="0"/>
                          </a:rPr>
                        </m:ctrlPr>
                      </m:accPr>
                      <m:e>
                        <m:r>
                          <a:rPr lang="en-GB" b="1" i="1">
                            <a:latin typeface="Cambria Math" panose="02040503050406030204" pitchFamily="18" charset="0"/>
                          </a:rPr>
                          <m:t>𝜽</m:t>
                        </m:r>
                      </m:e>
                    </m:acc>
                    <m:r>
                      <a:rPr lang="en-GB" b="0" i="1" smtClean="0">
                        <a:latin typeface="Cambria Math" panose="02040503050406030204" pitchFamily="18" charset="0"/>
                      </a:rPr>
                      <m:t>)+2</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𝐷</m:t>
                        </m:r>
                      </m:sub>
                    </m:sSub>
                    <m:r>
                      <a:rPr lang="en-GB" b="0" i="1" smtClean="0">
                        <a:latin typeface="Cambria Math" panose="02040503050406030204" pitchFamily="18" charset="0"/>
                      </a:rPr>
                      <m:t>,</m:t>
                    </m:r>
                  </m:oMath>
                </a14:m>
                <a:r>
                  <a:rPr lang="en-GB" b="0" dirty="0"/>
                  <a:t>   </a:t>
                </a:r>
                <a14:m>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𝑝</m:t>
                        </m:r>
                      </m:e>
                      <m:sub>
                        <m:r>
                          <a:rPr lang="en-GB" b="0" i="1" dirty="0" smtClean="0">
                            <a:latin typeface="Cambria Math" panose="02040503050406030204" pitchFamily="18" charset="0"/>
                          </a:rPr>
                          <m:t>𝐷</m:t>
                        </m:r>
                      </m:sub>
                    </m:sSub>
                    <m:r>
                      <a:rPr lang="en-GB" b="0" i="1" dirty="0" smtClean="0">
                        <a:latin typeface="Cambria Math" panose="02040503050406030204" pitchFamily="18" charset="0"/>
                      </a:rPr>
                      <m:t>=</m:t>
                    </m:r>
                    <m:acc>
                      <m:accPr>
                        <m:chr m:val="̅"/>
                        <m:ctrlPr>
                          <a:rPr lang="en-GB" i="1" dirty="0">
                            <a:latin typeface="Cambria Math" panose="02040503050406030204" pitchFamily="18" charset="0"/>
                          </a:rPr>
                        </m:ctrlPr>
                      </m:accPr>
                      <m:e>
                        <m:r>
                          <a:rPr lang="en-GB" i="1" dirty="0">
                            <a:latin typeface="Cambria Math" panose="02040503050406030204" pitchFamily="18" charset="0"/>
                          </a:rPr>
                          <m:t>𝐷</m:t>
                        </m:r>
                        <m:r>
                          <a:rPr lang="en-GB" i="1" dirty="0">
                            <a:latin typeface="Cambria Math" panose="02040503050406030204" pitchFamily="18" charset="0"/>
                          </a:rPr>
                          <m:t>(</m:t>
                        </m:r>
                        <m:r>
                          <a:rPr lang="en-GB" b="1" i="1" dirty="0">
                            <a:latin typeface="Cambria Math" panose="02040503050406030204" pitchFamily="18" charset="0"/>
                          </a:rPr>
                          <m:t>𝜽</m:t>
                        </m:r>
                        <m:r>
                          <a:rPr lang="en-GB" i="1" dirty="0">
                            <a:latin typeface="Cambria Math" panose="02040503050406030204" pitchFamily="18" charset="0"/>
                          </a:rPr>
                          <m:t>)</m:t>
                        </m:r>
                        <m:r>
                          <m:rPr>
                            <m:nor/>
                          </m:rPr>
                          <a:rPr lang="en-GB" i="0" dirty="0"/>
                          <m:t> </m:t>
                        </m:r>
                      </m:e>
                    </m:acc>
                    <m:r>
                      <a:rPr lang="en-GB" b="0" i="1" dirty="0" smtClean="0">
                        <a:latin typeface="Cambria Math" panose="02040503050406030204" pitchFamily="18" charset="0"/>
                      </a:rPr>
                      <m:t>−</m:t>
                    </m:r>
                    <m:r>
                      <a:rPr lang="en-GB" b="0" i="1" dirty="0" smtClean="0">
                        <a:latin typeface="Cambria Math" panose="02040503050406030204" pitchFamily="18" charset="0"/>
                      </a:rPr>
                      <m:t>𝐷</m:t>
                    </m:r>
                    <m:r>
                      <a:rPr lang="en-GB" b="0" i="1" dirty="0" smtClean="0">
                        <a:latin typeface="Cambria Math" panose="02040503050406030204" pitchFamily="18" charset="0"/>
                      </a:rPr>
                      <m:t>(</m:t>
                    </m:r>
                    <m:acc>
                      <m:accPr>
                        <m:chr m:val="̅"/>
                        <m:ctrlPr>
                          <a:rPr lang="en-GB" b="1" i="1">
                            <a:latin typeface="Cambria Math" panose="02040503050406030204" pitchFamily="18" charset="0"/>
                          </a:rPr>
                        </m:ctrlPr>
                      </m:accPr>
                      <m:e>
                        <m:r>
                          <a:rPr lang="en-GB" b="1" i="1">
                            <a:latin typeface="Cambria Math" panose="02040503050406030204" pitchFamily="18" charset="0"/>
                          </a:rPr>
                          <m:t>𝜽</m:t>
                        </m:r>
                      </m:e>
                    </m:acc>
                    <m:r>
                      <a:rPr lang="en-GB" b="0" i="1" dirty="0" smtClean="0">
                        <a:latin typeface="Cambria Math" panose="02040503050406030204" pitchFamily="18" charset="0"/>
                      </a:rPr>
                      <m:t>)</m:t>
                    </m:r>
                  </m:oMath>
                </a14:m>
                <a:r>
                  <a:rPr lang="en-GB" dirty="0"/>
                  <a:t>,</a:t>
                </a:r>
              </a:p>
              <a:p>
                <a:pPr marL="0" indent="0">
                  <a:buNone/>
                </a:pPr>
                <a:r>
                  <a:rPr lang="en-GB" dirty="0"/>
                  <a:t>where </a:t>
                </a:r>
                <a14:m>
                  <m:oMath xmlns:m="http://schemas.openxmlformats.org/officeDocument/2006/math">
                    <m:acc>
                      <m:accPr>
                        <m:chr m:val="̅"/>
                        <m:ctrlPr>
                          <a:rPr lang="en-GB" b="1" i="1">
                            <a:latin typeface="Cambria Math" panose="02040503050406030204" pitchFamily="18" charset="0"/>
                          </a:rPr>
                        </m:ctrlPr>
                      </m:accPr>
                      <m:e>
                        <m:r>
                          <a:rPr lang="en-GB" b="1" i="1">
                            <a:latin typeface="Cambria Math" panose="02040503050406030204" pitchFamily="18" charset="0"/>
                          </a:rPr>
                          <m:t>𝜽</m:t>
                        </m:r>
                      </m:e>
                    </m:acc>
                    <m:r>
                      <a:rPr lang="en-GB" b="0" i="0" smtClean="0">
                        <a:latin typeface="Cambria Math" panose="02040503050406030204" pitchFamily="18" charset="0"/>
                      </a:rPr>
                      <m:t>=</m:t>
                    </m:r>
                    <m:r>
                      <m:rPr>
                        <m:sty m:val="p"/>
                      </m:rPr>
                      <a:rPr lang="en-GB" b="0" i="0" smtClean="0">
                        <a:latin typeface="Cambria Math" panose="02040503050406030204" pitchFamily="18" charset="0"/>
                      </a:rPr>
                      <m:t>E</m:t>
                    </m:r>
                    <m:r>
                      <a:rPr lang="en-GB" b="0" i="0" smtClean="0">
                        <a:latin typeface="Cambria Math" panose="02040503050406030204" pitchFamily="18" charset="0"/>
                      </a:rPr>
                      <m:t>(</m:t>
                    </m:r>
                    <m:r>
                      <a:rPr lang="en-GB" b="1" i="1">
                        <a:latin typeface="Cambria Math" panose="02040503050406030204" pitchFamily="18" charset="0"/>
                      </a:rPr>
                      <m:t>𝜽</m:t>
                    </m:r>
                    <m:r>
                      <a:rPr lang="en-GB" b="1" i="1" smtClean="0">
                        <a:latin typeface="Cambria Math" panose="02040503050406030204" pitchFamily="18" charset="0"/>
                      </a:rPr>
                      <m:t>|</m:t>
                    </m:r>
                    <m:r>
                      <a:rPr lang="en-GB" b="1" i="1">
                        <a:latin typeface="Cambria Math" panose="02040503050406030204" pitchFamily="18" charset="0"/>
                      </a:rPr>
                      <m:t>𝒚</m:t>
                    </m:r>
                    <m:r>
                      <a:rPr lang="en-GB" b="0" i="0" smtClean="0">
                        <a:latin typeface="Cambria Math" panose="02040503050406030204" pitchFamily="18" charset="0"/>
                      </a:rPr>
                      <m:t>)</m:t>
                    </m:r>
                  </m:oMath>
                </a14:m>
                <a:r>
                  <a:rPr lang="en-GB" b="0" dirty="0"/>
                  <a:t> is the posterior mean and </a:t>
                </a:r>
                <a14:m>
                  <m:oMath xmlns:m="http://schemas.openxmlformats.org/officeDocument/2006/math">
                    <m:acc>
                      <m:accPr>
                        <m:chr m:val="̅"/>
                        <m:ctrlPr>
                          <a:rPr lang="en-GB" i="1" dirty="0">
                            <a:latin typeface="Cambria Math" panose="02040503050406030204" pitchFamily="18" charset="0"/>
                          </a:rPr>
                        </m:ctrlPr>
                      </m:accPr>
                      <m:e>
                        <m:r>
                          <a:rPr lang="en-GB" i="1" dirty="0">
                            <a:latin typeface="Cambria Math" panose="02040503050406030204" pitchFamily="18" charset="0"/>
                          </a:rPr>
                          <m:t>𝐷</m:t>
                        </m:r>
                        <m:r>
                          <a:rPr lang="en-GB" i="1" dirty="0">
                            <a:latin typeface="Cambria Math" panose="02040503050406030204" pitchFamily="18" charset="0"/>
                          </a:rPr>
                          <m:t>(</m:t>
                        </m:r>
                        <m:r>
                          <a:rPr lang="en-GB" b="1" i="1" dirty="0">
                            <a:latin typeface="Cambria Math" panose="02040503050406030204" pitchFamily="18" charset="0"/>
                          </a:rPr>
                          <m:t>𝜽</m:t>
                        </m:r>
                        <m:r>
                          <a:rPr lang="en-GB" i="1" dirty="0">
                            <a:latin typeface="Cambria Math" panose="02040503050406030204" pitchFamily="18" charset="0"/>
                          </a:rPr>
                          <m:t>)</m:t>
                        </m:r>
                        <m:r>
                          <m:rPr>
                            <m:nor/>
                          </m:rPr>
                          <a:rPr lang="en-GB" i="0" dirty="0"/>
                          <m:t> </m:t>
                        </m:r>
                      </m:e>
                    </m:acc>
                  </m:oMath>
                </a14:m>
                <a:r>
                  <a:rPr lang="en-GB" b="0" dirty="0"/>
                  <a:t> is the posterior mean deviance.</a:t>
                </a:r>
              </a:p>
              <a:p>
                <a:pPr marL="0" indent="0">
                  <a:buNone/>
                </a:pPr>
                <a:endParaRPr lang="en-GB" dirty="0"/>
              </a:p>
              <a:p>
                <a:r>
                  <a:rPr lang="en-GB" dirty="0"/>
                  <a:t>WAIC</a:t>
                </a:r>
              </a:p>
              <a:p>
                <a:pPr marL="0" indent="0" algn="ctr">
                  <a:buNone/>
                </a:pPr>
                <a14:m>
                  <m:oMath xmlns:m="http://schemas.openxmlformats.org/officeDocument/2006/math">
                    <m:r>
                      <a:rPr lang="en-GB" b="0" i="1" smtClean="0">
                        <a:latin typeface="Cambria Math" panose="02040503050406030204" pitchFamily="18" charset="0"/>
                      </a:rPr>
                      <m:t>𝑊𝐴𝐼𝐶</m:t>
                    </m:r>
                    <m:r>
                      <a:rPr lang="en-GB" b="0" i="1" smtClean="0">
                        <a:latin typeface="Cambria Math" panose="02040503050406030204" pitchFamily="18" charset="0"/>
                      </a:rPr>
                      <m:t>=−2</m:t>
                    </m:r>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𝑖</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𝑛</m:t>
                        </m:r>
                      </m:sup>
                      <m:e>
                        <m:r>
                          <m:rPr>
                            <m:sty m:val="p"/>
                          </m:rPr>
                          <a:rPr lang="en-GB" b="0" i="0" smtClean="0">
                            <a:latin typeface="Cambria Math" panose="02040503050406030204" pitchFamily="18" charset="0"/>
                          </a:rPr>
                          <m:t>log</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𝐸</m:t>
                            </m:r>
                          </m:e>
                          <m:sub>
                            <m:r>
                              <a:rPr lang="en-GB" b="1" i="1" smtClean="0">
                                <a:latin typeface="Cambria Math" panose="02040503050406030204" pitchFamily="18" charset="0"/>
                              </a:rPr>
                              <m:t>𝜽</m:t>
                            </m:r>
                            <m:r>
                              <a:rPr lang="en-GB" b="1" i="1" smtClean="0">
                                <a:latin typeface="Cambria Math" panose="02040503050406030204" pitchFamily="18" charset="0"/>
                              </a:rPr>
                              <m:t>|</m:t>
                            </m:r>
                            <m:r>
                              <a:rPr lang="en-GB" b="1" i="1" smtClean="0">
                                <a:latin typeface="Cambria Math" panose="02040503050406030204" pitchFamily="18" charset="0"/>
                              </a:rPr>
                              <m:t>𝒚</m:t>
                            </m:r>
                          </m:sub>
                        </m:sSub>
                        <m:r>
                          <a:rPr lang="en-GB" b="0" i="1" smtClean="0">
                            <a:latin typeface="Cambria Math" panose="02040503050406030204" pitchFamily="18" charset="0"/>
                          </a:rPr>
                          <m:t>[</m:t>
                        </m:r>
                        <m:r>
                          <a:rPr lang="en-GB" b="0" i="1" smtClean="0">
                            <a:latin typeface="Cambria Math" panose="02040503050406030204" pitchFamily="18" charset="0"/>
                          </a:rPr>
                          <m:t>𝑝</m:t>
                        </m:r>
                        <m:d>
                          <m:dPr>
                            <m:endChr m:val="]"/>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1" i="1">
                                <a:latin typeface="Cambria Math" panose="02040503050406030204" pitchFamily="18" charset="0"/>
                              </a:rPr>
                              <m:t>𝜽</m:t>
                            </m:r>
                          </m:e>
                        </m:d>
                        <m:r>
                          <a:rPr lang="en-GB" b="0" i="1" smtClean="0">
                            <a:latin typeface="Cambria Math" panose="02040503050406030204" pitchFamily="18" charset="0"/>
                          </a:rPr>
                          <m:t>)</m:t>
                        </m:r>
                      </m:e>
                    </m:nary>
                    <m:r>
                      <a:rPr lang="en-GB" b="0" i="1" smtClean="0">
                        <a:latin typeface="Cambria Math" panose="02040503050406030204" pitchFamily="18" charset="0"/>
                      </a:rPr>
                      <m:t>+2</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𝑊𝐴𝐼𝐶</m:t>
                        </m:r>
                      </m:sub>
                    </m:sSub>
                  </m:oMath>
                </a14:m>
                <a:r>
                  <a:rPr lang="en-GB" b="0" dirty="0"/>
                  <a:t>,</a:t>
                </a:r>
              </a:p>
              <a:p>
                <a:pPr marL="0" indent="0">
                  <a:buNone/>
                </a:pPr>
                <a:r>
                  <a:rPr lang="en-GB" b="0"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𝑊𝐴𝐼𝐶</m:t>
                        </m:r>
                      </m:sub>
                    </m:sSub>
                    <m:r>
                      <a:rPr lang="en-GB" b="0" i="1" smtClean="0">
                        <a:latin typeface="Cambria Math" panose="02040503050406030204" pitchFamily="18" charset="0"/>
                      </a:rPr>
                      <m:t>=</m:t>
                    </m:r>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𝑖</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𝑛</m:t>
                        </m:r>
                      </m:sup>
                      <m:e>
                        <m:r>
                          <a:rPr lang="en-GB" b="0" i="1" smtClean="0">
                            <a:latin typeface="Cambria Math" panose="02040503050406030204" pitchFamily="18" charset="0"/>
                          </a:rPr>
                          <m:t>𝑉𝑎𝑟</m:t>
                        </m:r>
                        <m:r>
                          <a:rPr lang="en-GB" b="0" i="1" smtClean="0">
                            <a:latin typeface="Cambria Math" panose="02040503050406030204" pitchFamily="18" charset="0"/>
                          </a:rPr>
                          <m:t>[</m:t>
                        </m:r>
                        <m:func>
                          <m:funcPr>
                            <m:ctrlPr>
                              <a:rPr lang="en-GB" b="0" i="0" smtClean="0">
                                <a:latin typeface="Cambria Math" panose="02040503050406030204" pitchFamily="18" charset="0"/>
                              </a:rPr>
                            </m:ctrlPr>
                          </m:funcPr>
                          <m:fName>
                            <m:r>
                              <m:rPr>
                                <m:sty m:val="p"/>
                              </m:rPr>
                              <a:rPr lang="en-GB" b="0" i="0" smtClean="0">
                                <a:latin typeface="Cambria Math" panose="02040503050406030204" pitchFamily="18" charset="0"/>
                              </a:rPr>
                              <m:t>log</m:t>
                            </m:r>
                          </m:fName>
                          <m:e>
                            <m:r>
                              <a:rPr lang="en-GB" b="0" i="1" smtClean="0">
                                <a:latin typeface="Cambria Math" panose="02040503050406030204" pitchFamily="18" charset="0"/>
                              </a:rPr>
                              <m:t>𝑝</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e>
                        </m:func>
                        <m:r>
                          <a:rPr lang="en-GB" b="0" i="1" smtClean="0">
                            <a:latin typeface="Cambria Math" panose="02040503050406030204" pitchFamily="18" charset="0"/>
                          </a:rPr>
                          <m:t>]</m:t>
                        </m:r>
                      </m:e>
                    </m:nary>
                  </m:oMath>
                </a14:m>
                <a:r>
                  <a:rPr lang="en-GB" dirty="0"/>
                  <a:t> </a:t>
                </a:r>
              </a:p>
              <a:p>
                <a:pPr marL="0" indent="0">
                  <a:buNone/>
                </a:pPr>
                <a:r>
                  <a:rPr lang="en-GB" dirty="0"/>
                  <a:t>(Note: WAIC is computed pointwise over the full posterior distribution, not just at </a:t>
                </a:r>
                <a14:m>
                  <m:oMath xmlns:m="http://schemas.openxmlformats.org/officeDocument/2006/math">
                    <m:acc>
                      <m:accPr>
                        <m:chr m:val="̅"/>
                        <m:ctrlPr>
                          <a:rPr lang="en-GB" b="1" i="1">
                            <a:latin typeface="Cambria Math" panose="02040503050406030204" pitchFamily="18" charset="0"/>
                          </a:rPr>
                        </m:ctrlPr>
                      </m:accPr>
                      <m:e>
                        <m:r>
                          <a:rPr lang="en-GB" b="1" i="1">
                            <a:latin typeface="Cambria Math" panose="02040503050406030204" pitchFamily="18" charset="0"/>
                          </a:rPr>
                          <m:t>𝜽</m:t>
                        </m:r>
                      </m:e>
                    </m:acc>
                  </m:oMath>
                </a14:m>
                <a:r>
                  <a:rPr lang="en-GB" dirty="0"/>
                  <a:t> as in the DIC)</a:t>
                </a:r>
              </a:p>
              <a:p>
                <a:pPr marL="0" indent="0">
                  <a:buNone/>
                </a:pPr>
                <a:r>
                  <a:rPr lang="en-GB" b="1" dirty="0"/>
                  <a:t>Methods based on the predictive distribution</a:t>
                </a:r>
                <a:r>
                  <a:rPr lang="en-GB" dirty="0"/>
                  <a:t>: CPO; PIT</a:t>
                </a:r>
              </a:p>
              <a:p>
                <a:endParaRPr lang="en-GB" dirty="0"/>
              </a:p>
            </p:txBody>
          </p:sp>
        </mc:Choice>
        <mc:Fallback xmlns="">
          <p:sp>
            <p:nvSpPr>
              <p:cNvPr id="3" name="Content Placeholder 2">
                <a:extLst>
                  <a:ext uri="{FF2B5EF4-FFF2-40B4-BE49-F238E27FC236}">
                    <a16:creationId xmlns:a16="http://schemas.microsoft.com/office/drawing/2014/main" id="{E10FDA91-6129-1896-D006-3B385918A5CF}"/>
                  </a:ext>
                </a:extLst>
              </p:cNvPr>
              <p:cNvSpPr>
                <a:spLocks noGrp="1" noRot="1" noChangeAspect="1" noMove="1" noResize="1" noEditPoints="1" noAdjustHandles="1" noChangeArrowheads="1" noChangeShapeType="1" noTextEdit="1"/>
              </p:cNvSpPr>
              <p:nvPr>
                <p:ph idx="1"/>
              </p:nvPr>
            </p:nvSpPr>
            <p:spPr>
              <a:xfrm>
                <a:off x="641479" y="1163150"/>
                <a:ext cx="10909041" cy="5274971"/>
              </a:xfrm>
              <a:blipFill>
                <a:blip r:embed="rId2"/>
                <a:stretch>
                  <a:fillRect l="-1006" t="-2890"/>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F31081B6-624B-202E-55C0-534287460E74}"/>
              </a:ext>
            </a:extLst>
          </p:cNvPr>
          <p:cNvSpPr>
            <a:spLocks noGrp="1"/>
          </p:cNvSpPr>
          <p:nvPr>
            <p:ph type="sldNum" sz="quarter" idx="12"/>
          </p:nvPr>
        </p:nvSpPr>
        <p:spPr/>
        <p:txBody>
          <a:bodyPr/>
          <a:lstStyle/>
          <a:p>
            <a:fld id="{92E773D0-8039-41DE-9EAA-38744617136D}" type="slidenum">
              <a:rPr lang="en-GB" smtClean="0"/>
              <a:t>22</a:t>
            </a:fld>
            <a:endParaRPr lang="en-GB"/>
          </a:p>
        </p:txBody>
      </p:sp>
      <p:sp>
        <p:nvSpPr>
          <p:cNvPr id="7" name="Title 1">
            <a:extLst>
              <a:ext uri="{FF2B5EF4-FFF2-40B4-BE49-F238E27FC236}">
                <a16:creationId xmlns:a16="http://schemas.microsoft.com/office/drawing/2014/main" id="{8F4A6F82-7A0C-4023-08CA-ED1C022FD90B}"/>
              </a:ext>
            </a:extLst>
          </p:cNvPr>
          <p:cNvSpPr>
            <a:spLocks noGrp="1"/>
          </p:cNvSpPr>
          <p:nvPr>
            <p:ph type="title"/>
          </p:nvPr>
        </p:nvSpPr>
        <p:spPr>
          <a:xfrm>
            <a:off x="307258" y="52228"/>
            <a:ext cx="5788742" cy="611585"/>
          </a:xfrm>
        </p:spPr>
        <p:txBody>
          <a:bodyPr>
            <a:normAutofit fontScale="90000"/>
          </a:bodyPr>
          <a:lstStyle/>
          <a:p>
            <a:r>
              <a:rPr lang="en-GB" b="1" dirty="0">
                <a:solidFill>
                  <a:schemeClr val="bg1"/>
                </a:solidFill>
                <a:latin typeface="+mn-lt"/>
              </a:rPr>
              <a:t>Bayesian model choice</a:t>
            </a:r>
          </a:p>
        </p:txBody>
      </p:sp>
      <p:cxnSp>
        <p:nvCxnSpPr>
          <p:cNvPr id="9" name="Straight Arrow Connector 8">
            <a:extLst>
              <a:ext uri="{FF2B5EF4-FFF2-40B4-BE49-F238E27FC236}">
                <a16:creationId xmlns:a16="http://schemas.microsoft.com/office/drawing/2014/main" id="{78E1C4B3-B29A-9BED-6D03-CE01970BC75B}"/>
              </a:ext>
            </a:extLst>
          </p:cNvPr>
          <p:cNvCxnSpPr/>
          <p:nvPr/>
        </p:nvCxnSpPr>
        <p:spPr>
          <a:xfrm flipV="1">
            <a:off x="5579706" y="3993502"/>
            <a:ext cx="587829" cy="3638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DF196EB-CCFE-862C-09A2-5B7CC0B7B606}"/>
                  </a:ext>
                </a:extLst>
              </p:cNvPr>
              <p:cNvSpPr txBox="1"/>
              <p:nvPr/>
            </p:nvSpPr>
            <p:spPr>
              <a:xfrm>
                <a:off x="6008914" y="3769567"/>
                <a:ext cx="1035698" cy="369332"/>
              </a:xfrm>
              <a:prstGeom prst="rect">
                <a:avLst/>
              </a:prstGeom>
              <a:noFill/>
            </p:spPr>
            <p:txBody>
              <a:bodyPr wrap="square"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𝐷</m:t>
                          </m:r>
                        </m:e>
                        <m:sub>
                          <m:r>
                            <a:rPr lang="en-GB" b="0" i="1" smtClean="0">
                              <a:latin typeface="Cambria Math" panose="02040503050406030204" pitchFamily="18" charset="0"/>
                            </a:rPr>
                            <m:t>𝑊𝐴𝐼𝐶</m:t>
                          </m:r>
                        </m:sub>
                      </m:sSub>
                    </m:oMath>
                  </m:oMathPara>
                </a14:m>
                <a:endParaRPr lang="en-GB" dirty="0"/>
              </a:p>
            </p:txBody>
          </p:sp>
        </mc:Choice>
        <mc:Fallback xmlns="">
          <p:sp>
            <p:nvSpPr>
              <p:cNvPr id="10" name="TextBox 9">
                <a:extLst>
                  <a:ext uri="{FF2B5EF4-FFF2-40B4-BE49-F238E27FC236}">
                    <a16:creationId xmlns:a16="http://schemas.microsoft.com/office/drawing/2014/main" id="{8DF196EB-CCFE-862C-09A2-5B7CC0B7B606}"/>
                  </a:ext>
                </a:extLst>
              </p:cNvPr>
              <p:cNvSpPr txBox="1">
                <a:spLocks noRot="1" noChangeAspect="1" noMove="1" noResize="1" noEditPoints="1" noAdjustHandles="1" noChangeArrowheads="1" noChangeShapeType="1" noTextEdit="1"/>
              </p:cNvSpPr>
              <p:nvPr/>
            </p:nvSpPr>
            <p:spPr>
              <a:xfrm>
                <a:off x="6008914" y="3769567"/>
                <a:ext cx="1035698" cy="369332"/>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085718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738E2-6001-3C2A-695D-C2495A3738E2}"/>
              </a:ext>
            </a:extLst>
          </p:cNvPr>
          <p:cNvSpPr>
            <a:spLocks noGrp="1"/>
          </p:cNvSpPr>
          <p:nvPr>
            <p:ph type="title"/>
          </p:nvPr>
        </p:nvSpPr>
        <p:spPr>
          <a:xfrm>
            <a:off x="306355" y="0"/>
            <a:ext cx="10515600" cy="718458"/>
          </a:xfrm>
        </p:spPr>
        <p:txBody>
          <a:bodyPr>
            <a:normAutofit/>
          </a:bodyPr>
          <a:lstStyle/>
          <a:p>
            <a:r>
              <a:rPr lang="en-GB" sz="4000" b="1" dirty="0">
                <a:solidFill>
                  <a:schemeClr val="bg1"/>
                </a:solidFill>
                <a:latin typeface="+mn-lt"/>
              </a:rPr>
              <a:t>Key ingredients of Bayesian inference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9E3107-12C9-0501-671E-492E739B8C1D}"/>
                  </a:ext>
                </a:extLst>
              </p:cNvPr>
              <p:cNvSpPr>
                <a:spLocks noGrp="1"/>
              </p:cNvSpPr>
              <p:nvPr>
                <p:ph idx="1"/>
              </p:nvPr>
            </p:nvSpPr>
            <p:spPr>
              <a:xfrm>
                <a:off x="726233" y="1361735"/>
                <a:ext cx="10515600" cy="4351338"/>
              </a:xfrm>
            </p:spPr>
            <p:txBody>
              <a:bodyPr>
                <a:normAutofit lnSpcReduction="10000"/>
              </a:bodyPr>
              <a:lstStyle/>
              <a:p>
                <a:r>
                  <a:rPr lang="en-GB" dirty="0"/>
                  <a:t>Define the unknown quantity(</a:t>
                </a:r>
                <a:r>
                  <a:rPr lang="en-GB" dirty="0" err="1"/>
                  <a:t>ies</a:t>
                </a:r>
                <a:r>
                  <a:rPr lang="en-GB" dirty="0"/>
                  <a:t>) </a:t>
                </a:r>
                <a14:m>
                  <m:oMath xmlns:m="http://schemas.openxmlformats.org/officeDocument/2006/math">
                    <m:r>
                      <a:rPr lang="en-GB" b="0" i="0" smtClean="0">
                        <a:latin typeface="Cambria Math" panose="02040503050406030204" pitchFamily="18" charset="0"/>
                      </a:rPr>
                      <m:t>(</m:t>
                    </m:r>
                    <m:r>
                      <a:rPr lang="en-GB" b="1" i="1" smtClean="0">
                        <a:latin typeface="Cambria Math" panose="02040503050406030204" pitchFamily="18" charset="0"/>
                      </a:rPr>
                      <m:t>𝜽</m:t>
                    </m:r>
                  </m:oMath>
                </a14:m>
                <a:r>
                  <a:rPr lang="en-GB" dirty="0"/>
                  <a:t>) – Identify the parameter, hypothesis or latent variable you want to learn about. For example, probability that a child is vaccinated, disease risk or a set of regression coefficients</a:t>
                </a:r>
              </a:p>
              <a:p>
                <a:r>
                  <a:rPr lang="en-GB" dirty="0"/>
                  <a:t>Specify the likelihood – how the observe data arise conditional on the unknown parameter,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𝜃</m:t>
                    </m:r>
                    <m:r>
                      <a:rPr lang="en-GB" b="0" i="1" smtClean="0">
                        <a:latin typeface="Cambria Math" panose="02040503050406030204" pitchFamily="18" charset="0"/>
                      </a:rPr>
                      <m:t>∼</m:t>
                    </m:r>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𝜃</m:t>
                    </m:r>
                    <m:r>
                      <a:rPr lang="en-GB" b="0" i="1" smtClean="0">
                        <a:latin typeface="Cambria Math" panose="02040503050406030204" pitchFamily="18" charset="0"/>
                      </a:rPr>
                      <m:t>)</m:t>
                    </m:r>
                  </m:oMath>
                </a14:m>
                <a:endParaRPr lang="en-GB" dirty="0"/>
              </a:p>
              <a:p>
                <a:r>
                  <a:rPr lang="en-GB" dirty="0"/>
                  <a:t>Specify the prior distribution – what is known about </a:t>
                </a:r>
                <a14:m>
                  <m:oMath xmlns:m="http://schemas.openxmlformats.org/officeDocument/2006/math">
                    <m:r>
                      <a:rPr lang="en-GB" b="0" i="1" smtClean="0">
                        <a:latin typeface="Cambria Math" panose="02040503050406030204" pitchFamily="18" charset="0"/>
                      </a:rPr>
                      <m:t>𝜃</m:t>
                    </m:r>
                  </m:oMath>
                </a14:m>
                <a:r>
                  <a:rPr lang="en-GB" dirty="0"/>
                  <a:t> before seeing the current data </a:t>
                </a:r>
                <a14:m>
                  <m:oMath xmlns:m="http://schemas.openxmlformats.org/officeDocument/2006/math">
                    <m:r>
                      <a:rPr lang="en-GB" b="0" i="1" smtClean="0">
                        <a:latin typeface="Cambria Math" panose="02040503050406030204" pitchFamily="18" charset="0"/>
                      </a:rPr>
                      <m:t>𝜃</m:t>
                    </m:r>
                    <m:r>
                      <a:rPr lang="en-GB" b="0" i="1" smtClean="0">
                        <a:latin typeface="Cambria Math" panose="02040503050406030204" pitchFamily="18" charset="0"/>
                      </a:rPr>
                      <m:t>∼</m:t>
                    </m:r>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𝜃</m:t>
                    </m:r>
                    <m:r>
                      <a:rPr lang="en-GB" b="0" i="1" smtClean="0">
                        <a:latin typeface="Cambria Math" panose="02040503050406030204" pitchFamily="18" charset="0"/>
                      </a:rPr>
                      <m:t>)</m:t>
                    </m:r>
                  </m:oMath>
                </a14:m>
                <a:endParaRPr lang="en-GB" dirty="0"/>
              </a:p>
              <a:p>
                <a:r>
                  <a:rPr lang="en-GB" dirty="0"/>
                  <a:t>Apply Bayes’ theorem to combine the prior and data/likelihood, yielding the posterior distribution </a:t>
                </a: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𝜃</m:t>
                        </m:r>
                      </m:e>
                      <m:e>
                        <m:r>
                          <a:rPr lang="en-GB" b="0" i="1" smtClean="0">
                            <a:latin typeface="Cambria Math" panose="02040503050406030204" pitchFamily="18" charset="0"/>
                          </a:rPr>
                          <m:t>𝑦</m:t>
                        </m:r>
                      </m:e>
                    </m:d>
                    <m:r>
                      <a:rPr lang="en-GB" b="0" i="0"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𝜃</m:t>
                            </m:r>
                          </m:e>
                        </m:d>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𝜃</m:t>
                        </m:r>
                        <m:r>
                          <a:rPr lang="en-GB" b="0" i="1" smtClean="0">
                            <a:latin typeface="Cambria Math" panose="02040503050406030204" pitchFamily="18" charset="0"/>
                          </a:rPr>
                          <m:t>)</m:t>
                        </m:r>
                      </m:num>
                      <m:den>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𝑦</m:t>
                        </m:r>
                        <m:r>
                          <a:rPr lang="en-GB" b="0" i="1" smtClean="0">
                            <a:latin typeface="Cambria Math" panose="02040503050406030204" pitchFamily="18" charset="0"/>
                          </a:rPr>
                          <m:t>)</m:t>
                        </m:r>
                      </m:den>
                    </m:f>
                  </m:oMath>
                </a14:m>
                <a:endParaRPr lang="en-GB" dirty="0"/>
              </a:p>
            </p:txBody>
          </p:sp>
        </mc:Choice>
        <mc:Fallback xmlns="">
          <p:sp>
            <p:nvSpPr>
              <p:cNvPr id="3" name="Content Placeholder 2">
                <a:extLst>
                  <a:ext uri="{FF2B5EF4-FFF2-40B4-BE49-F238E27FC236}">
                    <a16:creationId xmlns:a16="http://schemas.microsoft.com/office/drawing/2014/main" id="{FF9E3107-12C9-0501-671E-492E739B8C1D}"/>
                  </a:ext>
                </a:extLst>
              </p:cNvPr>
              <p:cNvSpPr>
                <a:spLocks noGrp="1" noRot="1" noChangeAspect="1" noMove="1" noResize="1" noEditPoints="1" noAdjustHandles="1" noChangeArrowheads="1" noChangeShapeType="1" noTextEdit="1"/>
              </p:cNvSpPr>
              <p:nvPr>
                <p:ph idx="1"/>
              </p:nvPr>
            </p:nvSpPr>
            <p:spPr>
              <a:xfrm>
                <a:off x="726233" y="1361735"/>
                <a:ext cx="10515600" cy="4351338"/>
              </a:xfrm>
              <a:blipFill>
                <a:blip r:embed="rId2"/>
                <a:stretch>
                  <a:fillRect l="-1043" t="-3081" r="-464"/>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CD16A708-93E2-D3AE-E0B7-C3EEAD2E34B1}"/>
              </a:ext>
            </a:extLst>
          </p:cNvPr>
          <p:cNvSpPr>
            <a:spLocks noGrp="1"/>
          </p:cNvSpPr>
          <p:nvPr>
            <p:ph type="sldNum" sz="quarter" idx="12"/>
          </p:nvPr>
        </p:nvSpPr>
        <p:spPr/>
        <p:txBody>
          <a:bodyPr/>
          <a:lstStyle/>
          <a:p>
            <a:fld id="{92E773D0-8039-41DE-9EAA-38744617136D}" type="slidenum">
              <a:rPr lang="en-GB" smtClean="0"/>
              <a:t>23</a:t>
            </a:fld>
            <a:endParaRPr lang="en-GB"/>
          </a:p>
        </p:txBody>
      </p:sp>
    </p:spTree>
    <p:extLst>
      <p:ext uri="{BB962C8B-B14F-4D97-AF65-F5344CB8AC3E}">
        <p14:creationId xmlns:p14="http://schemas.microsoft.com/office/powerpoint/2010/main" val="42499135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91ED51-3632-E7C3-D235-2B499C7CC217}"/>
                  </a:ext>
                </a:extLst>
              </p:cNvPr>
              <p:cNvSpPr>
                <a:spLocks noGrp="1"/>
              </p:cNvSpPr>
              <p:nvPr>
                <p:ph idx="1"/>
              </p:nvPr>
            </p:nvSpPr>
            <p:spPr>
              <a:xfrm>
                <a:off x="838200" y="1588780"/>
                <a:ext cx="10515600" cy="3680440"/>
              </a:xfrm>
            </p:spPr>
            <p:txBody>
              <a:bodyPr>
                <a:normAutofit fontScale="92500"/>
              </a:bodyPr>
              <a:lstStyle/>
              <a:p>
                <a:r>
                  <a:rPr lang="en-GB" dirty="0"/>
                  <a:t>Summarise the posterior distribution to answer questions about </a:t>
                </a:r>
                <a14:m>
                  <m:oMath xmlns:m="http://schemas.openxmlformats.org/officeDocument/2006/math">
                    <m:r>
                      <a:rPr lang="en-GB" b="0" i="1" smtClean="0">
                        <a:latin typeface="Cambria Math" panose="02040503050406030204" pitchFamily="18" charset="0"/>
                      </a:rPr>
                      <m:t>𝜃</m:t>
                    </m:r>
                  </m:oMath>
                </a14:m>
                <a:r>
                  <a:rPr lang="en-GB" dirty="0"/>
                  <a:t>. For example, calculate</a:t>
                </a:r>
              </a:p>
              <a:p>
                <a:pPr lvl="1"/>
                <a:r>
                  <a:rPr lang="en-GB" dirty="0"/>
                  <a:t>The posterior mean or median</a:t>
                </a:r>
              </a:p>
              <a:p>
                <a:pPr lvl="1"/>
                <a:r>
                  <a:rPr lang="en-GB" dirty="0"/>
                  <a:t>The posterior standard deviation</a:t>
                </a:r>
              </a:p>
              <a:p>
                <a:pPr lvl="1"/>
                <a:r>
                  <a:rPr lang="en-GB" dirty="0"/>
                  <a:t>Credible intervals</a:t>
                </a:r>
              </a:p>
              <a:p>
                <a:pPr lvl="1"/>
                <a:r>
                  <a:rPr lang="en-GB" dirty="0"/>
                  <a:t>Exceedance probabilities </a:t>
                </a:r>
                <a14:m>
                  <m:oMath xmlns:m="http://schemas.openxmlformats.org/officeDocument/2006/math">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𝜃</m:t>
                    </m:r>
                    <m:r>
                      <a:rPr lang="en-GB" b="0" i="1" smtClean="0">
                        <a:latin typeface="Cambria Math" panose="02040503050406030204" pitchFamily="18" charset="0"/>
                      </a:rPr>
                      <m:t>&gt;</m:t>
                    </m:r>
                    <m:r>
                      <a:rPr lang="en-GB" b="0" i="1" smtClean="0">
                        <a:latin typeface="Cambria Math" panose="02040503050406030204" pitchFamily="18" charset="0"/>
                      </a:rPr>
                      <m:t>𝑐</m:t>
                    </m:r>
                    <m:r>
                      <a:rPr lang="en-GB" b="0" i="1" smtClean="0">
                        <a:latin typeface="Cambria Math" panose="02040503050406030204" pitchFamily="18" charset="0"/>
                      </a:rPr>
                      <m:t>|</m:t>
                    </m:r>
                    <m:r>
                      <a:rPr lang="en-GB" b="0" i="1" smtClean="0">
                        <a:latin typeface="Cambria Math" panose="02040503050406030204" pitchFamily="18" charset="0"/>
                      </a:rPr>
                      <m:t>𝑦</m:t>
                    </m:r>
                    <m:r>
                      <a:rPr lang="en-GB" b="0" i="1" smtClean="0">
                        <a:latin typeface="Cambria Math" panose="02040503050406030204" pitchFamily="18" charset="0"/>
                      </a:rPr>
                      <m:t>)</m:t>
                    </m:r>
                  </m:oMath>
                </a14:m>
                <a:endParaRPr lang="en-GB" b="0" dirty="0"/>
              </a:p>
              <a:p>
                <a:r>
                  <a:rPr lang="en-GB" dirty="0"/>
                  <a:t>Make predictions or decisions – use the posterior to make predictions about future or unobserved outcomes, or to support decisions. E.g., </a:t>
                </a: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𝑛𝑒𝑤</m:t>
                            </m:r>
                          </m:sub>
                        </m:sSub>
                      </m:e>
                      <m:e>
                        <m:r>
                          <a:rPr lang="en-GB" b="0" i="1" smtClean="0">
                            <a:latin typeface="Cambria Math" panose="02040503050406030204" pitchFamily="18" charset="0"/>
                          </a:rPr>
                          <m:t>𝑦</m:t>
                        </m:r>
                      </m:e>
                    </m:d>
                    <m:r>
                      <a:rPr lang="en-GB" b="0" i="1" smtClean="0">
                        <a:latin typeface="Cambria Math" panose="02040503050406030204" pitchFamily="18" charset="0"/>
                      </a:rPr>
                      <m:t>=∫</m:t>
                    </m:r>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𝑛𝑒𝑤</m:t>
                            </m:r>
                          </m:sub>
                        </m:sSub>
                      </m:e>
                      <m:e>
                        <m:r>
                          <a:rPr lang="en-GB" b="0" i="1" smtClean="0">
                            <a:latin typeface="Cambria Math" panose="02040503050406030204" pitchFamily="18" charset="0"/>
                          </a:rPr>
                          <m:t>𝜃</m:t>
                        </m:r>
                      </m:e>
                    </m:d>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𝜃</m:t>
                        </m:r>
                      </m:e>
                      <m:e>
                        <m:r>
                          <a:rPr lang="en-GB" b="0" i="1" smtClean="0">
                            <a:latin typeface="Cambria Math" panose="02040503050406030204" pitchFamily="18" charset="0"/>
                          </a:rPr>
                          <m:t>𝑦</m:t>
                        </m:r>
                      </m:e>
                    </m:d>
                    <m:r>
                      <a:rPr lang="en-GB" b="0" i="1" smtClean="0">
                        <a:latin typeface="Cambria Math" panose="02040503050406030204" pitchFamily="18" charset="0"/>
                      </a:rPr>
                      <m:t>𝑑</m:t>
                    </m:r>
                    <m:r>
                      <a:rPr lang="en-GB" b="0" i="1" smtClean="0">
                        <a:latin typeface="Cambria Math" panose="02040503050406030204" pitchFamily="18" charset="0"/>
                      </a:rPr>
                      <m:t>𝜃</m:t>
                    </m:r>
                  </m:oMath>
                </a14:m>
                <a:r>
                  <a:rPr lang="en-GB" b="0" dirty="0"/>
                  <a:t> (posterior predictive distribution)</a:t>
                </a:r>
              </a:p>
            </p:txBody>
          </p:sp>
        </mc:Choice>
        <mc:Fallback xmlns="">
          <p:sp>
            <p:nvSpPr>
              <p:cNvPr id="3" name="Content Placeholder 2">
                <a:extLst>
                  <a:ext uri="{FF2B5EF4-FFF2-40B4-BE49-F238E27FC236}">
                    <a16:creationId xmlns:a16="http://schemas.microsoft.com/office/drawing/2014/main" id="{1591ED51-3632-E7C3-D235-2B499C7CC217}"/>
                  </a:ext>
                </a:extLst>
              </p:cNvPr>
              <p:cNvSpPr>
                <a:spLocks noGrp="1" noRot="1" noChangeAspect="1" noMove="1" noResize="1" noEditPoints="1" noAdjustHandles="1" noChangeArrowheads="1" noChangeShapeType="1" noTextEdit="1"/>
              </p:cNvSpPr>
              <p:nvPr>
                <p:ph idx="1"/>
              </p:nvPr>
            </p:nvSpPr>
            <p:spPr>
              <a:xfrm>
                <a:off x="838200" y="1588780"/>
                <a:ext cx="10515600" cy="3680440"/>
              </a:xfrm>
              <a:blipFill>
                <a:blip r:embed="rId2"/>
                <a:stretch>
                  <a:fillRect l="-928" t="-2653" r="-232"/>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872B1A98-DEE0-5D29-35D6-BCFFECFFA395}"/>
              </a:ext>
            </a:extLst>
          </p:cNvPr>
          <p:cNvSpPr txBox="1"/>
          <p:nvPr/>
        </p:nvSpPr>
        <p:spPr>
          <a:xfrm>
            <a:off x="0" y="5754821"/>
            <a:ext cx="12192000" cy="384721"/>
          </a:xfrm>
          <a:prstGeom prst="rect">
            <a:avLst/>
          </a:prstGeom>
          <a:noFill/>
        </p:spPr>
        <p:txBody>
          <a:bodyPr wrap="square" rtlCol="0">
            <a:spAutoFit/>
          </a:bodyPr>
          <a:lstStyle/>
          <a:p>
            <a:pPr algn="ctr"/>
            <a:r>
              <a:rPr lang="en-GB" sz="1900" b="1" dirty="0"/>
              <a:t>1. Unknowns → 2. Prior → 3. Likelihood → 4. Bayes' theorem → 5. Posterior inference → 6. Prediction &amp; decisions</a:t>
            </a:r>
          </a:p>
        </p:txBody>
      </p:sp>
      <p:sp>
        <p:nvSpPr>
          <p:cNvPr id="2" name="Slide Number Placeholder 1">
            <a:extLst>
              <a:ext uri="{FF2B5EF4-FFF2-40B4-BE49-F238E27FC236}">
                <a16:creationId xmlns:a16="http://schemas.microsoft.com/office/drawing/2014/main" id="{8AAA514F-9204-7767-AFC4-6D8E3425400C}"/>
              </a:ext>
            </a:extLst>
          </p:cNvPr>
          <p:cNvSpPr>
            <a:spLocks noGrp="1"/>
          </p:cNvSpPr>
          <p:nvPr>
            <p:ph type="sldNum" sz="quarter" idx="12"/>
          </p:nvPr>
        </p:nvSpPr>
        <p:spPr/>
        <p:txBody>
          <a:bodyPr/>
          <a:lstStyle/>
          <a:p>
            <a:fld id="{92E773D0-8039-41DE-9EAA-38744617136D}" type="slidenum">
              <a:rPr lang="en-GB" smtClean="0"/>
              <a:t>24</a:t>
            </a:fld>
            <a:endParaRPr lang="en-GB"/>
          </a:p>
        </p:txBody>
      </p:sp>
      <p:sp>
        <p:nvSpPr>
          <p:cNvPr id="8" name="Title 1">
            <a:extLst>
              <a:ext uri="{FF2B5EF4-FFF2-40B4-BE49-F238E27FC236}">
                <a16:creationId xmlns:a16="http://schemas.microsoft.com/office/drawing/2014/main" id="{F880C25E-D6DE-45E1-ECAF-C522812BBDA5}"/>
              </a:ext>
            </a:extLst>
          </p:cNvPr>
          <p:cNvSpPr>
            <a:spLocks noGrp="1"/>
          </p:cNvSpPr>
          <p:nvPr>
            <p:ph type="title"/>
          </p:nvPr>
        </p:nvSpPr>
        <p:spPr>
          <a:xfrm>
            <a:off x="306355" y="0"/>
            <a:ext cx="10515600" cy="718458"/>
          </a:xfrm>
        </p:spPr>
        <p:txBody>
          <a:bodyPr>
            <a:normAutofit/>
          </a:bodyPr>
          <a:lstStyle/>
          <a:p>
            <a:r>
              <a:rPr lang="en-GB" sz="4000" b="1" dirty="0">
                <a:solidFill>
                  <a:schemeClr val="bg1"/>
                </a:solidFill>
                <a:latin typeface="+mn-lt"/>
              </a:rPr>
              <a:t>Key ingredients of Bayesian inference</a:t>
            </a:r>
          </a:p>
        </p:txBody>
      </p:sp>
    </p:spTree>
    <p:extLst>
      <p:ext uri="{BB962C8B-B14F-4D97-AF65-F5344CB8AC3E}">
        <p14:creationId xmlns:p14="http://schemas.microsoft.com/office/powerpoint/2010/main" val="544240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12B1F-460A-2911-6119-74D0439ECB31}"/>
              </a:ext>
            </a:extLst>
          </p:cNvPr>
          <p:cNvSpPr>
            <a:spLocks noGrp="1"/>
          </p:cNvSpPr>
          <p:nvPr>
            <p:ph type="title"/>
          </p:nvPr>
        </p:nvSpPr>
        <p:spPr>
          <a:xfrm>
            <a:off x="278364" y="41363"/>
            <a:ext cx="5817636" cy="697639"/>
          </a:xfrm>
        </p:spPr>
        <p:txBody>
          <a:bodyPr>
            <a:normAutofit fontScale="90000"/>
          </a:bodyPr>
          <a:lstStyle/>
          <a:p>
            <a:r>
              <a:rPr lang="en-GB" b="1" dirty="0">
                <a:solidFill>
                  <a:schemeClr val="bg1"/>
                </a:solidFill>
                <a:latin typeface="+mn-lt"/>
              </a:rPr>
              <a:t>Bayesian computation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F04F3B-62A1-1291-DF8F-BD5F0880288D}"/>
                  </a:ext>
                </a:extLst>
              </p:cNvPr>
              <p:cNvSpPr>
                <a:spLocks noGrp="1"/>
              </p:cNvSpPr>
              <p:nvPr>
                <p:ph idx="1"/>
              </p:nvPr>
            </p:nvSpPr>
            <p:spPr>
              <a:xfrm>
                <a:off x="838200" y="1825624"/>
                <a:ext cx="10515600" cy="4889807"/>
              </a:xfrm>
            </p:spPr>
            <p:txBody>
              <a:bodyPr>
                <a:normAutofit/>
              </a:bodyPr>
              <a:lstStyle/>
              <a:p>
                <a:r>
                  <a:rPr lang="en-GB" dirty="0"/>
                  <a:t>One major difficulty in applying Bayesian methods is the calculation of the posterior </a:t>
                </a:r>
                <a14:m>
                  <m:oMath xmlns:m="http://schemas.openxmlformats.org/officeDocument/2006/math">
                    <m:r>
                      <a:rPr lang="en-GB" b="0" i="1" smtClean="0">
                        <a:latin typeface="Cambria Math" panose="02040503050406030204" pitchFamily="18" charset="0"/>
                      </a:rPr>
                      <m:t>𝑝</m:t>
                    </m:r>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r>
                      <a:rPr lang="en-GB" b="1" i="1" smtClean="0">
                        <a:latin typeface="Cambria Math" panose="02040503050406030204" pitchFamily="18" charset="0"/>
                      </a:rPr>
                      <m:t>𝒚</m:t>
                    </m:r>
                    <m:r>
                      <a:rPr lang="en-GB" b="0" i="1" smtClean="0">
                        <a:latin typeface="Cambria Math" panose="02040503050406030204" pitchFamily="18" charset="0"/>
                      </a:rPr>
                      <m:t>)</m:t>
                    </m:r>
                  </m:oMath>
                </a14:m>
                <a:r>
                  <a:rPr lang="en-GB" dirty="0"/>
                  <a:t>, where </a:t>
                </a:r>
                <a14:m>
                  <m:oMath xmlns:m="http://schemas.openxmlformats.org/officeDocument/2006/math">
                    <m:r>
                      <a:rPr lang="en-GB" b="1" i="1" smtClean="0">
                        <a:latin typeface="Cambria Math" panose="02040503050406030204" pitchFamily="18" charset="0"/>
                      </a:rPr>
                      <m:t>𝜽</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𝑝</m:t>
                        </m:r>
                      </m:sub>
                    </m:sSub>
                    <m:r>
                      <a:rPr lang="en-GB" b="0" i="1" smtClean="0">
                        <a:latin typeface="Cambria Math" panose="02040503050406030204" pitchFamily="18" charset="0"/>
                      </a:rPr>
                      <m:t>)</m:t>
                    </m:r>
                  </m:oMath>
                </a14:m>
                <a:r>
                  <a:rPr lang="en-GB" dirty="0"/>
                  <a:t>  </a:t>
                </a:r>
              </a:p>
              <a:p>
                <a:r>
                  <a:rPr lang="en-GB" dirty="0"/>
                  <a:t>This involves high-dimensional integration that is usually not in closed form.</a:t>
                </a:r>
              </a:p>
              <a:p>
                <a:r>
                  <a:rPr lang="en-GB" dirty="0"/>
                  <a:t>For example, to normalize the joint posterior distribution, it is necessary to solve a high dimensional integration to obtain the constant of proportionality/normalizing constant.</a:t>
                </a:r>
              </a:p>
              <a:p>
                <a:r>
                  <a:rPr lang="en-GB" dirty="0"/>
                  <a:t>Also, high-dimensional integration is required to compute any desired expectation, e.g., the posterior mean given by</a:t>
                </a:r>
              </a:p>
              <a:p>
                <a:pPr marL="0" indent="0" algn="ctr">
                  <a:buNone/>
                </a:pPr>
                <a14:m>
                  <m:oMath xmlns:m="http://schemas.openxmlformats.org/officeDocument/2006/math">
                    <m:r>
                      <a:rPr lang="en-GB" b="0" i="1" smtClean="0">
                        <a:latin typeface="Cambria Math" panose="02040503050406030204" pitchFamily="18" charset="0"/>
                      </a:rPr>
                      <m:t>𝐸</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e>
                        <m:r>
                          <a:rPr lang="en-GB" b="1" i="1" smtClean="0">
                            <a:latin typeface="Cambria Math" panose="02040503050406030204" pitchFamily="18" charset="0"/>
                          </a:rPr>
                          <m:t>𝒚</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nary>
                          <m:naryPr>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m:t>
                            </m:r>
                            <m:r>
                              <m:rPr>
                                <m:brk m:alnAt="23"/>
                              </m:rPr>
                              <a:rPr lang="en-GB" b="0" i="1" smtClean="0">
                                <a:latin typeface="Cambria Math" panose="02040503050406030204" pitchFamily="18" charset="0"/>
                                <a:ea typeface="Cambria Math" panose="02040503050406030204" pitchFamily="18" charset="0"/>
                              </a:rPr>
                              <m:t>∞</m:t>
                            </m:r>
                          </m:sub>
                          <m:sup>
                            <m:r>
                              <a:rPr lang="en-GB" b="0" i="1" smtClean="0">
                                <a:latin typeface="Cambria Math" panose="02040503050406030204" pitchFamily="18" charset="0"/>
                                <a:ea typeface="Cambria Math" panose="02040503050406030204" pitchFamily="18" charset="0"/>
                              </a:rPr>
                              <m:t>∞</m:t>
                            </m:r>
                          </m:sup>
                          <m:e>
                            <m:r>
                              <a:rPr lang="en-GB" b="1" i="1" smtClean="0">
                                <a:latin typeface="Cambria Math" panose="02040503050406030204" pitchFamily="18" charset="0"/>
                              </a:rPr>
                              <m:t>𝜽</m:t>
                            </m:r>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𝒚</m:t>
                                </m:r>
                              </m:e>
                              <m:e>
                                <m:r>
                                  <a:rPr lang="en-GB" b="1" i="1" smtClean="0">
                                    <a:latin typeface="Cambria Math" panose="02040503050406030204" pitchFamily="18" charset="0"/>
                                  </a:rPr>
                                  <m:t>𝜽</m:t>
                                </m:r>
                              </m:e>
                            </m:d>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d>
                            <m:r>
                              <a:rPr lang="en-GB" b="0" i="1" smtClean="0">
                                <a:latin typeface="Cambria Math" panose="02040503050406030204" pitchFamily="18" charset="0"/>
                              </a:rPr>
                              <m:t>𝑑</m:t>
                            </m:r>
                            <m:r>
                              <a:rPr lang="en-GB" b="1" i="1" smtClean="0">
                                <a:latin typeface="Cambria Math" panose="02040503050406030204" pitchFamily="18" charset="0"/>
                              </a:rPr>
                              <m:t>𝜽</m:t>
                            </m:r>
                          </m:e>
                        </m:nary>
                      </m:num>
                      <m:den>
                        <m:nary>
                          <m:naryPr>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m:t>
                            </m:r>
                            <m:r>
                              <m:rPr>
                                <m:brk m:alnAt="23"/>
                              </m:rPr>
                              <a:rPr lang="en-GB" b="0" i="1" smtClean="0">
                                <a:latin typeface="Cambria Math" panose="02040503050406030204" pitchFamily="18" charset="0"/>
                                <a:ea typeface="Cambria Math" panose="02040503050406030204" pitchFamily="18" charset="0"/>
                              </a:rPr>
                              <m:t>∞</m:t>
                            </m:r>
                          </m:sub>
                          <m:sup>
                            <m:r>
                              <a:rPr lang="en-GB" b="0" i="1" smtClean="0">
                                <a:latin typeface="Cambria Math" panose="02040503050406030204" pitchFamily="18" charset="0"/>
                                <a:ea typeface="Cambria Math" panose="02040503050406030204" pitchFamily="18" charset="0"/>
                              </a:rPr>
                              <m:t>∞</m:t>
                            </m:r>
                          </m:sup>
                          <m:e>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𝒚</m:t>
                                </m:r>
                              </m:e>
                              <m:e>
                                <m:r>
                                  <a:rPr lang="en-GB" b="1" i="1" smtClean="0">
                                    <a:latin typeface="Cambria Math" panose="02040503050406030204" pitchFamily="18" charset="0"/>
                                  </a:rPr>
                                  <m:t>𝜽</m:t>
                                </m:r>
                              </m:e>
                            </m:d>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d>
                            <m:r>
                              <a:rPr lang="en-GB" b="0" i="1" smtClean="0">
                                <a:latin typeface="Cambria Math" panose="02040503050406030204" pitchFamily="18" charset="0"/>
                              </a:rPr>
                              <m:t>𝑑</m:t>
                            </m:r>
                            <m:r>
                              <a:rPr lang="en-GB" b="1" i="1" smtClean="0">
                                <a:latin typeface="Cambria Math" panose="02040503050406030204" pitchFamily="18" charset="0"/>
                              </a:rPr>
                              <m:t>𝜽</m:t>
                            </m:r>
                          </m:e>
                        </m:nary>
                      </m:den>
                    </m:f>
                  </m:oMath>
                </a14:m>
                <a:r>
                  <a:rPr lang="en-GB" dirty="0"/>
                  <a:t> .</a:t>
                </a:r>
              </a:p>
              <a:p>
                <a:pPr marL="0" indent="0" algn="ctr">
                  <a:buNone/>
                </a:pPr>
                <a:endParaRPr lang="en-GB" dirty="0"/>
              </a:p>
              <a:p>
                <a:pPr algn="ctr"/>
                <a:endParaRPr lang="en-GB" dirty="0"/>
              </a:p>
            </p:txBody>
          </p:sp>
        </mc:Choice>
        <mc:Fallback xmlns="">
          <p:sp>
            <p:nvSpPr>
              <p:cNvPr id="3" name="Content Placeholder 2">
                <a:extLst>
                  <a:ext uri="{FF2B5EF4-FFF2-40B4-BE49-F238E27FC236}">
                    <a16:creationId xmlns:a16="http://schemas.microsoft.com/office/drawing/2014/main" id="{17F04F3B-62A1-1291-DF8F-BD5F0880288D}"/>
                  </a:ext>
                </a:extLst>
              </p:cNvPr>
              <p:cNvSpPr>
                <a:spLocks noGrp="1" noRot="1" noChangeAspect="1" noMove="1" noResize="1" noEditPoints="1" noAdjustHandles="1" noChangeArrowheads="1" noChangeShapeType="1" noTextEdit="1"/>
              </p:cNvSpPr>
              <p:nvPr>
                <p:ph idx="1"/>
              </p:nvPr>
            </p:nvSpPr>
            <p:spPr>
              <a:xfrm>
                <a:off x="838200" y="1825624"/>
                <a:ext cx="10515600" cy="4889807"/>
              </a:xfrm>
              <a:blipFill>
                <a:blip r:embed="rId2"/>
                <a:stretch>
                  <a:fillRect l="-1043" t="-2117"/>
                </a:stretch>
              </a:blipFill>
            </p:spPr>
            <p:txBody>
              <a:bodyPr/>
              <a:lstStyle/>
              <a:p>
                <a:r>
                  <a:rPr lang="en-GB">
                    <a:noFill/>
                  </a:rPr>
                  <a:t> </a:t>
                </a:r>
              </a:p>
            </p:txBody>
          </p:sp>
        </mc:Fallback>
      </mc:AlternateContent>
      <p:cxnSp>
        <p:nvCxnSpPr>
          <p:cNvPr id="7" name="Straight Arrow Connector 6">
            <a:extLst>
              <a:ext uri="{FF2B5EF4-FFF2-40B4-BE49-F238E27FC236}">
                <a16:creationId xmlns:a16="http://schemas.microsoft.com/office/drawing/2014/main" id="{83B8CB80-525F-102B-4363-70F3263DB845}"/>
              </a:ext>
            </a:extLst>
          </p:cNvPr>
          <p:cNvCxnSpPr>
            <a:cxnSpLocks/>
          </p:cNvCxnSpPr>
          <p:nvPr/>
        </p:nvCxnSpPr>
        <p:spPr>
          <a:xfrm flipV="1">
            <a:off x="6238567" y="1337187"/>
            <a:ext cx="1755059" cy="10488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88946FF-413D-5CFC-772F-BA0949C4D090}"/>
              </a:ext>
            </a:extLst>
          </p:cNvPr>
          <p:cNvSpPr txBox="1"/>
          <p:nvPr/>
        </p:nvSpPr>
        <p:spPr>
          <a:xfrm>
            <a:off x="7912510" y="1145228"/>
            <a:ext cx="3441290" cy="369332"/>
          </a:xfrm>
          <a:prstGeom prst="rect">
            <a:avLst/>
          </a:prstGeom>
          <a:noFill/>
        </p:spPr>
        <p:txBody>
          <a:bodyPr wrap="square" rtlCol="0">
            <a:spAutoFit/>
          </a:bodyPr>
          <a:lstStyle/>
          <a:p>
            <a:r>
              <a:rPr lang="en-GB" dirty="0"/>
              <a:t>Set of observations</a:t>
            </a:r>
          </a:p>
        </p:txBody>
      </p:sp>
      <p:sp>
        <p:nvSpPr>
          <p:cNvPr id="4" name="Slide Number Placeholder 3">
            <a:extLst>
              <a:ext uri="{FF2B5EF4-FFF2-40B4-BE49-F238E27FC236}">
                <a16:creationId xmlns:a16="http://schemas.microsoft.com/office/drawing/2014/main" id="{6AD0377B-5A50-01B0-CD86-59F7909960DD}"/>
              </a:ext>
            </a:extLst>
          </p:cNvPr>
          <p:cNvSpPr>
            <a:spLocks noGrp="1"/>
          </p:cNvSpPr>
          <p:nvPr>
            <p:ph type="sldNum" sz="quarter" idx="12"/>
          </p:nvPr>
        </p:nvSpPr>
        <p:spPr/>
        <p:txBody>
          <a:bodyPr/>
          <a:lstStyle/>
          <a:p>
            <a:fld id="{92E773D0-8039-41DE-9EAA-38744617136D}" type="slidenum">
              <a:rPr lang="en-GB" smtClean="0"/>
              <a:t>25</a:t>
            </a:fld>
            <a:endParaRPr lang="en-GB"/>
          </a:p>
        </p:txBody>
      </p:sp>
    </p:spTree>
    <p:extLst>
      <p:ext uri="{BB962C8B-B14F-4D97-AF65-F5344CB8AC3E}">
        <p14:creationId xmlns:p14="http://schemas.microsoft.com/office/powerpoint/2010/main" val="1442661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43467E-7841-2E32-8CC1-6F0FA8F5C682}"/>
              </a:ext>
            </a:extLst>
          </p:cNvPr>
          <p:cNvSpPr>
            <a:spLocks noGrp="1"/>
          </p:cNvSpPr>
          <p:nvPr>
            <p:ph idx="1"/>
          </p:nvPr>
        </p:nvSpPr>
        <p:spPr>
          <a:xfrm>
            <a:off x="838200" y="1377755"/>
            <a:ext cx="10515600" cy="4351338"/>
          </a:xfrm>
        </p:spPr>
        <p:txBody>
          <a:bodyPr/>
          <a:lstStyle/>
          <a:p>
            <a:r>
              <a:rPr lang="en-GB" dirty="0"/>
              <a:t>Modern Bayesian computation considers the integration problem as another statistical problem</a:t>
            </a:r>
          </a:p>
          <a:p>
            <a:r>
              <a:rPr lang="en-GB" dirty="0"/>
              <a:t>The posterior distribution is viewed as a population distribution whose characteristics are unknown to us (reminiscent of the statistical problem of making inference about an unknown population)</a:t>
            </a:r>
          </a:p>
          <a:p>
            <a:r>
              <a:rPr lang="en-GB" dirty="0"/>
              <a:t>The statistical solution to the problem is to draw samples from the unknown population and then make inference about its characteristics (mean, variance, etc) by calculating suitable statistical averages of the sampled values.</a:t>
            </a:r>
          </a:p>
        </p:txBody>
      </p:sp>
      <p:sp>
        <p:nvSpPr>
          <p:cNvPr id="2" name="Slide Number Placeholder 1">
            <a:extLst>
              <a:ext uri="{FF2B5EF4-FFF2-40B4-BE49-F238E27FC236}">
                <a16:creationId xmlns:a16="http://schemas.microsoft.com/office/drawing/2014/main" id="{C83BB1EB-51A6-4F21-DBB5-F97AC268374F}"/>
              </a:ext>
            </a:extLst>
          </p:cNvPr>
          <p:cNvSpPr>
            <a:spLocks noGrp="1"/>
          </p:cNvSpPr>
          <p:nvPr>
            <p:ph type="sldNum" sz="quarter" idx="12"/>
          </p:nvPr>
        </p:nvSpPr>
        <p:spPr/>
        <p:txBody>
          <a:bodyPr/>
          <a:lstStyle/>
          <a:p>
            <a:fld id="{92E773D0-8039-41DE-9EAA-38744617136D}" type="slidenum">
              <a:rPr lang="en-GB" smtClean="0"/>
              <a:t>26</a:t>
            </a:fld>
            <a:endParaRPr lang="en-GB"/>
          </a:p>
        </p:txBody>
      </p:sp>
      <p:sp>
        <p:nvSpPr>
          <p:cNvPr id="7" name="Title 1">
            <a:extLst>
              <a:ext uri="{FF2B5EF4-FFF2-40B4-BE49-F238E27FC236}">
                <a16:creationId xmlns:a16="http://schemas.microsoft.com/office/drawing/2014/main" id="{5908B4FF-08F9-0BF4-9CF1-0EABD34BAC5A}"/>
              </a:ext>
            </a:extLst>
          </p:cNvPr>
          <p:cNvSpPr>
            <a:spLocks noGrp="1"/>
          </p:cNvSpPr>
          <p:nvPr>
            <p:ph type="title"/>
          </p:nvPr>
        </p:nvSpPr>
        <p:spPr>
          <a:xfrm>
            <a:off x="278364" y="41363"/>
            <a:ext cx="5817636" cy="697639"/>
          </a:xfrm>
        </p:spPr>
        <p:txBody>
          <a:bodyPr>
            <a:normAutofit fontScale="90000"/>
          </a:bodyPr>
          <a:lstStyle/>
          <a:p>
            <a:r>
              <a:rPr lang="en-GB" b="1" dirty="0">
                <a:solidFill>
                  <a:schemeClr val="bg1"/>
                </a:solidFill>
                <a:latin typeface="+mn-lt"/>
              </a:rPr>
              <a:t>Bayesian computation</a:t>
            </a:r>
          </a:p>
        </p:txBody>
      </p:sp>
    </p:spTree>
    <p:extLst>
      <p:ext uri="{BB962C8B-B14F-4D97-AF65-F5344CB8AC3E}">
        <p14:creationId xmlns:p14="http://schemas.microsoft.com/office/powerpoint/2010/main" val="34294623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E6A98A4-DF32-9282-E2A2-2935C5310BE3}"/>
                  </a:ext>
                </a:extLst>
              </p:cNvPr>
              <p:cNvSpPr>
                <a:spLocks noGrp="1"/>
              </p:cNvSpPr>
              <p:nvPr>
                <p:ph idx="1"/>
              </p:nvPr>
            </p:nvSpPr>
            <p:spPr>
              <a:xfrm>
                <a:off x="838200" y="1530657"/>
                <a:ext cx="10515600" cy="4351338"/>
              </a:xfrm>
            </p:spPr>
            <p:txBody>
              <a:bodyPr>
                <a:normAutofit lnSpcReduction="10000"/>
              </a:bodyPr>
              <a:lstStyle/>
              <a:p>
                <a:r>
                  <a:rPr lang="en-GB" b="1" dirty="0">
                    <a:solidFill>
                      <a:schemeClr val="tx2">
                        <a:lumMod val="75000"/>
                        <a:lumOff val="25000"/>
                      </a:schemeClr>
                    </a:solidFill>
                  </a:rPr>
                  <a:t>Markov Chain Monte Carlo (MCMC) </a:t>
                </a:r>
                <a:r>
                  <a:rPr lang="en-GB" dirty="0"/>
                  <a:t>methods do exactly this.</a:t>
                </a:r>
              </a:p>
              <a:p>
                <a:r>
                  <a:rPr lang="en-GB" dirty="0"/>
                  <a:t>These methods work by generating a sample of values </a:t>
                </a:r>
                <a14:m>
                  <m:oMath xmlns:m="http://schemas.openxmlformats.org/officeDocument/2006/math">
                    <m:d>
                      <m:dPr>
                        <m:begChr m:val="{"/>
                        <m:endChr m:val="}"/>
                        <m:ctrlPr>
                          <a:rPr lang="en-GB" b="1" i="1" smtClean="0">
                            <a:latin typeface="Cambria Math" panose="02040503050406030204" pitchFamily="18" charset="0"/>
                          </a:rPr>
                        </m:ctrlPr>
                      </m:dPr>
                      <m:e>
                        <m:sSup>
                          <m:sSupPr>
                            <m:ctrlPr>
                              <a:rPr lang="en-GB" b="1" i="1" smtClean="0">
                                <a:latin typeface="Cambria Math" panose="02040503050406030204" pitchFamily="18" charset="0"/>
                              </a:rPr>
                            </m:ctrlPr>
                          </m:sSupPr>
                          <m:e>
                            <m:r>
                              <a:rPr lang="en-GB" b="1" i="1" smtClean="0">
                                <a:latin typeface="Cambria Math" panose="02040503050406030204" pitchFamily="18" charset="0"/>
                              </a:rPr>
                              <m:t>𝜽</m:t>
                            </m:r>
                          </m:e>
                          <m:sup>
                            <m:d>
                              <m:dPr>
                                <m:ctrlPr>
                                  <a:rPr lang="en-GB" b="0" i="1" smtClean="0">
                                    <a:latin typeface="Cambria Math" panose="02040503050406030204" pitchFamily="18" charset="0"/>
                                  </a:rPr>
                                </m:ctrlPr>
                              </m:dPr>
                              <m:e>
                                <m:r>
                                  <a:rPr lang="en-GB" b="0" i="1" smtClean="0">
                                    <a:latin typeface="Cambria Math" panose="02040503050406030204" pitchFamily="18" charset="0"/>
                                  </a:rPr>
                                  <m:t>𝑘</m:t>
                                </m:r>
                              </m:e>
                            </m:d>
                          </m:sup>
                        </m:sSup>
                        <m:r>
                          <a:rPr lang="en-GB" b="0" i="1" smtClean="0">
                            <a:latin typeface="Cambria Math" panose="02040503050406030204" pitchFamily="18" charset="0"/>
                          </a:rPr>
                          <m:t>, </m:t>
                        </m:r>
                        <m:r>
                          <a:rPr lang="en-GB" b="0" i="1" smtClean="0">
                            <a:latin typeface="Cambria Math" panose="02040503050406030204" pitchFamily="18" charset="0"/>
                          </a:rPr>
                          <m:t>𝑘</m:t>
                        </m:r>
                        <m:r>
                          <a:rPr lang="en-GB" b="0" i="1" smtClean="0">
                            <a:latin typeface="Cambria Math" panose="02040503050406030204" pitchFamily="18" charset="0"/>
                          </a:rPr>
                          <m:t>=1,…,</m:t>
                        </m:r>
                        <m:r>
                          <a:rPr lang="en-GB" b="0" i="1" smtClean="0">
                            <a:latin typeface="Cambria Math" panose="02040503050406030204" pitchFamily="18" charset="0"/>
                          </a:rPr>
                          <m:t>𝐾</m:t>
                        </m:r>
                      </m:e>
                    </m:d>
                  </m:oMath>
                </a14:m>
                <a:r>
                  <a:rPr lang="en-GB" dirty="0"/>
                  <a:t> from a convergent Markov Chain whose stationary distribution is the posterior </a:t>
                </a:r>
                <a14:m>
                  <m:oMath xmlns:m="http://schemas.openxmlformats.org/officeDocument/2006/math">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e>
                        <m:r>
                          <a:rPr lang="en-GB" b="1" i="1" smtClean="0">
                            <a:latin typeface="Cambria Math" panose="02040503050406030204" pitchFamily="18" charset="0"/>
                          </a:rPr>
                          <m:t>𝒚</m:t>
                        </m:r>
                      </m:e>
                    </m:d>
                    <m:r>
                      <a:rPr lang="en-GB" b="0" i="1" smtClean="0">
                        <a:latin typeface="Cambria Math" panose="02040503050406030204" pitchFamily="18" charset="0"/>
                      </a:rPr>
                      <m:t>.</m:t>
                    </m:r>
                  </m:oMath>
                </a14:m>
                <a:endParaRPr lang="en-GB" dirty="0"/>
              </a:p>
              <a:p>
                <a:r>
                  <a:rPr lang="en-GB" dirty="0"/>
                  <a:t>Empirical summaries of the</a:t>
                </a:r>
                <a14:m>
                  <m:oMath xmlns:m="http://schemas.openxmlformats.org/officeDocument/2006/math">
                    <m:sSup>
                      <m:sSupPr>
                        <m:ctrlPr>
                          <a:rPr lang="en-GB" b="1" i="1" smtClean="0">
                            <a:latin typeface="Cambria Math" panose="02040503050406030204" pitchFamily="18" charset="0"/>
                          </a:rPr>
                        </m:ctrlPr>
                      </m:sSupPr>
                      <m:e>
                        <m:r>
                          <a:rPr lang="en-GB" b="1" i="1" smtClean="0">
                            <a:latin typeface="Cambria Math" panose="02040503050406030204" pitchFamily="18" charset="0"/>
                          </a:rPr>
                          <m:t> {</m:t>
                        </m:r>
                        <m:r>
                          <a:rPr lang="en-GB" b="1" i="1" smtClean="0">
                            <a:latin typeface="Cambria Math" panose="02040503050406030204" pitchFamily="18" charset="0"/>
                          </a:rPr>
                          <m:t>𝜽</m:t>
                        </m:r>
                      </m:e>
                      <m:sup>
                        <m:d>
                          <m:dPr>
                            <m:ctrlPr>
                              <a:rPr lang="en-GB" b="0" i="1" smtClean="0">
                                <a:latin typeface="Cambria Math" panose="02040503050406030204" pitchFamily="18" charset="0"/>
                              </a:rPr>
                            </m:ctrlPr>
                          </m:dPr>
                          <m:e>
                            <m:r>
                              <a:rPr lang="en-GB" b="0" i="1" smtClean="0">
                                <a:latin typeface="Cambria Math" panose="02040503050406030204" pitchFamily="18" charset="0"/>
                              </a:rPr>
                              <m:t>𝑘</m:t>
                            </m:r>
                          </m:e>
                        </m:d>
                      </m:sup>
                    </m:sSup>
                    <m:r>
                      <a:rPr lang="en-GB" b="1" i="1" smtClean="0">
                        <a:latin typeface="Cambria Math" panose="02040503050406030204" pitchFamily="18" charset="0"/>
                      </a:rPr>
                      <m:t>}</m:t>
                    </m:r>
                  </m:oMath>
                </a14:m>
                <a:r>
                  <a:rPr lang="en-GB" dirty="0"/>
                  <a:t> values obtained from these samples can be used to summarize the posterior distribution of the parameters of interest. </a:t>
                </a:r>
              </a:p>
              <a:p>
                <a:r>
                  <a:rPr lang="en-GB" dirty="0"/>
                  <a:t>For example, the sample mean can be used to estimate the posterior mean as </a:t>
                </a:r>
                <a14:m>
                  <m:oMath xmlns:m="http://schemas.openxmlformats.org/officeDocument/2006/math">
                    <m:r>
                      <a:rPr lang="en-GB" b="0" i="1" smtClean="0">
                        <a:latin typeface="Cambria Math" panose="02040503050406030204" pitchFamily="18" charset="0"/>
                      </a:rPr>
                      <m:t>𝐸</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𝑖</m:t>
                            </m:r>
                          </m:sub>
                        </m:sSub>
                      </m:e>
                      <m:e>
                        <m:r>
                          <a:rPr lang="en-GB" b="1" i="1" smtClean="0">
                            <a:latin typeface="Cambria Math" panose="02040503050406030204" pitchFamily="18" charset="0"/>
                          </a:rPr>
                          <m:t>𝒚</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𝐾</m:t>
                        </m:r>
                      </m:den>
                    </m:f>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𝑘</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𝐾</m:t>
                        </m:r>
                      </m:sup>
                      <m:e>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𝜃</m:t>
                            </m:r>
                          </m:e>
                          <m:sub>
                            <m:r>
                              <a:rPr lang="en-GB" b="0" i="1" smtClean="0">
                                <a:latin typeface="Cambria Math" panose="02040503050406030204" pitchFamily="18" charset="0"/>
                              </a:rPr>
                              <m:t>𝑖</m:t>
                            </m:r>
                          </m:sub>
                          <m:sup>
                            <m:r>
                              <a:rPr lang="en-GB" b="0" i="1" smtClean="0">
                                <a:latin typeface="Cambria Math" panose="02040503050406030204" pitchFamily="18" charset="0"/>
                              </a:rPr>
                              <m:t>(</m:t>
                            </m:r>
                            <m:r>
                              <a:rPr lang="en-GB" b="0" i="1" smtClean="0">
                                <a:latin typeface="Cambria Math" panose="02040503050406030204" pitchFamily="18" charset="0"/>
                              </a:rPr>
                              <m:t>𝑘</m:t>
                            </m:r>
                            <m:r>
                              <a:rPr lang="en-GB" b="0" i="1" smtClean="0">
                                <a:latin typeface="Cambria Math" panose="02040503050406030204" pitchFamily="18" charset="0"/>
                              </a:rPr>
                              <m:t>)</m:t>
                            </m:r>
                          </m:sup>
                        </m:sSubSup>
                      </m:e>
                    </m:nary>
                  </m:oMath>
                </a14:m>
                <a:r>
                  <a:rPr lang="en-GB" dirty="0"/>
                  <a:t>. In the same manner, the sample variance can be used to estimate the posterior variance.</a:t>
                </a:r>
              </a:p>
            </p:txBody>
          </p:sp>
        </mc:Choice>
        <mc:Fallback xmlns="">
          <p:sp>
            <p:nvSpPr>
              <p:cNvPr id="3" name="Content Placeholder 2">
                <a:extLst>
                  <a:ext uri="{FF2B5EF4-FFF2-40B4-BE49-F238E27FC236}">
                    <a16:creationId xmlns:a16="http://schemas.microsoft.com/office/drawing/2014/main" id="{FE6A98A4-DF32-9282-E2A2-2935C5310BE3}"/>
                  </a:ext>
                </a:extLst>
              </p:cNvPr>
              <p:cNvSpPr>
                <a:spLocks noGrp="1" noRot="1" noChangeAspect="1" noMove="1" noResize="1" noEditPoints="1" noAdjustHandles="1" noChangeArrowheads="1" noChangeShapeType="1" noTextEdit="1"/>
              </p:cNvSpPr>
              <p:nvPr>
                <p:ph idx="1"/>
              </p:nvPr>
            </p:nvSpPr>
            <p:spPr>
              <a:xfrm>
                <a:off x="838200" y="1530657"/>
                <a:ext cx="10515600" cy="4351338"/>
              </a:xfrm>
              <a:blipFill>
                <a:blip r:embed="rId2"/>
                <a:stretch>
                  <a:fillRect l="-1043" t="-3081" r="-986"/>
                </a:stretch>
              </a:blipFill>
            </p:spPr>
            <p:txBody>
              <a:bodyPr/>
              <a:lstStyle/>
              <a:p>
                <a:r>
                  <a:rPr lang="en-GB">
                    <a:noFill/>
                  </a:rPr>
                  <a:t> </a:t>
                </a:r>
              </a:p>
            </p:txBody>
          </p:sp>
        </mc:Fallback>
      </mc:AlternateContent>
      <p:sp>
        <p:nvSpPr>
          <p:cNvPr id="2" name="Slide Number Placeholder 1">
            <a:extLst>
              <a:ext uri="{FF2B5EF4-FFF2-40B4-BE49-F238E27FC236}">
                <a16:creationId xmlns:a16="http://schemas.microsoft.com/office/drawing/2014/main" id="{280A2010-F1B2-F81B-2806-EBBD6B264AB6}"/>
              </a:ext>
            </a:extLst>
          </p:cNvPr>
          <p:cNvSpPr>
            <a:spLocks noGrp="1"/>
          </p:cNvSpPr>
          <p:nvPr>
            <p:ph type="sldNum" sz="quarter" idx="12"/>
          </p:nvPr>
        </p:nvSpPr>
        <p:spPr/>
        <p:txBody>
          <a:bodyPr/>
          <a:lstStyle/>
          <a:p>
            <a:fld id="{92E773D0-8039-41DE-9EAA-38744617136D}" type="slidenum">
              <a:rPr lang="en-GB" smtClean="0"/>
              <a:t>27</a:t>
            </a:fld>
            <a:endParaRPr lang="en-GB"/>
          </a:p>
        </p:txBody>
      </p:sp>
      <p:sp>
        <p:nvSpPr>
          <p:cNvPr id="7" name="Title 1">
            <a:extLst>
              <a:ext uri="{FF2B5EF4-FFF2-40B4-BE49-F238E27FC236}">
                <a16:creationId xmlns:a16="http://schemas.microsoft.com/office/drawing/2014/main" id="{8D1B7DC3-B1DA-20A1-3442-CFB6224935B3}"/>
              </a:ext>
            </a:extLst>
          </p:cNvPr>
          <p:cNvSpPr>
            <a:spLocks noGrp="1"/>
          </p:cNvSpPr>
          <p:nvPr>
            <p:ph type="title"/>
          </p:nvPr>
        </p:nvSpPr>
        <p:spPr>
          <a:xfrm>
            <a:off x="278364" y="41363"/>
            <a:ext cx="5817636" cy="697639"/>
          </a:xfrm>
        </p:spPr>
        <p:txBody>
          <a:bodyPr>
            <a:normAutofit fontScale="90000"/>
          </a:bodyPr>
          <a:lstStyle/>
          <a:p>
            <a:r>
              <a:rPr lang="en-GB" b="1" dirty="0">
                <a:solidFill>
                  <a:schemeClr val="bg1"/>
                </a:solidFill>
                <a:latin typeface="+mn-lt"/>
              </a:rPr>
              <a:t>Bayesian computation</a:t>
            </a:r>
          </a:p>
        </p:txBody>
      </p:sp>
    </p:spTree>
    <p:extLst>
      <p:ext uri="{BB962C8B-B14F-4D97-AF65-F5344CB8AC3E}">
        <p14:creationId xmlns:p14="http://schemas.microsoft.com/office/powerpoint/2010/main" val="9436054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97366C-1490-1C73-359F-BBBE4E91E4C2}"/>
              </a:ext>
            </a:extLst>
          </p:cNvPr>
          <p:cNvSpPr>
            <a:spLocks noGrp="1"/>
          </p:cNvSpPr>
          <p:nvPr>
            <p:ph idx="1"/>
          </p:nvPr>
        </p:nvSpPr>
        <p:spPr>
          <a:xfrm>
            <a:off x="838200" y="1461731"/>
            <a:ext cx="10515600" cy="4351338"/>
          </a:xfrm>
        </p:spPr>
        <p:txBody>
          <a:bodyPr/>
          <a:lstStyle/>
          <a:p>
            <a:r>
              <a:rPr lang="en-GB" dirty="0"/>
              <a:t>MCMC methods require diagnostic approaches to determine when the sampling chains have reached the stationary distribution, i.e., the posterior distribution.</a:t>
            </a:r>
          </a:p>
          <a:p>
            <a:r>
              <a:rPr lang="en-GB" dirty="0"/>
              <a:t>Such diagnostic approaches include the use of </a:t>
            </a:r>
            <a:r>
              <a:rPr lang="en-GB" dirty="0" err="1"/>
              <a:t>traceplots</a:t>
            </a:r>
            <a:r>
              <a:rPr lang="en-GB" dirty="0"/>
              <a:t>, sample autocorrelations, </a:t>
            </a:r>
            <a:r>
              <a:rPr lang="en-GB" dirty="0" err="1"/>
              <a:t>Geweke</a:t>
            </a:r>
            <a:r>
              <a:rPr lang="en-GB" dirty="0"/>
              <a:t> diagnostic, running parallel chains with different initial values, etc </a:t>
            </a:r>
          </a:p>
          <a:p>
            <a:r>
              <a:rPr lang="en-GB" dirty="0"/>
              <a:t>MCMC approaches are however sampling-based methods that are </a:t>
            </a:r>
            <a:r>
              <a:rPr lang="en-GB" dirty="0">
                <a:solidFill>
                  <a:srgbClr val="FF0000"/>
                </a:solidFill>
              </a:rPr>
              <a:t>computationally demanding </a:t>
            </a:r>
            <a:r>
              <a:rPr lang="en-GB" dirty="0"/>
              <a:t>and often experience </a:t>
            </a:r>
            <a:r>
              <a:rPr lang="en-GB" dirty="0">
                <a:solidFill>
                  <a:srgbClr val="FF0000"/>
                </a:solidFill>
              </a:rPr>
              <a:t>convergence problems</a:t>
            </a:r>
            <a:r>
              <a:rPr lang="en-GB" dirty="0"/>
              <a:t>. </a:t>
            </a:r>
          </a:p>
          <a:p>
            <a:pPr marL="0" indent="0">
              <a:buNone/>
            </a:pPr>
            <a:endParaRPr lang="en-GB" dirty="0"/>
          </a:p>
        </p:txBody>
      </p:sp>
      <p:sp>
        <p:nvSpPr>
          <p:cNvPr id="4" name="Slide Number Placeholder 3">
            <a:extLst>
              <a:ext uri="{FF2B5EF4-FFF2-40B4-BE49-F238E27FC236}">
                <a16:creationId xmlns:a16="http://schemas.microsoft.com/office/drawing/2014/main" id="{C13861BD-F02E-0F20-E265-D945BAF3CD5B}"/>
              </a:ext>
            </a:extLst>
          </p:cNvPr>
          <p:cNvSpPr>
            <a:spLocks noGrp="1"/>
          </p:cNvSpPr>
          <p:nvPr>
            <p:ph type="sldNum" sz="quarter" idx="12"/>
          </p:nvPr>
        </p:nvSpPr>
        <p:spPr/>
        <p:txBody>
          <a:bodyPr/>
          <a:lstStyle/>
          <a:p>
            <a:fld id="{92E773D0-8039-41DE-9EAA-38744617136D}" type="slidenum">
              <a:rPr lang="en-GB" smtClean="0"/>
              <a:t>28</a:t>
            </a:fld>
            <a:endParaRPr lang="en-GB"/>
          </a:p>
        </p:txBody>
      </p:sp>
      <p:sp>
        <p:nvSpPr>
          <p:cNvPr id="5" name="Title 1">
            <a:extLst>
              <a:ext uri="{FF2B5EF4-FFF2-40B4-BE49-F238E27FC236}">
                <a16:creationId xmlns:a16="http://schemas.microsoft.com/office/drawing/2014/main" id="{D512A2C7-FF3A-0665-B623-E40F5E1B749A}"/>
              </a:ext>
            </a:extLst>
          </p:cNvPr>
          <p:cNvSpPr>
            <a:spLocks noGrp="1"/>
          </p:cNvSpPr>
          <p:nvPr>
            <p:ph type="title"/>
          </p:nvPr>
        </p:nvSpPr>
        <p:spPr>
          <a:xfrm>
            <a:off x="278364" y="41363"/>
            <a:ext cx="5817636" cy="697639"/>
          </a:xfrm>
        </p:spPr>
        <p:txBody>
          <a:bodyPr>
            <a:normAutofit fontScale="90000"/>
          </a:bodyPr>
          <a:lstStyle/>
          <a:p>
            <a:r>
              <a:rPr lang="en-GB" b="1" dirty="0">
                <a:solidFill>
                  <a:schemeClr val="bg1"/>
                </a:solidFill>
                <a:latin typeface="+mn-lt"/>
              </a:rPr>
              <a:t>Bayesian computation</a:t>
            </a:r>
          </a:p>
        </p:txBody>
      </p:sp>
    </p:spTree>
    <p:extLst>
      <p:ext uri="{BB962C8B-B14F-4D97-AF65-F5344CB8AC3E}">
        <p14:creationId xmlns:p14="http://schemas.microsoft.com/office/powerpoint/2010/main" val="1186454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01F02-99E8-63E7-24A9-4713FF9A989E}"/>
              </a:ext>
            </a:extLst>
          </p:cNvPr>
          <p:cNvSpPr>
            <a:spLocks noGrp="1"/>
          </p:cNvSpPr>
          <p:nvPr>
            <p:ph type="title"/>
          </p:nvPr>
        </p:nvSpPr>
        <p:spPr>
          <a:xfrm>
            <a:off x="464976" y="13059"/>
            <a:ext cx="11478208" cy="817365"/>
          </a:xfrm>
        </p:spPr>
        <p:txBody>
          <a:bodyPr>
            <a:normAutofit fontScale="90000"/>
          </a:bodyPr>
          <a:lstStyle/>
          <a:p>
            <a:r>
              <a:rPr lang="en-GB" b="1" dirty="0">
                <a:solidFill>
                  <a:schemeClr val="bg1"/>
                </a:solidFill>
                <a:latin typeface="+mn-lt"/>
              </a:rPr>
              <a:t>INLA – Integrated Nested Laplace Approximation</a:t>
            </a:r>
          </a:p>
        </p:txBody>
      </p:sp>
      <p:sp>
        <p:nvSpPr>
          <p:cNvPr id="3" name="Content Placeholder 2">
            <a:extLst>
              <a:ext uri="{FF2B5EF4-FFF2-40B4-BE49-F238E27FC236}">
                <a16:creationId xmlns:a16="http://schemas.microsoft.com/office/drawing/2014/main" id="{FC13277F-71DD-1DCB-BCA6-810492BBE864}"/>
              </a:ext>
            </a:extLst>
          </p:cNvPr>
          <p:cNvSpPr>
            <a:spLocks noGrp="1"/>
          </p:cNvSpPr>
          <p:nvPr>
            <p:ph idx="1"/>
          </p:nvPr>
        </p:nvSpPr>
        <p:spPr>
          <a:xfrm>
            <a:off x="946280" y="1545406"/>
            <a:ext cx="10515600" cy="4351338"/>
          </a:xfrm>
        </p:spPr>
        <p:txBody>
          <a:bodyPr/>
          <a:lstStyle/>
          <a:p>
            <a:r>
              <a:rPr lang="en-GB" dirty="0"/>
              <a:t>INLA is a deterministic method for performing approximate Bayesian inference in </a:t>
            </a:r>
            <a:r>
              <a:rPr lang="en-GB" b="1" dirty="0"/>
              <a:t>latent Gaussian models</a:t>
            </a:r>
          </a:p>
          <a:p>
            <a:r>
              <a:rPr lang="en-GB" dirty="0"/>
              <a:t>INLA is a faster alternative to the traditional stochastic sampling methods like MCMC, as it uses analytical approximations and numerical integration to compute marginal posterior distributions directly</a:t>
            </a:r>
          </a:p>
          <a:p>
            <a:r>
              <a:rPr lang="en-GB" dirty="0"/>
              <a:t>INLA is implemented in the R packages R-INLA (</a:t>
            </a:r>
            <a:r>
              <a:rPr lang="en-GB" dirty="0">
                <a:hlinkClick r:id="rId2"/>
              </a:rPr>
              <a:t>http://www.r-inla.org</a:t>
            </a:r>
            <a:r>
              <a:rPr lang="en-GB" dirty="0"/>
              <a:t>) and </a:t>
            </a:r>
            <a:r>
              <a:rPr lang="en-GB" dirty="0" err="1"/>
              <a:t>inlabru</a:t>
            </a:r>
            <a:r>
              <a:rPr lang="en-GB" dirty="0"/>
              <a:t> (</a:t>
            </a:r>
            <a:r>
              <a:rPr lang="en-GB" dirty="0">
                <a:hlinkClick r:id="rId3"/>
              </a:rPr>
              <a:t>http://www.inlabru.org</a:t>
            </a:r>
            <a:r>
              <a:rPr lang="en-GB" dirty="0"/>
              <a:t>)</a:t>
            </a:r>
          </a:p>
        </p:txBody>
      </p:sp>
      <p:sp>
        <p:nvSpPr>
          <p:cNvPr id="4" name="Slide Number Placeholder 3">
            <a:extLst>
              <a:ext uri="{FF2B5EF4-FFF2-40B4-BE49-F238E27FC236}">
                <a16:creationId xmlns:a16="http://schemas.microsoft.com/office/drawing/2014/main" id="{5B0EDA79-AD65-65FC-F58B-173CE9D0172A}"/>
              </a:ext>
            </a:extLst>
          </p:cNvPr>
          <p:cNvSpPr>
            <a:spLocks noGrp="1"/>
          </p:cNvSpPr>
          <p:nvPr>
            <p:ph type="sldNum" sz="quarter" idx="12"/>
          </p:nvPr>
        </p:nvSpPr>
        <p:spPr/>
        <p:txBody>
          <a:bodyPr/>
          <a:lstStyle/>
          <a:p>
            <a:fld id="{92E773D0-8039-41DE-9EAA-38744617136D}" type="slidenum">
              <a:rPr lang="en-GB" smtClean="0"/>
              <a:t>29</a:t>
            </a:fld>
            <a:endParaRPr lang="en-GB"/>
          </a:p>
        </p:txBody>
      </p:sp>
    </p:spTree>
    <p:extLst>
      <p:ext uri="{BB962C8B-B14F-4D97-AF65-F5344CB8AC3E}">
        <p14:creationId xmlns:p14="http://schemas.microsoft.com/office/powerpoint/2010/main" val="26544959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FF9E44-054B-A731-5EBA-F844130B7140}"/>
                  </a:ext>
                </a:extLst>
              </p:cNvPr>
              <p:cNvSpPr>
                <a:spLocks noGrp="1"/>
              </p:cNvSpPr>
              <p:nvPr>
                <p:ph idx="1"/>
              </p:nvPr>
            </p:nvSpPr>
            <p:spPr>
              <a:xfrm>
                <a:off x="838200" y="1417718"/>
                <a:ext cx="10515600" cy="4351338"/>
              </a:xfrm>
            </p:spPr>
            <p:txBody>
              <a:bodyPr/>
              <a:lstStyle/>
              <a:p>
                <a:r>
                  <a:rPr lang="en-GB" dirty="0"/>
                  <a:t>As we have seen, Bayesian models require posterior distributions, but these distributions are often analytically intractable</a:t>
                </a:r>
              </a:p>
              <a:p>
                <a:endParaRPr lang="en-GB" dirty="0"/>
              </a:p>
              <a:p>
                <a:r>
                  <a:rPr lang="en-GB" dirty="0"/>
                  <a:t>Bayes’ theorem gives</a:t>
                </a:r>
              </a:p>
              <a:p>
                <a:pPr marL="0" indent="0" algn="ctr">
                  <a:buNone/>
                </a:pPr>
                <a:r>
                  <a:rPr lang="en-GB" dirty="0"/>
                  <a:t> </a:t>
                </a:r>
                <a14:m>
                  <m:oMath xmlns:m="http://schemas.openxmlformats.org/officeDocument/2006/math">
                    <m:r>
                      <a:rPr lang="en-GB" b="0" i="1" smtClean="0">
                        <a:latin typeface="Cambria Math" panose="02040503050406030204" pitchFamily="18" charset="0"/>
                      </a:rPr>
                      <m:t>𝑝</m:t>
                    </m:r>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r>
                      <a:rPr lang="en-GB" b="1" i="1" smtClean="0">
                        <a:latin typeface="Cambria Math" panose="02040503050406030204" pitchFamily="18" charset="0"/>
                      </a:rPr>
                      <m:t>𝒚</m:t>
                    </m:r>
                    <m:r>
                      <a:rPr lang="en-GB" b="0" i="0" smtClean="0">
                        <a:latin typeface="Cambria Math" panose="02040503050406030204" pitchFamily="18" charset="0"/>
                      </a:rPr>
                      <m:t>)</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𝑝</m:t>
                        </m:r>
                        <m:r>
                          <a:rPr lang="en-GB" b="0" i="1" smtClean="0">
                            <a:latin typeface="Cambria Math" panose="02040503050406030204" pitchFamily="18" charset="0"/>
                          </a:rPr>
                          <m:t>(</m:t>
                        </m:r>
                        <m:r>
                          <a:rPr lang="en-GB" b="1" i="1" smtClean="0">
                            <a:latin typeface="Cambria Math" panose="02040503050406030204" pitchFamily="18" charset="0"/>
                          </a:rPr>
                          <m:t>𝒚</m:t>
                        </m:r>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d>
                      </m:num>
                      <m:den>
                        <m:r>
                          <a:rPr lang="en-GB" b="0" i="1" smtClean="0">
                            <a:latin typeface="Cambria Math" panose="02040503050406030204" pitchFamily="18" charset="0"/>
                          </a:rPr>
                          <m:t>𝑝</m:t>
                        </m:r>
                        <m:r>
                          <a:rPr lang="en-GB" b="0" i="1" smtClean="0">
                            <a:latin typeface="Cambria Math" panose="02040503050406030204" pitchFamily="18" charset="0"/>
                          </a:rPr>
                          <m:t>(</m:t>
                        </m:r>
                        <m:r>
                          <a:rPr lang="en-GB" b="1" i="1" smtClean="0">
                            <a:latin typeface="Cambria Math" panose="02040503050406030204" pitchFamily="18" charset="0"/>
                          </a:rPr>
                          <m:t>𝒚</m:t>
                        </m:r>
                        <m:r>
                          <a:rPr lang="en-GB" b="0" i="1" smtClean="0">
                            <a:latin typeface="Cambria Math" panose="02040503050406030204" pitchFamily="18" charset="0"/>
                          </a:rPr>
                          <m:t>)</m:t>
                        </m:r>
                      </m:den>
                    </m:f>
                  </m:oMath>
                </a14:m>
                <a:endParaRPr lang="en-GB" dirty="0"/>
              </a:p>
              <a:p>
                <a:endParaRPr lang="en-GB" dirty="0"/>
              </a:p>
              <a:p>
                <a:r>
                  <a:rPr lang="en-GB" dirty="0"/>
                  <a:t>The denominator </a:t>
                </a:r>
                <a14:m>
                  <m:oMath xmlns:m="http://schemas.openxmlformats.org/officeDocument/2006/math">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𝒚</m:t>
                        </m:r>
                      </m:e>
                    </m:d>
                    <m:r>
                      <a:rPr lang="en-GB" b="0" i="1" smtClean="0">
                        <a:latin typeface="Cambria Math" panose="02040503050406030204" pitchFamily="18" charset="0"/>
                      </a:rPr>
                      <m:t>=∫</m:t>
                    </m:r>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𝒚</m:t>
                        </m:r>
                      </m:e>
                      <m:e>
                        <m:r>
                          <a:rPr lang="en-GB" b="1" i="1" smtClean="0">
                            <a:latin typeface="Cambria Math" panose="02040503050406030204" pitchFamily="18" charset="0"/>
                          </a:rPr>
                          <m:t>𝜽</m:t>
                        </m:r>
                      </m:e>
                    </m:d>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d>
                    <m:r>
                      <a:rPr lang="en-GB" b="0" i="1" smtClean="0">
                        <a:latin typeface="Cambria Math" panose="02040503050406030204" pitchFamily="18" charset="0"/>
                      </a:rPr>
                      <m:t>𝑑</m:t>
                    </m:r>
                    <m:r>
                      <a:rPr lang="en-GB" b="1" i="1" smtClean="0">
                        <a:latin typeface="Cambria Math" panose="02040503050406030204" pitchFamily="18" charset="0"/>
                      </a:rPr>
                      <m:t>𝜽</m:t>
                    </m:r>
                  </m:oMath>
                </a14:m>
                <a:r>
                  <a:rPr lang="en-GB" b="1" dirty="0"/>
                  <a:t> </a:t>
                </a:r>
                <a:r>
                  <a:rPr lang="en-GB" dirty="0"/>
                  <a:t>requires integration over potentially hundreds or thousands of parameters</a:t>
                </a:r>
              </a:p>
            </p:txBody>
          </p:sp>
        </mc:Choice>
        <mc:Fallback xmlns="">
          <p:sp>
            <p:nvSpPr>
              <p:cNvPr id="3" name="Content Placeholder 2">
                <a:extLst>
                  <a:ext uri="{FF2B5EF4-FFF2-40B4-BE49-F238E27FC236}">
                    <a16:creationId xmlns:a16="http://schemas.microsoft.com/office/drawing/2014/main" id="{70FF9E44-054B-A731-5EBA-F844130B7140}"/>
                  </a:ext>
                </a:extLst>
              </p:cNvPr>
              <p:cNvSpPr>
                <a:spLocks noGrp="1" noRot="1" noChangeAspect="1" noMove="1" noResize="1" noEditPoints="1" noAdjustHandles="1" noChangeArrowheads="1" noChangeShapeType="1" noTextEdit="1"/>
              </p:cNvSpPr>
              <p:nvPr>
                <p:ph idx="1"/>
              </p:nvPr>
            </p:nvSpPr>
            <p:spPr>
              <a:xfrm>
                <a:off x="838200" y="1417718"/>
                <a:ext cx="10515600" cy="4351338"/>
              </a:xfrm>
              <a:blipFill>
                <a:blip r:embed="rId2"/>
                <a:stretch>
                  <a:fillRect l="-1043" t="-2525" r="-1739"/>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9ABE13A1-7EF7-D4FD-4A16-E221C32DCA27}"/>
              </a:ext>
            </a:extLst>
          </p:cNvPr>
          <p:cNvSpPr>
            <a:spLocks noGrp="1"/>
          </p:cNvSpPr>
          <p:nvPr>
            <p:ph type="sldNum" sz="quarter" idx="12"/>
          </p:nvPr>
        </p:nvSpPr>
        <p:spPr/>
        <p:txBody>
          <a:bodyPr/>
          <a:lstStyle/>
          <a:p>
            <a:fld id="{92E773D0-8039-41DE-9EAA-38744617136D}" type="slidenum">
              <a:rPr lang="en-GB" smtClean="0"/>
              <a:t>30</a:t>
            </a:fld>
            <a:endParaRPr lang="en-GB"/>
          </a:p>
        </p:txBody>
      </p:sp>
      <p:sp>
        <p:nvSpPr>
          <p:cNvPr id="5" name="Title 1">
            <a:extLst>
              <a:ext uri="{FF2B5EF4-FFF2-40B4-BE49-F238E27FC236}">
                <a16:creationId xmlns:a16="http://schemas.microsoft.com/office/drawing/2014/main" id="{9D8371FC-812F-FEC2-834F-84CFC8A7BAA5}"/>
              </a:ext>
            </a:extLst>
          </p:cNvPr>
          <p:cNvSpPr>
            <a:spLocks noGrp="1"/>
          </p:cNvSpPr>
          <p:nvPr>
            <p:ph type="title"/>
          </p:nvPr>
        </p:nvSpPr>
        <p:spPr>
          <a:xfrm>
            <a:off x="464976" y="13059"/>
            <a:ext cx="11478208" cy="817365"/>
          </a:xfrm>
        </p:spPr>
        <p:txBody>
          <a:bodyPr>
            <a:normAutofit fontScale="90000"/>
          </a:bodyPr>
          <a:lstStyle/>
          <a:p>
            <a:r>
              <a:rPr lang="en-GB" b="1" dirty="0">
                <a:solidFill>
                  <a:schemeClr val="bg1"/>
                </a:solidFill>
                <a:latin typeface="+mn-lt"/>
              </a:rPr>
              <a:t>INLA – Integrated Nested Laplace Approximation</a:t>
            </a:r>
          </a:p>
        </p:txBody>
      </p:sp>
    </p:spTree>
    <p:extLst>
      <p:ext uri="{BB962C8B-B14F-4D97-AF65-F5344CB8AC3E}">
        <p14:creationId xmlns:p14="http://schemas.microsoft.com/office/powerpoint/2010/main" val="2627905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FA53BD-E936-B7F3-E1B3-BAD85AE2897B}"/>
              </a:ext>
            </a:extLst>
          </p:cNvPr>
          <p:cNvSpPr>
            <a:spLocks noGrp="1"/>
          </p:cNvSpPr>
          <p:nvPr>
            <p:ph idx="1"/>
          </p:nvPr>
        </p:nvSpPr>
        <p:spPr>
          <a:xfrm>
            <a:off x="838200" y="1900269"/>
            <a:ext cx="10515600" cy="3203575"/>
          </a:xfrm>
        </p:spPr>
        <p:txBody>
          <a:bodyPr/>
          <a:lstStyle/>
          <a:p>
            <a:r>
              <a:rPr lang="en-GB" dirty="0"/>
              <a:t>INLA tries to approximate the required integrals deterministically, primarily using Laplace approximations.</a:t>
            </a:r>
          </a:p>
          <a:p>
            <a:endParaRPr lang="en-GB" dirty="0"/>
          </a:p>
          <a:p>
            <a:r>
              <a:rPr lang="en-GB" dirty="0"/>
              <a:t>INLA exploits a special structure of the model: </a:t>
            </a:r>
            <a:r>
              <a:rPr lang="en-GB" b="1" dirty="0"/>
              <a:t>the latent field is Gaussian</a:t>
            </a:r>
          </a:p>
          <a:p>
            <a:endParaRPr lang="en-GB" dirty="0"/>
          </a:p>
        </p:txBody>
      </p:sp>
      <p:sp>
        <p:nvSpPr>
          <p:cNvPr id="4" name="Slide Number Placeholder 3">
            <a:extLst>
              <a:ext uri="{FF2B5EF4-FFF2-40B4-BE49-F238E27FC236}">
                <a16:creationId xmlns:a16="http://schemas.microsoft.com/office/drawing/2014/main" id="{1702BBBE-09E5-793B-B355-1A24E869F32F}"/>
              </a:ext>
            </a:extLst>
          </p:cNvPr>
          <p:cNvSpPr>
            <a:spLocks noGrp="1"/>
          </p:cNvSpPr>
          <p:nvPr>
            <p:ph type="sldNum" sz="quarter" idx="12"/>
          </p:nvPr>
        </p:nvSpPr>
        <p:spPr/>
        <p:txBody>
          <a:bodyPr/>
          <a:lstStyle/>
          <a:p>
            <a:fld id="{92E773D0-8039-41DE-9EAA-38744617136D}" type="slidenum">
              <a:rPr lang="en-GB" smtClean="0"/>
              <a:t>31</a:t>
            </a:fld>
            <a:endParaRPr lang="en-GB"/>
          </a:p>
        </p:txBody>
      </p:sp>
      <p:sp>
        <p:nvSpPr>
          <p:cNvPr id="5" name="Title 1">
            <a:extLst>
              <a:ext uri="{FF2B5EF4-FFF2-40B4-BE49-F238E27FC236}">
                <a16:creationId xmlns:a16="http://schemas.microsoft.com/office/drawing/2014/main" id="{52DDBFF2-D2B1-AF26-F3FE-C04B89A0E8EE}"/>
              </a:ext>
            </a:extLst>
          </p:cNvPr>
          <p:cNvSpPr>
            <a:spLocks noGrp="1"/>
          </p:cNvSpPr>
          <p:nvPr>
            <p:ph type="title"/>
          </p:nvPr>
        </p:nvSpPr>
        <p:spPr>
          <a:xfrm>
            <a:off x="464976" y="13059"/>
            <a:ext cx="11478208" cy="817365"/>
          </a:xfrm>
        </p:spPr>
        <p:txBody>
          <a:bodyPr>
            <a:normAutofit fontScale="90000"/>
          </a:bodyPr>
          <a:lstStyle/>
          <a:p>
            <a:r>
              <a:rPr lang="en-GB" b="1" dirty="0">
                <a:solidFill>
                  <a:schemeClr val="bg1"/>
                </a:solidFill>
                <a:latin typeface="+mn-lt"/>
              </a:rPr>
              <a:t>INLA – Integrated Nested Laplace Approximation</a:t>
            </a:r>
          </a:p>
        </p:txBody>
      </p:sp>
    </p:spTree>
    <p:extLst>
      <p:ext uri="{BB962C8B-B14F-4D97-AF65-F5344CB8AC3E}">
        <p14:creationId xmlns:p14="http://schemas.microsoft.com/office/powerpoint/2010/main" val="31044548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0B8CA-7825-5C77-91F6-24142CD2178F}"/>
              </a:ext>
            </a:extLst>
          </p:cNvPr>
          <p:cNvSpPr>
            <a:spLocks noGrp="1"/>
          </p:cNvSpPr>
          <p:nvPr>
            <p:ph type="title"/>
          </p:nvPr>
        </p:nvSpPr>
        <p:spPr>
          <a:xfrm>
            <a:off x="297024" y="0"/>
            <a:ext cx="10515600" cy="736088"/>
          </a:xfrm>
        </p:spPr>
        <p:txBody>
          <a:bodyPr>
            <a:normAutofit/>
          </a:bodyPr>
          <a:lstStyle/>
          <a:p>
            <a:r>
              <a:rPr lang="en-GB" sz="4000" b="1" dirty="0">
                <a:solidFill>
                  <a:schemeClr val="bg1"/>
                </a:solidFill>
                <a:latin typeface="+mn-lt"/>
              </a:rPr>
              <a:t>Latent Gaussian models (LGMs)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40ECB36-D503-3EB0-3DF2-1BB625EB4B59}"/>
                  </a:ext>
                </a:extLst>
              </p:cNvPr>
              <p:cNvSpPr>
                <a:spLocks noGrp="1"/>
              </p:cNvSpPr>
              <p:nvPr>
                <p:ph idx="1"/>
              </p:nvPr>
            </p:nvSpPr>
            <p:spPr>
              <a:xfrm>
                <a:off x="720212" y="1145175"/>
                <a:ext cx="11098162" cy="5560425"/>
              </a:xfrm>
            </p:spPr>
            <p:txBody>
              <a:bodyPr>
                <a:normAutofit fontScale="77500" lnSpcReduction="20000"/>
              </a:bodyPr>
              <a:lstStyle/>
              <a:p>
                <a:r>
                  <a:rPr lang="en-GB" sz="3100" dirty="0"/>
                  <a:t>We can think of an LGM as a three-level hierarchical model: </a:t>
                </a:r>
              </a:p>
              <a:p>
                <a:pPr lvl="1"/>
                <a:r>
                  <a:rPr lang="en-GB" sz="3100" dirty="0"/>
                  <a:t>The observations/data model</a:t>
                </a:r>
              </a:p>
              <a:p>
                <a:pPr lvl="1"/>
                <a:r>
                  <a:rPr lang="en-GB" sz="3100" dirty="0"/>
                  <a:t>The linear predictor/latent field</a:t>
                </a:r>
              </a:p>
              <a:p>
                <a:pPr lvl="1"/>
                <a:r>
                  <a:rPr lang="en-GB" sz="3100" dirty="0"/>
                  <a:t>The hyperparameters</a:t>
                </a:r>
              </a:p>
              <a:p>
                <a:pPr lvl="1"/>
                <a:endParaRPr lang="en-GB" dirty="0"/>
              </a:p>
              <a:p>
                <a:pPr marL="0" indent="0">
                  <a:buNone/>
                </a:pPr>
                <a:r>
                  <a:rPr lang="en-GB" sz="3600" b="1" dirty="0">
                    <a:solidFill>
                      <a:schemeClr val="accent1"/>
                    </a:solidFill>
                  </a:rPr>
                  <a:t>Level 1: The data model</a:t>
                </a:r>
              </a:p>
              <a:p>
                <a:pPr marL="0" indent="0">
                  <a:buNone/>
                </a:pPr>
                <a:endParaRPr lang="en-GB" sz="3100" dirty="0"/>
              </a:p>
              <a:p>
                <a:pPr marL="0" indent="0">
                  <a:buNone/>
                </a:pPr>
                <a14:m>
                  <m:oMathPara xmlns:m="http://schemas.openxmlformats.org/officeDocument/2006/math">
                    <m:oMath>
                      <m:sSub>
                        <m:sSubPr>
                          <m:ctrlPr>
                            <a:rPr lang="en-GB" sz="3100" b="0" i="1" smtClean="0">
                              <a:latin typeface="Cambria Math" panose="02040503050406030204" pitchFamily="18" charset="0"/>
                            </a:rPr>
                          </m:ctrlPr>
                        </m:sSubPr>
                        <m:e>
                          <m:r>
                            <a:rPr lang="en-GB" sz="3100" b="0" i="1" smtClean="0">
                              <a:latin typeface="Cambria Math" panose="02040503050406030204" pitchFamily="18" charset="0"/>
                            </a:rPr>
                            <m:t>𝑌</m:t>
                          </m:r>
                        </m:e>
                        <m:sub>
                          <m:r>
                            <a:rPr lang="en-GB" sz="3100" b="0" i="1" smtClean="0">
                              <a:latin typeface="Cambria Math" panose="02040503050406030204" pitchFamily="18" charset="0"/>
                            </a:rPr>
                            <m:t>𝑖</m:t>
                          </m:r>
                        </m:sub>
                      </m:sSub>
                      <m:r>
                        <a:rPr lang="en-GB" sz="3100" b="0" i="1" smtClean="0">
                          <a:latin typeface="Cambria Math" panose="02040503050406030204" pitchFamily="18" charset="0"/>
                        </a:rPr>
                        <m:t>|</m:t>
                      </m:r>
                      <m:sSub>
                        <m:sSubPr>
                          <m:ctrlPr>
                            <a:rPr lang="en-GB" sz="3100" b="0" i="1" smtClean="0">
                              <a:latin typeface="Cambria Math" panose="02040503050406030204" pitchFamily="18" charset="0"/>
                            </a:rPr>
                          </m:ctrlPr>
                        </m:sSubPr>
                        <m:e>
                          <m:r>
                            <a:rPr lang="en-GB" sz="3100" b="0" i="1" smtClean="0">
                              <a:latin typeface="Cambria Math" panose="02040503050406030204" pitchFamily="18" charset="0"/>
                            </a:rPr>
                            <m:t>𝜂</m:t>
                          </m:r>
                        </m:e>
                        <m:sub>
                          <m:r>
                            <a:rPr lang="en-GB" sz="3100" b="0" i="1" smtClean="0">
                              <a:latin typeface="Cambria Math" panose="02040503050406030204" pitchFamily="18" charset="0"/>
                            </a:rPr>
                            <m:t>𝑖</m:t>
                          </m:r>
                        </m:sub>
                      </m:sSub>
                      <m:r>
                        <a:rPr lang="en-GB" sz="3100" b="0" i="1" smtClean="0">
                          <a:latin typeface="Cambria Math" panose="02040503050406030204" pitchFamily="18" charset="0"/>
                        </a:rPr>
                        <m:t>,</m:t>
                      </m:r>
                      <m:r>
                        <a:rPr lang="en-GB" sz="3100" b="1" i="1" smtClean="0">
                          <a:latin typeface="Cambria Math" panose="02040503050406030204" pitchFamily="18" charset="0"/>
                        </a:rPr>
                        <m:t>𝜽</m:t>
                      </m:r>
                      <m:r>
                        <a:rPr lang="en-GB" sz="3100" b="1" i="1" smtClean="0">
                          <a:latin typeface="Cambria Math" panose="02040503050406030204" pitchFamily="18" charset="0"/>
                        </a:rPr>
                        <m:t> ∼</m:t>
                      </m:r>
                      <m:r>
                        <a:rPr lang="en-GB" sz="3100" b="0" i="1" smtClean="0">
                          <a:latin typeface="Cambria Math" panose="02040503050406030204" pitchFamily="18" charset="0"/>
                        </a:rPr>
                        <m:t>𝑝</m:t>
                      </m:r>
                      <m:d>
                        <m:dPr>
                          <m:ctrlPr>
                            <a:rPr lang="en-GB" sz="3100" b="0" i="1" smtClean="0">
                              <a:latin typeface="Cambria Math" panose="02040503050406030204" pitchFamily="18" charset="0"/>
                            </a:rPr>
                          </m:ctrlPr>
                        </m:dPr>
                        <m:e>
                          <m:sSub>
                            <m:sSubPr>
                              <m:ctrlPr>
                                <a:rPr lang="en-GB" sz="3100" b="0" i="1" smtClean="0">
                                  <a:latin typeface="Cambria Math" panose="02040503050406030204" pitchFamily="18" charset="0"/>
                                </a:rPr>
                              </m:ctrlPr>
                            </m:sSubPr>
                            <m:e>
                              <m:r>
                                <a:rPr lang="en-GB" sz="3100" b="0" i="1" smtClean="0">
                                  <a:latin typeface="Cambria Math" panose="02040503050406030204" pitchFamily="18" charset="0"/>
                                </a:rPr>
                                <m:t>𝑦</m:t>
                              </m:r>
                            </m:e>
                            <m:sub>
                              <m:r>
                                <a:rPr lang="en-GB" sz="3100" b="0" i="1" smtClean="0">
                                  <a:latin typeface="Cambria Math" panose="02040503050406030204" pitchFamily="18" charset="0"/>
                                </a:rPr>
                                <m:t>𝑖</m:t>
                              </m:r>
                            </m:sub>
                          </m:sSub>
                        </m:e>
                        <m:e>
                          <m:sSub>
                            <m:sSubPr>
                              <m:ctrlPr>
                                <a:rPr lang="en-GB" sz="3100" b="0" i="1" smtClean="0">
                                  <a:latin typeface="Cambria Math" panose="02040503050406030204" pitchFamily="18" charset="0"/>
                                </a:rPr>
                              </m:ctrlPr>
                            </m:sSubPr>
                            <m:e>
                              <m:r>
                                <a:rPr lang="en-GB" sz="3100" b="0" i="1" smtClean="0">
                                  <a:latin typeface="Cambria Math" panose="02040503050406030204" pitchFamily="18" charset="0"/>
                                </a:rPr>
                                <m:t>𝜂</m:t>
                              </m:r>
                            </m:e>
                            <m:sub>
                              <m:r>
                                <a:rPr lang="en-GB" sz="3100" b="0" i="1" smtClean="0">
                                  <a:latin typeface="Cambria Math" panose="02040503050406030204" pitchFamily="18" charset="0"/>
                                </a:rPr>
                                <m:t>𝑖</m:t>
                              </m:r>
                            </m:sub>
                          </m:sSub>
                          <m:r>
                            <a:rPr lang="en-GB" sz="3100" b="0" i="1" smtClean="0">
                              <a:latin typeface="Cambria Math" panose="02040503050406030204" pitchFamily="18" charset="0"/>
                            </a:rPr>
                            <m:t>,</m:t>
                          </m:r>
                          <m:r>
                            <a:rPr lang="en-GB" sz="3100" b="1" i="1" smtClean="0">
                              <a:latin typeface="Cambria Math" panose="02040503050406030204" pitchFamily="18" charset="0"/>
                            </a:rPr>
                            <m:t>𝜽</m:t>
                          </m:r>
                          <m:r>
                            <a:rPr lang="en-GB" sz="3100" b="1" i="1" smtClean="0">
                              <a:latin typeface="Cambria Math" panose="02040503050406030204" pitchFamily="18" charset="0"/>
                            </a:rPr>
                            <m:t> </m:t>
                          </m:r>
                        </m:e>
                      </m:d>
                      <m:r>
                        <a:rPr lang="en-GB" sz="3100" b="0" i="1" smtClean="0">
                          <a:latin typeface="Cambria Math" panose="02040503050406030204" pitchFamily="18" charset="0"/>
                        </a:rPr>
                        <m:t>, </m:t>
                      </m:r>
                      <m:r>
                        <a:rPr lang="en-GB" sz="3100" b="0" i="1" smtClean="0">
                          <a:latin typeface="Cambria Math" panose="02040503050406030204" pitchFamily="18" charset="0"/>
                        </a:rPr>
                        <m:t>𝑖</m:t>
                      </m:r>
                      <m:r>
                        <a:rPr lang="en-GB" sz="3100" b="0" i="1" smtClean="0">
                          <a:latin typeface="Cambria Math" panose="02040503050406030204" pitchFamily="18" charset="0"/>
                        </a:rPr>
                        <m:t>=1,…,</m:t>
                      </m:r>
                      <m:r>
                        <a:rPr lang="en-GB" sz="3100" b="0" i="1" smtClean="0">
                          <a:latin typeface="Cambria Math" panose="02040503050406030204" pitchFamily="18" charset="0"/>
                        </a:rPr>
                        <m:t>𝑛</m:t>
                      </m:r>
                    </m:oMath>
                  </m:oMathPara>
                </a14:m>
                <a:endParaRPr lang="en-GB" sz="3100" dirty="0"/>
              </a:p>
              <a:p>
                <a:pPr marL="0" indent="0">
                  <a:buNone/>
                </a:pPr>
                <a:endParaRPr lang="en-GB" sz="3100" dirty="0"/>
              </a:p>
              <a:p>
                <a14:m>
                  <m:oMath xmlns:m="http://schemas.openxmlformats.org/officeDocument/2006/math">
                    <m:sSub>
                      <m:sSubPr>
                        <m:ctrlPr>
                          <a:rPr lang="en-GB" sz="3100" b="0" i="1" smtClean="0">
                            <a:latin typeface="Cambria Math" panose="02040503050406030204" pitchFamily="18" charset="0"/>
                          </a:rPr>
                        </m:ctrlPr>
                      </m:sSubPr>
                      <m:e>
                        <m:r>
                          <a:rPr lang="en-GB" sz="3100" b="0" i="1" smtClean="0">
                            <a:latin typeface="Cambria Math" panose="02040503050406030204" pitchFamily="18" charset="0"/>
                          </a:rPr>
                          <m:t>𝑌</m:t>
                        </m:r>
                      </m:e>
                      <m:sub>
                        <m:r>
                          <a:rPr lang="en-GB" sz="3100" b="0" i="1" smtClean="0">
                            <a:latin typeface="Cambria Math" panose="02040503050406030204" pitchFamily="18" charset="0"/>
                          </a:rPr>
                          <m:t>𝑖</m:t>
                        </m:r>
                      </m:sub>
                    </m:sSub>
                  </m:oMath>
                </a14:m>
                <a:r>
                  <a:rPr lang="en-GB" sz="3100" dirty="0"/>
                  <a:t> can be assumed to follow a known probability distribution, usually from the </a:t>
                </a:r>
                <a:r>
                  <a:rPr lang="en-GB" sz="3100" dirty="0">
                    <a:solidFill>
                      <a:schemeClr val="tx2">
                        <a:lumMod val="75000"/>
                        <a:lumOff val="25000"/>
                      </a:schemeClr>
                    </a:solidFill>
                  </a:rPr>
                  <a:t>exponential family of distributions</a:t>
                </a:r>
                <a:r>
                  <a:rPr lang="en-GB" sz="3100" dirty="0"/>
                  <a:t>, such as  Gaussian, binomial, Poisson, Negative binomial, Gamma, etc</a:t>
                </a:r>
              </a:p>
              <a:p>
                <a14:m>
                  <m:oMath xmlns:m="http://schemas.openxmlformats.org/officeDocument/2006/math">
                    <m:sSub>
                      <m:sSubPr>
                        <m:ctrlPr>
                          <a:rPr lang="en-GB" sz="3100" b="0" i="1" smtClean="0">
                            <a:latin typeface="Cambria Math" panose="02040503050406030204" pitchFamily="18" charset="0"/>
                          </a:rPr>
                        </m:ctrlPr>
                      </m:sSubPr>
                      <m:e>
                        <m:r>
                          <a:rPr lang="en-GB" sz="3100" b="0" i="1" smtClean="0">
                            <a:latin typeface="Cambria Math" panose="02040503050406030204" pitchFamily="18" charset="0"/>
                          </a:rPr>
                          <m:t>𝜂</m:t>
                        </m:r>
                      </m:e>
                      <m:sub>
                        <m:r>
                          <a:rPr lang="en-GB" sz="3100" b="0" i="1" smtClean="0">
                            <a:latin typeface="Cambria Math" panose="02040503050406030204" pitchFamily="18" charset="0"/>
                          </a:rPr>
                          <m:t>𝑖</m:t>
                        </m:r>
                      </m:sub>
                    </m:sSub>
                  </m:oMath>
                </a14:m>
                <a:r>
                  <a:rPr lang="en-GB" sz="3100" dirty="0"/>
                  <a:t> is a linear predictor associated with the (conditional) mean of </a:t>
                </a:r>
                <a14:m>
                  <m:oMath xmlns:m="http://schemas.openxmlformats.org/officeDocument/2006/math">
                    <m:sSub>
                      <m:sSubPr>
                        <m:ctrlPr>
                          <a:rPr lang="en-GB" sz="3100" b="0" i="1" smtClean="0">
                            <a:latin typeface="Cambria Math" panose="02040503050406030204" pitchFamily="18" charset="0"/>
                          </a:rPr>
                        </m:ctrlPr>
                      </m:sSubPr>
                      <m:e>
                        <m:r>
                          <a:rPr lang="en-GB" sz="3100" b="0" i="1" smtClean="0">
                            <a:latin typeface="Cambria Math" panose="02040503050406030204" pitchFamily="18" charset="0"/>
                          </a:rPr>
                          <m:t>𝑦</m:t>
                        </m:r>
                      </m:e>
                      <m:sub>
                        <m:r>
                          <a:rPr lang="en-GB" sz="3100" b="0" i="1" smtClean="0">
                            <a:latin typeface="Cambria Math" panose="02040503050406030204" pitchFamily="18" charset="0"/>
                          </a:rPr>
                          <m:t>𝑖</m:t>
                        </m:r>
                      </m:sub>
                    </m:sSub>
                  </m:oMath>
                </a14:m>
                <a:r>
                  <a:rPr lang="en-GB" sz="3100" dirty="0"/>
                  <a:t>, </a:t>
                </a:r>
                <a14:m>
                  <m:oMath xmlns:m="http://schemas.openxmlformats.org/officeDocument/2006/math">
                    <m:sSub>
                      <m:sSubPr>
                        <m:ctrlPr>
                          <a:rPr lang="en-GB" sz="3100" b="0" i="1" smtClean="0">
                            <a:latin typeface="Cambria Math" panose="02040503050406030204" pitchFamily="18" charset="0"/>
                          </a:rPr>
                        </m:ctrlPr>
                      </m:sSubPr>
                      <m:e>
                        <m:r>
                          <a:rPr lang="en-GB" sz="3100" b="0" i="1" smtClean="0">
                            <a:latin typeface="Cambria Math" panose="02040503050406030204" pitchFamily="18" charset="0"/>
                          </a:rPr>
                          <m:t>𝜇</m:t>
                        </m:r>
                      </m:e>
                      <m:sub>
                        <m:r>
                          <a:rPr lang="en-GB" sz="3100" b="0" i="1" smtClean="0">
                            <a:latin typeface="Cambria Math" panose="02040503050406030204" pitchFamily="18" charset="0"/>
                          </a:rPr>
                          <m:t>𝑖</m:t>
                        </m:r>
                      </m:sub>
                    </m:sSub>
                  </m:oMath>
                </a14:m>
                <a:r>
                  <a:rPr lang="en-GB" sz="3100" dirty="0"/>
                  <a:t>, through a link function, </a:t>
                </a:r>
                <a14:m>
                  <m:oMath xmlns:m="http://schemas.openxmlformats.org/officeDocument/2006/math">
                    <m:r>
                      <a:rPr lang="en-GB" sz="3100" b="0" i="1" smtClean="0">
                        <a:latin typeface="Cambria Math" panose="02040503050406030204" pitchFamily="18" charset="0"/>
                      </a:rPr>
                      <m:t>𝑔</m:t>
                    </m:r>
                    <m:r>
                      <a:rPr lang="en-GB" sz="3100" b="0" i="1" smtClean="0">
                        <a:latin typeface="Cambria Math" panose="02040503050406030204" pitchFamily="18" charset="0"/>
                      </a:rPr>
                      <m:t>()</m:t>
                    </m:r>
                  </m:oMath>
                </a14:m>
                <a:r>
                  <a:rPr lang="en-GB" sz="3100" dirty="0"/>
                  <a:t>, such that </a:t>
                </a:r>
                <a14:m>
                  <m:oMath xmlns:m="http://schemas.openxmlformats.org/officeDocument/2006/math">
                    <m:sSub>
                      <m:sSubPr>
                        <m:ctrlPr>
                          <a:rPr lang="en-GB" sz="3100" b="0" i="1" smtClean="0">
                            <a:latin typeface="Cambria Math" panose="02040503050406030204" pitchFamily="18" charset="0"/>
                          </a:rPr>
                        </m:ctrlPr>
                      </m:sSubPr>
                      <m:e>
                        <m:r>
                          <a:rPr lang="en-GB" sz="3100" b="0" i="1" smtClean="0">
                            <a:latin typeface="Cambria Math" panose="02040503050406030204" pitchFamily="18" charset="0"/>
                          </a:rPr>
                          <m:t>𝜂</m:t>
                        </m:r>
                      </m:e>
                      <m:sub>
                        <m:r>
                          <a:rPr lang="en-GB" sz="3100" b="0" i="1" smtClean="0">
                            <a:latin typeface="Cambria Math" panose="02040503050406030204" pitchFamily="18" charset="0"/>
                          </a:rPr>
                          <m:t>𝑖</m:t>
                        </m:r>
                      </m:sub>
                    </m:sSub>
                    <m:r>
                      <a:rPr lang="en-GB" sz="3100" b="0" i="1" smtClean="0">
                        <a:latin typeface="Cambria Math" panose="02040503050406030204" pitchFamily="18" charset="0"/>
                      </a:rPr>
                      <m:t>=</m:t>
                    </m:r>
                    <m:r>
                      <a:rPr lang="en-GB" sz="3100" b="0" i="1" smtClean="0">
                        <a:latin typeface="Cambria Math" panose="02040503050406030204" pitchFamily="18" charset="0"/>
                      </a:rPr>
                      <m:t>𝑔</m:t>
                    </m:r>
                    <m:r>
                      <a:rPr lang="en-GB" sz="3100" b="0" i="1" smtClean="0">
                        <a:latin typeface="Cambria Math" panose="02040503050406030204" pitchFamily="18" charset="0"/>
                      </a:rPr>
                      <m:t>(</m:t>
                    </m:r>
                    <m:sSub>
                      <m:sSubPr>
                        <m:ctrlPr>
                          <a:rPr lang="en-GB" sz="3100" b="0" i="1" smtClean="0">
                            <a:latin typeface="Cambria Math" panose="02040503050406030204" pitchFamily="18" charset="0"/>
                          </a:rPr>
                        </m:ctrlPr>
                      </m:sSubPr>
                      <m:e>
                        <m:r>
                          <a:rPr lang="en-GB" sz="3100" b="0" i="1" smtClean="0">
                            <a:latin typeface="Cambria Math" panose="02040503050406030204" pitchFamily="18" charset="0"/>
                          </a:rPr>
                          <m:t>𝜇</m:t>
                        </m:r>
                      </m:e>
                      <m:sub>
                        <m:r>
                          <a:rPr lang="en-GB" sz="3100" b="0" i="1" smtClean="0">
                            <a:latin typeface="Cambria Math" panose="02040503050406030204" pitchFamily="18" charset="0"/>
                          </a:rPr>
                          <m:t>𝑖</m:t>
                        </m:r>
                      </m:sub>
                    </m:sSub>
                    <m:r>
                      <a:rPr lang="en-GB" sz="3100" b="0" i="1" smtClean="0">
                        <a:latin typeface="Cambria Math" panose="02040503050406030204" pitchFamily="18" charset="0"/>
                      </a:rPr>
                      <m:t>)</m:t>
                    </m:r>
                  </m:oMath>
                </a14:m>
                <a:r>
                  <a:rPr lang="en-GB" sz="3100" dirty="0"/>
                  <a:t>. For example, if </a:t>
                </a:r>
                <a14:m>
                  <m:oMath xmlns:m="http://schemas.openxmlformats.org/officeDocument/2006/math">
                    <m:sSub>
                      <m:sSubPr>
                        <m:ctrlPr>
                          <a:rPr lang="en-GB" sz="3100" b="0" i="1" smtClean="0">
                            <a:latin typeface="Cambria Math" panose="02040503050406030204" pitchFamily="18" charset="0"/>
                          </a:rPr>
                        </m:ctrlPr>
                      </m:sSubPr>
                      <m:e>
                        <m:r>
                          <a:rPr lang="en-GB" sz="3100" b="0" i="1" smtClean="0">
                            <a:latin typeface="Cambria Math" panose="02040503050406030204" pitchFamily="18" charset="0"/>
                          </a:rPr>
                          <m:t>𝑌</m:t>
                        </m:r>
                      </m:e>
                      <m:sub>
                        <m:r>
                          <a:rPr lang="en-GB" sz="3100" b="0" i="1" smtClean="0">
                            <a:latin typeface="Cambria Math" panose="02040503050406030204" pitchFamily="18" charset="0"/>
                          </a:rPr>
                          <m:t>𝑖</m:t>
                        </m:r>
                      </m:sub>
                    </m:sSub>
                    <m:r>
                      <a:rPr lang="en-GB" sz="3100" b="0" i="1" smtClean="0">
                        <a:latin typeface="Cambria Math" panose="02040503050406030204" pitchFamily="18" charset="0"/>
                      </a:rPr>
                      <m:t>∼</m:t>
                    </m:r>
                    <m:r>
                      <a:rPr lang="en-GB" sz="3100" b="0" i="1" smtClean="0">
                        <a:latin typeface="Cambria Math" panose="02040503050406030204" pitchFamily="18" charset="0"/>
                      </a:rPr>
                      <m:t>𝑃𝑜𝑖𝑠𝑠𝑜𝑛</m:t>
                    </m:r>
                    <m:r>
                      <a:rPr lang="en-GB" sz="3100" b="0" i="1" smtClean="0">
                        <a:latin typeface="Cambria Math" panose="02040503050406030204" pitchFamily="18" charset="0"/>
                      </a:rPr>
                      <m:t>(</m:t>
                    </m:r>
                    <m:sSub>
                      <m:sSubPr>
                        <m:ctrlPr>
                          <a:rPr lang="en-GB" sz="3100" b="0" i="1" smtClean="0">
                            <a:latin typeface="Cambria Math" panose="02040503050406030204" pitchFamily="18" charset="0"/>
                          </a:rPr>
                        </m:ctrlPr>
                      </m:sSubPr>
                      <m:e>
                        <m:r>
                          <a:rPr lang="en-GB" sz="3100" b="0" i="1" smtClean="0">
                            <a:latin typeface="Cambria Math" panose="02040503050406030204" pitchFamily="18" charset="0"/>
                          </a:rPr>
                          <m:t>𝜆</m:t>
                        </m:r>
                      </m:e>
                      <m:sub>
                        <m:r>
                          <a:rPr lang="en-GB" sz="3100" b="0" i="1" smtClean="0">
                            <a:latin typeface="Cambria Math" panose="02040503050406030204" pitchFamily="18" charset="0"/>
                          </a:rPr>
                          <m:t>𝑖</m:t>
                        </m:r>
                      </m:sub>
                    </m:sSub>
                    <m:r>
                      <a:rPr lang="en-GB" sz="3100" b="0" i="1" smtClean="0">
                        <a:latin typeface="Cambria Math" panose="02040503050406030204" pitchFamily="18" charset="0"/>
                      </a:rPr>
                      <m:t>)</m:t>
                    </m:r>
                  </m:oMath>
                </a14:m>
                <a:r>
                  <a:rPr lang="en-GB" sz="3100" dirty="0"/>
                  <a:t>, then </a:t>
                </a:r>
                <a14:m>
                  <m:oMath xmlns:m="http://schemas.openxmlformats.org/officeDocument/2006/math">
                    <m:sSub>
                      <m:sSubPr>
                        <m:ctrlPr>
                          <a:rPr lang="en-GB" sz="3100" b="0" i="1" smtClean="0">
                            <a:latin typeface="Cambria Math" panose="02040503050406030204" pitchFamily="18" charset="0"/>
                          </a:rPr>
                        </m:ctrlPr>
                      </m:sSubPr>
                      <m:e>
                        <m:r>
                          <a:rPr lang="en-GB" sz="3100" b="0" i="1" smtClean="0">
                            <a:latin typeface="Cambria Math" panose="02040503050406030204" pitchFamily="18" charset="0"/>
                          </a:rPr>
                          <m:t>𝜂</m:t>
                        </m:r>
                      </m:e>
                      <m:sub>
                        <m:r>
                          <a:rPr lang="en-GB" sz="3100" b="0" i="1" smtClean="0">
                            <a:latin typeface="Cambria Math" panose="02040503050406030204" pitchFamily="18" charset="0"/>
                          </a:rPr>
                          <m:t>𝑖</m:t>
                        </m:r>
                      </m:sub>
                    </m:sSub>
                    <m:r>
                      <a:rPr lang="en-GB" sz="3100" b="0" i="1" smtClean="0">
                        <a:latin typeface="Cambria Math" panose="02040503050406030204" pitchFamily="18" charset="0"/>
                      </a:rPr>
                      <m:t>=</m:t>
                    </m:r>
                    <m:r>
                      <a:rPr lang="en-GB" sz="3100" b="0" i="1" smtClean="0">
                        <a:latin typeface="Cambria Math" panose="02040503050406030204" pitchFamily="18" charset="0"/>
                      </a:rPr>
                      <m:t>𝑔</m:t>
                    </m:r>
                    <m:d>
                      <m:dPr>
                        <m:ctrlPr>
                          <a:rPr lang="en-GB" sz="3100" b="0" i="1" smtClean="0">
                            <a:latin typeface="Cambria Math" panose="02040503050406030204" pitchFamily="18" charset="0"/>
                          </a:rPr>
                        </m:ctrlPr>
                      </m:dPr>
                      <m:e>
                        <m:sSub>
                          <m:sSubPr>
                            <m:ctrlPr>
                              <a:rPr lang="en-GB" sz="3100" b="0" i="1" smtClean="0">
                                <a:latin typeface="Cambria Math" panose="02040503050406030204" pitchFamily="18" charset="0"/>
                              </a:rPr>
                            </m:ctrlPr>
                          </m:sSubPr>
                          <m:e>
                            <m:r>
                              <a:rPr lang="en-GB" sz="3100" b="0" i="1" smtClean="0">
                                <a:latin typeface="Cambria Math" panose="02040503050406030204" pitchFamily="18" charset="0"/>
                              </a:rPr>
                              <m:t>𝜇</m:t>
                            </m:r>
                          </m:e>
                          <m:sub>
                            <m:r>
                              <a:rPr lang="en-GB" sz="3100" b="0" i="1" smtClean="0">
                                <a:latin typeface="Cambria Math" panose="02040503050406030204" pitchFamily="18" charset="0"/>
                              </a:rPr>
                              <m:t>𝑖</m:t>
                            </m:r>
                          </m:sub>
                        </m:sSub>
                      </m:e>
                    </m:d>
                    <m:r>
                      <a:rPr lang="en-GB" sz="3100" b="0" i="1" smtClean="0">
                        <a:latin typeface="Cambria Math" panose="02040503050406030204" pitchFamily="18" charset="0"/>
                      </a:rPr>
                      <m:t>=</m:t>
                    </m:r>
                    <m:r>
                      <m:rPr>
                        <m:sty m:val="p"/>
                      </m:rPr>
                      <a:rPr lang="en-GB" sz="3100" b="0" i="0" smtClean="0">
                        <a:latin typeface="Cambria Math" panose="02040503050406030204" pitchFamily="18" charset="0"/>
                      </a:rPr>
                      <m:t>log</m:t>
                    </m:r>
                    <m:r>
                      <a:rPr lang="en-GB" sz="3100" b="0" i="1" smtClean="0">
                        <a:latin typeface="Cambria Math" panose="02040503050406030204" pitchFamily="18" charset="0"/>
                      </a:rPr>
                      <m:t>⁡(</m:t>
                    </m:r>
                    <m:sSub>
                      <m:sSubPr>
                        <m:ctrlPr>
                          <a:rPr lang="en-GB" sz="3100" b="0" i="1" smtClean="0">
                            <a:latin typeface="Cambria Math" panose="02040503050406030204" pitchFamily="18" charset="0"/>
                          </a:rPr>
                        </m:ctrlPr>
                      </m:sSubPr>
                      <m:e>
                        <m:r>
                          <a:rPr lang="en-GB" sz="3100" b="0" i="1" smtClean="0">
                            <a:latin typeface="Cambria Math" panose="02040503050406030204" pitchFamily="18" charset="0"/>
                          </a:rPr>
                          <m:t>𝜆</m:t>
                        </m:r>
                      </m:e>
                      <m:sub>
                        <m:r>
                          <a:rPr lang="en-GB" sz="3100" b="0" i="1" smtClean="0">
                            <a:latin typeface="Cambria Math" panose="02040503050406030204" pitchFamily="18" charset="0"/>
                          </a:rPr>
                          <m:t>𝑖</m:t>
                        </m:r>
                      </m:sub>
                    </m:sSub>
                    <m:r>
                      <a:rPr lang="en-GB" sz="3100" b="0" i="1" smtClean="0">
                        <a:latin typeface="Cambria Math" panose="02040503050406030204" pitchFamily="18" charset="0"/>
                      </a:rPr>
                      <m:t>)</m:t>
                    </m:r>
                  </m:oMath>
                </a14:m>
                <a:r>
                  <a:rPr lang="en-GB" sz="3100" dirty="0"/>
                  <a:t> (i.e., the log link)</a:t>
                </a:r>
              </a:p>
              <a:p>
                <a14:m>
                  <m:oMath xmlns:m="http://schemas.openxmlformats.org/officeDocument/2006/math">
                    <m:r>
                      <a:rPr lang="en-GB" sz="3100" b="1" i="1" smtClean="0">
                        <a:latin typeface="Cambria Math" panose="02040503050406030204" pitchFamily="18" charset="0"/>
                      </a:rPr>
                      <m:t>𝜽</m:t>
                    </m:r>
                  </m:oMath>
                </a14:m>
                <a:r>
                  <a:rPr lang="en-GB" sz="3100" dirty="0"/>
                  <a:t> is a vector of hyperparameters</a:t>
                </a:r>
              </a:p>
            </p:txBody>
          </p:sp>
        </mc:Choice>
        <mc:Fallback>
          <p:sp>
            <p:nvSpPr>
              <p:cNvPr id="3" name="Content Placeholder 2">
                <a:extLst>
                  <a:ext uri="{FF2B5EF4-FFF2-40B4-BE49-F238E27FC236}">
                    <a16:creationId xmlns:a16="http://schemas.microsoft.com/office/drawing/2014/main" id="{740ECB36-D503-3EB0-3DF2-1BB625EB4B59}"/>
                  </a:ext>
                </a:extLst>
              </p:cNvPr>
              <p:cNvSpPr>
                <a:spLocks noGrp="1" noRot="1" noChangeAspect="1" noMove="1" noResize="1" noEditPoints="1" noAdjustHandles="1" noChangeArrowheads="1" noChangeShapeType="1" noTextEdit="1"/>
              </p:cNvSpPr>
              <p:nvPr>
                <p:ph idx="1"/>
              </p:nvPr>
            </p:nvSpPr>
            <p:spPr>
              <a:xfrm>
                <a:off x="720212" y="1145175"/>
                <a:ext cx="11098162" cy="5560425"/>
              </a:xfrm>
              <a:blipFill>
                <a:blip r:embed="rId2"/>
                <a:stretch>
                  <a:fillRect l="-1098" t="-2412"/>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3D5C2A64-5E62-080E-7159-385232242781}"/>
              </a:ext>
            </a:extLst>
          </p:cNvPr>
          <p:cNvSpPr>
            <a:spLocks noGrp="1"/>
          </p:cNvSpPr>
          <p:nvPr>
            <p:ph type="sldNum" sz="quarter" idx="12"/>
          </p:nvPr>
        </p:nvSpPr>
        <p:spPr/>
        <p:txBody>
          <a:bodyPr/>
          <a:lstStyle/>
          <a:p>
            <a:fld id="{92E773D0-8039-41DE-9EAA-38744617136D}" type="slidenum">
              <a:rPr lang="en-GB" smtClean="0"/>
              <a:t>32</a:t>
            </a:fld>
            <a:endParaRPr lang="en-GB"/>
          </a:p>
        </p:txBody>
      </p:sp>
    </p:spTree>
    <p:extLst>
      <p:ext uri="{BB962C8B-B14F-4D97-AF65-F5344CB8AC3E}">
        <p14:creationId xmlns:p14="http://schemas.microsoft.com/office/powerpoint/2010/main" val="25863246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D51760-A802-0822-0A8D-F09937C93216}"/>
                  </a:ext>
                </a:extLst>
              </p:cNvPr>
              <p:cNvSpPr>
                <a:spLocks noGrp="1"/>
              </p:cNvSpPr>
              <p:nvPr>
                <p:ph idx="1"/>
              </p:nvPr>
            </p:nvSpPr>
            <p:spPr>
              <a:xfrm>
                <a:off x="838200" y="1607292"/>
                <a:ext cx="10515600" cy="4203690"/>
              </a:xfrm>
            </p:spPr>
            <p:txBody>
              <a:bodyPr>
                <a:normAutofit fontScale="92500"/>
              </a:bodyPr>
              <a:lstStyle/>
              <a:p>
                <a:pPr marL="0" indent="0">
                  <a:buNone/>
                </a:pPr>
                <a:r>
                  <a:rPr lang="en-GB" b="1" dirty="0">
                    <a:solidFill>
                      <a:schemeClr val="accent1"/>
                    </a:solidFill>
                  </a:rPr>
                  <a:t>Level 2: Latent Gaussian field</a:t>
                </a:r>
              </a:p>
              <a:p>
                <a:pPr marL="0" indent="0">
                  <a:buNone/>
                </a:pPr>
                <a:r>
                  <a:rPr lang="en-GB" dirty="0"/>
                  <a:t>The linear predictor can be expressed as</a:t>
                </a:r>
              </a:p>
              <a:p>
                <a:pPr marL="0" indent="0" algn="ctr">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𝜂</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Sup>
                      <m:sSubSupPr>
                        <m:ctrlPr>
                          <a:rPr lang="en-GB" b="1" i="1" smtClean="0">
                            <a:latin typeface="Cambria Math" panose="02040503050406030204" pitchFamily="18" charset="0"/>
                          </a:rPr>
                        </m:ctrlPr>
                      </m:sSubSupPr>
                      <m:e>
                        <m:r>
                          <a:rPr lang="en-GB" b="1" i="1" smtClean="0">
                            <a:latin typeface="Cambria Math" panose="02040503050406030204" pitchFamily="18" charset="0"/>
                          </a:rPr>
                          <m:t>𝒛</m:t>
                        </m:r>
                      </m:e>
                      <m:sub>
                        <m:r>
                          <a:rPr lang="en-GB" b="0" i="1" smtClean="0">
                            <a:latin typeface="Cambria Math" panose="02040503050406030204" pitchFamily="18" charset="0"/>
                          </a:rPr>
                          <m:t>𝑖</m:t>
                        </m:r>
                      </m:sub>
                      <m:sup>
                        <m:r>
                          <a:rPr lang="en-GB" b="0" i="1" smtClean="0">
                            <a:latin typeface="Cambria Math" panose="02040503050406030204" pitchFamily="18" charset="0"/>
                          </a:rPr>
                          <m:t>𝑇</m:t>
                        </m:r>
                      </m:sup>
                    </m:sSubSup>
                    <m:r>
                      <a:rPr lang="en-GB" b="1" i="1" smtClean="0">
                        <a:latin typeface="Cambria Math" panose="02040503050406030204" pitchFamily="18" charset="0"/>
                      </a:rPr>
                      <m:t>𝜷</m:t>
                    </m:r>
                    <m:r>
                      <a:rPr lang="en-GB" b="0" i="1" smtClean="0">
                        <a:latin typeface="Cambria Math" panose="02040503050406030204" pitchFamily="18" charset="0"/>
                      </a:rPr>
                      <m:t>+</m:t>
                    </m:r>
                    <m:r>
                      <m:rPr>
                        <m:sty m:val="p"/>
                      </m:rPr>
                      <a:rPr lang="en-GB" b="0" i="0" smtClean="0">
                        <a:latin typeface="Cambria Math" panose="02040503050406030204" pitchFamily="18" charset="0"/>
                      </a:rPr>
                      <m:t>other</m:t>
                    </m:r>
                    <m:r>
                      <a:rPr lang="en-GB" b="0" i="0" smtClean="0">
                        <a:latin typeface="Cambria Math" panose="02040503050406030204" pitchFamily="18" charset="0"/>
                      </a:rPr>
                      <m:t> </m:t>
                    </m:r>
                    <m:r>
                      <m:rPr>
                        <m:sty m:val="p"/>
                      </m:rPr>
                      <a:rPr lang="en-GB" b="0" i="0" smtClean="0">
                        <a:latin typeface="Cambria Math" panose="02040503050406030204" pitchFamily="18" charset="0"/>
                      </a:rPr>
                      <m:t>terms</m:t>
                    </m:r>
                  </m:oMath>
                </a14:m>
                <a:r>
                  <a:rPr lang="en-GB" dirty="0"/>
                  <a:t>.</a:t>
                </a:r>
              </a:p>
              <a:p>
                <a:pPr marL="0" indent="0" algn="ctr">
                  <a:buNone/>
                </a:pPr>
                <a:endParaRPr lang="en-GB" dirty="0"/>
              </a:p>
              <a:p>
                <a:r>
                  <a:rPr lang="en-GB" dirty="0"/>
                  <a:t>Other terms can include smooth/non-linear covariate effects, random effects accounting for temporal and/or spatial variation, etc</a:t>
                </a:r>
              </a:p>
              <a:p>
                <a:pPr marL="0" indent="0">
                  <a:buNone/>
                </a:pPr>
                <a:endParaRPr lang="en-GB" dirty="0">
                  <a:solidFill>
                    <a:schemeClr val="accent2"/>
                  </a:solidFill>
                </a:endParaRPr>
              </a:p>
              <a:p>
                <a:r>
                  <a:rPr lang="en-GB" dirty="0">
                    <a:solidFill>
                      <a:schemeClr val="accent2"/>
                    </a:solidFill>
                  </a:rPr>
                  <a:t>Let </a:t>
                </a:r>
                <a14:m>
                  <m:oMath xmlns:m="http://schemas.openxmlformats.org/officeDocument/2006/math">
                    <m:r>
                      <a:rPr lang="en-GB" b="1" i="0" smtClean="0">
                        <a:solidFill>
                          <a:schemeClr val="accent2"/>
                        </a:solidFill>
                        <a:latin typeface="Cambria Math" panose="02040503050406030204" pitchFamily="18" charset="0"/>
                      </a:rPr>
                      <m:t>𝐱</m:t>
                    </m:r>
                  </m:oMath>
                </a14:m>
                <a:r>
                  <a:rPr lang="en-GB" b="1" dirty="0">
                    <a:solidFill>
                      <a:schemeClr val="accent2"/>
                    </a:solidFill>
                  </a:rPr>
                  <a:t> </a:t>
                </a:r>
                <a:r>
                  <a:rPr lang="en-GB" dirty="0">
                    <a:solidFill>
                      <a:schemeClr val="accent2"/>
                    </a:solidFill>
                  </a:rPr>
                  <a:t>denote all the unknown quantities in the linear predictor, i.e., the regression coefficients, random effects, etc.</a:t>
                </a:r>
                <a:endParaRPr lang="en-GB" b="1" dirty="0"/>
              </a:p>
            </p:txBody>
          </p:sp>
        </mc:Choice>
        <mc:Fallback xmlns="">
          <p:sp>
            <p:nvSpPr>
              <p:cNvPr id="3" name="Content Placeholder 2">
                <a:extLst>
                  <a:ext uri="{FF2B5EF4-FFF2-40B4-BE49-F238E27FC236}">
                    <a16:creationId xmlns:a16="http://schemas.microsoft.com/office/drawing/2014/main" id="{DFD51760-A802-0822-0A8D-F09937C93216}"/>
                  </a:ext>
                </a:extLst>
              </p:cNvPr>
              <p:cNvSpPr>
                <a:spLocks noGrp="1" noRot="1" noChangeAspect="1" noMove="1" noResize="1" noEditPoints="1" noAdjustHandles="1" noChangeArrowheads="1" noChangeShapeType="1" noTextEdit="1"/>
              </p:cNvSpPr>
              <p:nvPr>
                <p:ph idx="1"/>
              </p:nvPr>
            </p:nvSpPr>
            <p:spPr>
              <a:xfrm>
                <a:off x="838200" y="1607292"/>
                <a:ext cx="10515600" cy="4203690"/>
              </a:xfrm>
              <a:blipFill>
                <a:blip r:embed="rId2"/>
                <a:stretch>
                  <a:fillRect l="-1043" t="-2322" b="-871"/>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5DF2CFBD-BE35-4259-5371-D683E367CF45}"/>
              </a:ext>
            </a:extLst>
          </p:cNvPr>
          <p:cNvCxnSpPr>
            <a:cxnSpLocks/>
            <a:endCxn id="7" idx="1"/>
          </p:cNvCxnSpPr>
          <p:nvPr/>
        </p:nvCxnSpPr>
        <p:spPr>
          <a:xfrm flipV="1">
            <a:off x="5299589" y="2092649"/>
            <a:ext cx="2448231" cy="7079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82ACADC-0412-3C09-713B-607BA8B639B6}"/>
              </a:ext>
            </a:extLst>
          </p:cNvPr>
          <p:cNvSpPr txBox="1"/>
          <p:nvPr/>
        </p:nvSpPr>
        <p:spPr>
          <a:xfrm>
            <a:off x="7747820" y="1892594"/>
            <a:ext cx="2399071" cy="400110"/>
          </a:xfrm>
          <a:prstGeom prst="rect">
            <a:avLst/>
          </a:prstGeom>
          <a:noFill/>
        </p:spPr>
        <p:txBody>
          <a:bodyPr wrap="square" rtlCol="0">
            <a:spAutoFit/>
          </a:bodyPr>
          <a:lstStyle/>
          <a:p>
            <a:r>
              <a:rPr lang="en-GB" sz="2000" dirty="0"/>
              <a:t>covariate vector</a:t>
            </a:r>
          </a:p>
        </p:txBody>
      </p:sp>
      <p:sp>
        <p:nvSpPr>
          <p:cNvPr id="2" name="Slide Number Placeholder 1">
            <a:extLst>
              <a:ext uri="{FF2B5EF4-FFF2-40B4-BE49-F238E27FC236}">
                <a16:creationId xmlns:a16="http://schemas.microsoft.com/office/drawing/2014/main" id="{48E40912-FA00-8BC3-9984-4CA76254474B}"/>
              </a:ext>
            </a:extLst>
          </p:cNvPr>
          <p:cNvSpPr>
            <a:spLocks noGrp="1"/>
          </p:cNvSpPr>
          <p:nvPr>
            <p:ph type="sldNum" sz="quarter" idx="12"/>
          </p:nvPr>
        </p:nvSpPr>
        <p:spPr/>
        <p:txBody>
          <a:bodyPr/>
          <a:lstStyle/>
          <a:p>
            <a:fld id="{92E773D0-8039-41DE-9EAA-38744617136D}" type="slidenum">
              <a:rPr lang="en-GB" smtClean="0"/>
              <a:t>33</a:t>
            </a:fld>
            <a:endParaRPr lang="en-GB"/>
          </a:p>
        </p:txBody>
      </p:sp>
      <p:sp>
        <p:nvSpPr>
          <p:cNvPr id="9" name="Title 1">
            <a:extLst>
              <a:ext uri="{FF2B5EF4-FFF2-40B4-BE49-F238E27FC236}">
                <a16:creationId xmlns:a16="http://schemas.microsoft.com/office/drawing/2014/main" id="{B8369F7D-A5D4-D877-2B61-F9FC41CE639B}"/>
              </a:ext>
            </a:extLst>
          </p:cNvPr>
          <p:cNvSpPr>
            <a:spLocks noGrp="1"/>
          </p:cNvSpPr>
          <p:nvPr>
            <p:ph type="title"/>
          </p:nvPr>
        </p:nvSpPr>
        <p:spPr>
          <a:xfrm>
            <a:off x="297024" y="0"/>
            <a:ext cx="10515600" cy="736088"/>
          </a:xfrm>
        </p:spPr>
        <p:txBody>
          <a:bodyPr>
            <a:normAutofit/>
          </a:bodyPr>
          <a:lstStyle/>
          <a:p>
            <a:r>
              <a:rPr lang="en-GB" sz="4000" b="1" dirty="0">
                <a:solidFill>
                  <a:schemeClr val="bg1"/>
                </a:solidFill>
                <a:latin typeface="+mn-lt"/>
              </a:rPr>
              <a:t>Latent Gaussian models (LGMs)</a:t>
            </a:r>
          </a:p>
        </p:txBody>
      </p:sp>
    </p:spTree>
    <p:extLst>
      <p:ext uri="{BB962C8B-B14F-4D97-AF65-F5344CB8AC3E}">
        <p14:creationId xmlns:p14="http://schemas.microsoft.com/office/powerpoint/2010/main" val="12317906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7CCAA2-94C4-BB63-BBB2-27DB573882D6}"/>
                  </a:ext>
                </a:extLst>
              </p:cNvPr>
              <p:cNvSpPr>
                <a:spLocks noGrp="1"/>
              </p:cNvSpPr>
              <p:nvPr>
                <p:ph idx="1"/>
              </p:nvPr>
            </p:nvSpPr>
            <p:spPr>
              <a:xfrm>
                <a:off x="526026" y="1501160"/>
                <a:ext cx="11139948" cy="5356840"/>
              </a:xfrm>
            </p:spPr>
            <p:txBody>
              <a:bodyPr>
                <a:normAutofit lnSpcReduction="10000"/>
              </a:bodyPr>
              <a:lstStyle/>
              <a:p>
                <a:pPr marL="0" indent="0">
                  <a:buNone/>
                </a:pPr>
                <a:r>
                  <a:rPr lang="en-GB" dirty="0"/>
                  <a:t>The crucial assumption is</a:t>
                </a:r>
              </a:p>
              <a:p>
                <a:pPr marL="0" indent="0">
                  <a:buNone/>
                </a:pPr>
                <a:endParaRPr lang="en-GB" dirty="0"/>
              </a:p>
              <a:p>
                <a:pPr marL="0" indent="0" algn="ctr">
                  <a:buNone/>
                </a:pPr>
                <a14:m>
                  <m:oMath xmlns:m="http://schemas.openxmlformats.org/officeDocument/2006/math">
                    <m:r>
                      <a:rPr lang="en-GB" b="1" i="0" smtClean="0">
                        <a:latin typeface="Cambria Math" panose="02040503050406030204" pitchFamily="18" charset="0"/>
                      </a:rPr>
                      <m:t>𝐱</m:t>
                    </m:r>
                    <m:r>
                      <a:rPr lang="en-GB" b="1" i="0" smtClean="0">
                        <a:latin typeface="Cambria Math" panose="02040503050406030204" pitchFamily="18" charset="0"/>
                      </a:rPr>
                      <m:t>|</m:t>
                    </m:r>
                    <m:r>
                      <a:rPr lang="en-GB" b="1" i="1" smtClean="0">
                        <a:latin typeface="Cambria Math" panose="02040503050406030204" pitchFamily="18" charset="0"/>
                      </a:rPr>
                      <m:t>𝜽</m:t>
                    </m:r>
                    <m:r>
                      <a:rPr lang="en-GB" b="1" i="1" smtClean="0">
                        <a:latin typeface="Cambria Math" panose="02040503050406030204" pitchFamily="18" charset="0"/>
                      </a:rPr>
                      <m:t>∼</m:t>
                    </m:r>
                    <m:r>
                      <a:rPr lang="en-GB" b="1" i="1" smtClean="0">
                        <a:latin typeface="Cambria Math" panose="02040503050406030204" pitchFamily="18" charset="0"/>
                      </a:rPr>
                      <m:t>𝑵</m:t>
                    </m:r>
                    <m:r>
                      <a:rPr lang="en-GB" b="1" i="1" smtClean="0">
                        <a:latin typeface="Cambria Math" panose="02040503050406030204" pitchFamily="18" charset="0"/>
                      </a:rPr>
                      <m:t>(</m:t>
                    </m:r>
                    <m:r>
                      <a:rPr lang="en-GB" b="1" i="1" smtClean="0">
                        <a:latin typeface="Cambria Math" panose="02040503050406030204" pitchFamily="18" charset="0"/>
                      </a:rPr>
                      <m:t>𝝁</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d>
                    <m:r>
                      <a:rPr lang="en-GB" b="1" i="1" smtClean="0">
                        <a:latin typeface="Cambria Math" panose="02040503050406030204" pitchFamily="18" charset="0"/>
                      </a:rPr>
                      <m:t>,</m:t>
                    </m:r>
                    <m:r>
                      <a:rPr lang="en-GB" b="1" i="1" smtClean="0">
                        <a:latin typeface="Cambria Math" panose="02040503050406030204" pitchFamily="18" charset="0"/>
                      </a:rPr>
                      <m:t>𝑸</m:t>
                    </m:r>
                    <m:sSup>
                      <m:sSupPr>
                        <m:ctrlPr>
                          <a:rPr lang="en-GB" b="1" i="1" smtClean="0">
                            <a:latin typeface="Cambria Math" panose="02040503050406030204" pitchFamily="18" charset="0"/>
                          </a:rPr>
                        </m:ctrlPr>
                      </m:sSupPr>
                      <m:e>
                        <m:d>
                          <m:dPr>
                            <m:ctrlPr>
                              <a:rPr lang="en-GB" b="1" i="1" smtClean="0">
                                <a:latin typeface="Cambria Math" panose="02040503050406030204" pitchFamily="18" charset="0"/>
                              </a:rPr>
                            </m:ctrlPr>
                          </m:dPr>
                          <m:e>
                            <m:r>
                              <a:rPr lang="en-GB" b="1" i="1" smtClean="0">
                                <a:latin typeface="Cambria Math" panose="02040503050406030204" pitchFamily="18" charset="0"/>
                              </a:rPr>
                              <m:t>𝜽</m:t>
                            </m:r>
                          </m:e>
                        </m:d>
                      </m:e>
                      <m:sup>
                        <m:r>
                          <a:rPr lang="en-GB" b="1" i="1" smtClean="0">
                            <a:latin typeface="Cambria Math" panose="02040503050406030204" pitchFamily="18" charset="0"/>
                          </a:rPr>
                          <m:t>−</m:t>
                        </m:r>
                        <m:r>
                          <a:rPr lang="en-GB" b="1" i="1" smtClean="0">
                            <a:latin typeface="Cambria Math" panose="02040503050406030204" pitchFamily="18" charset="0"/>
                          </a:rPr>
                          <m:t>𝟏</m:t>
                        </m:r>
                      </m:sup>
                    </m:sSup>
                    <m:r>
                      <a:rPr lang="en-GB" b="1" i="1" smtClean="0">
                        <a:latin typeface="Cambria Math" panose="02040503050406030204" pitchFamily="18" charset="0"/>
                      </a:rPr>
                      <m:t>)</m:t>
                    </m:r>
                  </m:oMath>
                </a14:m>
                <a:r>
                  <a:rPr lang="en-GB" b="1" dirty="0"/>
                  <a:t>.</a:t>
                </a:r>
              </a:p>
              <a:p>
                <a:pPr marL="0" indent="0" algn="ctr">
                  <a:buNone/>
                </a:pPr>
                <a:endParaRPr lang="en-GB" b="1" dirty="0"/>
              </a:p>
              <a:p>
                <a:pPr marL="0" indent="0">
                  <a:buNone/>
                </a:pPr>
                <a14:m>
                  <m:oMath xmlns:m="http://schemas.openxmlformats.org/officeDocument/2006/math">
                    <m:r>
                      <a:rPr lang="en-GB" b="1" i="0" smtClean="0">
                        <a:latin typeface="Cambria Math" panose="02040503050406030204" pitchFamily="18" charset="0"/>
                      </a:rPr>
                      <m:t>𝐱</m:t>
                    </m:r>
                  </m:oMath>
                </a14:m>
                <a:r>
                  <a:rPr lang="en-GB" b="1" dirty="0"/>
                  <a:t> – </a:t>
                </a:r>
                <a:r>
                  <a:rPr lang="en-GB" dirty="0"/>
                  <a:t>latent field; </a:t>
                </a:r>
                <a14:m>
                  <m:oMath xmlns:m="http://schemas.openxmlformats.org/officeDocument/2006/math">
                    <m:r>
                      <a:rPr lang="en-GB" b="1" i="1" smtClean="0">
                        <a:latin typeface="Cambria Math" panose="02040503050406030204" pitchFamily="18" charset="0"/>
                      </a:rPr>
                      <m:t>𝜽</m:t>
                    </m:r>
                  </m:oMath>
                </a14:m>
                <a:r>
                  <a:rPr lang="en-GB" dirty="0"/>
                  <a:t> – hyperparameters (as before); </a:t>
                </a:r>
                <a14:m>
                  <m:oMath xmlns:m="http://schemas.openxmlformats.org/officeDocument/2006/math">
                    <m:r>
                      <a:rPr lang="en-GB" b="1" i="1" smtClean="0">
                        <a:latin typeface="Cambria Math" panose="02040503050406030204" pitchFamily="18" charset="0"/>
                      </a:rPr>
                      <m:t>𝝁</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d>
                  </m:oMath>
                </a14:m>
                <a:r>
                  <a:rPr lang="en-GB" dirty="0"/>
                  <a:t> and </a:t>
                </a:r>
                <a14:m>
                  <m:oMath xmlns:m="http://schemas.openxmlformats.org/officeDocument/2006/math">
                    <m:r>
                      <a:rPr lang="en-GB" b="1" i="0" smtClean="0">
                        <a:latin typeface="Cambria Math" panose="02040503050406030204" pitchFamily="18" charset="0"/>
                      </a:rPr>
                      <m:t>𝐐</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d>
                  </m:oMath>
                </a14:m>
                <a:r>
                  <a:rPr lang="en-GB" dirty="0"/>
                  <a:t> are the mean and precision matrix of the latent field </a:t>
                </a:r>
                <a14:m>
                  <m:oMath xmlns:m="http://schemas.openxmlformats.org/officeDocument/2006/math">
                    <m:r>
                      <a:rPr lang="en-GB" b="1" i="0" smtClean="0">
                        <a:latin typeface="Cambria Math" panose="02040503050406030204" pitchFamily="18" charset="0"/>
                      </a:rPr>
                      <m:t>𝐱</m:t>
                    </m:r>
                  </m:oMath>
                </a14:m>
                <a:endParaRPr lang="en-GB" dirty="0"/>
              </a:p>
              <a:p>
                <a:pPr marL="0" indent="0">
                  <a:buNone/>
                </a:pPr>
                <a:r>
                  <a:rPr lang="en-GB" dirty="0"/>
                  <a:t>The latent field </a:t>
                </a:r>
                <a14:m>
                  <m:oMath xmlns:m="http://schemas.openxmlformats.org/officeDocument/2006/math">
                    <m:r>
                      <a:rPr lang="en-GB" b="1" i="0" smtClean="0">
                        <a:latin typeface="Cambria Math" panose="02040503050406030204" pitchFamily="18" charset="0"/>
                      </a:rPr>
                      <m:t>𝐱</m:t>
                    </m:r>
                  </m:oMath>
                </a14:m>
                <a:r>
                  <a:rPr lang="en-GB" b="1" dirty="0"/>
                  <a:t> </a:t>
                </a:r>
                <a:r>
                  <a:rPr lang="en-GB" dirty="0"/>
                  <a:t>can contain a huge number of quantities, e.g.,</a:t>
                </a:r>
              </a:p>
              <a:p>
                <a:pPr marL="0" indent="0" algn="ctr">
                  <a:buNone/>
                </a:pPr>
                <a14:m>
                  <m:oMath xmlns:m="http://schemas.openxmlformats.org/officeDocument/2006/math">
                    <m:r>
                      <a:rPr lang="en-GB" b="1" i="0" smtClean="0">
                        <a:latin typeface="Cambria Math" panose="02040503050406030204" pitchFamily="18" charset="0"/>
                      </a:rPr>
                      <m:t>𝐱</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𝑛</m:t>
                                </m:r>
                              </m:sub>
                            </m:sSub>
                          </m:e>
                        </m:d>
                      </m:e>
                      <m:sup>
                        <m:r>
                          <a:rPr lang="en-GB" b="0" i="1" smtClean="0">
                            <a:latin typeface="Cambria Math" panose="02040503050406030204" pitchFamily="18" charset="0"/>
                          </a:rPr>
                          <m:t>𝑇</m:t>
                        </m:r>
                      </m:sup>
                    </m:sSup>
                  </m:oMath>
                </a14:m>
                <a:r>
                  <a:rPr lang="en-GB" dirty="0"/>
                  <a:t>, where the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𝑖</m:t>
                        </m:r>
                      </m:sub>
                    </m:sSub>
                  </m:oMath>
                </a14:m>
                <a:r>
                  <a:rPr lang="en-GB" dirty="0"/>
                  <a:t>’s are spatial random effects.</a:t>
                </a:r>
              </a:p>
              <a:p>
                <a:pPr marL="0" indent="0" algn="ctr">
                  <a:buNone/>
                </a:pPr>
                <a:endParaRPr lang="en-GB" dirty="0"/>
              </a:p>
              <a:p>
                <a:r>
                  <a:rPr lang="en-GB" sz="2000" dirty="0"/>
                  <a:t>Note that </a:t>
                </a:r>
                <a14:m>
                  <m:oMath xmlns:m="http://schemas.openxmlformats.org/officeDocument/2006/math">
                    <m:r>
                      <a:rPr lang="en-GB" sz="2000" b="1" i="0" smtClean="0">
                        <a:latin typeface="Cambria Math" panose="02040503050406030204" pitchFamily="18" charset="0"/>
                      </a:rPr>
                      <m:t>𝐱</m:t>
                    </m:r>
                  </m:oMath>
                </a14:m>
                <a:r>
                  <a:rPr lang="en-GB" sz="2000" dirty="0"/>
                  <a:t> and </a:t>
                </a:r>
                <a14:m>
                  <m:oMath xmlns:m="http://schemas.openxmlformats.org/officeDocument/2006/math">
                    <m:r>
                      <a:rPr lang="en-GB" sz="2000" b="1" i="1" smtClean="0">
                        <a:latin typeface="Cambria Math" panose="02040503050406030204" pitchFamily="18" charset="0"/>
                      </a:rPr>
                      <m:t>𝒚</m:t>
                    </m:r>
                    <m:r>
                      <a:rPr lang="en-GB" sz="2000" b="1"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𝑦</m:t>
                                </m:r>
                              </m:e>
                              <m:sub>
                                <m:r>
                                  <a:rPr lang="en-GB" sz="2000" b="0" i="1" smtClean="0">
                                    <a:latin typeface="Cambria Math" panose="02040503050406030204" pitchFamily="18" charset="0"/>
                                  </a:rPr>
                                  <m:t>1</m:t>
                                </m:r>
                              </m:sub>
                            </m:sSub>
                            <m:r>
                              <a:rPr lang="en-GB" sz="2000" b="0" i="1" smtClean="0">
                                <a:latin typeface="Cambria Math" panose="02040503050406030204" pitchFamily="18" charset="0"/>
                              </a:rPr>
                              <m: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𝑦</m:t>
                                </m:r>
                              </m:e>
                              <m:sub>
                                <m:r>
                                  <a:rPr lang="en-GB" sz="2000" b="0" i="1" smtClean="0">
                                    <a:latin typeface="Cambria Math" panose="02040503050406030204" pitchFamily="18" charset="0"/>
                                  </a:rPr>
                                  <m:t>𝑛</m:t>
                                </m:r>
                              </m:sub>
                            </m:sSub>
                          </m:e>
                        </m:d>
                      </m:e>
                      <m:sup>
                        <m:r>
                          <a:rPr lang="en-GB" sz="2000" b="0" i="1" smtClean="0">
                            <a:latin typeface="Cambria Math" panose="02040503050406030204" pitchFamily="18" charset="0"/>
                          </a:rPr>
                          <m:t>𝑇</m:t>
                        </m:r>
                      </m:sup>
                    </m:sSup>
                  </m:oMath>
                </a14:m>
                <a:r>
                  <a:rPr lang="en-GB" sz="2000" dirty="0"/>
                  <a:t> can be high-dimensional, but </a:t>
                </a:r>
                <a14:m>
                  <m:oMath xmlns:m="http://schemas.openxmlformats.org/officeDocument/2006/math">
                    <m:r>
                      <m:rPr>
                        <m:sty m:val="p"/>
                      </m:rPr>
                      <a:rPr lang="en-GB" sz="2000" b="0" i="0" smtClean="0">
                        <a:latin typeface="Cambria Math" panose="02040503050406030204" pitchFamily="18" charset="0"/>
                      </a:rPr>
                      <m:t>dim</m:t>
                    </m:r>
                    <m:r>
                      <a:rPr lang="en-GB" sz="2000" b="0" i="1" smtClean="0">
                        <a:latin typeface="Cambria Math" panose="02040503050406030204" pitchFamily="18" charset="0"/>
                      </a:rPr>
                      <m:t>⁡(</m:t>
                    </m:r>
                    <m:r>
                      <a:rPr lang="en-GB" sz="2000" b="1" i="1" smtClean="0">
                        <a:latin typeface="Cambria Math" panose="02040503050406030204" pitchFamily="18" charset="0"/>
                      </a:rPr>
                      <m:t>𝜽</m:t>
                    </m:r>
                    <m:r>
                      <a:rPr lang="en-GB" sz="2000" b="0" i="1" smtClean="0">
                        <a:latin typeface="Cambria Math" panose="02040503050406030204" pitchFamily="18" charset="0"/>
                      </a:rPr>
                      <m:t>)</m:t>
                    </m:r>
                  </m:oMath>
                </a14:m>
                <a:r>
                  <a:rPr lang="en-GB" sz="2000" dirty="0"/>
                  <a:t> should be small, typically 2 to 5, but ≤20.</a:t>
                </a:r>
              </a:p>
              <a:p>
                <a:r>
                  <a:rPr lang="en-GB" sz="2000" dirty="0"/>
                  <a:t>When </a:t>
                </a:r>
                <a14:m>
                  <m:oMath xmlns:m="http://schemas.openxmlformats.org/officeDocument/2006/math">
                    <m:r>
                      <a:rPr lang="en-GB" sz="2000" b="0" i="1" smtClean="0">
                        <a:latin typeface="Cambria Math" panose="02040503050406030204" pitchFamily="18" charset="0"/>
                      </a:rPr>
                      <m:t>𝑛</m:t>
                    </m:r>
                  </m:oMath>
                </a14:m>
                <a:r>
                  <a:rPr lang="en-GB" sz="2000" dirty="0"/>
                  <a:t> is large (10</a:t>
                </a:r>
                <a:r>
                  <a:rPr lang="en-GB" sz="2000" baseline="30000" dirty="0"/>
                  <a:t>4</a:t>
                </a:r>
                <a:r>
                  <a:rPr lang="en-GB" sz="2000" dirty="0"/>
                  <a:t> to 10</a:t>
                </a:r>
                <a:r>
                  <a:rPr lang="en-GB" sz="2000" baseline="30000" dirty="0"/>
                  <a:t>5</a:t>
                </a:r>
                <a:r>
                  <a:rPr lang="en-GB" sz="2000" dirty="0"/>
                  <a:t>), </a:t>
                </a:r>
                <a14:m>
                  <m:oMath xmlns:m="http://schemas.openxmlformats.org/officeDocument/2006/math">
                    <m:r>
                      <a:rPr lang="en-GB" sz="2000" b="1" i="0" smtClean="0">
                        <a:latin typeface="Cambria Math" panose="02040503050406030204" pitchFamily="18" charset="0"/>
                      </a:rPr>
                      <m:t>𝐱</m:t>
                    </m:r>
                  </m:oMath>
                </a14:m>
                <a:r>
                  <a:rPr lang="en-GB" sz="2000" dirty="0"/>
                  <a:t> must be a Gaussian Markov Random Field (GMRF).</a:t>
                </a:r>
              </a:p>
              <a:p>
                <a:endParaRPr lang="en-GB" dirty="0"/>
              </a:p>
            </p:txBody>
          </p:sp>
        </mc:Choice>
        <mc:Fallback xmlns="">
          <p:sp>
            <p:nvSpPr>
              <p:cNvPr id="3" name="Content Placeholder 2">
                <a:extLst>
                  <a:ext uri="{FF2B5EF4-FFF2-40B4-BE49-F238E27FC236}">
                    <a16:creationId xmlns:a16="http://schemas.microsoft.com/office/drawing/2014/main" id="{447CCAA2-94C4-BB63-BBB2-27DB573882D6}"/>
                  </a:ext>
                </a:extLst>
              </p:cNvPr>
              <p:cNvSpPr>
                <a:spLocks noGrp="1" noRot="1" noChangeAspect="1" noMove="1" noResize="1" noEditPoints="1" noAdjustHandles="1" noChangeArrowheads="1" noChangeShapeType="1" noTextEdit="1"/>
              </p:cNvSpPr>
              <p:nvPr>
                <p:ph idx="1"/>
              </p:nvPr>
            </p:nvSpPr>
            <p:spPr>
              <a:xfrm>
                <a:off x="526026" y="1501160"/>
                <a:ext cx="11139948" cy="5356840"/>
              </a:xfrm>
              <a:blipFill>
                <a:blip r:embed="rId2"/>
                <a:stretch>
                  <a:fillRect l="-1094" t="-2503"/>
                </a:stretch>
              </a:blipFill>
            </p:spPr>
            <p:txBody>
              <a:bodyPr/>
              <a:lstStyle/>
              <a:p>
                <a:r>
                  <a:rPr lang="en-GB">
                    <a:noFill/>
                  </a:rPr>
                  <a:t> </a:t>
                </a:r>
              </a:p>
            </p:txBody>
          </p:sp>
        </mc:Fallback>
      </mc:AlternateContent>
      <p:cxnSp>
        <p:nvCxnSpPr>
          <p:cNvPr id="5" name="Straight Arrow Connector 4">
            <a:extLst>
              <a:ext uri="{FF2B5EF4-FFF2-40B4-BE49-F238E27FC236}">
                <a16:creationId xmlns:a16="http://schemas.microsoft.com/office/drawing/2014/main" id="{A1A4D2E0-648B-A70E-4DB1-42B8865162E0}"/>
              </a:ext>
            </a:extLst>
          </p:cNvPr>
          <p:cNvCxnSpPr>
            <a:cxnSpLocks/>
          </p:cNvCxnSpPr>
          <p:nvPr/>
        </p:nvCxnSpPr>
        <p:spPr>
          <a:xfrm flipV="1">
            <a:off x="5491317" y="1901270"/>
            <a:ext cx="1302774" cy="7079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C432AA8-8A69-939B-C277-5E4EA64A0399}"/>
              </a:ext>
            </a:extLst>
          </p:cNvPr>
          <p:cNvSpPr txBox="1"/>
          <p:nvPr/>
        </p:nvSpPr>
        <p:spPr>
          <a:xfrm>
            <a:off x="6794091" y="1501160"/>
            <a:ext cx="4739148" cy="400110"/>
          </a:xfrm>
          <a:prstGeom prst="rect">
            <a:avLst/>
          </a:prstGeom>
          <a:noFill/>
          <a:ln>
            <a:solidFill>
              <a:schemeClr val="accent1"/>
            </a:solidFill>
          </a:ln>
        </p:spPr>
        <p:txBody>
          <a:bodyPr wrap="square" rtlCol="0">
            <a:spAutoFit/>
          </a:bodyPr>
          <a:lstStyle/>
          <a:p>
            <a:r>
              <a:rPr lang="en-GB" sz="2000" dirty="0"/>
              <a:t>Gaussian part of “latent Gaussian model”</a:t>
            </a:r>
          </a:p>
        </p:txBody>
      </p:sp>
      <p:sp>
        <p:nvSpPr>
          <p:cNvPr id="2" name="Slide Number Placeholder 1">
            <a:extLst>
              <a:ext uri="{FF2B5EF4-FFF2-40B4-BE49-F238E27FC236}">
                <a16:creationId xmlns:a16="http://schemas.microsoft.com/office/drawing/2014/main" id="{FA6CDED7-F984-2925-4AB9-68516D60C7A4}"/>
              </a:ext>
            </a:extLst>
          </p:cNvPr>
          <p:cNvSpPr>
            <a:spLocks noGrp="1"/>
          </p:cNvSpPr>
          <p:nvPr>
            <p:ph type="sldNum" sz="quarter" idx="12"/>
          </p:nvPr>
        </p:nvSpPr>
        <p:spPr/>
        <p:txBody>
          <a:bodyPr/>
          <a:lstStyle/>
          <a:p>
            <a:fld id="{92E773D0-8039-41DE-9EAA-38744617136D}" type="slidenum">
              <a:rPr lang="en-GB" smtClean="0"/>
              <a:t>34</a:t>
            </a:fld>
            <a:endParaRPr lang="en-GB"/>
          </a:p>
        </p:txBody>
      </p:sp>
      <p:sp>
        <p:nvSpPr>
          <p:cNvPr id="9" name="Title 1">
            <a:extLst>
              <a:ext uri="{FF2B5EF4-FFF2-40B4-BE49-F238E27FC236}">
                <a16:creationId xmlns:a16="http://schemas.microsoft.com/office/drawing/2014/main" id="{3D64DE83-FD26-2D38-C2CF-63CF657343C0}"/>
              </a:ext>
            </a:extLst>
          </p:cNvPr>
          <p:cNvSpPr>
            <a:spLocks noGrp="1"/>
          </p:cNvSpPr>
          <p:nvPr>
            <p:ph type="title"/>
          </p:nvPr>
        </p:nvSpPr>
        <p:spPr>
          <a:xfrm>
            <a:off x="297024" y="0"/>
            <a:ext cx="10515600" cy="736088"/>
          </a:xfrm>
        </p:spPr>
        <p:txBody>
          <a:bodyPr>
            <a:normAutofit/>
          </a:bodyPr>
          <a:lstStyle/>
          <a:p>
            <a:r>
              <a:rPr lang="en-GB" sz="4000" b="1" dirty="0">
                <a:solidFill>
                  <a:schemeClr val="bg1"/>
                </a:solidFill>
                <a:latin typeface="+mn-lt"/>
              </a:rPr>
              <a:t>Latent Gaussian models (LGMs)</a:t>
            </a:r>
          </a:p>
        </p:txBody>
      </p:sp>
    </p:spTree>
    <p:extLst>
      <p:ext uri="{BB962C8B-B14F-4D97-AF65-F5344CB8AC3E}">
        <p14:creationId xmlns:p14="http://schemas.microsoft.com/office/powerpoint/2010/main" val="26129828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4BE285-6373-37FC-0495-7ABEEBB3FAD3}"/>
                  </a:ext>
                </a:extLst>
              </p:cNvPr>
              <p:cNvSpPr>
                <a:spLocks noGrp="1"/>
              </p:cNvSpPr>
              <p:nvPr>
                <p:ph idx="1"/>
              </p:nvPr>
            </p:nvSpPr>
            <p:spPr>
              <a:xfrm>
                <a:off x="838200" y="1642186"/>
                <a:ext cx="10515600" cy="4236099"/>
              </a:xfrm>
            </p:spPr>
            <p:txBody>
              <a:bodyPr>
                <a:normAutofit/>
              </a:bodyPr>
              <a:lstStyle/>
              <a:p>
                <a:pPr marL="0" indent="0">
                  <a:buNone/>
                </a:pPr>
                <a:r>
                  <a:rPr lang="en-GB" b="1" dirty="0">
                    <a:solidFill>
                      <a:schemeClr val="accent1"/>
                    </a:solidFill>
                  </a:rPr>
                  <a:t>Level 3: Hyperparameters, </a:t>
                </a:r>
                <a14:m>
                  <m:oMath xmlns:m="http://schemas.openxmlformats.org/officeDocument/2006/math">
                    <m:r>
                      <a:rPr lang="en-GB" b="1" i="1" smtClean="0">
                        <a:solidFill>
                          <a:schemeClr val="accent1"/>
                        </a:solidFill>
                        <a:latin typeface="Cambria Math" panose="02040503050406030204" pitchFamily="18" charset="0"/>
                      </a:rPr>
                      <m:t>𝜽</m:t>
                    </m:r>
                  </m:oMath>
                </a14:m>
                <a:r>
                  <a:rPr lang="en-GB" b="1" dirty="0">
                    <a:solidFill>
                      <a:schemeClr val="accent1"/>
                    </a:solidFill>
                  </a:rPr>
                  <a:t> </a:t>
                </a:r>
                <a:endParaRPr lang="en-GB" dirty="0">
                  <a:solidFill>
                    <a:schemeClr val="accent1"/>
                  </a:solidFill>
                </a:endParaRPr>
              </a:p>
              <a:p>
                <a:r>
                  <a:rPr lang="en-GB" dirty="0"/>
                  <a:t>The hyperparameters are parameters that control the distributions of the latent field, </a:t>
                </a:r>
                <a14:m>
                  <m:oMath xmlns:m="http://schemas.openxmlformats.org/officeDocument/2006/math">
                    <m:r>
                      <a:rPr lang="en-GB" b="1" i="0" smtClean="0">
                        <a:latin typeface="Cambria Math" panose="02040503050406030204" pitchFamily="18" charset="0"/>
                      </a:rPr>
                      <m:t>𝐱</m:t>
                    </m:r>
                  </m:oMath>
                </a14:m>
                <a:r>
                  <a:rPr lang="en-GB" dirty="0"/>
                  <a:t>, and/or the likelihood. For example, variance/precision parameters, spatial correlation parameters and overdispersion parameters</a:t>
                </a:r>
              </a:p>
              <a:p>
                <a:r>
                  <a:rPr lang="en-GB" dirty="0"/>
                  <a:t>It is assumed that </a:t>
                </a:r>
                <a14:m>
                  <m:oMath xmlns:m="http://schemas.openxmlformats.org/officeDocument/2006/math">
                    <m:r>
                      <a:rPr lang="en-GB" b="1" i="1" smtClean="0">
                        <a:latin typeface="Cambria Math" panose="02040503050406030204" pitchFamily="18" charset="0"/>
                      </a:rPr>
                      <m:t>𝜽</m:t>
                    </m:r>
                    <m:r>
                      <a:rPr lang="en-GB" b="0" i="1" smtClean="0">
                        <a:latin typeface="Cambria Math" panose="02040503050406030204" pitchFamily="18" charset="0"/>
                      </a:rPr>
                      <m:t>∼</m:t>
                    </m:r>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d>
                    <m:r>
                      <a:rPr lang="en-GB" b="0" i="0" smtClean="0">
                        <a:latin typeface="Cambria Math" panose="02040503050406030204" pitchFamily="18" charset="0"/>
                      </a:rPr>
                      <m:t>,</m:t>
                    </m:r>
                  </m:oMath>
                </a14:m>
                <a:r>
                  <a:rPr lang="en-GB" dirty="0"/>
                  <a:t> where </a:t>
                </a:r>
                <a14:m>
                  <m:oMath xmlns:m="http://schemas.openxmlformats.org/officeDocument/2006/math">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d>
                  </m:oMath>
                </a14:m>
                <a:r>
                  <a:rPr lang="en-GB" dirty="0"/>
                  <a:t> is the joint prior distribution.</a:t>
                </a:r>
              </a:p>
              <a:p>
                <a:r>
                  <a:rPr lang="en-GB" dirty="0"/>
                  <a:t>Note that </a:t>
                </a:r>
                <a:r>
                  <a:rPr lang="en-GB" b="1" dirty="0"/>
                  <a:t>the latent field is Gaussian conditional on the hyperparameters</a:t>
                </a:r>
                <a:r>
                  <a:rPr lang="en-GB" dirty="0"/>
                  <a:t>, even if the observations are not Gaussian.</a:t>
                </a:r>
              </a:p>
              <a:p>
                <a:pPr>
                  <a:buFontTx/>
                  <a:buChar char="-"/>
                </a:pPr>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F94BE285-6373-37FC-0495-7ABEEBB3FAD3}"/>
                  </a:ext>
                </a:extLst>
              </p:cNvPr>
              <p:cNvSpPr>
                <a:spLocks noGrp="1" noRot="1" noChangeAspect="1" noMove="1" noResize="1" noEditPoints="1" noAdjustHandles="1" noChangeArrowheads="1" noChangeShapeType="1" noTextEdit="1"/>
              </p:cNvSpPr>
              <p:nvPr>
                <p:ph idx="1"/>
              </p:nvPr>
            </p:nvSpPr>
            <p:spPr>
              <a:xfrm>
                <a:off x="838200" y="1642186"/>
                <a:ext cx="10515600" cy="4236099"/>
              </a:xfrm>
              <a:blipFill>
                <a:blip r:embed="rId2"/>
                <a:stretch>
                  <a:fillRect l="-1217" t="-2446" r="-1681"/>
                </a:stretch>
              </a:blipFill>
            </p:spPr>
            <p:txBody>
              <a:bodyPr/>
              <a:lstStyle/>
              <a:p>
                <a:r>
                  <a:rPr lang="en-GB">
                    <a:noFill/>
                  </a:rPr>
                  <a:t> </a:t>
                </a:r>
              </a:p>
            </p:txBody>
          </p:sp>
        </mc:Fallback>
      </mc:AlternateContent>
      <p:sp>
        <p:nvSpPr>
          <p:cNvPr id="2" name="Slide Number Placeholder 1">
            <a:extLst>
              <a:ext uri="{FF2B5EF4-FFF2-40B4-BE49-F238E27FC236}">
                <a16:creationId xmlns:a16="http://schemas.microsoft.com/office/drawing/2014/main" id="{20E4E363-2F36-E346-8A41-D6A5DBC35EB5}"/>
              </a:ext>
            </a:extLst>
          </p:cNvPr>
          <p:cNvSpPr>
            <a:spLocks noGrp="1"/>
          </p:cNvSpPr>
          <p:nvPr>
            <p:ph type="sldNum" sz="quarter" idx="12"/>
          </p:nvPr>
        </p:nvSpPr>
        <p:spPr/>
        <p:txBody>
          <a:bodyPr/>
          <a:lstStyle/>
          <a:p>
            <a:fld id="{92E773D0-8039-41DE-9EAA-38744617136D}" type="slidenum">
              <a:rPr lang="en-GB" smtClean="0"/>
              <a:t>35</a:t>
            </a:fld>
            <a:endParaRPr lang="en-GB"/>
          </a:p>
        </p:txBody>
      </p:sp>
      <p:sp>
        <p:nvSpPr>
          <p:cNvPr id="7" name="Title 1">
            <a:extLst>
              <a:ext uri="{FF2B5EF4-FFF2-40B4-BE49-F238E27FC236}">
                <a16:creationId xmlns:a16="http://schemas.microsoft.com/office/drawing/2014/main" id="{D6ED1DC8-4AAE-1B3A-764B-EB5E9D57CF92}"/>
              </a:ext>
            </a:extLst>
          </p:cNvPr>
          <p:cNvSpPr>
            <a:spLocks noGrp="1"/>
          </p:cNvSpPr>
          <p:nvPr>
            <p:ph type="title"/>
          </p:nvPr>
        </p:nvSpPr>
        <p:spPr>
          <a:xfrm>
            <a:off x="297024" y="0"/>
            <a:ext cx="10515600" cy="736088"/>
          </a:xfrm>
        </p:spPr>
        <p:txBody>
          <a:bodyPr>
            <a:normAutofit/>
          </a:bodyPr>
          <a:lstStyle/>
          <a:p>
            <a:r>
              <a:rPr lang="en-GB" sz="4000" b="1" dirty="0">
                <a:solidFill>
                  <a:schemeClr val="bg1"/>
                </a:solidFill>
                <a:latin typeface="+mn-lt"/>
              </a:rPr>
              <a:t>Latent Gaussian models (LGMs)</a:t>
            </a:r>
          </a:p>
        </p:txBody>
      </p:sp>
    </p:spTree>
    <p:extLst>
      <p:ext uri="{BB962C8B-B14F-4D97-AF65-F5344CB8AC3E}">
        <p14:creationId xmlns:p14="http://schemas.microsoft.com/office/powerpoint/2010/main" val="34595879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AC0161-65EC-A399-6072-184362059DB7}"/>
                  </a:ext>
                </a:extLst>
              </p:cNvPr>
              <p:cNvSpPr>
                <a:spLocks noGrp="1"/>
              </p:cNvSpPr>
              <p:nvPr>
                <p:ph idx="1"/>
              </p:nvPr>
            </p:nvSpPr>
            <p:spPr>
              <a:xfrm>
                <a:off x="670249" y="1493837"/>
                <a:ext cx="10515600" cy="4351338"/>
              </a:xfrm>
            </p:spPr>
            <p:txBody>
              <a:bodyPr>
                <a:normAutofit lnSpcReduction="10000"/>
              </a:bodyPr>
              <a:lstStyle/>
              <a:p>
                <a:r>
                  <a:rPr lang="en-GB" dirty="0"/>
                  <a:t>We can now write the three-level hierarchical LGM as</a:t>
                </a:r>
              </a:p>
              <a:p>
                <a:pPr marL="0" indent="0">
                  <a:buNone/>
                </a:pPr>
                <a:endParaRPr lang="en-GB" dirty="0"/>
              </a:p>
              <a:p>
                <a:pPr marL="0" indent="0">
                  <a:buNone/>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1" i="0" smtClean="0">
                          <a:latin typeface="Cambria Math" panose="02040503050406030204" pitchFamily="18" charset="0"/>
                        </a:rPr>
                        <m:t>𝐱</m:t>
                      </m:r>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e>
                        <m:e>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1" i="1" smtClean="0">
                              <a:latin typeface="Cambria Math" panose="02040503050406030204" pitchFamily="18" charset="0"/>
                            </a:rPr>
                            <m:t>𝜽</m:t>
                          </m:r>
                        </m:e>
                      </m:d>
                      <m:r>
                        <a:rPr lang="en-GB" b="0" i="1" smtClean="0">
                          <a:latin typeface="Cambria Math" panose="02040503050406030204" pitchFamily="18" charset="0"/>
                        </a:rPr>
                        <m:t>, </m:t>
                      </m:r>
                      <m:r>
                        <a:rPr lang="en-GB" b="0" i="1" smtClean="0">
                          <a:latin typeface="Cambria Math" panose="02040503050406030204" pitchFamily="18" charset="0"/>
                        </a:rPr>
                        <m:t>𝑖</m:t>
                      </m:r>
                      <m:r>
                        <a:rPr lang="en-GB" b="0" i="1" smtClean="0">
                          <a:latin typeface="Cambria Math" panose="02040503050406030204" pitchFamily="18" charset="0"/>
                        </a:rPr>
                        <m:t>=1,…,</m:t>
                      </m:r>
                      <m:r>
                        <a:rPr lang="en-GB" b="0" i="1" smtClean="0">
                          <a:latin typeface="Cambria Math" panose="02040503050406030204" pitchFamily="18" charset="0"/>
                        </a:rPr>
                        <m:t>𝑛</m:t>
                      </m:r>
                      <m:r>
                        <a:rPr lang="en-GB" b="0" i="1" smtClean="0">
                          <a:latin typeface="Cambria Math" panose="02040503050406030204" pitchFamily="18" charset="0"/>
                        </a:rPr>
                        <m:t>,</m:t>
                      </m:r>
                    </m:oMath>
                  </m:oMathPara>
                </a14:m>
                <a:endParaRPr lang="en-GB" b="0" i="1" dirty="0">
                  <a:latin typeface="Cambria Math" panose="02040503050406030204" pitchFamily="18" charset="0"/>
                </a:endParaRPr>
              </a:p>
              <a:p>
                <a:pPr marL="0" indent="0">
                  <a:buNone/>
                </a:pPr>
                <a:r>
                  <a:rPr lang="en-GB" b="0" dirty="0"/>
                  <a:t>                                            </a:t>
                </a:r>
                <a14:m>
                  <m:oMath xmlns:m="http://schemas.openxmlformats.org/officeDocument/2006/math">
                    <m:r>
                      <a:rPr lang="en-GB" b="1" i="0" smtClean="0">
                        <a:latin typeface="Cambria Math" panose="02040503050406030204" pitchFamily="18" charset="0"/>
                      </a:rPr>
                      <m:t>𝐱</m:t>
                    </m:r>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r>
                      <a:rPr lang="en-GB" b="1" i="1" smtClean="0">
                        <a:latin typeface="Cambria Math" panose="02040503050406030204" pitchFamily="18" charset="0"/>
                      </a:rPr>
                      <m:t>𝑵</m:t>
                    </m:r>
                    <m:d>
                      <m:dPr>
                        <m:ctrlPr>
                          <a:rPr lang="en-GB" b="1" i="1" smtClean="0">
                            <a:latin typeface="Cambria Math" panose="02040503050406030204" pitchFamily="18" charset="0"/>
                          </a:rPr>
                        </m:ctrlPr>
                      </m:dPr>
                      <m:e>
                        <m:r>
                          <a:rPr lang="en-GB" b="1" i="1" smtClean="0">
                            <a:latin typeface="Cambria Math" panose="02040503050406030204" pitchFamily="18" charset="0"/>
                          </a:rPr>
                          <m:t>𝝁</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d>
                        <m:r>
                          <a:rPr lang="en-GB" b="1" i="1" smtClean="0">
                            <a:latin typeface="Cambria Math" panose="02040503050406030204" pitchFamily="18" charset="0"/>
                          </a:rPr>
                          <m:t>,</m:t>
                        </m:r>
                        <m:r>
                          <a:rPr lang="en-GB" b="1" i="1" smtClean="0">
                            <a:latin typeface="Cambria Math" panose="02040503050406030204" pitchFamily="18" charset="0"/>
                          </a:rPr>
                          <m:t>𝑸</m:t>
                        </m:r>
                        <m:sSup>
                          <m:sSupPr>
                            <m:ctrlPr>
                              <a:rPr lang="en-GB" b="1" i="1" smtClean="0">
                                <a:latin typeface="Cambria Math" panose="02040503050406030204" pitchFamily="18" charset="0"/>
                              </a:rPr>
                            </m:ctrlPr>
                          </m:sSupPr>
                          <m:e>
                            <m:d>
                              <m:dPr>
                                <m:ctrlPr>
                                  <a:rPr lang="en-GB" b="1" i="1" smtClean="0">
                                    <a:latin typeface="Cambria Math" panose="02040503050406030204" pitchFamily="18" charset="0"/>
                                  </a:rPr>
                                </m:ctrlPr>
                              </m:dPr>
                              <m:e>
                                <m:r>
                                  <a:rPr lang="en-GB" b="1" i="1" smtClean="0">
                                    <a:latin typeface="Cambria Math" panose="02040503050406030204" pitchFamily="18" charset="0"/>
                                  </a:rPr>
                                  <m:t>𝜽</m:t>
                                </m:r>
                              </m:e>
                            </m:d>
                          </m:e>
                          <m:sup>
                            <m:r>
                              <a:rPr lang="en-GB" b="1" i="1" smtClean="0">
                                <a:latin typeface="Cambria Math" panose="02040503050406030204" pitchFamily="18" charset="0"/>
                              </a:rPr>
                              <m:t>−</m:t>
                            </m:r>
                            <m:r>
                              <a:rPr lang="en-GB" b="1" i="1" smtClean="0">
                                <a:latin typeface="Cambria Math" panose="02040503050406030204" pitchFamily="18" charset="0"/>
                              </a:rPr>
                              <m:t>𝟏</m:t>
                            </m:r>
                          </m:sup>
                        </m:sSup>
                      </m:e>
                    </m:d>
                    <m:r>
                      <a:rPr lang="en-GB" b="1" i="1" smtClean="0">
                        <a:latin typeface="Cambria Math" panose="02040503050406030204" pitchFamily="18" charset="0"/>
                      </a:rPr>
                      <m:t>,</m:t>
                    </m:r>
                  </m:oMath>
                </a14:m>
                <a:endParaRPr lang="en-GB" b="1" i="1" dirty="0">
                  <a:latin typeface="Cambria Math" panose="02040503050406030204" pitchFamily="18" charset="0"/>
                </a:endParaRPr>
              </a:p>
              <a:p>
                <a:pPr marL="0" indent="0">
                  <a:buNone/>
                </a:pPr>
                <a:r>
                  <a:rPr lang="en-GB" b="0" dirty="0"/>
                  <a:t>                                                </a:t>
                </a:r>
                <a14:m>
                  <m:oMath xmlns:m="http://schemas.openxmlformats.org/officeDocument/2006/math">
                    <m:r>
                      <a:rPr lang="en-GB" b="1" i="1" smtClean="0">
                        <a:latin typeface="Cambria Math" panose="02040503050406030204" pitchFamily="18" charset="0"/>
                      </a:rPr>
                      <m:t>𝜽</m:t>
                    </m:r>
                    <m:r>
                      <a:rPr lang="en-GB" b="0" i="1" smtClean="0">
                        <a:latin typeface="Cambria Math" panose="02040503050406030204" pitchFamily="18" charset="0"/>
                      </a:rPr>
                      <m:t>∼</m:t>
                    </m:r>
                    <m:r>
                      <a:rPr lang="en-GB" b="0" i="1" smtClean="0">
                        <a:latin typeface="Cambria Math" panose="02040503050406030204" pitchFamily="18" charset="0"/>
                      </a:rPr>
                      <m:t>𝑝</m:t>
                    </m:r>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oMath>
                </a14:m>
                <a:r>
                  <a:rPr lang="en-GB" dirty="0"/>
                  <a:t>.</a:t>
                </a:r>
              </a:p>
              <a:p>
                <a:pPr marL="0" indent="0">
                  <a:buNone/>
                </a:pPr>
                <a:endParaRPr lang="en-GB" dirty="0"/>
              </a:p>
              <a:p>
                <a:r>
                  <a:rPr lang="en-GB" dirty="0"/>
                  <a:t>As seen earlier, the distribution of the outcome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oMath>
                </a14:m>
                <a:r>
                  <a:rPr lang="en-GB" dirty="0"/>
                  <a:t> often belongs to the </a:t>
                </a:r>
                <a:r>
                  <a:rPr lang="en-GB" dirty="0">
                    <a:solidFill>
                      <a:schemeClr val="tx2">
                        <a:lumMod val="75000"/>
                        <a:lumOff val="25000"/>
                      </a:schemeClr>
                    </a:solidFill>
                  </a:rPr>
                  <a:t>exponential family of distributions </a:t>
                </a:r>
                <a:r>
                  <a:rPr lang="en-GB" dirty="0"/>
                  <a:t>with mean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𝑔</m:t>
                        </m:r>
                      </m:e>
                      <m:sup>
                        <m:r>
                          <a:rPr lang="en-GB" b="0" i="1" smtClean="0">
                            <a:latin typeface="Cambria Math" panose="02040503050406030204" pitchFamily="18" charset="0"/>
                          </a:rPr>
                          <m:t>−1</m:t>
                        </m:r>
                      </m:sup>
                    </m:sSup>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𝜂</m:t>
                            </m:r>
                          </m:e>
                          <m:sub>
                            <m:r>
                              <a:rPr lang="en-GB" b="0" i="1" smtClean="0">
                                <a:latin typeface="Cambria Math" panose="02040503050406030204" pitchFamily="18" charset="0"/>
                              </a:rPr>
                              <m:t>𝑖</m:t>
                            </m:r>
                          </m:sub>
                        </m:sSub>
                      </m:e>
                    </m:d>
                    <m:r>
                      <a:rPr lang="en-GB" b="0" i="0" smtClean="0">
                        <a:latin typeface="Cambria Math" panose="02040503050406030204" pitchFamily="18" charset="0"/>
                      </a:rPr>
                      <m:t>,</m:t>
                    </m:r>
                  </m:oMath>
                </a14:m>
                <a:r>
                  <a:rPr lang="en-GB" dirty="0"/>
                  <a:t> where </a:t>
                </a:r>
                <a14:m>
                  <m:oMath xmlns:m="http://schemas.openxmlformats.org/officeDocument/2006/math">
                    <m:r>
                      <a:rPr lang="en-GB" b="0" i="1" smtClean="0">
                        <a:latin typeface="Cambria Math" panose="02040503050406030204" pitchFamily="18" charset="0"/>
                      </a:rPr>
                      <m:t>𝑔</m:t>
                    </m:r>
                    <m:r>
                      <a:rPr lang="en-GB" b="0" i="1" smtClean="0">
                        <a:latin typeface="Cambria Math" panose="02040503050406030204" pitchFamily="18" charset="0"/>
                      </a:rPr>
                      <m:t>(.)</m:t>
                    </m:r>
                  </m:oMath>
                </a14:m>
                <a:r>
                  <a:rPr lang="en-GB" dirty="0"/>
                  <a:t> is a link function and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𝜂</m:t>
                        </m:r>
                      </m:e>
                      <m:sub>
                        <m:r>
                          <a:rPr lang="en-GB" b="0" i="1" smtClean="0">
                            <a:latin typeface="Cambria Math" panose="02040503050406030204" pitchFamily="18" charset="0"/>
                          </a:rPr>
                          <m:t>𝑖</m:t>
                        </m:r>
                      </m:sub>
                    </m:sSub>
                  </m:oMath>
                </a14:m>
                <a:r>
                  <a:rPr lang="en-GB" dirty="0"/>
                  <a:t> is the linear predictor mentioned earlier. </a:t>
                </a:r>
              </a:p>
              <a:p>
                <a:endParaRPr lang="en-GB" dirty="0"/>
              </a:p>
            </p:txBody>
          </p:sp>
        </mc:Choice>
        <mc:Fallback xmlns="">
          <p:sp>
            <p:nvSpPr>
              <p:cNvPr id="3" name="Content Placeholder 2">
                <a:extLst>
                  <a:ext uri="{FF2B5EF4-FFF2-40B4-BE49-F238E27FC236}">
                    <a16:creationId xmlns:a16="http://schemas.microsoft.com/office/drawing/2014/main" id="{5FAC0161-65EC-A399-6072-184362059DB7}"/>
                  </a:ext>
                </a:extLst>
              </p:cNvPr>
              <p:cNvSpPr>
                <a:spLocks noGrp="1" noRot="1" noChangeAspect="1" noMove="1" noResize="1" noEditPoints="1" noAdjustHandles="1" noChangeArrowheads="1" noChangeShapeType="1" noTextEdit="1"/>
              </p:cNvSpPr>
              <p:nvPr>
                <p:ph idx="1"/>
              </p:nvPr>
            </p:nvSpPr>
            <p:spPr>
              <a:xfrm>
                <a:off x="670249" y="1493837"/>
                <a:ext cx="10515600" cy="4351338"/>
              </a:xfrm>
              <a:blipFill>
                <a:blip r:embed="rId2"/>
                <a:stretch>
                  <a:fillRect l="-1043" t="-3081" r="-1391" b="-1261"/>
                </a:stretch>
              </a:blipFill>
            </p:spPr>
            <p:txBody>
              <a:bodyPr/>
              <a:lstStyle/>
              <a:p>
                <a:r>
                  <a:rPr lang="en-GB">
                    <a:noFill/>
                  </a:rPr>
                  <a:t> </a:t>
                </a:r>
              </a:p>
            </p:txBody>
          </p:sp>
        </mc:Fallback>
      </mc:AlternateContent>
      <p:sp>
        <p:nvSpPr>
          <p:cNvPr id="2" name="Slide Number Placeholder 1">
            <a:extLst>
              <a:ext uri="{FF2B5EF4-FFF2-40B4-BE49-F238E27FC236}">
                <a16:creationId xmlns:a16="http://schemas.microsoft.com/office/drawing/2014/main" id="{4D8079C9-3424-966F-071A-D15AB86E32AC}"/>
              </a:ext>
            </a:extLst>
          </p:cNvPr>
          <p:cNvSpPr>
            <a:spLocks noGrp="1"/>
          </p:cNvSpPr>
          <p:nvPr>
            <p:ph type="sldNum" sz="quarter" idx="12"/>
          </p:nvPr>
        </p:nvSpPr>
        <p:spPr/>
        <p:txBody>
          <a:bodyPr/>
          <a:lstStyle/>
          <a:p>
            <a:fld id="{92E773D0-8039-41DE-9EAA-38744617136D}" type="slidenum">
              <a:rPr lang="en-GB" smtClean="0"/>
              <a:t>36</a:t>
            </a:fld>
            <a:endParaRPr lang="en-GB"/>
          </a:p>
        </p:txBody>
      </p:sp>
      <p:sp>
        <p:nvSpPr>
          <p:cNvPr id="7" name="Title 1">
            <a:extLst>
              <a:ext uri="{FF2B5EF4-FFF2-40B4-BE49-F238E27FC236}">
                <a16:creationId xmlns:a16="http://schemas.microsoft.com/office/drawing/2014/main" id="{7F846113-9605-5D2E-31AB-35B5115ED19B}"/>
              </a:ext>
            </a:extLst>
          </p:cNvPr>
          <p:cNvSpPr>
            <a:spLocks noGrp="1"/>
          </p:cNvSpPr>
          <p:nvPr>
            <p:ph type="title"/>
          </p:nvPr>
        </p:nvSpPr>
        <p:spPr>
          <a:xfrm>
            <a:off x="297024" y="0"/>
            <a:ext cx="10515600" cy="736088"/>
          </a:xfrm>
        </p:spPr>
        <p:txBody>
          <a:bodyPr>
            <a:normAutofit/>
          </a:bodyPr>
          <a:lstStyle/>
          <a:p>
            <a:r>
              <a:rPr lang="en-GB" sz="4000" b="1" dirty="0">
                <a:solidFill>
                  <a:schemeClr val="bg1"/>
                </a:solidFill>
                <a:latin typeface="+mn-lt"/>
              </a:rPr>
              <a:t>Latent Gaussian models (LGMs)</a:t>
            </a:r>
          </a:p>
        </p:txBody>
      </p:sp>
    </p:spTree>
    <p:extLst>
      <p:ext uri="{BB962C8B-B14F-4D97-AF65-F5344CB8AC3E}">
        <p14:creationId xmlns:p14="http://schemas.microsoft.com/office/powerpoint/2010/main" val="23816329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873E4-AC3B-420A-35B7-A6509BDEB657}"/>
              </a:ext>
            </a:extLst>
          </p:cNvPr>
          <p:cNvSpPr>
            <a:spLocks noGrp="1"/>
          </p:cNvSpPr>
          <p:nvPr>
            <p:ph type="title"/>
          </p:nvPr>
        </p:nvSpPr>
        <p:spPr>
          <a:xfrm>
            <a:off x="362339" y="0"/>
            <a:ext cx="10515600" cy="834410"/>
          </a:xfrm>
        </p:spPr>
        <p:txBody>
          <a:bodyPr>
            <a:normAutofit/>
          </a:bodyPr>
          <a:lstStyle/>
          <a:p>
            <a:r>
              <a:rPr lang="en-GB" sz="4000" b="1" dirty="0">
                <a:solidFill>
                  <a:schemeClr val="bg1"/>
                </a:solidFill>
              </a:rPr>
              <a:t>What does INLA actually calculate?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44CAE3-A6AA-EA3E-64C2-16A86EB32E1D}"/>
                  </a:ext>
                </a:extLst>
              </p:cNvPr>
              <p:cNvSpPr>
                <a:spLocks noGrp="1"/>
              </p:cNvSpPr>
              <p:nvPr>
                <p:ph idx="1"/>
              </p:nvPr>
            </p:nvSpPr>
            <p:spPr>
              <a:xfrm>
                <a:off x="838200" y="1419711"/>
                <a:ext cx="10515600" cy="4351338"/>
              </a:xfrm>
            </p:spPr>
            <p:txBody>
              <a:bodyPr>
                <a:normAutofit lnSpcReduction="10000"/>
              </a:bodyPr>
              <a:lstStyle/>
              <a:p>
                <a:r>
                  <a:rPr lang="en-GB" dirty="0"/>
                  <a:t>For a latent field </a:t>
                </a:r>
                <a14:m>
                  <m:oMath xmlns:m="http://schemas.openxmlformats.org/officeDocument/2006/math">
                    <m:r>
                      <a:rPr lang="en-GB" b="1" i="0" smtClean="0">
                        <a:latin typeface="Cambria Math" panose="02040503050406030204" pitchFamily="18" charset="0"/>
                      </a:rPr>
                      <m:t>𝐱</m:t>
                    </m:r>
                  </m:oMath>
                </a14:m>
                <a:r>
                  <a:rPr lang="en-GB" dirty="0"/>
                  <a:t>, with hyperparameters </a:t>
                </a:r>
                <a14:m>
                  <m:oMath xmlns:m="http://schemas.openxmlformats.org/officeDocument/2006/math">
                    <m:r>
                      <a:rPr lang="en-GB" b="1" i="1" smtClean="0">
                        <a:latin typeface="Cambria Math" panose="02040503050406030204" pitchFamily="18" charset="0"/>
                      </a:rPr>
                      <m:t>𝜽</m:t>
                    </m:r>
                  </m:oMath>
                </a14:m>
                <a:r>
                  <a:rPr lang="en-GB" dirty="0"/>
                  <a:t>, the Bayesian target is the joint posterior</a:t>
                </a:r>
              </a:p>
              <a:p>
                <a:pPr marL="0" indent="0" algn="ctr">
                  <a:buNone/>
                </a:pPr>
                <a14:m>
                  <m:oMath xmlns:m="http://schemas.openxmlformats.org/officeDocument/2006/math">
                    <m:r>
                      <a:rPr lang="en-GB" b="0" i="1" smtClean="0">
                        <a:latin typeface="Cambria Math" panose="02040503050406030204" pitchFamily="18" charset="0"/>
                      </a:rPr>
                      <m:t>𝑝</m:t>
                    </m:r>
                    <m:r>
                      <a:rPr lang="en-GB" b="1" i="1" smtClean="0">
                        <a:latin typeface="Cambria Math" panose="02040503050406030204" pitchFamily="18" charset="0"/>
                      </a:rPr>
                      <m:t>(</m:t>
                    </m:r>
                    <m:r>
                      <a:rPr lang="en-GB" b="1" i="0" smtClean="0">
                        <a:latin typeface="Cambria Math" panose="02040503050406030204" pitchFamily="18" charset="0"/>
                      </a:rPr>
                      <m:t>𝐱</m:t>
                    </m:r>
                    <m:r>
                      <a:rPr lang="en-GB" b="1" i="1" smtClean="0">
                        <a:latin typeface="Cambria Math" panose="02040503050406030204" pitchFamily="18" charset="0"/>
                      </a:rPr>
                      <m:t>,</m:t>
                    </m:r>
                    <m:r>
                      <a:rPr lang="en-GB" b="1" i="1" smtClean="0">
                        <a:latin typeface="Cambria Math" panose="02040503050406030204" pitchFamily="18" charset="0"/>
                      </a:rPr>
                      <m:t>𝜽</m:t>
                    </m:r>
                    <m:r>
                      <a:rPr lang="en-GB" b="1" i="1" smtClean="0">
                        <a:latin typeface="Cambria Math" panose="02040503050406030204" pitchFamily="18" charset="0"/>
                      </a:rPr>
                      <m:t>|</m:t>
                    </m:r>
                    <m:r>
                      <a:rPr lang="en-GB" b="1" i="1" smtClean="0">
                        <a:latin typeface="Cambria Math" panose="02040503050406030204" pitchFamily="18" charset="0"/>
                      </a:rPr>
                      <m:t>𝒚</m:t>
                    </m:r>
                    <m:r>
                      <a:rPr lang="en-GB" b="1" i="1" smtClean="0">
                        <a:latin typeface="Cambria Math" panose="02040503050406030204" pitchFamily="18" charset="0"/>
                      </a:rPr>
                      <m:t>)</m:t>
                    </m:r>
                  </m:oMath>
                </a14:m>
                <a:r>
                  <a:rPr lang="en-GB" b="1" dirty="0"/>
                  <a:t> .</a:t>
                </a:r>
              </a:p>
              <a:p>
                <a:r>
                  <a:rPr lang="en-GB" dirty="0"/>
                  <a:t>INLA is primarily interested in obtaining accurate and fast approximations to the </a:t>
                </a:r>
                <a:r>
                  <a:rPr lang="en-GB" dirty="0">
                    <a:solidFill>
                      <a:schemeClr val="tx2">
                        <a:lumMod val="75000"/>
                        <a:lumOff val="25000"/>
                      </a:schemeClr>
                    </a:solidFill>
                  </a:rPr>
                  <a:t>posterior marginals </a:t>
                </a:r>
                <a:r>
                  <a:rPr lang="en-GB" dirty="0"/>
                  <a:t>of each component of  </a:t>
                </a:r>
                <a14:m>
                  <m:oMath xmlns:m="http://schemas.openxmlformats.org/officeDocument/2006/math">
                    <m:r>
                      <a:rPr lang="en-GB" b="1" i="0" smtClean="0">
                        <a:latin typeface="Cambria Math" panose="02040503050406030204" pitchFamily="18" charset="0"/>
                      </a:rPr>
                      <m:t>𝐱</m:t>
                    </m:r>
                    <m:r>
                      <a:rPr lang="en-GB" b="1" i="0" smtClean="0">
                        <a:latin typeface="Cambria Math" panose="02040503050406030204" pitchFamily="18" charset="0"/>
                      </a:rPr>
                      <m:t>:</m:t>
                    </m:r>
                  </m:oMath>
                </a14:m>
                <a:endParaRPr lang="en-GB" b="1" dirty="0"/>
              </a:p>
              <a:p>
                <a:pPr marL="0" indent="0" algn="ctr">
                  <a:buNone/>
                </a:pP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m:t>
                            </m:r>
                          </m:sub>
                        </m:sSub>
                      </m:e>
                      <m:e>
                        <m:r>
                          <a:rPr lang="en-GB" b="1" i="1" smtClean="0">
                            <a:latin typeface="Cambria Math" panose="02040503050406030204" pitchFamily="18" charset="0"/>
                          </a:rPr>
                          <m:t>𝒚</m:t>
                        </m:r>
                      </m:e>
                    </m:d>
                    <m:r>
                      <a:rPr lang="en-GB" b="0" i="0" smtClean="0">
                        <a:latin typeface="Cambria Math" panose="02040503050406030204" pitchFamily="18" charset="0"/>
                      </a:rPr>
                      <m:t>, </m:t>
                    </m:r>
                    <m:r>
                      <a:rPr lang="en-GB" b="0" i="1" smtClean="0">
                        <a:latin typeface="Cambria Math" panose="02040503050406030204" pitchFamily="18" charset="0"/>
                      </a:rPr>
                      <m:t>𝑖</m:t>
                    </m:r>
                    <m:r>
                      <a:rPr lang="en-GB" b="0" i="0" smtClean="0">
                        <a:latin typeface="Cambria Math" panose="02040503050406030204" pitchFamily="18" charset="0"/>
                      </a:rPr>
                      <m:t>=1,</m:t>
                    </m:r>
                    <m:r>
                      <a:rPr lang="en-GB" b="0" i="1" smtClean="0">
                        <a:latin typeface="Cambria Math" panose="02040503050406030204" pitchFamily="18" charset="0"/>
                      </a:rPr>
                      <m:t>…,</m:t>
                    </m:r>
                    <m:r>
                      <a:rPr lang="en-GB" b="0" i="1" smtClean="0">
                        <a:latin typeface="Cambria Math" panose="02040503050406030204" pitchFamily="18" charset="0"/>
                      </a:rPr>
                      <m:t>𝑛</m:t>
                    </m:r>
                  </m:oMath>
                </a14:m>
                <a:r>
                  <a:rPr lang="en-GB" dirty="0"/>
                  <a:t>, </a:t>
                </a:r>
                <a:r>
                  <a:rPr lang="en-GB" b="1" dirty="0"/>
                  <a:t> </a:t>
                </a:r>
              </a:p>
              <a:p>
                <a:pPr marL="0" indent="0">
                  <a:buNone/>
                </a:pPr>
                <a:r>
                  <a:rPr lang="en-GB" dirty="0"/>
                  <a:t>as well as the </a:t>
                </a:r>
                <a:r>
                  <a:rPr lang="en-GB" dirty="0">
                    <a:solidFill>
                      <a:schemeClr val="tx2">
                        <a:lumMod val="75000"/>
                        <a:lumOff val="25000"/>
                      </a:schemeClr>
                    </a:solidFill>
                  </a:rPr>
                  <a:t>posterior marginals </a:t>
                </a:r>
                <a:r>
                  <a:rPr lang="en-GB" dirty="0"/>
                  <a:t>of the hyperparameters of </a:t>
                </a:r>
                <a14:m>
                  <m:oMath xmlns:m="http://schemas.openxmlformats.org/officeDocument/2006/math">
                    <m:r>
                      <a:rPr lang="en-GB" b="1" i="0" smtClean="0">
                        <a:latin typeface="Cambria Math" panose="02040503050406030204" pitchFamily="18" charset="0"/>
                      </a:rPr>
                      <m:t>𝐱</m:t>
                    </m:r>
                  </m:oMath>
                </a14:m>
                <a:r>
                  <a:rPr lang="en-GB" dirty="0"/>
                  <a:t>:</a:t>
                </a:r>
              </a:p>
              <a:p>
                <a:pPr marL="0" indent="0">
                  <a:buNone/>
                </a:pPr>
                <a:endParaRPr lang="en-GB" dirty="0"/>
              </a:p>
              <a:p>
                <a:pPr marL="0" indent="0" algn="ctr">
                  <a:buNone/>
                </a:pP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𝑗</m:t>
                            </m:r>
                          </m:sub>
                        </m:sSub>
                      </m:e>
                      <m:e>
                        <m:r>
                          <a:rPr lang="en-GB" b="1" i="1" smtClean="0">
                            <a:latin typeface="Cambria Math" panose="02040503050406030204" pitchFamily="18" charset="0"/>
                          </a:rPr>
                          <m:t>𝒚</m:t>
                        </m:r>
                      </m:e>
                    </m:d>
                    <m:r>
                      <a:rPr lang="en-GB" b="0" i="1" smtClean="0">
                        <a:latin typeface="Cambria Math" panose="02040503050406030204" pitchFamily="18" charset="0"/>
                      </a:rPr>
                      <m:t>, </m:t>
                    </m:r>
                    <m:r>
                      <a:rPr lang="en-GB" b="0" i="1" smtClean="0">
                        <a:latin typeface="Cambria Math" panose="02040503050406030204" pitchFamily="18" charset="0"/>
                      </a:rPr>
                      <m:t>𝑗</m:t>
                    </m:r>
                    <m:r>
                      <a:rPr lang="en-GB" b="0" i="1" smtClean="0">
                        <a:latin typeface="Cambria Math" panose="02040503050406030204" pitchFamily="18" charset="0"/>
                      </a:rPr>
                      <m:t>=1,…,|</m:t>
                    </m:r>
                    <m:r>
                      <a:rPr lang="en-GB" b="1" i="1" smtClean="0">
                        <a:latin typeface="Cambria Math" panose="02040503050406030204" pitchFamily="18" charset="0"/>
                      </a:rPr>
                      <m:t>𝜽</m:t>
                    </m:r>
                    <m:r>
                      <a:rPr lang="en-GB" b="0" i="1" smtClean="0">
                        <a:latin typeface="Cambria Math" panose="02040503050406030204" pitchFamily="18" charset="0"/>
                      </a:rPr>
                      <m:t>|</m:t>
                    </m:r>
                  </m:oMath>
                </a14:m>
                <a:r>
                  <a:rPr lang="en-GB" dirty="0"/>
                  <a:t>.</a:t>
                </a:r>
              </a:p>
            </p:txBody>
          </p:sp>
        </mc:Choice>
        <mc:Fallback xmlns="">
          <p:sp>
            <p:nvSpPr>
              <p:cNvPr id="3" name="Content Placeholder 2">
                <a:extLst>
                  <a:ext uri="{FF2B5EF4-FFF2-40B4-BE49-F238E27FC236}">
                    <a16:creationId xmlns:a16="http://schemas.microsoft.com/office/drawing/2014/main" id="{5C44CAE3-A6AA-EA3E-64C2-16A86EB32E1D}"/>
                  </a:ext>
                </a:extLst>
              </p:cNvPr>
              <p:cNvSpPr>
                <a:spLocks noGrp="1" noRot="1" noChangeAspect="1" noMove="1" noResize="1" noEditPoints="1" noAdjustHandles="1" noChangeArrowheads="1" noChangeShapeType="1" noTextEdit="1"/>
              </p:cNvSpPr>
              <p:nvPr>
                <p:ph idx="1"/>
              </p:nvPr>
            </p:nvSpPr>
            <p:spPr>
              <a:xfrm>
                <a:off x="838200" y="1419711"/>
                <a:ext cx="10515600" cy="4351338"/>
              </a:xfrm>
              <a:blipFill>
                <a:blip r:embed="rId2"/>
                <a:stretch>
                  <a:fillRect l="-1217" t="-3221" r="-580" b="-30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083C4BF-84FC-AC4E-6014-8C15B69A8DB2}"/>
                  </a:ext>
                </a:extLst>
              </p:cNvPr>
              <p:cNvSpPr txBox="1"/>
              <p:nvPr/>
            </p:nvSpPr>
            <p:spPr>
              <a:xfrm>
                <a:off x="2517059" y="6033184"/>
                <a:ext cx="6813754" cy="646331"/>
              </a:xfrm>
              <a:prstGeom prst="rect">
                <a:avLst/>
              </a:prstGeom>
              <a:noFill/>
            </p:spPr>
            <p:txBody>
              <a:bodyPr wrap="square" rtlCol="0">
                <a:spAutoFit/>
              </a:bodyPr>
              <a:lstStyle/>
              <a:p>
                <a14:m>
                  <m:oMath xmlns:m="http://schemas.openxmlformats.org/officeDocument/2006/math">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oMath>
                </a14:m>
                <a:r>
                  <a:rPr lang="en-GB" dirty="0"/>
                  <a:t> denotes the size or number of elements in the vector </a:t>
                </a:r>
                <a14:m>
                  <m:oMath xmlns:m="http://schemas.openxmlformats.org/officeDocument/2006/math">
                    <m:r>
                      <a:rPr lang="en-GB" b="1" i="1" smtClean="0">
                        <a:latin typeface="Cambria Math" panose="02040503050406030204" pitchFamily="18" charset="0"/>
                      </a:rPr>
                      <m:t>𝜽</m:t>
                    </m:r>
                    <m:r>
                      <a:rPr lang="en-GB" b="0" i="1" smtClean="0">
                        <a:latin typeface="Cambria Math" panose="02040503050406030204" pitchFamily="18" charset="0"/>
                      </a:rPr>
                      <m:t>.</m:t>
                    </m:r>
                  </m:oMath>
                </a14:m>
                <a:endParaRPr lang="en-GB" b="1" dirty="0"/>
              </a:p>
              <a:p>
                <a:r>
                  <a:rPr lang="en-GB" b="1" dirty="0"/>
                  <a:t>Note that </a:t>
                </a:r>
                <a14:m>
                  <m:oMath xmlns:m="http://schemas.openxmlformats.org/officeDocument/2006/math">
                    <m:r>
                      <a:rPr lang="en-GB" b="0" i="1" smtClean="0">
                        <a:latin typeface="Cambria Math" panose="02040503050406030204" pitchFamily="18" charset="0"/>
                      </a:rPr>
                      <m:t>𝑝</m:t>
                    </m:r>
                    <m:r>
                      <a:rPr lang="en-GB" b="1" i="1" smtClean="0">
                        <a:latin typeface="Cambria Math" panose="02040503050406030204" pitchFamily="18" charset="0"/>
                      </a:rPr>
                      <m:t>(</m:t>
                    </m:r>
                    <m:r>
                      <a:rPr lang="en-GB" b="1" i="0" smtClean="0">
                        <a:latin typeface="Cambria Math" panose="02040503050406030204" pitchFamily="18" charset="0"/>
                      </a:rPr>
                      <m:t>𝐱</m:t>
                    </m:r>
                    <m:r>
                      <a:rPr lang="en-GB" b="1" i="1" smtClean="0">
                        <a:latin typeface="Cambria Math" panose="02040503050406030204" pitchFamily="18" charset="0"/>
                      </a:rPr>
                      <m:t>,</m:t>
                    </m:r>
                    <m:r>
                      <a:rPr lang="en-GB" b="1" i="1" smtClean="0">
                        <a:latin typeface="Cambria Math" panose="02040503050406030204" pitchFamily="18" charset="0"/>
                      </a:rPr>
                      <m:t>𝜽</m:t>
                    </m:r>
                    <m:r>
                      <a:rPr lang="en-GB" b="1" i="1" smtClean="0">
                        <a:latin typeface="Cambria Math" panose="02040503050406030204" pitchFamily="18" charset="0"/>
                      </a:rPr>
                      <m:t>|</m:t>
                    </m:r>
                    <m:r>
                      <a:rPr lang="en-GB" b="1" i="1" smtClean="0">
                        <a:latin typeface="Cambria Math" panose="02040503050406030204" pitchFamily="18" charset="0"/>
                      </a:rPr>
                      <m:t>𝒚</m:t>
                    </m:r>
                    <m:r>
                      <a:rPr lang="en-GB" b="1" i="1" smtClean="0">
                        <a:latin typeface="Cambria Math" panose="02040503050406030204" pitchFamily="18" charset="0"/>
                      </a:rPr>
                      <m:t>)∝</m:t>
                    </m:r>
                    <m:r>
                      <a:rPr lang="en-GB" b="0" i="1" smtClean="0">
                        <a:latin typeface="Cambria Math" panose="02040503050406030204" pitchFamily="18" charset="0"/>
                      </a:rPr>
                      <m:t>𝑝</m:t>
                    </m:r>
                    <m:r>
                      <a:rPr lang="en-GB" b="1" i="1" smtClean="0">
                        <a:latin typeface="Cambria Math" panose="02040503050406030204" pitchFamily="18" charset="0"/>
                      </a:rPr>
                      <m:t>(</m:t>
                    </m:r>
                    <m:r>
                      <a:rPr lang="en-GB" b="1" i="1" smtClean="0">
                        <a:latin typeface="Cambria Math" panose="02040503050406030204" pitchFamily="18" charset="0"/>
                      </a:rPr>
                      <m:t>𝒚</m:t>
                    </m:r>
                    <m:r>
                      <a:rPr lang="en-GB" b="1" i="1" smtClean="0">
                        <a:latin typeface="Cambria Math" panose="02040503050406030204" pitchFamily="18" charset="0"/>
                      </a:rPr>
                      <m:t>|</m:t>
                    </m:r>
                    <m:r>
                      <a:rPr lang="en-GB" b="1" i="0" smtClean="0">
                        <a:latin typeface="Cambria Math" panose="02040503050406030204" pitchFamily="18" charset="0"/>
                      </a:rPr>
                      <m:t>𝐱</m:t>
                    </m:r>
                    <m:r>
                      <a:rPr lang="en-GB" b="1" i="1" smtClean="0">
                        <a:latin typeface="Cambria Math" panose="02040503050406030204" pitchFamily="18" charset="0"/>
                      </a:rPr>
                      <m:t>,</m:t>
                    </m:r>
                    <m:r>
                      <a:rPr lang="en-GB" b="1" i="1" smtClean="0">
                        <a:latin typeface="Cambria Math" panose="02040503050406030204" pitchFamily="18" charset="0"/>
                      </a:rPr>
                      <m:t>𝜽</m:t>
                    </m:r>
                    <m:r>
                      <a:rPr lang="en-GB" b="1" i="1" smtClean="0">
                        <a:latin typeface="Cambria Math" panose="02040503050406030204" pitchFamily="18" charset="0"/>
                      </a:rPr>
                      <m:t>)</m:t>
                    </m:r>
                    <m:r>
                      <a:rPr lang="en-GB" b="0" i="1" smtClean="0">
                        <a:latin typeface="Cambria Math" panose="02040503050406030204" pitchFamily="18" charset="0"/>
                      </a:rPr>
                      <m:t>𝑝</m:t>
                    </m:r>
                    <m:r>
                      <a:rPr lang="en-GB" b="1" i="1" smtClean="0">
                        <a:latin typeface="Cambria Math" panose="02040503050406030204" pitchFamily="18" charset="0"/>
                      </a:rPr>
                      <m:t>(</m:t>
                    </m:r>
                    <m:r>
                      <a:rPr lang="en-GB" b="1" i="0" smtClean="0">
                        <a:latin typeface="Cambria Math" panose="02040503050406030204" pitchFamily="18" charset="0"/>
                      </a:rPr>
                      <m:t>𝐱</m:t>
                    </m:r>
                    <m:r>
                      <a:rPr lang="en-GB" b="1" i="1" smtClean="0">
                        <a:latin typeface="Cambria Math" panose="02040503050406030204" pitchFamily="18" charset="0"/>
                      </a:rPr>
                      <m:t>,</m:t>
                    </m:r>
                    <m:r>
                      <a:rPr lang="en-GB" b="1" i="1" smtClean="0">
                        <a:latin typeface="Cambria Math" panose="02040503050406030204" pitchFamily="18" charset="0"/>
                      </a:rPr>
                      <m:t>𝜽</m:t>
                    </m:r>
                    <m:r>
                      <a:rPr lang="en-GB" b="1" i="1" smtClean="0">
                        <a:latin typeface="Cambria Math" panose="02040503050406030204" pitchFamily="18" charset="0"/>
                      </a:rPr>
                      <m:t>)=</m:t>
                    </m:r>
                    <m:r>
                      <a:rPr lang="en-GB" b="0" i="1" smtClean="0">
                        <a:latin typeface="Cambria Math" panose="02040503050406030204" pitchFamily="18" charset="0"/>
                      </a:rPr>
                      <m:t>𝑝</m:t>
                    </m:r>
                    <m:r>
                      <a:rPr lang="en-GB" b="1" i="1" smtClean="0">
                        <a:latin typeface="Cambria Math" panose="02040503050406030204" pitchFamily="18" charset="0"/>
                      </a:rPr>
                      <m:t>(</m:t>
                    </m:r>
                    <m:r>
                      <a:rPr lang="en-GB" b="1" i="1" smtClean="0">
                        <a:latin typeface="Cambria Math" panose="02040503050406030204" pitchFamily="18" charset="0"/>
                      </a:rPr>
                      <m:t>𝒚</m:t>
                    </m:r>
                    <m:r>
                      <a:rPr lang="en-GB" b="1" i="1" smtClean="0">
                        <a:latin typeface="Cambria Math" panose="02040503050406030204" pitchFamily="18" charset="0"/>
                      </a:rPr>
                      <m:t>|</m:t>
                    </m:r>
                    <m:r>
                      <a:rPr lang="en-GB" b="1" i="0" smtClean="0">
                        <a:latin typeface="Cambria Math" panose="02040503050406030204" pitchFamily="18" charset="0"/>
                      </a:rPr>
                      <m:t>𝐱</m:t>
                    </m:r>
                    <m:r>
                      <a:rPr lang="en-GB" b="1" i="1" smtClean="0">
                        <a:latin typeface="Cambria Math" panose="02040503050406030204" pitchFamily="18" charset="0"/>
                      </a:rPr>
                      <m:t>,</m:t>
                    </m:r>
                    <m:r>
                      <a:rPr lang="en-GB" b="1" i="1" smtClean="0">
                        <a:latin typeface="Cambria Math" panose="02040503050406030204" pitchFamily="18" charset="0"/>
                      </a:rPr>
                      <m:t>𝜽</m:t>
                    </m:r>
                    <m:r>
                      <a:rPr lang="en-GB" b="1" i="1" smtClean="0">
                        <a:latin typeface="Cambria Math" panose="02040503050406030204" pitchFamily="18" charset="0"/>
                      </a:rPr>
                      <m:t>)</m:t>
                    </m:r>
                    <m:r>
                      <a:rPr lang="en-GB" b="0" i="1" smtClean="0">
                        <a:latin typeface="Cambria Math" panose="02040503050406030204" pitchFamily="18" charset="0"/>
                      </a:rPr>
                      <m:t>𝑝</m:t>
                    </m:r>
                    <m:r>
                      <a:rPr lang="en-GB" b="1" i="1" smtClean="0">
                        <a:latin typeface="Cambria Math" panose="02040503050406030204" pitchFamily="18" charset="0"/>
                      </a:rPr>
                      <m:t>(</m:t>
                    </m:r>
                    <m:r>
                      <a:rPr lang="en-GB" b="1" i="0" smtClean="0">
                        <a:latin typeface="Cambria Math" panose="02040503050406030204" pitchFamily="18" charset="0"/>
                      </a:rPr>
                      <m:t>𝐱</m:t>
                    </m:r>
                    <m:r>
                      <a:rPr lang="en-GB" b="1" i="1" smtClean="0">
                        <a:latin typeface="Cambria Math" panose="02040503050406030204" pitchFamily="18" charset="0"/>
                      </a:rPr>
                      <m:t>|</m:t>
                    </m:r>
                    <m:r>
                      <a:rPr lang="en-GB" b="1" i="1" smtClean="0">
                        <a:latin typeface="Cambria Math" panose="02040503050406030204" pitchFamily="18" charset="0"/>
                      </a:rPr>
                      <m:t>𝜽</m:t>
                    </m:r>
                    <m:r>
                      <a:rPr lang="en-GB" b="1" i="1" smtClean="0">
                        <a:latin typeface="Cambria Math" panose="02040503050406030204" pitchFamily="18" charset="0"/>
                      </a:rPr>
                      <m:t>)</m:t>
                    </m:r>
                    <m:r>
                      <a:rPr lang="en-GB" b="0" i="1" smtClean="0">
                        <a:latin typeface="Cambria Math" panose="02040503050406030204" pitchFamily="18" charset="0"/>
                      </a:rPr>
                      <m:t>𝑝</m:t>
                    </m:r>
                    <m:r>
                      <a:rPr lang="en-GB" b="1" i="1" smtClean="0">
                        <a:latin typeface="Cambria Math" panose="02040503050406030204" pitchFamily="18" charset="0"/>
                      </a:rPr>
                      <m:t>(</m:t>
                    </m:r>
                    <m:r>
                      <a:rPr lang="en-GB" b="1" i="1" smtClean="0">
                        <a:latin typeface="Cambria Math" panose="02040503050406030204" pitchFamily="18" charset="0"/>
                      </a:rPr>
                      <m:t>𝜽</m:t>
                    </m:r>
                    <m:r>
                      <a:rPr lang="en-GB" b="1" i="1" smtClean="0">
                        <a:latin typeface="Cambria Math" panose="02040503050406030204" pitchFamily="18" charset="0"/>
                      </a:rPr>
                      <m:t>)</m:t>
                    </m:r>
                  </m:oMath>
                </a14:m>
                <a:r>
                  <a:rPr lang="en-GB" b="1" dirty="0"/>
                  <a:t> </a:t>
                </a:r>
              </a:p>
            </p:txBody>
          </p:sp>
        </mc:Choice>
        <mc:Fallback xmlns="">
          <p:sp>
            <p:nvSpPr>
              <p:cNvPr id="4" name="TextBox 3">
                <a:extLst>
                  <a:ext uri="{FF2B5EF4-FFF2-40B4-BE49-F238E27FC236}">
                    <a16:creationId xmlns:a16="http://schemas.microsoft.com/office/drawing/2014/main" id="{D083C4BF-84FC-AC4E-6014-8C15B69A8DB2}"/>
                  </a:ext>
                </a:extLst>
              </p:cNvPr>
              <p:cNvSpPr txBox="1">
                <a:spLocks noRot="1" noChangeAspect="1" noMove="1" noResize="1" noEditPoints="1" noAdjustHandles="1" noChangeArrowheads="1" noChangeShapeType="1" noTextEdit="1"/>
              </p:cNvSpPr>
              <p:nvPr/>
            </p:nvSpPr>
            <p:spPr>
              <a:xfrm>
                <a:off x="2517059" y="6033184"/>
                <a:ext cx="6813754" cy="646331"/>
              </a:xfrm>
              <a:prstGeom prst="rect">
                <a:avLst/>
              </a:prstGeom>
              <a:blipFill>
                <a:blip r:embed="rId3"/>
                <a:stretch>
                  <a:fillRect l="-805" t="-4717" b="-15094"/>
                </a:stretch>
              </a:blipFill>
            </p:spPr>
            <p:txBody>
              <a:bodyPr/>
              <a:lstStyle/>
              <a:p>
                <a:r>
                  <a:rPr lang="en-GB">
                    <a:noFill/>
                  </a:rPr>
                  <a:t> </a:t>
                </a:r>
              </a:p>
            </p:txBody>
          </p:sp>
        </mc:Fallback>
      </mc:AlternateContent>
      <p:sp>
        <p:nvSpPr>
          <p:cNvPr id="5" name="Slide Number Placeholder 4">
            <a:extLst>
              <a:ext uri="{FF2B5EF4-FFF2-40B4-BE49-F238E27FC236}">
                <a16:creationId xmlns:a16="http://schemas.microsoft.com/office/drawing/2014/main" id="{08C1FE5E-7232-7FCE-55D5-769BA44562B6}"/>
              </a:ext>
            </a:extLst>
          </p:cNvPr>
          <p:cNvSpPr>
            <a:spLocks noGrp="1"/>
          </p:cNvSpPr>
          <p:nvPr>
            <p:ph type="sldNum" sz="quarter" idx="12"/>
          </p:nvPr>
        </p:nvSpPr>
        <p:spPr/>
        <p:txBody>
          <a:bodyPr/>
          <a:lstStyle/>
          <a:p>
            <a:fld id="{92E773D0-8039-41DE-9EAA-38744617136D}" type="slidenum">
              <a:rPr lang="en-GB" smtClean="0"/>
              <a:t>37</a:t>
            </a:fld>
            <a:endParaRPr lang="en-GB"/>
          </a:p>
        </p:txBody>
      </p:sp>
    </p:spTree>
    <p:extLst>
      <p:ext uri="{BB962C8B-B14F-4D97-AF65-F5344CB8AC3E}">
        <p14:creationId xmlns:p14="http://schemas.microsoft.com/office/powerpoint/2010/main" val="17439054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9A500F-3854-8083-49DE-7F05A86DC05C}"/>
                  </a:ext>
                </a:extLst>
              </p:cNvPr>
              <p:cNvSpPr>
                <a:spLocks noGrp="1"/>
              </p:cNvSpPr>
              <p:nvPr>
                <p:ph idx="1"/>
              </p:nvPr>
            </p:nvSpPr>
            <p:spPr>
              <a:xfrm>
                <a:off x="838200" y="1527046"/>
                <a:ext cx="10515600" cy="4351338"/>
              </a:xfrm>
            </p:spPr>
            <p:txBody>
              <a:bodyPr/>
              <a:lstStyle/>
              <a:p>
                <a:r>
                  <a:rPr lang="en-GB" dirty="0"/>
                  <a:t>We can expand these marginals to obtain:</a:t>
                </a:r>
              </a:p>
              <a:p>
                <a:endParaRPr lang="en-GB" dirty="0"/>
              </a:p>
              <a:p>
                <a:pPr marL="0" indent="0" algn="ctr">
                  <a:buNone/>
                </a:pP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m:t>
                            </m:r>
                          </m:sub>
                        </m:sSub>
                      </m:e>
                      <m:e>
                        <m:r>
                          <a:rPr lang="en-GB" b="1" i="1" smtClean="0">
                            <a:latin typeface="Cambria Math" panose="02040503050406030204" pitchFamily="18" charset="0"/>
                          </a:rPr>
                          <m:t>𝒚</m:t>
                        </m:r>
                      </m:e>
                    </m:d>
                    <m:r>
                      <a:rPr lang="en-GB" b="1" i="1" smtClean="0">
                        <a:latin typeface="Cambria Math" panose="02040503050406030204" pitchFamily="18" charset="0"/>
                      </a:rPr>
                      <m:t>=∫</m:t>
                    </m:r>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1" i="1" smtClean="0">
                            <a:latin typeface="Cambria Math" panose="02040503050406030204" pitchFamily="18" charset="0"/>
                          </a:rPr>
                          <m:t>𝜽</m:t>
                        </m:r>
                        <m:r>
                          <a:rPr lang="en-GB" b="1" i="1" smtClean="0">
                            <a:latin typeface="Cambria Math" panose="02040503050406030204" pitchFamily="18" charset="0"/>
                          </a:rPr>
                          <m:t>,</m:t>
                        </m:r>
                        <m:r>
                          <a:rPr lang="en-GB" b="1" i="1" smtClean="0">
                            <a:latin typeface="Cambria Math" panose="02040503050406030204" pitchFamily="18" charset="0"/>
                          </a:rPr>
                          <m:t>𝒚</m:t>
                        </m:r>
                      </m:e>
                    </m:d>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r>
                          <a:rPr lang="en-GB" b="1" i="1" smtClean="0">
                            <a:latin typeface="Cambria Math" panose="02040503050406030204" pitchFamily="18" charset="0"/>
                          </a:rPr>
                          <m:t>|</m:t>
                        </m:r>
                        <m:r>
                          <a:rPr lang="en-GB" b="1" i="1" smtClean="0">
                            <a:latin typeface="Cambria Math" panose="02040503050406030204" pitchFamily="18" charset="0"/>
                          </a:rPr>
                          <m:t>𝒚</m:t>
                        </m:r>
                      </m:e>
                    </m:d>
                    <m:r>
                      <a:rPr lang="en-GB" b="0" i="1" smtClean="0">
                        <a:latin typeface="Cambria Math" panose="02040503050406030204" pitchFamily="18" charset="0"/>
                      </a:rPr>
                      <m:t>𝑑</m:t>
                    </m:r>
                    <m:r>
                      <a:rPr lang="en-GB" b="1" i="1" smtClean="0">
                        <a:latin typeface="Cambria Math" panose="02040503050406030204" pitchFamily="18" charset="0"/>
                      </a:rPr>
                      <m:t>𝜽</m:t>
                    </m:r>
                  </m:oMath>
                </a14:m>
                <a:r>
                  <a:rPr lang="en-GB" dirty="0"/>
                  <a:t>,  and</a:t>
                </a:r>
              </a:p>
              <a:p>
                <a:pPr marL="0" indent="0">
                  <a:buNone/>
                </a:pPr>
                <a:endParaRPr lang="en-GB" dirty="0"/>
              </a:p>
              <a:p>
                <a:pPr marL="0" indent="0" algn="ctr">
                  <a:buNone/>
                </a:pP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𝑗</m:t>
                            </m:r>
                          </m:sub>
                        </m:sSub>
                      </m:e>
                      <m:e>
                        <m:r>
                          <a:rPr lang="en-GB" b="1" i="1" smtClean="0">
                            <a:latin typeface="Cambria Math" panose="02040503050406030204" pitchFamily="18" charset="0"/>
                          </a:rPr>
                          <m:t>𝒚</m:t>
                        </m:r>
                      </m:e>
                    </m:d>
                    <m:r>
                      <a:rPr lang="en-GB" b="0" i="1" smtClean="0">
                        <a:latin typeface="Cambria Math" panose="02040503050406030204" pitchFamily="18" charset="0"/>
                      </a:rPr>
                      <m:t>=∫</m:t>
                    </m:r>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e>
                        <m:r>
                          <a:rPr lang="en-GB" b="1" i="1" smtClean="0">
                            <a:latin typeface="Cambria Math" panose="02040503050406030204" pitchFamily="18" charset="0"/>
                          </a:rPr>
                          <m:t>𝒚</m:t>
                        </m:r>
                      </m:e>
                    </m:d>
                    <m:r>
                      <a:rPr lang="en-GB" b="0" i="1" smtClean="0">
                        <a:latin typeface="Cambria Math" panose="02040503050406030204" pitchFamily="18" charset="0"/>
                      </a:rPr>
                      <m:t>𝑑</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𝜽</m:t>
                        </m:r>
                      </m:e>
                      <m:sub>
                        <m:r>
                          <a:rPr lang="en-GB" b="0" i="1" smtClean="0">
                            <a:latin typeface="Cambria Math" panose="02040503050406030204" pitchFamily="18" charset="0"/>
                          </a:rPr>
                          <m:t>−</m:t>
                        </m:r>
                        <m:r>
                          <a:rPr lang="en-GB" b="0" i="1" smtClean="0">
                            <a:latin typeface="Cambria Math" panose="02040503050406030204" pitchFamily="18" charset="0"/>
                          </a:rPr>
                          <m:t>𝑗</m:t>
                        </m:r>
                      </m:sub>
                    </m:sSub>
                  </m:oMath>
                </a14:m>
                <a:r>
                  <a:rPr lang="en-GB" dirty="0"/>
                  <a:t>.</a:t>
                </a:r>
              </a:p>
              <a:p>
                <a:pPr marL="0" indent="0" algn="ctr">
                  <a:buNone/>
                </a:pPr>
                <a:endParaRPr lang="en-GB" dirty="0"/>
              </a:p>
              <a:p>
                <a:r>
                  <a:rPr lang="en-GB" dirty="0"/>
                  <a:t>The fundamental decomposition is </a:t>
                </a: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m:t>
                            </m:r>
                          </m:sub>
                        </m:sSub>
                      </m:e>
                      <m:e>
                        <m:r>
                          <a:rPr lang="en-GB" b="1" i="1" smtClean="0">
                            <a:latin typeface="Cambria Math" panose="02040503050406030204" pitchFamily="18" charset="0"/>
                          </a:rPr>
                          <m:t>𝒚</m:t>
                        </m:r>
                      </m:e>
                    </m:d>
                  </m:oMath>
                </a14:m>
                <a:r>
                  <a:rPr lang="en-GB" dirty="0"/>
                  <a:t> = …., in which </a:t>
                </a:r>
                <a14:m>
                  <m:oMath xmlns:m="http://schemas.openxmlformats.org/officeDocument/2006/math">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r>
                          <a:rPr lang="en-GB" b="1" i="1" smtClean="0">
                            <a:latin typeface="Cambria Math" panose="02040503050406030204" pitchFamily="18" charset="0"/>
                          </a:rPr>
                          <m:t>|</m:t>
                        </m:r>
                        <m:r>
                          <a:rPr lang="en-GB" b="1" i="1" smtClean="0">
                            <a:latin typeface="Cambria Math" panose="02040503050406030204" pitchFamily="18" charset="0"/>
                          </a:rPr>
                          <m:t>𝒚</m:t>
                        </m:r>
                      </m:e>
                    </m:d>
                  </m:oMath>
                </a14:m>
                <a:r>
                  <a:rPr lang="en-GB" dirty="0"/>
                  <a:t> is </a:t>
                </a:r>
                <a:r>
                  <a:rPr lang="en-GB" b="1" dirty="0"/>
                  <a:t>nested.</a:t>
                </a:r>
              </a:p>
            </p:txBody>
          </p:sp>
        </mc:Choice>
        <mc:Fallback xmlns="">
          <p:sp>
            <p:nvSpPr>
              <p:cNvPr id="3" name="Content Placeholder 2">
                <a:extLst>
                  <a:ext uri="{FF2B5EF4-FFF2-40B4-BE49-F238E27FC236}">
                    <a16:creationId xmlns:a16="http://schemas.microsoft.com/office/drawing/2014/main" id="{E59A500F-3854-8083-49DE-7F05A86DC05C}"/>
                  </a:ext>
                </a:extLst>
              </p:cNvPr>
              <p:cNvSpPr>
                <a:spLocks noGrp="1" noRot="1" noChangeAspect="1" noMove="1" noResize="1" noEditPoints="1" noAdjustHandles="1" noChangeArrowheads="1" noChangeShapeType="1" noTextEdit="1"/>
              </p:cNvSpPr>
              <p:nvPr>
                <p:ph idx="1"/>
              </p:nvPr>
            </p:nvSpPr>
            <p:spPr>
              <a:xfrm>
                <a:off x="838200" y="1527046"/>
                <a:ext cx="10515600" cy="4351338"/>
              </a:xfrm>
              <a:blipFill>
                <a:blip r:embed="rId2"/>
                <a:stretch>
                  <a:fillRect l="-1043" t="-23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EDA6022-7AA8-AF51-0932-74AD92373C2C}"/>
                  </a:ext>
                </a:extLst>
              </p:cNvPr>
              <p:cNvSpPr txBox="1"/>
              <p:nvPr/>
            </p:nvSpPr>
            <p:spPr>
              <a:xfrm>
                <a:off x="570271" y="6105832"/>
                <a:ext cx="10783529" cy="646331"/>
              </a:xfrm>
              <a:prstGeom prst="rect">
                <a:avLst/>
              </a:prstGeom>
              <a:noFill/>
            </p:spPr>
            <p:txBody>
              <a:bodyPr wrap="square" rtlCol="0">
                <a:spAutoFit/>
              </a:bodyPr>
              <a:lstStyle/>
              <a:p>
                <a:r>
                  <a:rPr lang="en-GB" dirty="0"/>
                  <a:t>The term “nested” comes from INLA approximating</a:t>
                </a:r>
                <a:r>
                  <a:rPr lang="en-GB" b="0" dirty="0"/>
                  <a:t> </a:t>
                </a:r>
                <a14:m>
                  <m:oMath xmlns:m="http://schemas.openxmlformats.org/officeDocument/2006/math">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r>
                          <a:rPr lang="en-GB" b="1" i="1" smtClean="0">
                            <a:latin typeface="Cambria Math" panose="02040503050406030204" pitchFamily="18" charset="0"/>
                          </a:rPr>
                          <m:t>|</m:t>
                        </m:r>
                        <m:r>
                          <a:rPr lang="en-GB" b="1" i="1" smtClean="0">
                            <a:latin typeface="Cambria Math" panose="02040503050406030204" pitchFamily="18" charset="0"/>
                          </a:rPr>
                          <m:t>𝒚</m:t>
                        </m:r>
                      </m:e>
                    </m:d>
                  </m:oMath>
                </a14:m>
                <a:r>
                  <a:rPr lang="en-GB" dirty="0"/>
                  <a:t>. Then, conditional on particular values of </a:t>
                </a:r>
                <a14:m>
                  <m:oMath xmlns:m="http://schemas.openxmlformats.org/officeDocument/2006/math">
                    <m:r>
                      <a:rPr lang="en-GB" b="1" i="1" smtClean="0">
                        <a:latin typeface="Cambria Math" panose="02040503050406030204" pitchFamily="18" charset="0"/>
                      </a:rPr>
                      <m:t>𝜽</m:t>
                    </m:r>
                  </m:oMath>
                </a14:m>
                <a:r>
                  <a:rPr lang="en-GB" dirty="0"/>
                  <a:t>, it approximates </a:t>
                </a:r>
                <a14:m>
                  <m:oMath xmlns:m="http://schemas.openxmlformats.org/officeDocument/2006/math">
                    <m:r>
                      <a:rPr lang="en-GB" b="0" i="1" smtClean="0">
                        <a:latin typeface="Cambria Math" panose="02040503050406030204" pitchFamily="18" charset="0"/>
                      </a:rPr>
                      <m:t>𝑝</m:t>
                    </m:r>
                    <m:d>
                      <m:dPr>
                        <m:ctrlPr>
                          <a:rPr lang="en-GB" b="1" i="0" smtClean="0">
                            <a:latin typeface="Cambria Math" panose="02040503050406030204" pitchFamily="18" charset="0"/>
                          </a:rPr>
                        </m:ctrlPr>
                      </m:dPr>
                      <m:e>
                        <m:r>
                          <a:rPr lang="en-GB" b="1" i="0" smtClean="0">
                            <a:latin typeface="Cambria Math" panose="02040503050406030204" pitchFamily="18" charset="0"/>
                          </a:rPr>
                          <m:t>𝐱</m:t>
                        </m:r>
                      </m:e>
                      <m:e>
                        <m:r>
                          <a:rPr lang="en-GB" b="1" i="1" smtClean="0">
                            <a:latin typeface="Cambria Math" panose="02040503050406030204" pitchFamily="18" charset="0"/>
                          </a:rPr>
                          <m:t>𝒚</m:t>
                        </m:r>
                      </m:e>
                    </m:d>
                  </m:oMath>
                </a14:m>
                <a:r>
                  <a:rPr lang="en-GB" dirty="0"/>
                  <a:t>, and integrates over </a:t>
                </a:r>
                <a14:m>
                  <m:oMath xmlns:m="http://schemas.openxmlformats.org/officeDocument/2006/math">
                    <m:r>
                      <a:rPr lang="en-GB" b="1" i="1" smtClean="0">
                        <a:latin typeface="Cambria Math" panose="02040503050406030204" pitchFamily="18" charset="0"/>
                      </a:rPr>
                      <m:t>𝜽</m:t>
                    </m:r>
                  </m:oMath>
                </a14:m>
                <a:r>
                  <a:rPr lang="en-GB" dirty="0"/>
                  <a:t> to obtain </a:t>
                </a:r>
                <a14:m>
                  <m:oMath xmlns:m="http://schemas.openxmlformats.org/officeDocument/2006/math">
                    <m:r>
                      <a:rPr lang="en-GB" b="0" i="1" smtClean="0">
                        <a:latin typeface="Cambria Math" panose="02040503050406030204" pitchFamily="18" charset="0"/>
                      </a:rPr>
                      <m:t>𝑝</m:t>
                    </m:r>
                    <m:d>
                      <m:dPr>
                        <m:ctrlPr>
                          <a:rPr lang="en-GB" b="1" i="1" smtClean="0">
                            <a:latin typeface="Cambria Math" panose="02040503050406030204" pitchFamily="18" charset="0"/>
                          </a:rPr>
                        </m:ctrlPr>
                      </m:dPr>
                      <m:e>
                        <m:sSub>
                          <m:sSubPr>
                            <m:ctrlPr>
                              <a:rPr lang="en-GB" b="1" i="0" smtClean="0">
                                <a:latin typeface="Cambria Math" panose="02040503050406030204" pitchFamily="18" charset="0"/>
                              </a:rPr>
                            </m:ctrlPr>
                          </m:sSubPr>
                          <m:e>
                            <m:r>
                              <a:rPr lang="en-GB" b="1" i="0" smtClean="0">
                                <a:latin typeface="Cambria Math" panose="02040503050406030204" pitchFamily="18" charset="0"/>
                              </a:rPr>
                              <m:t>𝐱</m:t>
                            </m:r>
                          </m:e>
                          <m:sub>
                            <m:r>
                              <a:rPr lang="en-GB" b="0" i="1" smtClean="0">
                                <a:latin typeface="Cambria Math" panose="02040503050406030204" pitchFamily="18" charset="0"/>
                              </a:rPr>
                              <m:t>𝑖</m:t>
                            </m:r>
                          </m:sub>
                        </m:sSub>
                      </m:e>
                      <m:e>
                        <m:r>
                          <a:rPr lang="en-GB" b="1" i="1" smtClean="0">
                            <a:latin typeface="Cambria Math" panose="02040503050406030204" pitchFamily="18" charset="0"/>
                          </a:rPr>
                          <m:t>𝒚</m:t>
                        </m:r>
                      </m:e>
                    </m:d>
                  </m:oMath>
                </a14:m>
                <a:r>
                  <a:rPr lang="en-GB" dirty="0"/>
                  <a:t>.  </a:t>
                </a:r>
              </a:p>
            </p:txBody>
          </p:sp>
        </mc:Choice>
        <mc:Fallback xmlns="">
          <p:sp>
            <p:nvSpPr>
              <p:cNvPr id="5" name="TextBox 4">
                <a:extLst>
                  <a:ext uri="{FF2B5EF4-FFF2-40B4-BE49-F238E27FC236}">
                    <a16:creationId xmlns:a16="http://schemas.microsoft.com/office/drawing/2014/main" id="{6EDA6022-7AA8-AF51-0932-74AD92373C2C}"/>
                  </a:ext>
                </a:extLst>
              </p:cNvPr>
              <p:cNvSpPr txBox="1">
                <a:spLocks noRot="1" noChangeAspect="1" noMove="1" noResize="1" noEditPoints="1" noAdjustHandles="1" noChangeArrowheads="1" noChangeShapeType="1" noTextEdit="1"/>
              </p:cNvSpPr>
              <p:nvPr/>
            </p:nvSpPr>
            <p:spPr>
              <a:xfrm>
                <a:off x="570271" y="6105832"/>
                <a:ext cx="10783529" cy="646331"/>
              </a:xfrm>
              <a:prstGeom prst="rect">
                <a:avLst/>
              </a:prstGeom>
              <a:blipFill>
                <a:blip r:embed="rId3"/>
                <a:stretch>
                  <a:fillRect l="-509" t="-4717" b="-15094"/>
                </a:stretch>
              </a:blipFill>
            </p:spPr>
            <p:txBody>
              <a:bodyPr/>
              <a:lstStyle/>
              <a:p>
                <a:r>
                  <a:rPr lang="en-GB">
                    <a:noFill/>
                  </a:rPr>
                  <a:t> </a:t>
                </a:r>
              </a:p>
            </p:txBody>
          </p:sp>
        </mc:Fallback>
      </mc:AlternateContent>
      <p:sp>
        <p:nvSpPr>
          <p:cNvPr id="2" name="Slide Number Placeholder 1">
            <a:extLst>
              <a:ext uri="{FF2B5EF4-FFF2-40B4-BE49-F238E27FC236}">
                <a16:creationId xmlns:a16="http://schemas.microsoft.com/office/drawing/2014/main" id="{24E35F17-0299-EA66-1F27-556E1507B4A6}"/>
              </a:ext>
            </a:extLst>
          </p:cNvPr>
          <p:cNvSpPr>
            <a:spLocks noGrp="1"/>
          </p:cNvSpPr>
          <p:nvPr>
            <p:ph type="sldNum" sz="quarter" idx="12"/>
          </p:nvPr>
        </p:nvSpPr>
        <p:spPr/>
        <p:txBody>
          <a:bodyPr/>
          <a:lstStyle/>
          <a:p>
            <a:fld id="{92E773D0-8039-41DE-9EAA-38744617136D}" type="slidenum">
              <a:rPr lang="en-GB" smtClean="0"/>
              <a:t>38</a:t>
            </a:fld>
            <a:endParaRPr lang="en-GB"/>
          </a:p>
        </p:txBody>
      </p:sp>
      <p:sp>
        <p:nvSpPr>
          <p:cNvPr id="8" name="Title 1">
            <a:extLst>
              <a:ext uri="{FF2B5EF4-FFF2-40B4-BE49-F238E27FC236}">
                <a16:creationId xmlns:a16="http://schemas.microsoft.com/office/drawing/2014/main" id="{02DCAA6D-AA34-C6F3-E8EA-8495811E7611}"/>
              </a:ext>
            </a:extLst>
          </p:cNvPr>
          <p:cNvSpPr>
            <a:spLocks noGrp="1"/>
          </p:cNvSpPr>
          <p:nvPr>
            <p:ph type="title"/>
          </p:nvPr>
        </p:nvSpPr>
        <p:spPr>
          <a:xfrm>
            <a:off x="362339" y="0"/>
            <a:ext cx="10515600" cy="834410"/>
          </a:xfrm>
        </p:spPr>
        <p:txBody>
          <a:bodyPr>
            <a:normAutofit/>
          </a:bodyPr>
          <a:lstStyle/>
          <a:p>
            <a:r>
              <a:rPr lang="en-GB" sz="4000" b="1" dirty="0">
                <a:solidFill>
                  <a:schemeClr val="bg1"/>
                </a:solidFill>
              </a:rPr>
              <a:t>What does INLA actually calculate?</a:t>
            </a:r>
          </a:p>
        </p:txBody>
      </p:sp>
    </p:spTree>
    <p:extLst>
      <p:ext uri="{BB962C8B-B14F-4D97-AF65-F5344CB8AC3E}">
        <p14:creationId xmlns:p14="http://schemas.microsoft.com/office/powerpoint/2010/main" val="19552249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DB4934-557B-230A-B95A-865C4A9A3B13}"/>
                  </a:ext>
                </a:extLst>
              </p:cNvPr>
              <p:cNvSpPr>
                <a:spLocks noGrp="1"/>
              </p:cNvSpPr>
              <p:nvPr>
                <p:ph idx="1"/>
              </p:nvPr>
            </p:nvSpPr>
            <p:spPr>
              <a:xfrm>
                <a:off x="749710" y="1303125"/>
                <a:ext cx="10515600" cy="4351338"/>
              </a:xfrm>
            </p:spPr>
            <p:txBody>
              <a:bodyPr>
                <a:normAutofit fontScale="92500" lnSpcReduction="20000"/>
              </a:bodyPr>
              <a:lstStyle/>
              <a:p>
                <a:pPr marL="0" indent="0">
                  <a:buNone/>
                </a:pPr>
                <a:r>
                  <a:rPr lang="en-GB" b="1" dirty="0">
                    <a:solidFill>
                      <a:schemeClr val="tx2">
                        <a:lumMod val="75000"/>
                        <a:lumOff val="25000"/>
                      </a:schemeClr>
                    </a:solidFill>
                  </a:rPr>
                  <a:t>Approximating</a:t>
                </a:r>
                <a:r>
                  <a:rPr lang="en-GB" dirty="0">
                    <a:solidFill>
                      <a:schemeClr val="tx2">
                        <a:lumMod val="75000"/>
                        <a:lumOff val="25000"/>
                      </a:schemeClr>
                    </a:solidFill>
                  </a:rPr>
                  <a:t> </a:t>
                </a:r>
                <a14:m>
                  <m:oMath xmlns:m="http://schemas.openxmlformats.org/officeDocument/2006/math">
                    <m:r>
                      <a:rPr lang="en-GB" i="1">
                        <a:solidFill>
                          <a:schemeClr val="tx2">
                            <a:lumMod val="75000"/>
                            <a:lumOff val="25000"/>
                          </a:schemeClr>
                        </a:solidFill>
                        <a:latin typeface="Cambria Math" panose="02040503050406030204" pitchFamily="18" charset="0"/>
                      </a:rPr>
                      <m:t>𝑝</m:t>
                    </m:r>
                    <m:d>
                      <m:dPr>
                        <m:ctrlPr>
                          <a:rPr lang="en-GB" i="1">
                            <a:solidFill>
                              <a:schemeClr val="tx2">
                                <a:lumMod val="75000"/>
                                <a:lumOff val="25000"/>
                              </a:schemeClr>
                            </a:solidFill>
                            <a:latin typeface="Cambria Math" panose="02040503050406030204" pitchFamily="18" charset="0"/>
                          </a:rPr>
                        </m:ctrlPr>
                      </m:dPr>
                      <m:e>
                        <m:sSub>
                          <m:sSubPr>
                            <m:ctrlPr>
                              <a:rPr lang="en-GB">
                                <a:solidFill>
                                  <a:schemeClr val="tx2">
                                    <a:lumMod val="75000"/>
                                    <a:lumOff val="25000"/>
                                  </a:schemeClr>
                                </a:solidFill>
                                <a:latin typeface="Cambria Math" panose="02040503050406030204" pitchFamily="18" charset="0"/>
                              </a:rPr>
                            </m:ctrlPr>
                          </m:sSubPr>
                          <m:e>
                            <m:r>
                              <m:rPr>
                                <m:sty m:val="p"/>
                              </m:rPr>
                              <a:rPr lang="en-GB">
                                <a:solidFill>
                                  <a:schemeClr val="tx2">
                                    <a:lumMod val="75000"/>
                                    <a:lumOff val="25000"/>
                                  </a:schemeClr>
                                </a:solidFill>
                                <a:latin typeface="Cambria Math" panose="02040503050406030204" pitchFamily="18" charset="0"/>
                              </a:rPr>
                              <m:t>x</m:t>
                            </m:r>
                          </m:e>
                          <m:sub>
                            <m:r>
                              <a:rPr lang="en-GB" i="1">
                                <a:solidFill>
                                  <a:schemeClr val="tx2">
                                    <a:lumMod val="75000"/>
                                    <a:lumOff val="25000"/>
                                  </a:schemeClr>
                                </a:solidFill>
                                <a:latin typeface="Cambria Math" panose="02040503050406030204" pitchFamily="18" charset="0"/>
                              </a:rPr>
                              <m:t>𝑖</m:t>
                            </m:r>
                          </m:sub>
                        </m:sSub>
                      </m:e>
                      <m:e>
                        <m:r>
                          <a:rPr lang="en-GB" b="1" i="1">
                            <a:solidFill>
                              <a:schemeClr val="tx2">
                                <a:lumMod val="75000"/>
                                <a:lumOff val="25000"/>
                              </a:schemeClr>
                            </a:solidFill>
                            <a:latin typeface="Cambria Math" panose="02040503050406030204" pitchFamily="18" charset="0"/>
                          </a:rPr>
                          <m:t>𝒚</m:t>
                        </m:r>
                      </m:e>
                    </m:d>
                  </m:oMath>
                </a14:m>
                <a:endParaRPr lang="en-GB" dirty="0"/>
              </a:p>
              <a:p>
                <a:pPr marL="0" indent="0">
                  <a:buNone/>
                </a:pPr>
                <a:endParaRPr lang="en-GB" dirty="0"/>
              </a:p>
              <a:p>
                <a:r>
                  <a:rPr lang="en-GB" dirty="0"/>
                  <a:t>INLA approximates the integral in </a:t>
                </a: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m:t>
                            </m:r>
                          </m:sub>
                        </m:sSub>
                      </m:e>
                      <m:e>
                        <m:r>
                          <a:rPr lang="en-GB" b="1" i="1" smtClean="0">
                            <a:latin typeface="Cambria Math" panose="02040503050406030204" pitchFamily="18" charset="0"/>
                          </a:rPr>
                          <m:t>𝒚</m:t>
                        </m:r>
                      </m:e>
                    </m:d>
                  </m:oMath>
                </a14:m>
                <a:r>
                  <a:rPr lang="en-GB" dirty="0"/>
                  <a:t> using a combination of </a:t>
                </a:r>
              </a:p>
              <a:p>
                <a:pPr marL="1028700" lvl="1" indent="-571500">
                  <a:buAutoNum type="romanLcPeriod"/>
                </a:pPr>
                <a:r>
                  <a:rPr lang="en-GB" dirty="0"/>
                  <a:t>analytical approximations (</a:t>
                </a:r>
                <a14:m>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1" i="1" smtClean="0">
                            <a:latin typeface="Cambria Math" panose="02040503050406030204" pitchFamily="18" charset="0"/>
                          </a:rPr>
                          <m:t>𝜽</m:t>
                        </m:r>
                        <m:r>
                          <a:rPr lang="en-GB" b="1" i="1" smtClean="0">
                            <a:latin typeface="Cambria Math" panose="02040503050406030204" pitchFamily="18" charset="0"/>
                          </a:rPr>
                          <m:t>,</m:t>
                        </m:r>
                        <m:r>
                          <a:rPr lang="en-GB" b="1" i="1" smtClean="0">
                            <a:latin typeface="Cambria Math" panose="02040503050406030204" pitchFamily="18" charset="0"/>
                          </a:rPr>
                          <m:t>𝒚</m:t>
                        </m:r>
                      </m:e>
                    </m:d>
                  </m:oMath>
                </a14:m>
                <a:r>
                  <a:rPr lang="en-GB" dirty="0"/>
                  <a:t> and </a:t>
                </a:r>
                <a14:m>
                  <m:oMath xmlns:m="http://schemas.openxmlformats.org/officeDocument/2006/math">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e>
                        <m:r>
                          <a:rPr lang="en-GB" b="1" i="1" smtClean="0">
                            <a:latin typeface="Cambria Math" panose="02040503050406030204" pitchFamily="18" charset="0"/>
                          </a:rPr>
                          <m:t>𝒚</m:t>
                        </m:r>
                      </m:e>
                    </m:d>
                  </m:oMath>
                </a14:m>
                <a:r>
                  <a:rPr lang="en-GB" dirty="0"/>
                  <a:t>), </a:t>
                </a:r>
              </a:p>
              <a:p>
                <a:pPr marL="1028700" lvl="1" indent="-571500">
                  <a:buAutoNum type="romanLcPeriod"/>
                </a:pPr>
                <a:r>
                  <a:rPr lang="en-GB" dirty="0"/>
                  <a:t>numerical integration (to integrate out </a:t>
                </a:r>
                <a14:m>
                  <m:oMath xmlns:m="http://schemas.openxmlformats.org/officeDocument/2006/math">
                    <m:r>
                      <a:rPr lang="en-GB" b="1" i="1" smtClean="0">
                        <a:latin typeface="Cambria Math" panose="02040503050406030204" pitchFamily="18" charset="0"/>
                      </a:rPr>
                      <m:t>𝜽</m:t>
                    </m:r>
                  </m:oMath>
                </a14:m>
                <a:r>
                  <a:rPr lang="en-GB" dirty="0"/>
                  <a:t>), and</a:t>
                </a:r>
              </a:p>
              <a:p>
                <a:pPr marL="1028700" lvl="1" indent="-571500">
                  <a:buAutoNum type="romanLcPeriod"/>
                </a:pPr>
                <a:r>
                  <a:rPr lang="en-GB" dirty="0">
                    <a:solidFill>
                      <a:schemeClr val="tx2">
                        <a:lumMod val="75000"/>
                        <a:lumOff val="25000"/>
                      </a:schemeClr>
                    </a:solidFill>
                  </a:rPr>
                  <a:t>exploiting the Gaussian structure and the sparse nature of the precision matrix, </a:t>
                </a:r>
                <a14:m>
                  <m:oMath xmlns:m="http://schemas.openxmlformats.org/officeDocument/2006/math">
                    <m:r>
                      <a:rPr lang="en-GB" b="1" i="1" smtClean="0">
                        <a:solidFill>
                          <a:schemeClr val="tx2">
                            <a:lumMod val="75000"/>
                            <a:lumOff val="25000"/>
                          </a:schemeClr>
                        </a:solidFill>
                        <a:latin typeface="Cambria Math" panose="02040503050406030204" pitchFamily="18" charset="0"/>
                      </a:rPr>
                      <m:t>𝑸</m:t>
                    </m:r>
                  </m:oMath>
                </a14:m>
                <a:r>
                  <a:rPr lang="en-GB" dirty="0">
                    <a:solidFill>
                      <a:schemeClr val="tx2">
                        <a:lumMod val="75000"/>
                        <a:lumOff val="25000"/>
                      </a:schemeClr>
                    </a:solidFill>
                  </a:rPr>
                  <a:t> (</a:t>
                </a:r>
                <a14:m>
                  <m:oMath xmlns:m="http://schemas.openxmlformats.org/officeDocument/2006/math">
                    <m:r>
                      <a:rPr lang="en-GB" b="1" i="0" smtClean="0">
                        <a:solidFill>
                          <a:schemeClr val="tx2">
                            <a:lumMod val="75000"/>
                            <a:lumOff val="25000"/>
                          </a:schemeClr>
                        </a:solidFill>
                        <a:latin typeface="Cambria Math" panose="02040503050406030204" pitchFamily="18" charset="0"/>
                      </a:rPr>
                      <m:t>𝐱</m:t>
                    </m:r>
                  </m:oMath>
                </a14:m>
                <a:r>
                  <a:rPr lang="en-GB" dirty="0">
                    <a:solidFill>
                      <a:schemeClr val="tx2">
                        <a:lumMod val="75000"/>
                        <a:lumOff val="25000"/>
                      </a:schemeClr>
                    </a:solidFill>
                  </a:rPr>
                  <a:t> is assumed to be a GMRF*)</a:t>
                </a:r>
              </a:p>
              <a:p>
                <a:r>
                  <a:rPr lang="en-GB" dirty="0"/>
                  <a:t>Also, </a:t>
                </a: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𝑗</m:t>
                            </m:r>
                          </m:sub>
                        </m:sSub>
                      </m:e>
                      <m:e>
                        <m:r>
                          <a:rPr lang="en-GB" b="1" i="1" smtClean="0">
                            <a:latin typeface="Cambria Math" panose="02040503050406030204" pitchFamily="18" charset="0"/>
                          </a:rPr>
                          <m:t>𝒚</m:t>
                        </m:r>
                      </m:e>
                    </m:d>
                  </m:oMath>
                </a14:m>
                <a:r>
                  <a:rPr lang="en-GB" dirty="0"/>
                  <a:t> is approximated by approximating </a:t>
                </a:r>
                <a14:m>
                  <m:oMath xmlns:m="http://schemas.openxmlformats.org/officeDocument/2006/math">
                    <m:r>
                      <a:rPr lang="en-GB" b="0" i="1" smtClean="0">
                        <a:latin typeface="Cambria Math" panose="02040503050406030204" pitchFamily="18" charset="0"/>
                      </a:rPr>
                      <m:t>𝑝</m:t>
                    </m:r>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r>
                      <a:rPr lang="en-GB" b="1" i="1" smtClean="0">
                        <a:latin typeface="Cambria Math" panose="02040503050406030204" pitchFamily="18" charset="0"/>
                      </a:rPr>
                      <m:t>𝒚</m:t>
                    </m:r>
                    <m:r>
                      <a:rPr lang="en-GB" b="0" i="1" smtClean="0">
                        <a:latin typeface="Cambria Math" panose="02040503050406030204" pitchFamily="18" charset="0"/>
                      </a:rPr>
                      <m:t>)</m:t>
                    </m:r>
                  </m:oMath>
                </a14:m>
                <a:r>
                  <a:rPr lang="en-GB" dirty="0"/>
                  <a:t> and integrating out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𝜽</m:t>
                        </m:r>
                      </m:e>
                      <m:sub>
                        <m:r>
                          <a:rPr lang="en-GB" b="0" i="1" smtClean="0">
                            <a:latin typeface="Cambria Math" panose="02040503050406030204" pitchFamily="18" charset="0"/>
                          </a:rPr>
                          <m:t>−</m:t>
                        </m:r>
                        <m:r>
                          <a:rPr lang="en-GB" b="0" i="1" smtClean="0">
                            <a:latin typeface="Cambria Math" panose="02040503050406030204" pitchFamily="18" charset="0"/>
                          </a:rPr>
                          <m:t>𝑗</m:t>
                        </m:r>
                      </m:sub>
                    </m:sSub>
                  </m:oMath>
                </a14:m>
                <a:r>
                  <a:rPr lang="en-GB" dirty="0"/>
                  <a:t>.</a:t>
                </a:r>
              </a:p>
              <a:p>
                <a:endParaRPr lang="en-GB" dirty="0"/>
              </a:p>
              <a:p>
                <a:r>
                  <a:rPr lang="en-GB" dirty="0"/>
                  <a:t>Question: How are the analytical approximation and numerical integration executed?</a:t>
                </a:r>
              </a:p>
            </p:txBody>
          </p:sp>
        </mc:Choice>
        <mc:Fallback xmlns="">
          <p:sp>
            <p:nvSpPr>
              <p:cNvPr id="3" name="Content Placeholder 2">
                <a:extLst>
                  <a:ext uri="{FF2B5EF4-FFF2-40B4-BE49-F238E27FC236}">
                    <a16:creationId xmlns:a16="http://schemas.microsoft.com/office/drawing/2014/main" id="{E3DB4934-557B-230A-B95A-865C4A9A3B13}"/>
                  </a:ext>
                </a:extLst>
              </p:cNvPr>
              <p:cNvSpPr>
                <a:spLocks noGrp="1" noRot="1" noChangeAspect="1" noMove="1" noResize="1" noEditPoints="1" noAdjustHandles="1" noChangeArrowheads="1" noChangeShapeType="1" noTextEdit="1"/>
              </p:cNvSpPr>
              <p:nvPr>
                <p:ph idx="1"/>
              </p:nvPr>
            </p:nvSpPr>
            <p:spPr>
              <a:xfrm>
                <a:off x="749710" y="1303125"/>
                <a:ext cx="10515600" cy="4351338"/>
              </a:xfrm>
              <a:blipFill>
                <a:blip r:embed="rId2"/>
                <a:stretch>
                  <a:fillRect l="-1043" t="-3501"/>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67C63929-8DFA-DDFF-67E9-BFBCCB683C90}"/>
              </a:ext>
            </a:extLst>
          </p:cNvPr>
          <p:cNvSpPr txBox="1"/>
          <p:nvPr/>
        </p:nvSpPr>
        <p:spPr>
          <a:xfrm>
            <a:off x="1445342" y="6123179"/>
            <a:ext cx="9124336" cy="646331"/>
          </a:xfrm>
          <a:prstGeom prst="rect">
            <a:avLst/>
          </a:prstGeom>
          <a:noFill/>
        </p:spPr>
        <p:txBody>
          <a:bodyPr wrap="square" rtlCol="0">
            <a:spAutoFit/>
          </a:bodyPr>
          <a:lstStyle/>
          <a:p>
            <a:r>
              <a:rPr lang="en-GB" dirty="0"/>
              <a:t>*Gaussian Markov Random Fields (GMRFs) are conditionally independent and have sparse precision matrices (containing some zero entries). This helps to speed up computation.</a:t>
            </a:r>
          </a:p>
        </p:txBody>
      </p:sp>
      <p:sp>
        <p:nvSpPr>
          <p:cNvPr id="2" name="Slide Number Placeholder 1">
            <a:extLst>
              <a:ext uri="{FF2B5EF4-FFF2-40B4-BE49-F238E27FC236}">
                <a16:creationId xmlns:a16="http://schemas.microsoft.com/office/drawing/2014/main" id="{6BABF4C2-4E08-6705-BB4F-9ACF39D70E2C}"/>
              </a:ext>
            </a:extLst>
          </p:cNvPr>
          <p:cNvSpPr>
            <a:spLocks noGrp="1"/>
          </p:cNvSpPr>
          <p:nvPr>
            <p:ph type="sldNum" sz="quarter" idx="12"/>
          </p:nvPr>
        </p:nvSpPr>
        <p:spPr/>
        <p:txBody>
          <a:bodyPr/>
          <a:lstStyle/>
          <a:p>
            <a:fld id="{92E773D0-8039-41DE-9EAA-38744617136D}" type="slidenum">
              <a:rPr lang="en-GB" smtClean="0"/>
              <a:t>39</a:t>
            </a:fld>
            <a:endParaRPr lang="en-GB"/>
          </a:p>
        </p:txBody>
      </p:sp>
      <p:sp>
        <p:nvSpPr>
          <p:cNvPr id="8" name="Title 1">
            <a:extLst>
              <a:ext uri="{FF2B5EF4-FFF2-40B4-BE49-F238E27FC236}">
                <a16:creationId xmlns:a16="http://schemas.microsoft.com/office/drawing/2014/main" id="{10D68EA0-3A69-F1BD-64E0-291B9BF57133}"/>
              </a:ext>
            </a:extLst>
          </p:cNvPr>
          <p:cNvSpPr>
            <a:spLocks noGrp="1"/>
          </p:cNvSpPr>
          <p:nvPr>
            <p:ph type="title"/>
          </p:nvPr>
        </p:nvSpPr>
        <p:spPr>
          <a:xfrm>
            <a:off x="362339" y="0"/>
            <a:ext cx="10515600" cy="834410"/>
          </a:xfrm>
        </p:spPr>
        <p:txBody>
          <a:bodyPr>
            <a:normAutofit/>
          </a:bodyPr>
          <a:lstStyle/>
          <a:p>
            <a:r>
              <a:rPr lang="en-GB" sz="4000" b="1" dirty="0">
                <a:solidFill>
                  <a:schemeClr val="bg1"/>
                </a:solidFill>
              </a:rPr>
              <a:t>What does INLA actually calculate?</a:t>
            </a:r>
          </a:p>
        </p:txBody>
      </p:sp>
      <p:cxnSp>
        <p:nvCxnSpPr>
          <p:cNvPr id="6" name="Straight Arrow Connector 5">
            <a:extLst>
              <a:ext uri="{FF2B5EF4-FFF2-40B4-BE49-F238E27FC236}">
                <a16:creationId xmlns:a16="http://schemas.microsoft.com/office/drawing/2014/main" id="{9BB7C94F-8757-79BD-F9E7-E79EAD21A22E}"/>
              </a:ext>
            </a:extLst>
          </p:cNvPr>
          <p:cNvCxnSpPr>
            <a:cxnSpLocks/>
            <a:endCxn id="7" idx="1"/>
          </p:cNvCxnSpPr>
          <p:nvPr/>
        </p:nvCxnSpPr>
        <p:spPr>
          <a:xfrm flipV="1">
            <a:off x="2892490" y="2444620"/>
            <a:ext cx="7536025" cy="9843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4E504794-D02B-50C3-4914-DC4B172D9DAE}"/>
              </a:ext>
            </a:extLst>
          </p:cNvPr>
          <p:cNvSpPr txBox="1"/>
          <p:nvPr/>
        </p:nvSpPr>
        <p:spPr>
          <a:xfrm>
            <a:off x="10428515" y="1982955"/>
            <a:ext cx="1763485" cy="923330"/>
          </a:xfrm>
          <a:prstGeom prst="rect">
            <a:avLst/>
          </a:prstGeom>
          <a:noFill/>
          <a:ln>
            <a:solidFill>
              <a:schemeClr val="accent1"/>
            </a:solidFill>
          </a:ln>
        </p:spPr>
        <p:txBody>
          <a:bodyPr wrap="square" rtlCol="0">
            <a:spAutoFit/>
          </a:bodyPr>
          <a:lstStyle/>
          <a:p>
            <a:r>
              <a:rPr lang="en-GB" dirty="0"/>
              <a:t>INLA’s main computational feature</a:t>
            </a:r>
          </a:p>
        </p:txBody>
      </p:sp>
    </p:spTree>
    <p:extLst>
      <p:ext uri="{BB962C8B-B14F-4D97-AF65-F5344CB8AC3E}">
        <p14:creationId xmlns:p14="http://schemas.microsoft.com/office/powerpoint/2010/main" val="10995695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457CF2-8326-9C82-0FA9-D04EFB748042}"/>
                  </a:ext>
                </a:extLst>
              </p:cNvPr>
              <p:cNvSpPr>
                <a:spLocks noGrp="1"/>
              </p:cNvSpPr>
              <p:nvPr>
                <p:ph idx="1"/>
              </p:nvPr>
            </p:nvSpPr>
            <p:spPr>
              <a:xfrm>
                <a:off x="838200" y="1471664"/>
                <a:ext cx="10515600" cy="4351338"/>
              </a:xfrm>
            </p:spPr>
            <p:txBody>
              <a:bodyPr>
                <a:normAutofit lnSpcReduction="10000"/>
              </a:bodyPr>
              <a:lstStyle/>
              <a:p>
                <a:r>
                  <a:rPr lang="en-GB" dirty="0"/>
                  <a:t>Answer: Specifically, using a </a:t>
                </a:r>
                <a:r>
                  <a:rPr lang="en-GB" dirty="0">
                    <a:solidFill>
                      <a:schemeClr val="tx2">
                        <a:lumMod val="75000"/>
                        <a:lumOff val="25000"/>
                      </a:schemeClr>
                    </a:solidFill>
                  </a:rPr>
                  <a:t>Gaussian approximation </a:t>
                </a:r>
                <a:r>
                  <a:rPr lang="en-GB" dirty="0"/>
                  <a:t>of the posterior distribution of the latent field </a:t>
                </a:r>
                <a14:m>
                  <m:oMath xmlns:m="http://schemas.openxmlformats.org/officeDocument/2006/math">
                    <m:r>
                      <a:rPr lang="en-GB" b="1" i="0" smtClean="0">
                        <a:latin typeface="Cambria Math" panose="02040503050406030204" pitchFamily="18" charset="0"/>
                      </a:rPr>
                      <m:t>𝐱</m:t>
                    </m:r>
                  </m:oMath>
                </a14:m>
                <a:r>
                  <a:rPr lang="en-GB" dirty="0"/>
                  <a:t>, </a:t>
                </a:r>
                <a14:m>
                  <m:oMath xmlns:m="http://schemas.openxmlformats.org/officeDocument/2006/math">
                    <m:sSub>
                      <m:sSubPr>
                        <m:ctrlPr>
                          <a:rPr lang="en-GB" b="0" i="1" smtClean="0">
                            <a:latin typeface="Cambria Math" panose="02040503050406030204" pitchFamily="18" charset="0"/>
                          </a:rPr>
                        </m:ctrlPr>
                      </m:sSubPr>
                      <m:e>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𝑝</m:t>
                            </m:r>
                          </m:e>
                        </m:acc>
                      </m:e>
                      <m:sub>
                        <m:r>
                          <a:rPr lang="en-GB" b="0" i="1" smtClean="0">
                            <a:latin typeface="Cambria Math" panose="02040503050406030204" pitchFamily="18" charset="0"/>
                          </a:rPr>
                          <m:t>𝐺</m:t>
                        </m:r>
                      </m:sub>
                    </m:sSub>
                    <m:r>
                      <a:rPr lang="en-GB" b="0" i="1" smtClean="0">
                        <a:latin typeface="Cambria Math" panose="02040503050406030204" pitchFamily="18" charset="0"/>
                      </a:rPr>
                      <m:t>(</m:t>
                    </m:r>
                    <m:r>
                      <a:rPr lang="en-GB" b="1" i="0" smtClean="0">
                        <a:latin typeface="Cambria Math" panose="02040503050406030204" pitchFamily="18" charset="0"/>
                      </a:rPr>
                      <m:t>𝐱</m:t>
                    </m:r>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r>
                      <a:rPr lang="en-GB" b="1" i="1" smtClean="0">
                        <a:latin typeface="Cambria Math" panose="02040503050406030204" pitchFamily="18" charset="0"/>
                      </a:rPr>
                      <m:t>𝒚</m:t>
                    </m:r>
                    <m:r>
                      <a:rPr lang="en-GB" b="0" i="1" smtClean="0">
                        <a:latin typeface="Cambria Math" panose="02040503050406030204" pitchFamily="18" charset="0"/>
                      </a:rPr>
                      <m:t>)</m:t>
                    </m:r>
                  </m:oMath>
                </a14:m>
                <a:r>
                  <a:rPr lang="en-GB" dirty="0"/>
                  <a:t>, evaluated at the posterior mode</a:t>
                </a:r>
              </a:p>
              <a:p>
                <a:pPr marL="0" indent="0" algn="ctr">
                  <a:buNone/>
                </a:pPr>
                <a:r>
                  <a:rPr lang="en-GB" dirty="0"/>
                  <a:t> </a:t>
                </a:r>
                <a14:m>
                  <m:oMath xmlns:m="http://schemas.openxmlformats.org/officeDocument/2006/math">
                    <m:sSup>
                      <m:sSupPr>
                        <m:ctrlPr>
                          <a:rPr lang="en-GB" b="1" i="0" smtClean="0">
                            <a:latin typeface="Cambria Math" panose="02040503050406030204" pitchFamily="18" charset="0"/>
                          </a:rPr>
                        </m:ctrlPr>
                      </m:sSupPr>
                      <m:e>
                        <m:r>
                          <a:rPr lang="en-GB" b="1" i="0" smtClean="0">
                            <a:latin typeface="Cambria Math" panose="02040503050406030204" pitchFamily="18" charset="0"/>
                          </a:rPr>
                          <m:t>𝐱</m:t>
                        </m:r>
                      </m:e>
                      <m:sup>
                        <m:r>
                          <a:rPr lang="en-GB" b="0" i="1" smtClean="0">
                            <a:latin typeface="Cambria Math" panose="02040503050406030204" pitchFamily="18" charset="0"/>
                          </a:rPr>
                          <m:t>∗</m:t>
                        </m:r>
                      </m:sup>
                    </m:sSup>
                    <m:d>
                      <m:dPr>
                        <m:ctrlPr>
                          <a:rPr lang="en-GB" b="1" i="1" smtClean="0">
                            <a:latin typeface="Cambria Math" panose="02040503050406030204" pitchFamily="18" charset="0"/>
                          </a:rPr>
                        </m:ctrlPr>
                      </m:dPr>
                      <m:e>
                        <m:r>
                          <a:rPr lang="en-GB" b="1" i="1" smtClean="0">
                            <a:latin typeface="Cambria Math" panose="02040503050406030204" pitchFamily="18" charset="0"/>
                          </a:rPr>
                          <m:t>𝜽</m:t>
                        </m:r>
                      </m:e>
                    </m:d>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argmax</m:t>
                            </m:r>
                          </m:e>
                          <m:sub>
                            <m:r>
                              <a:rPr lang="en-GB" b="1" i="0" smtClean="0">
                                <a:latin typeface="Cambria Math" panose="02040503050406030204" pitchFamily="18" charset="0"/>
                              </a:rPr>
                              <m:t>𝐱</m:t>
                            </m:r>
                          </m:sub>
                        </m:sSub>
                      </m:fNa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𝐺</m:t>
                            </m:r>
                          </m:sub>
                        </m:sSub>
                        <m:r>
                          <a:rPr lang="en-GB" b="0" i="1" smtClean="0">
                            <a:latin typeface="Cambria Math" panose="02040503050406030204" pitchFamily="18" charset="0"/>
                          </a:rPr>
                          <m:t>(</m:t>
                        </m:r>
                        <m:r>
                          <a:rPr lang="en-GB" b="1" i="0" smtClean="0">
                            <a:latin typeface="Cambria Math" panose="02040503050406030204" pitchFamily="18" charset="0"/>
                          </a:rPr>
                          <m:t>𝐱</m:t>
                        </m:r>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r>
                          <a:rPr lang="en-GB" b="1" i="1" smtClean="0">
                            <a:latin typeface="Cambria Math" panose="02040503050406030204" pitchFamily="18" charset="0"/>
                          </a:rPr>
                          <m:t>𝒚</m:t>
                        </m:r>
                        <m:r>
                          <a:rPr lang="en-GB" b="0" i="1" smtClean="0">
                            <a:latin typeface="Cambria Math" panose="02040503050406030204" pitchFamily="18" charset="0"/>
                          </a:rPr>
                          <m:t>)</m:t>
                        </m:r>
                      </m:e>
                    </m:func>
                  </m:oMath>
                </a14:m>
                <a:r>
                  <a:rPr lang="en-GB" dirty="0"/>
                  <a:t>,</a:t>
                </a:r>
              </a:p>
              <a:p>
                <a:pPr marL="0" indent="0" algn="ctr">
                  <a:buNone/>
                </a:pPr>
                <a:endParaRPr lang="en-GB" dirty="0"/>
              </a:p>
              <a:p>
                <a:pPr marL="0" indent="0">
                  <a:buNone/>
                </a:pPr>
                <a:r>
                  <a:rPr lang="en-GB" dirty="0">
                    <a:solidFill>
                      <a:schemeClr val="tx1"/>
                    </a:solidFill>
                  </a:rPr>
                  <a:t>the posterior density of the hyperparameters </a:t>
                </a:r>
                <a14:m>
                  <m:oMath xmlns:m="http://schemas.openxmlformats.org/officeDocument/2006/math">
                    <m:r>
                      <a:rPr lang="en-GB" b="1" i="1" smtClean="0">
                        <a:solidFill>
                          <a:schemeClr val="tx1"/>
                        </a:solidFill>
                        <a:latin typeface="Cambria Math" panose="02040503050406030204" pitchFamily="18" charset="0"/>
                      </a:rPr>
                      <m:t>𝜽</m:t>
                    </m:r>
                  </m:oMath>
                </a14:m>
                <a:r>
                  <a:rPr lang="en-GB" b="1" dirty="0">
                    <a:solidFill>
                      <a:schemeClr val="tx1"/>
                    </a:solidFill>
                  </a:rPr>
                  <a:t> </a:t>
                </a:r>
                <a:r>
                  <a:rPr lang="en-GB" dirty="0">
                    <a:solidFill>
                      <a:schemeClr val="tx1"/>
                    </a:solidFill>
                  </a:rPr>
                  <a:t>is approximated </a:t>
                </a:r>
                <a:r>
                  <a:rPr lang="en-GB" dirty="0"/>
                  <a:t>(using </a:t>
                </a:r>
                <a:r>
                  <a:rPr lang="en-GB" dirty="0">
                    <a:solidFill>
                      <a:schemeClr val="tx2">
                        <a:lumMod val="75000"/>
                        <a:lumOff val="25000"/>
                      </a:schemeClr>
                    </a:solidFill>
                  </a:rPr>
                  <a:t>Laplace approximation</a:t>
                </a:r>
                <a:r>
                  <a:rPr lang="en-GB" dirty="0"/>
                  <a:t>) as </a:t>
                </a:r>
              </a:p>
              <a:p>
                <a:pPr marL="0" indent="0">
                  <a:buNone/>
                </a:pPr>
                <a:endParaRPr lang="en-GB" dirty="0"/>
              </a:p>
              <a:p>
                <a:pPr marL="0" indent="0" algn="ctr">
                  <a:buNone/>
                </a:pPr>
                <a14:m>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𝑝</m:t>
                        </m:r>
                      </m:e>
                    </m:acc>
                    <m:d>
                      <m:dPr>
                        <m:ctrlPr>
                          <a:rPr lang="en-GB" b="1" i="1" smtClean="0">
                            <a:latin typeface="Cambria Math" panose="02040503050406030204" pitchFamily="18" charset="0"/>
                          </a:rPr>
                        </m:ctrlPr>
                      </m:dPr>
                      <m:e>
                        <m:r>
                          <a:rPr lang="en-GB" b="1" i="1" smtClean="0">
                            <a:latin typeface="Cambria Math" panose="02040503050406030204" pitchFamily="18" charset="0"/>
                          </a:rPr>
                          <m:t>𝜽</m:t>
                        </m:r>
                      </m:e>
                      <m:e>
                        <m:r>
                          <a:rPr lang="en-GB" b="1" i="1" smtClean="0">
                            <a:latin typeface="Cambria Math" panose="02040503050406030204" pitchFamily="18" charset="0"/>
                          </a:rPr>
                          <m:t>𝒚</m:t>
                        </m:r>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d>
                          <m:dPr>
                            <m:begChr m:val=""/>
                            <m:endChr m:val="|"/>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𝑝</m:t>
                                </m:r>
                                <m:r>
                                  <a:rPr lang="en-GB" b="0" i="1" smtClean="0">
                                    <a:latin typeface="Cambria Math" panose="02040503050406030204" pitchFamily="18" charset="0"/>
                                  </a:rPr>
                                  <m:t>(</m:t>
                                </m:r>
                                <m:r>
                                  <a:rPr lang="en-GB" b="1" i="0" smtClean="0">
                                    <a:latin typeface="Cambria Math" panose="02040503050406030204" pitchFamily="18" charset="0"/>
                                  </a:rPr>
                                  <m:t>𝐱</m:t>
                                </m:r>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r>
                                  <a:rPr lang="en-GB" b="1" i="1" smtClean="0">
                                    <a:latin typeface="Cambria Math" panose="02040503050406030204" pitchFamily="18" charset="0"/>
                                  </a:rPr>
                                  <m:t>𝒚</m:t>
                                </m:r>
                                <m:r>
                                  <a:rPr lang="en-GB" b="0" i="1" smtClean="0">
                                    <a:latin typeface="Cambria Math" panose="02040503050406030204" pitchFamily="18" charset="0"/>
                                  </a:rPr>
                                  <m:t>)</m:t>
                                </m:r>
                              </m:num>
                              <m:den>
                                <m:sSub>
                                  <m:sSubPr>
                                    <m:ctrlPr>
                                      <a:rPr lang="en-GB" b="0" i="1" smtClean="0">
                                        <a:latin typeface="Cambria Math" panose="02040503050406030204" pitchFamily="18" charset="0"/>
                                      </a:rPr>
                                    </m:ctrlPr>
                                  </m:sSubPr>
                                  <m:e>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𝑝</m:t>
                                        </m:r>
                                      </m:e>
                                    </m:acc>
                                  </m:e>
                                  <m:sub>
                                    <m:r>
                                      <a:rPr lang="en-GB" b="0" i="1" smtClean="0">
                                        <a:latin typeface="Cambria Math" panose="02040503050406030204" pitchFamily="18" charset="0"/>
                                      </a:rPr>
                                      <m:t>𝐺</m:t>
                                    </m:r>
                                  </m:sub>
                                </m:sSub>
                                <m:r>
                                  <a:rPr lang="en-GB" b="0" i="1" smtClean="0">
                                    <a:latin typeface="Cambria Math" panose="02040503050406030204" pitchFamily="18" charset="0"/>
                                  </a:rPr>
                                  <m:t>(</m:t>
                                </m:r>
                                <m:r>
                                  <a:rPr lang="en-GB" b="1" i="0" smtClean="0">
                                    <a:latin typeface="Cambria Math" panose="02040503050406030204" pitchFamily="18" charset="0"/>
                                  </a:rPr>
                                  <m:t>𝐱</m:t>
                                </m:r>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r>
                                  <a:rPr lang="en-GB" b="1" i="1" smtClean="0">
                                    <a:latin typeface="Cambria Math" panose="02040503050406030204" pitchFamily="18" charset="0"/>
                                  </a:rPr>
                                  <m:t>𝒚</m:t>
                                </m:r>
                                <m:r>
                                  <a:rPr lang="en-GB" b="0" i="1" smtClean="0">
                                    <a:latin typeface="Cambria Math" panose="02040503050406030204" pitchFamily="18" charset="0"/>
                                  </a:rPr>
                                  <m:t>)</m:t>
                                </m:r>
                              </m:den>
                            </m:f>
                          </m:e>
                        </m:d>
                      </m:e>
                      <m:sub>
                        <m:r>
                          <a:rPr lang="en-GB" b="1" i="0" smtClean="0">
                            <a:latin typeface="Cambria Math" panose="02040503050406030204" pitchFamily="18" charset="0"/>
                          </a:rPr>
                          <m:t>𝐱</m:t>
                        </m:r>
                        <m:r>
                          <a:rPr lang="en-GB" b="0" i="1" smtClean="0">
                            <a:latin typeface="Cambria Math" panose="02040503050406030204" pitchFamily="18" charset="0"/>
                          </a:rPr>
                          <m:t>=</m:t>
                        </m:r>
                        <m:sSup>
                          <m:sSupPr>
                            <m:ctrlPr>
                              <a:rPr lang="en-GB" b="1" i="0" smtClean="0">
                                <a:latin typeface="Cambria Math" panose="02040503050406030204" pitchFamily="18" charset="0"/>
                              </a:rPr>
                            </m:ctrlPr>
                          </m:sSupPr>
                          <m:e>
                            <m:r>
                              <a:rPr lang="en-GB" b="1" i="0" smtClean="0">
                                <a:latin typeface="Cambria Math" panose="02040503050406030204" pitchFamily="18" charset="0"/>
                              </a:rPr>
                              <m:t>𝐱</m:t>
                            </m:r>
                          </m:e>
                          <m:sup>
                            <m:r>
                              <a:rPr lang="en-GB" b="0" i="1" smtClean="0">
                                <a:latin typeface="Cambria Math" panose="02040503050406030204" pitchFamily="18" charset="0"/>
                              </a:rPr>
                              <m:t>∗</m:t>
                            </m:r>
                          </m:sup>
                        </m:sSup>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sub>
                    </m:sSub>
                  </m:oMath>
                </a14:m>
                <a:r>
                  <a:rPr lang="en-GB" dirty="0"/>
                  <a:t>.</a:t>
                </a:r>
              </a:p>
            </p:txBody>
          </p:sp>
        </mc:Choice>
        <mc:Fallback xmlns="">
          <p:sp>
            <p:nvSpPr>
              <p:cNvPr id="3" name="Content Placeholder 2">
                <a:extLst>
                  <a:ext uri="{FF2B5EF4-FFF2-40B4-BE49-F238E27FC236}">
                    <a16:creationId xmlns:a16="http://schemas.microsoft.com/office/drawing/2014/main" id="{63457CF2-8326-9C82-0FA9-D04EFB748042}"/>
                  </a:ext>
                </a:extLst>
              </p:cNvPr>
              <p:cNvSpPr>
                <a:spLocks noGrp="1" noRot="1" noChangeAspect="1" noMove="1" noResize="1" noEditPoints="1" noAdjustHandles="1" noChangeArrowheads="1" noChangeShapeType="1" noTextEdit="1"/>
              </p:cNvSpPr>
              <p:nvPr>
                <p:ph idx="1"/>
              </p:nvPr>
            </p:nvSpPr>
            <p:spPr>
              <a:xfrm>
                <a:off x="838200" y="1471664"/>
                <a:ext cx="10515600" cy="4351338"/>
              </a:xfrm>
              <a:blipFill>
                <a:blip r:embed="rId2"/>
                <a:stretch>
                  <a:fillRect l="-1217" t="-3081" r="-5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9D51DB6-DEA4-53E5-4DD1-7EDEC377A95B}"/>
                  </a:ext>
                </a:extLst>
              </p:cNvPr>
              <p:cNvSpPr txBox="1"/>
              <p:nvPr/>
            </p:nvSpPr>
            <p:spPr>
              <a:xfrm>
                <a:off x="838200" y="5929652"/>
                <a:ext cx="6811297" cy="533544"/>
              </a:xfrm>
              <a:prstGeom prst="rect">
                <a:avLst/>
              </a:prstGeom>
              <a:noFill/>
            </p:spPr>
            <p:txBody>
              <a:bodyPr wrap="square" rtlCol="0">
                <a:spAutoFit/>
              </a:bodyPr>
              <a:lstStyle/>
              <a:p>
                <a:r>
                  <a:rPr lang="en-GB" b="0" dirty="0"/>
                  <a:t>NB: </a:t>
                </a:r>
                <a14:m>
                  <m:oMath xmlns:m="http://schemas.openxmlformats.org/officeDocument/2006/math">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e>
                        <m:r>
                          <a:rPr lang="en-GB" b="1" i="1" smtClean="0">
                            <a:latin typeface="Cambria Math" panose="02040503050406030204" pitchFamily="18" charset="0"/>
                          </a:rPr>
                          <m:t>𝒚</m:t>
                        </m:r>
                      </m:e>
                    </m:d>
                    <m:r>
                      <a:rPr lang="en-GB" b="1"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𝑝</m:t>
                        </m:r>
                        <m:r>
                          <a:rPr lang="en-GB" b="1" i="1" smtClean="0">
                            <a:latin typeface="Cambria Math" panose="02040503050406030204" pitchFamily="18" charset="0"/>
                          </a:rPr>
                          <m:t>(</m:t>
                        </m:r>
                        <m:r>
                          <a:rPr lang="en-GB" b="1" i="0" smtClean="0">
                            <a:latin typeface="Cambria Math" panose="02040503050406030204" pitchFamily="18" charset="0"/>
                          </a:rPr>
                          <m:t>𝐱</m:t>
                        </m:r>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r>
                          <a:rPr lang="en-GB" b="1" i="1" smtClean="0">
                            <a:latin typeface="Cambria Math" panose="02040503050406030204" pitchFamily="18" charset="0"/>
                          </a:rPr>
                          <m:t>𝒚</m:t>
                        </m:r>
                        <m:r>
                          <a:rPr lang="en-GB" b="1" i="1" smtClean="0">
                            <a:latin typeface="Cambria Math" panose="02040503050406030204" pitchFamily="18" charset="0"/>
                          </a:rPr>
                          <m:t>)</m:t>
                        </m:r>
                      </m:num>
                      <m:den>
                        <m:r>
                          <a:rPr lang="en-GB" b="0" i="1" smtClean="0">
                            <a:latin typeface="Cambria Math" panose="02040503050406030204" pitchFamily="18" charset="0"/>
                          </a:rPr>
                          <m:t>𝑝</m:t>
                        </m:r>
                        <m:r>
                          <a:rPr lang="en-GB" b="1" i="1" smtClean="0">
                            <a:latin typeface="Cambria Math" panose="02040503050406030204" pitchFamily="18" charset="0"/>
                          </a:rPr>
                          <m:t>(</m:t>
                        </m:r>
                        <m:r>
                          <a:rPr lang="en-GB" b="1" i="0" smtClean="0">
                            <a:latin typeface="Cambria Math" panose="02040503050406030204" pitchFamily="18" charset="0"/>
                          </a:rPr>
                          <m:t>𝐱</m:t>
                        </m:r>
                        <m:r>
                          <a:rPr lang="en-GB" b="1" i="1" smtClean="0">
                            <a:latin typeface="Cambria Math" panose="02040503050406030204" pitchFamily="18" charset="0"/>
                          </a:rPr>
                          <m:t>|</m:t>
                        </m:r>
                        <m:r>
                          <a:rPr lang="en-GB" b="1" i="1" smtClean="0">
                            <a:latin typeface="Cambria Math" panose="02040503050406030204" pitchFamily="18" charset="0"/>
                          </a:rPr>
                          <m:t>𝜽</m:t>
                        </m:r>
                        <m:r>
                          <a:rPr lang="en-GB" b="1" i="1" smtClean="0">
                            <a:latin typeface="Cambria Math" panose="02040503050406030204" pitchFamily="18" charset="0"/>
                          </a:rPr>
                          <m:t>,</m:t>
                        </m:r>
                        <m:r>
                          <a:rPr lang="en-GB" b="1" i="1" smtClean="0">
                            <a:latin typeface="Cambria Math" panose="02040503050406030204" pitchFamily="18" charset="0"/>
                          </a:rPr>
                          <m:t>𝒚</m:t>
                        </m:r>
                        <m:r>
                          <a:rPr lang="en-GB" b="1" i="1" smtClean="0">
                            <a:latin typeface="Cambria Math" panose="02040503050406030204" pitchFamily="18" charset="0"/>
                          </a:rPr>
                          <m:t>)</m:t>
                        </m:r>
                      </m:den>
                    </m:f>
                    <m:r>
                      <a:rPr lang="en-GB" b="1"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𝑝</m:t>
                        </m:r>
                        <m:r>
                          <a:rPr lang="en-GB" b="0" i="1" smtClean="0">
                            <a:latin typeface="Cambria Math" panose="02040503050406030204" pitchFamily="18" charset="0"/>
                          </a:rPr>
                          <m:t>(</m:t>
                        </m:r>
                        <m:r>
                          <a:rPr lang="en-GB" b="1" i="0" smtClean="0">
                            <a:latin typeface="Cambria Math" panose="02040503050406030204" pitchFamily="18" charset="0"/>
                          </a:rPr>
                          <m:t>𝐱</m:t>
                        </m:r>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r>
                          <a:rPr lang="en-GB" b="1" i="1" smtClean="0">
                            <a:latin typeface="Cambria Math" panose="02040503050406030204" pitchFamily="18" charset="0"/>
                          </a:rPr>
                          <m:t>𝒚</m:t>
                        </m:r>
                        <m:r>
                          <a:rPr lang="en-GB" b="0" i="1" smtClean="0">
                            <a:latin typeface="Cambria Math" panose="02040503050406030204" pitchFamily="18" charset="0"/>
                          </a:rPr>
                          <m:t>)</m:t>
                        </m:r>
                      </m:num>
                      <m:den>
                        <m:r>
                          <a:rPr lang="en-GB" b="0" i="1" smtClean="0">
                            <a:latin typeface="Cambria Math" panose="02040503050406030204" pitchFamily="18" charset="0"/>
                          </a:rPr>
                          <m:t>𝑝</m:t>
                        </m:r>
                        <m:r>
                          <a:rPr lang="en-GB" b="1" i="1" smtClean="0">
                            <a:latin typeface="Cambria Math" panose="02040503050406030204" pitchFamily="18" charset="0"/>
                          </a:rPr>
                          <m:t>(</m:t>
                        </m:r>
                        <m:r>
                          <a:rPr lang="en-GB" b="1" i="0" smtClean="0">
                            <a:latin typeface="Cambria Math" panose="02040503050406030204" pitchFamily="18" charset="0"/>
                          </a:rPr>
                          <m:t>𝐱</m:t>
                        </m:r>
                        <m:r>
                          <a:rPr lang="en-GB" b="1" i="1" smtClean="0">
                            <a:latin typeface="Cambria Math" panose="02040503050406030204" pitchFamily="18" charset="0"/>
                          </a:rPr>
                          <m:t>|</m:t>
                        </m:r>
                        <m:r>
                          <a:rPr lang="en-GB" b="1" i="1" smtClean="0">
                            <a:latin typeface="Cambria Math" panose="02040503050406030204" pitchFamily="18" charset="0"/>
                          </a:rPr>
                          <m:t>𝜽</m:t>
                        </m:r>
                        <m:r>
                          <a:rPr lang="en-GB" b="1" i="1" smtClean="0">
                            <a:latin typeface="Cambria Math" panose="02040503050406030204" pitchFamily="18" charset="0"/>
                          </a:rPr>
                          <m:t>,</m:t>
                        </m:r>
                        <m:r>
                          <a:rPr lang="en-GB" b="1" i="1" smtClean="0">
                            <a:latin typeface="Cambria Math" panose="02040503050406030204" pitchFamily="18" charset="0"/>
                          </a:rPr>
                          <m:t>𝒚</m:t>
                        </m:r>
                        <m:r>
                          <a:rPr lang="en-GB" b="1" i="1" smtClean="0">
                            <a:latin typeface="Cambria Math" panose="02040503050406030204" pitchFamily="18" charset="0"/>
                          </a:rPr>
                          <m:t>)</m:t>
                        </m:r>
                      </m:den>
                    </m:f>
                  </m:oMath>
                </a14:m>
                <a:r>
                  <a:rPr lang="en-GB" dirty="0"/>
                  <a:t>. You can use Bayes’ rule to solve this. </a:t>
                </a:r>
              </a:p>
            </p:txBody>
          </p:sp>
        </mc:Choice>
        <mc:Fallback xmlns="">
          <p:sp>
            <p:nvSpPr>
              <p:cNvPr id="5" name="TextBox 4">
                <a:extLst>
                  <a:ext uri="{FF2B5EF4-FFF2-40B4-BE49-F238E27FC236}">
                    <a16:creationId xmlns:a16="http://schemas.microsoft.com/office/drawing/2014/main" id="{B9D51DB6-DEA4-53E5-4DD1-7EDEC377A95B}"/>
                  </a:ext>
                </a:extLst>
              </p:cNvPr>
              <p:cNvSpPr txBox="1">
                <a:spLocks noRot="1" noChangeAspect="1" noMove="1" noResize="1" noEditPoints="1" noAdjustHandles="1" noChangeArrowheads="1" noChangeShapeType="1" noTextEdit="1"/>
              </p:cNvSpPr>
              <p:nvPr/>
            </p:nvSpPr>
            <p:spPr>
              <a:xfrm>
                <a:off x="838200" y="5929652"/>
                <a:ext cx="6811297" cy="533544"/>
              </a:xfrm>
              <a:prstGeom prst="rect">
                <a:avLst/>
              </a:prstGeom>
              <a:blipFill>
                <a:blip r:embed="rId3"/>
                <a:stretch>
                  <a:fillRect l="-806" r="-1164" b="-5747"/>
                </a:stretch>
              </a:blipFill>
            </p:spPr>
            <p:txBody>
              <a:bodyPr/>
              <a:lstStyle/>
              <a:p>
                <a:r>
                  <a:rPr lang="en-GB">
                    <a:noFill/>
                  </a:rPr>
                  <a:t> </a:t>
                </a:r>
              </a:p>
            </p:txBody>
          </p:sp>
        </mc:Fallback>
      </mc:AlternateContent>
      <p:sp>
        <p:nvSpPr>
          <p:cNvPr id="2" name="Slide Number Placeholder 1">
            <a:extLst>
              <a:ext uri="{FF2B5EF4-FFF2-40B4-BE49-F238E27FC236}">
                <a16:creationId xmlns:a16="http://schemas.microsoft.com/office/drawing/2014/main" id="{622D28A6-3CF9-EFE0-07A5-A99DB91C0FE2}"/>
              </a:ext>
            </a:extLst>
          </p:cNvPr>
          <p:cNvSpPr>
            <a:spLocks noGrp="1"/>
          </p:cNvSpPr>
          <p:nvPr>
            <p:ph type="sldNum" sz="quarter" idx="12"/>
          </p:nvPr>
        </p:nvSpPr>
        <p:spPr/>
        <p:txBody>
          <a:bodyPr/>
          <a:lstStyle/>
          <a:p>
            <a:fld id="{92E773D0-8039-41DE-9EAA-38744617136D}" type="slidenum">
              <a:rPr lang="en-GB" smtClean="0"/>
              <a:t>40</a:t>
            </a:fld>
            <a:endParaRPr lang="en-GB"/>
          </a:p>
        </p:txBody>
      </p:sp>
      <p:sp>
        <p:nvSpPr>
          <p:cNvPr id="9" name="Title 1">
            <a:extLst>
              <a:ext uri="{FF2B5EF4-FFF2-40B4-BE49-F238E27FC236}">
                <a16:creationId xmlns:a16="http://schemas.microsoft.com/office/drawing/2014/main" id="{A5F50DC8-C23E-44AB-51BC-12A6650A9BB5}"/>
              </a:ext>
            </a:extLst>
          </p:cNvPr>
          <p:cNvSpPr>
            <a:spLocks noGrp="1"/>
          </p:cNvSpPr>
          <p:nvPr>
            <p:ph type="title"/>
          </p:nvPr>
        </p:nvSpPr>
        <p:spPr>
          <a:xfrm>
            <a:off x="362339" y="0"/>
            <a:ext cx="10515600" cy="834410"/>
          </a:xfrm>
        </p:spPr>
        <p:txBody>
          <a:bodyPr>
            <a:normAutofit/>
          </a:bodyPr>
          <a:lstStyle/>
          <a:p>
            <a:r>
              <a:rPr lang="en-GB" sz="4000" b="1" dirty="0">
                <a:solidFill>
                  <a:schemeClr val="bg1"/>
                </a:solidFill>
              </a:rPr>
              <a:t>What does INLA calculate?</a:t>
            </a:r>
          </a:p>
        </p:txBody>
      </p:sp>
      <p:cxnSp>
        <p:nvCxnSpPr>
          <p:cNvPr id="7" name="Straight Arrow Connector 6">
            <a:extLst>
              <a:ext uri="{FF2B5EF4-FFF2-40B4-BE49-F238E27FC236}">
                <a16:creationId xmlns:a16="http://schemas.microsoft.com/office/drawing/2014/main" id="{D4B3499D-F800-F396-9EFC-EB6BD63A8447}"/>
              </a:ext>
            </a:extLst>
          </p:cNvPr>
          <p:cNvCxnSpPr/>
          <p:nvPr/>
        </p:nvCxnSpPr>
        <p:spPr>
          <a:xfrm>
            <a:off x="7473820" y="1670180"/>
            <a:ext cx="2985796" cy="28365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E101BCBB-C962-90EF-B147-23DCD566E8A0}"/>
              </a:ext>
            </a:extLst>
          </p:cNvPr>
          <p:cNvCxnSpPr>
            <a:cxnSpLocks/>
          </p:cNvCxnSpPr>
          <p:nvPr/>
        </p:nvCxnSpPr>
        <p:spPr>
          <a:xfrm>
            <a:off x="4718181" y="4021494"/>
            <a:ext cx="5741435" cy="4851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BCAD435-21B7-F56F-A1E6-4411C127410F}"/>
              </a:ext>
            </a:extLst>
          </p:cNvPr>
          <p:cNvSpPr txBox="1"/>
          <p:nvPr/>
        </p:nvSpPr>
        <p:spPr>
          <a:xfrm>
            <a:off x="10409853" y="4133461"/>
            <a:ext cx="1782147" cy="646331"/>
          </a:xfrm>
          <a:prstGeom prst="rect">
            <a:avLst/>
          </a:prstGeom>
          <a:noFill/>
          <a:ln>
            <a:solidFill>
              <a:schemeClr val="accent1"/>
            </a:solidFill>
          </a:ln>
        </p:spPr>
        <p:txBody>
          <a:bodyPr wrap="square" rtlCol="0">
            <a:spAutoFit/>
          </a:bodyPr>
          <a:lstStyle/>
          <a:p>
            <a:r>
              <a:rPr lang="en-GB" dirty="0"/>
              <a:t>Analytical approximations</a:t>
            </a:r>
          </a:p>
        </p:txBody>
      </p:sp>
    </p:spTree>
    <p:extLst>
      <p:ext uri="{BB962C8B-B14F-4D97-AF65-F5344CB8AC3E}">
        <p14:creationId xmlns:p14="http://schemas.microsoft.com/office/powerpoint/2010/main" val="29309747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425193-3445-76B6-BB90-4B70A46F1B24}"/>
                  </a:ext>
                </a:extLst>
              </p:cNvPr>
              <p:cNvSpPr>
                <a:spLocks noGrp="1"/>
              </p:cNvSpPr>
              <p:nvPr>
                <p:ph idx="1"/>
              </p:nvPr>
            </p:nvSpPr>
            <p:spPr>
              <a:xfrm>
                <a:off x="838200" y="1098241"/>
                <a:ext cx="10928420" cy="5495927"/>
              </a:xfrm>
            </p:spPr>
            <p:txBody>
              <a:bodyPr>
                <a:normAutofit fontScale="92500" lnSpcReduction="20000"/>
              </a:bodyPr>
              <a:lstStyle/>
              <a:p>
                <a:r>
                  <a:rPr lang="en-GB" dirty="0"/>
                  <a:t>INLA then constructs the following nested approximations:</a:t>
                </a:r>
              </a:p>
              <a:p>
                <a:pPr marL="0" indent="0">
                  <a:buNone/>
                </a:pPr>
                <a:endParaRPr lang="en-GB" dirty="0"/>
              </a:p>
              <a:p>
                <a:pPr marL="0" indent="0" algn="ctr">
                  <a:buNone/>
                </a:pPr>
                <a14:m>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𝑝</m:t>
                        </m:r>
                      </m:e>
                    </m:acc>
                    <m:d>
                      <m:dPr>
                        <m:ctrlPr>
                          <a:rPr lang="en-GB" b="0" i="1" smtClean="0">
                            <a:latin typeface="Cambria Math" panose="02040503050406030204" pitchFamily="18" charset="0"/>
                          </a:rPr>
                        </m:ctrlPr>
                      </m:dPr>
                      <m:e>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m:t>
                            </m:r>
                          </m:sub>
                        </m:sSub>
                      </m:e>
                      <m:e>
                        <m:r>
                          <a:rPr lang="en-GB" b="1" i="1" smtClean="0">
                            <a:latin typeface="Cambria Math" panose="02040503050406030204" pitchFamily="18" charset="0"/>
                          </a:rPr>
                          <m:t>𝒚</m:t>
                        </m:r>
                      </m:e>
                    </m:d>
                    <m:r>
                      <a:rPr lang="en-GB" b="1" i="1" smtClean="0">
                        <a:latin typeface="Cambria Math" panose="02040503050406030204" pitchFamily="18" charset="0"/>
                      </a:rPr>
                      <m:t>=∫</m:t>
                    </m:r>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𝑝</m:t>
                        </m:r>
                      </m:e>
                    </m:acc>
                    <m:d>
                      <m:dPr>
                        <m:ctrlPr>
                          <a:rPr lang="en-GB" b="0" i="1" smtClean="0">
                            <a:latin typeface="Cambria Math" panose="02040503050406030204" pitchFamily="18" charset="0"/>
                          </a:rPr>
                        </m:ctrlPr>
                      </m:dPr>
                      <m:e>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1" i="1" smtClean="0">
                            <a:latin typeface="Cambria Math" panose="02040503050406030204" pitchFamily="18" charset="0"/>
                          </a:rPr>
                          <m:t>𝜽</m:t>
                        </m:r>
                        <m:r>
                          <a:rPr lang="en-GB" b="1" i="1" smtClean="0">
                            <a:latin typeface="Cambria Math" panose="02040503050406030204" pitchFamily="18" charset="0"/>
                          </a:rPr>
                          <m:t>,</m:t>
                        </m:r>
                        <m:r>
                          <a:rPr lang="en-GB" b="1" i="1" smtClean="0">
                            <a:latin typeface="Cambria Math" panose="02040503050406030204" pitchFamily="18" charset="0"/>
                          </a:rPr>
                          <m:t>𝒚</m:t>
                        </m:r>
                      </m:e>
                    </m:d>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𝑝</m:t>
                        </m:r>
                      </m:e>
                    </m:acc>
                    <m:d>
                      <m:dPr>
                        <m:ctrlPr>
                          <a:rPr lang="en-GB" b="1" i="1" smtClean="0">
                            <a:latin typeface="Cambria Math" panose="02040503050406030204" pitchFamily="18" charset="0"/>
                          </a:rPr>
                        </m:ctrlPr>
                      </m:dPr>
                      <m:e>
                        <m:r>
                          <a:rPr lang="en-GB" b="1" i="1" smtClean="0">
                            <a:latin typeface="Cambria Math" panose="02040503050406030204" pitchFamily="18" charset="0"/>
                          </a:rPr>
                          <m:t>𝜽</m:t>
                        </m:r>
                        <m:r>
                          <a:rPr lang="en-GB" b="1" i="1" smtClean="0">
                            <a:latin typeface="Cambria Math" panose="02040503050406030204" pitchFamily="18" charset="0"/>
                          </a:rPr>
                          <m:t>|</m:t>
                        </m:r>
                        <m:r>
                          <a:rPr lang="en-GB" b="1" i="1" smtClean="0">
                            <a:latin typeface="Cambria Math" panose="02040503050406030204" pitchFamily="18" charset="0"/>
                          </a:rPr>
                          <m:t>𝒚</m:t>
                        </m:r>
                      </m:e>
                    </m:d>
                    <m:r>
                      <a:rPr lang="en-GB" b="0" i="1" smtClean="0">
                        <a:latin typeface="Cambria Math" panose="02040503050406030204" pitchFamily="18" charset="0"/>
                      </a:rPr>
                      <m:t>𝑑</m:t>
                    </m:r>
                    <m:r>
                      <a:rPr lang="en-GB" b="1" i="1" smtClean="0">
                        <a:latin typeface="Cambria Math" panose="02040503050406030204" pitchFamily="18" charset="0"/>
                      </a:rPr>
                      <m:t>𝜽</m:t>
                    </m:r>
                  </m:oMath>
                </a14:m>
                <a:r>
                  <a:rPr lang="en-GB" dirty="0"/>
                  <a:t>,  and</a:t>
                </a:r>
              </a:p>
              <a:p>
                <a:pPr marL="0" indent="0" algn="ctr">
                  <a:buNone/>
                </a:pPr>
                <a14:m>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𝑝</m:t>
                        </m:r>
                      </m:e>
                    </m:acc>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𝑗</m:t>
                            </m:r>
                          </m:sub>
                        </m:sSub>
                      </m:e>
                      <m:e>
                        <m:r>
                          <a:rPr lang="en-GB" b="1" i="1" smtClean="0">
                            <a:latin typeface="Cambria Math" panose="02040503050406030204" pitchFamily="18" charset="0"/>
                          </a:rPr>
                          <m:t>𝒚</m:t>
                        </m:r>
                      </m:e>
                    </m:d>
                    <m:r>
                      <a:rPr lang="en-GB" b="0" i="1" smtClean="0">
                        <a:latin typeface="Cambria Math" panose="02040503050406030204" pitchFamily="18" charset="0"/>
                      </a:rPr>
                      <m:t>=∫</m:t>
                    </m:r>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𝑝</m:t>
                        </m:r>
                      </m:e>
                    </m:acc>
                    <m:d>
                      <m:dPr>
                        <m:ctrlPr>
                          <a:rPr lang="en-GB" b="1" i="1" smtClean="0">
                            <a:latin typeface="Cambria Math" panose="02040503050406030204" pitchFamily="18" charset="0"/>
                          </a:rPr>
                        </m:ctrlPr>
                      </m:dPr>
                      <m:e>
                        <m:r>
                          <a:rPr lang="en-GB" b="1" i="1" smtClean="0">
                            <a:latin typeface="Cambria Math" panose="02040503050406030204" pitchFamily="18" charset="0"/>
                          </a:rPr>
                          <m:t>𝜽</m:t>
                        </m:r>
                      </m:e>
                      <m:e>
                        <m:r>
                          <a:rPr lang="en-GB" b="1" i="1" smtClean="0">
                            <a:latin typeface="Cambria Math" panose="02040503050406030204" pitchFamily="18" charset="0"/>
                          </a:rPr>
                          <m:t>𝒚</m:t>
                        </m:r>
                      </m:e>
                    </m:d>
                    <m:r>
                      <a:rPr lang="en-GB" b="0" i="1" smtClean="0">
                        <a:latin typeface="Cambria Math" panose="02040503050406030204" pitchFamily="18" charset="0"/>
                      </a:rPr>
                      <m:t>𝑑</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𝜽</m:t>
                        </m:r>
                      </m:e>
                      <m:sub>
                        <m:r>
                          <a:rPr lang="en-GB" b="0" i="1" smtClean="0">
                            <a:latin typeface="Cambria Math" panose="02040503050406030204" pitchFamily="18" charset="0"/>
                          </a:rPr>
                          <m:t>−</m:t>
                        </m:r>
                        <m:r>
                          <a:rPr lang="en-GB" b="0" i="1" smtClean="0">
                            <a:latin typeface="Cambria Math" panose="02040503050406030204" pitchFamily="18" charset="0"/>
                          </a:rPr>
                          <m:t>𝑗</m:t>
                        </m:r>
                      </m:sub>
                    </m:sSub>
                  </m:oMath>
                </a14:m>
                <a:r>
                  <a:rPr lang="en-GB" dirty="0"/>
                  <a:t>.</a:t>
                </a:r>
              </a:p>
              <a:p>
                <a:pPr marL="0" indent="0">
                  <a:buNone/>
                </a:pPr>
                <a:endParaRPr lang="en-GB" dirty="0"/>
              </a:p>
              <a:p>
                <a:r>
                  <a:rPr lang="en-GB" dirty="0"/>
                  <a:t>In the last step</a:t>
                </a:r>
                <a:r>
                  <a:rPr lang="en-GB" dirty="0">
                    <a:solidFill>
                      <a:schemeClr val="tx2">
                        <a:lumMod val="75000"/>
                        <a:lumOff val="25000"/>
                      </a:schemeClr>
                    </a:solidFill>
                  </a:rPr>
                  <a:t>, numerical integration </a:t>
                </a:r>
                <a:r>
                  <a:rPr lang="en-GB" dirty="0"/>
                  <a:t>(with respect to </a:t>
                </a:r>
                <a14:m>
                  <m:oMath xmlns:m="http://schemas.openxmlformats.org/officeDocument/2006/math">
                    <m:r>
                      <a:rPr lang="en-GB" b="1" i="1" smtClean="0">
                        <a:latin typeface="Cambria Math" panose="02040503050406030204" pitchFamily="18" charset="0"/>
                      </a:rPr>
                      <m:t>𝜽</m:t>
                    </m:r>
                  </m:oMath>
                </a14:m>
                <a:r>
                  <a:rPr lang="en-GB" dirty="0"/>
                  <a:t>) is applied to these approximations as follows:</a:t>
                </a:r>
              </a:p>
              <a:p>
                <a:endParaRPr lang="en-GB" dirty="0"/>
              </a:p>
              <a:p>
                <a:pPr marL="0" indent="0" algn="ctr">
                  <a:buNone/>
                </a:pPr>
                <a14:m>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𝑝</m:t>
                        </m:r>
                      </m:e>
                    </m:acc>
                    <m:d>
                      <m:dPr>
                        <m:ctrlPr>
                          <a:rPr lang="en-GB" b="0" i="1" smtClean="0">
                            <a:latin typeface="Cambria Math" panose="02040503050406030204" pitchFamily="18" charset="0"/>
                          </a:rPr>
                        </m:ctrlPr>
                      </m:dPr>
                      <m:e>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m:t>
                            </m:r>
                          </m:sub>
                        </m:sSub>
                      </m:e>
                      <m:e>
                        <m:r>
                          <a:rPr lang="en-GB" b="1" i="1" smtClean="0">
                            <a:latin typeface="Cambria Math" panose="02040503050406030204" pitchFamily="18" charset="0"/>
                          </a:rPr>
                          <m:t>𝒚</m:t>
                        </m:r>
                      </m:e>
                    </m:d>
                    <m:r>
                      <a:rPr lang="en-GB" b="0" i="1" smtClean="0">
                        <a:latin typeface="Cambria Math" panose="02040503050406030204" pitchFamily="18" charset="0"/>
                      </a:rPr>
                      <m:t>=</m:t>
                    </m:r>
                    <m:nary>
                      <m:naryPr>
                        <m:chr m:val="∑"/>
                        <m:supHide m:val="on"/>
                        <m:ctrlPr>
                          <a:rPr lang="en-GB" b="0" i="1" smtClean="0">
                            <a:latin typeface="Cambria Math" panose="02040503050406030204" pitchFamily="18" charset="0"/>
                          </a:rPr>
                        </m:ctrlPr>
                      </m:naryPr>
                      <m:sub>
                        <m:r>
                          <m:rPr>
                            <m:brk m:alnAt="7"/>
                          </m:rPr>
                          <a:rPr lang="en-GB" b="0" i="1" smtClean="0">
                            <a:latin typeface="Cambria Math" panose="02040503050406030204" pitchFamily="18" charset="0"/>
                          </a:rPr>
                          <m:t>𝑘</m:t>
                        </m:r>
                      </m:sub>
                      <m:sup/>
                      <m:e>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𝑝</m:t>
                            </m:r>
                          </m:e>
                        </m:acc>
                        <m:d>
                          <m:dPr>
                            <m:ctrlPr>
                              <a:rPr lang="en-GB" b="0" i="1" smtClean="0">
                                <a:latin typeface="Cambria Math" panose="02040503050406030204" pitchFamily="18" charset="0"/>
                              </a:rPr>
                            </m:ctrlPr>
                          </m:dPr>
                          <m:e>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𝜽</m:t>
                                </m:r>
                              </m:e>
                              <m:sub>
                                <m:r>
                                  <a:rPr lang="en-GB" b="0" i="1" smtClean="0">
                                    <a:latin typeface="Cambria Math" panose="02040503050406030204" pitchFamily="18" charset="0"/>
                                  </a:rPr>
                                  <m:t>𝑘</m:t>
                                </m:r>
                              </m:sub>
                            </m:sSub>
                            <m:r>
                              <a:rPr lang="en-GB" b="1" i="1" smtClean="0">
                                <a:latin typeface="Cambria Math" panose="02040503050406030204" pitchFamily="18" charset="0"/>
                              </a:rPr>
                              <m:t>,</m:t>
                            </m:r>
                            <m:r>
                              <a:rPr lang="en-GB" b="1" i="1" smtClean="0">
                                <a:latin typeface="Cambria Math" panose="02040503050406030204" pitchFamily="18" charset="0"/>
                              </a:rPr>
                              <m:t>𝒚</m:t>
                            </m:r>
                          </m:e>
                        </m:d>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𝑝</m:t>
                            </m:r>
                          </m:e>
                        </m:acc>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𝜽</m:t>
                                </m:r>
                              </m:e>
                              <m:sub>
                                <m:r>
                                  <a:rPr lang="en-GB" b="0" i="1" smtClean="0">
                                    <a:latin typeface="Cambria Math" panose="02040503050406030204" pitchFamily="18" charset="0"/>
                                  </a:rPr>
                                  <m:t>𝑘</m:t>
                                </m:r>
                              </m:sub>
                            </m:sSub>
                            <m:r>
                              <a:rPr lang="en-GB" b="1" i="1" smtClean="0">
                                <a:latin typeface="Cambria Math" panose="02040503050406030204" pitchFamily="18" charset="0"/>
                              </a:rPr>
                              <m:t>|</m:t>
                            </m:r>
                            <m:r>
                              <a:rPr lang="en-GB" b="1" i="1" smtClean="0">
                                <a:latin typeface="Cambria Math" panose="02040503050406030204" pitchFamily="18" charset="0"/>
                              </a:rPr>
                              <m:t>𝒚</m:t>
                            </m:r>
                          </m:e>
                        </m:d>
                      </m:e>
                    </m:nary>
                    <m:r>
                      <a:rPr lang="en-GB" b="0" i="1" smtClean="0">
                        <a:latin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m:t>
                        </m:r>
                      </m:e>
                      <m:sub>
                        <m:r>
                          <a:rPr lang="en-GB" b="0" i="1" smtClean="0">
                            <a:latin typeface="Cambria Math" panose="02040503050406030204" pitchFamily="18" charset="0"/>
                            <a:ea typeface="Cambria Math" panose="02040503050406030204" pitchFamily="18" charset="0"/>
                          </a:rPr>
                          <m:t>𝑘</m:t>
                        </m:r>
                      </m:sub>
                    </m:sSub>
                  </m:oMath>
                </a14:m>
                <a:r>
                  <a:rPr lang="en-GB" dirty="0"/>
                  <a:t>, </a:t>
                </a:r>
              </a:p>
              <a:p>
                <a:pPr marL="0" indent="0" algn="ctr">
                  <a:buNone/>
                </a:pPr>
                <a14:m>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𝑝</m:t>
                        </m:r>
                      </m:e>
                    </m:acc>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𝑗</m:t>
                            </m:r>
                          </m:sub>
                        </m:sSub>
                      </m:e>
                      <m:e>
                        <m:r>
                          <a:rPr lang="en-GB" b="1" i="1" smtClean="0">
                            <a:latin typeface="Cambria Math" panose="02040503050406030204" pitchFamily="18" charset="0"/>
                          </a:rPr>
                          <m:t>𝒚</m:t>
                        </m:r>
                      </m:e>
                    </m:d>
                    <m:r>
                      <a:rPr lang="en-GB" b="0" i="1" smtClean="0">
                        <a:latin typeface="Cambria Math" panose="02040503050406030204" pitchFamily="18" charset="0"/>
                      </a:rPr>
                      <m:t>=</m:t>
                    </m:r>
                    <m:nary>
                      <m:naryPr>
                        <m:chr m:val="∑"/>
                        <m:supHide m:val="on"/>
                        <m:ctrlPr>
                          <a:rPr lang="en-GB" b="0" i="1" smtClean="0">
                            <a:latin typeface="Cambria Math" panose="02040503050406030204" pitchFamily="18" charset="0"/>
                          </a:rPr>
                        </m:ctrlPr>
                      </m:naryPr>
                      <m:sub>
                        <m:r>
                          <m:rPr>
                            <m:brk m:alnAt="7"/>
                          </m:rPr>
                          <a:rPr lang="en-GB" b="0" i="1" smtClean="0">
                            <a:latin typeface="Cambria Math" panose="02040503050406030204" pitchFamily="18" charset="0"/>
                          </a:rPr>
                          <m:t>𝑙</m:t>
                        </m:r>
                      </m:sub>
                      <m:sup/>
                      <m:e>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𝑝</m:t>
                            </m:r>
                          </m:e>
                        </m:acc>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𝜽</m:t>
                                </m:r>
                              </m:e>
                              <m:sub>
                                <m:r>
                                  <a:rPr lang="en-GB" b="0" i="1" smtClean="0">
                                    <a:latin typeface="Cambria Math" panose="02040503050406030204" pitchFamily="18" charset="0"/>
                                  </a:rPr>
                                  <m:t>𝑙</m:t>
                                </m:r>
                              </m:sub>
                            </m:sSub>
                          </m:e>
                          <m:e>
                            <m:r>
                              <a:rPr lang="en-GB" b="1" i="1" smtClean="0">
                                <a:latin typeface="Cambria Math" panose="02040503050406030204" pitchFamily="18" charset="0"/>
                              </a:rPr>
                              <m:t>𝒚</m:t>
                            </m:r>
                          </m:e>
                        </m:d>
                      </m:e>
                    </m:nary>
                    <m:r>
                      <a:rPr lang="en-GB" b="0" i="1" smtClean="0">
                        <a:latin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m:t>
                        </m:r>
                      </m:e>
                      <m:sub>
                        <m:r>
                          <a:rPr lang="en-GB" b="0" i="1" smtClean="0">
                            <a:latin typeface="Cambria Math" panose="02040503050406030204" pitchFamily="18" charset="0"/>
                            <a:ea typeface="Cambria Math" panose="02040503050406030204" pitchFamily="18" charset="0"/>
                          </a:rPr>
                          <m:t>𝑙</m:t>
                        </m:r>
                      </m:sub>
                    </m:sSub>
                  </m:oMath>
                </a14:m>
                <a:r>
                  <a:rPr lang="en-GB" dirty="0"/>
                  <a:t>,</a:t>
                </a:r>
              </a:p>
              <a:p>
                <a:pPr marL="0" indent="0">
                  <a:buNone/>
                </a:pPr>
                <a:r>
                  <a:rPr lang="en-GB" dirty="0"/>
                  <a:t> where </a:t>
                </a:r>
                <a14:m>
                  <m:oMath xmlns:m="http://schemas.openxmlformats.org/officeDocument/2006/math">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m:t>
                        </m:r>
                      </m:e>
                      <m:sub>
                        <m:r>
                          <a:rPr lang="en-GB" b="0" i="1" smtClean="0">
                            <a:latin typeface="Cambria Math" panose="02040503050406030204" pitchFamily="18" charset="0"/>
                            <a:ea typeface="Cambria Math" panose="02040503050406030204" pitchFamily="18" charset="0"/>
                          </a:rPr>
                          <m:t>𝑘</m:t>
                        </m:r>
                      </m:sub>
                    </m:sSub>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m:t>
                        </m:r>
                      </m:e>
                      <m:sub>
                        <m:r>
                          <a:rPr lang="en-GB" b="0" i="1" smtClean="0">
                            <a:latin typeface="Cambria Math" panose="02040503050406030204" pitchFamily="18" charset="0"/>
                            <a:ea typeface="Cambria Math" panose="02040503050406030204" pitchFamily="18" charset="0"/>
                          </a:rPr>
                          <m:t>𝑙</m:t>
                        </m:r>
                      </m:sub>
                    </m:sSub>
                    <m:r>
                      <a:rPr lang="en-GB" b="0" i="1" smtClean="0">
                        <a:latin typeface="Cambria Math" panose="02040503050406030204" pitchFamily="18" charset="0"/>
                        <a:ea typeface="Cambria Math" panose="02040503050406030204" pitchFamily="18" charset="0"/>
                      </a:rPr>
                      <m:t>)</m:t>
                    </m:r>
                  </m:oMath>
                </a14:m>
                <a:r>
                  <a:rPr lang="en-GB" dirty="0"/>
                  <a:t> are the weights assigned to the integration points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𝜽</m:t>
                        </m:r>
                      </m:e>
                      <m:sub>
                        <m:r>
                          <a:rPr lang="en-GB" b="0" i="1" smtClean="0">
                            <a:latin typeface="Cambria Math" panose="02040503050406030204" pitchFamily="18" charset="0"/>
                          </a:rPr>
                          <m:t>𝑘</m:t>
                        </m:r>
                      </m:sub>
                    </m:sSub>
                    <m:r>
                      <a:rPr lang="en-GB" b="1"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𝜽</m:t>
                        </m:r>
                      </m:e>
                      <m:sub>
                        <m:r>
                          <a:rPr lang="en-GB" b="0" i="1" smtClean="0">
                            <a:latin typeface="Cambria Math" panose="02040503050406030204" pitchFamily="18" charset="0"/>
                          </a:rPr>
                          <m:t>𝑙</m:t>
                        </m:r>
                      </m:sub>
                    </m:sSub>
                    <m:r>
                      <a:rPr lang="en-GB" b="1" i="1" smtClean="0">
                        <a:latin typeface="Cambria Math" panose="02040503050406030204" pitchFamily="18" charset="0"/>
                      </a:rPr>
                      <m:t>)</m:t>
                    </m:r>
                  </m:oMath>
                </a14:m>
                <a:r>
                  <a:rPr lang="en-GB" dirty="0"/>
                  <a:t>.</a:t>
                </a:r>
              </a:p>
              <a:p>
                <a:pPr marL="0" indent="0">
                  <a:buNone/>
                </a:pPr>
                <a:r>
                  <a:rPr lang="en-GB" sz="1900" dirty="0"/>
                  <a:t>NB: The integration points are a set of points in the hyperparameter space (placed around the mode where there is substantial posterior probability). INLA will obtain these integration points by </a:t>
                </a:r>
                <a:r>
                  <a:rPr lang="en-GB" sz="1900" dirty="0">
                    <a:solidFill>
                      <a:schemeClr val="tx2">
                        <a:lumMod val="75000"/>
                        <a:lumOff val="25000"/>
                      </a:schemeClr>
                    </a:solidFill>
                  </a:rPr>
                  <a:t>placing a regular grid about the posterior mode of  </a:t>
                </a:r>
                <a14:m>
                  <m:oMath xmlns:m="http://schemas.openxmlformats.org/officeDocument/2006/math">
                    <m:r>
                      <a:rPr lang="en-GB" sz="1900" b="1" i="1" smtClean="0">
                        <a:solidFill>
                          <a:schemeClr val="tx2">
                            <a:lumMod val="75000"/>
                            <a:lumOff val="25000"/>
                          </a:schemeClr>
                        </a:solidFill>
                        <a:latin typeface="Cambria Math" panose="02040503050406030204" pitchFamily="18" charset="0"/>
                      </a:rPr>
                      <m:t>𝜽</m:t>
                    </m:r>
                  </m:oMath>
                </a14:m>
                <a:r>
                  <a:rPr lang="en-GB" sz="1900" dirty="0">
                    <a:solidFill>
                      <a:schemeClr val="tx2">
                        <a:lumMod val="75000"/>
                        <a:lumOff val="25000"/>
                      </a:schemeClr>
                    </a:solidFill>
                  </a:rPr>
                  <a:t> </a:t>
                </a:r>
                <a:r>
                  <a:rPr lang="en-GB" sz="1900" dirty="0"/>
                  <a:t>or by using a </a:t>
                </a:r>
                <a:r>
                  <a:rPr lang="en-GB" sz="1900" dirty="0">
                    <a:solidFill>
                      <a:schemeClr val="tx2">
                        <a:lumMod val="75000"/>
                        <a:lumOff val="25000"/>
                      </a:schemeClr>
                    </a:solidFill>
                  </a:rPr>
                  <a:t>central composite design </a:t>
                </a:r>
                <a:r>
                  <a:rPr lang="en-GB" sz="1900" dirty="0" err="1"/>
                  <a:t>centered</a:t>
                </a:r>
                <a:r>
                  <a:rPr lang="en-GB" sz="1900" dirty="0"/>
                  <a:t> at the posterior mode. The weights measure how much of the hyperparameter space is represented by each integration point. </a:t>
                </a:r>
              </a:p>
            </p:txBody>
          </p:sp>
        </mc:Choice>
        <mc:Fallback xmlns="">
          <p:sp>
            <p:nvSpPr>
              <p:cNvPr id="3" name="Content Placeholder 2">
                <a:extLst>
                  <a:ext uri="{FF2B5EF4-FFF2-40B4-BE49-F238E27FC236}">
                    <a16:creationId xmlns:a16="http://schemas.microsoft.com/office/drawing/2014/main" id="{24425193-3445-76B6-BB90-4B70A46F1B24}"/>
                  </a:ext>
                </a:extLst>
              </p:cNvPr>
              <p:cNvSpPr>
                <a:spLocks noGrp="1" noRot="1" noChangeAspect="1" noMove="1" noResize="1" noEditPoints="1" noAdjustHandles="1" noChangeArrowheads="1" noChangeShapeType="1" noTextEdit="1"/>
              </p:cNvSpPr>
              <p:nvPr>
                <p:ph idx="1"/>
              </p:nvPr>
            </p:nvSpPr>
            <p:spPr>
              <a:xfrm>
                <a:off x="838200" y="1098241"/>
                <a:ext cx="10928420" cy="5495927"/>
              </a:xfrm>
              <a:blipFill>
                <a:blip r:embed="rId3"/>
                <a:stretch>
                  <a:fillRect l="-893" t="-2772"/>
                </a:stretch>
              </a:blipFill>
            </p:spPr>
            <p:txBody>
              <a:bodyPr/>
              <a:lstStyle/>
              <a:p>
                <a:r>
                  <a:rPr lang="en-GB">
                    <a:noFill/>
                  </a:rPr>
                  <a:t> </a:t>
                </a:r>
              </a:p>
            </p:txBody>
          </p:sp>
        </mc:Fallback>
      </mc:AlternateContent>
      <p:sp>
        <p:nvSpPr>
          <p:cNvPr id="2" name="Slide Number Placeholder 1">
            <a:extLst>
              <a:ext uri="{FF2B5EF4-FFF2-40B4-BE49-F238E27FC236}">
                <a16:creationId xmlns:a16="http://schemas.microsoft.com/office/drawing/2014/main" id="{7D6E3A46-E1D9-BA8A-C4C7-C14044252D1F}"/>
              </a:ext>
            </a:extLst>
          </p:cNvPr>
          <p:cNvSpPr>
            <a:spLocks noGrp="1"/>
          </p:cNvSpPr>
          <p:nvPr>
            <p:ph type="sldNum" sz="quarter" idx="12"/>
          </p:nvPr>
        </p:nvSpPr>
        <p:spPr/>
        <p:txBody>
          <a:bodyPr/>
          <a:lstStyle/>
          <a:p>
            <a:fld id="{92E773D0-8039-41DE-9EAA-38744617136D}" type="slidenum">
              <a:rPr lang="en-GB" smtClean="0"/>
              <a:t>41</a:t>
            </a:fld>
            <a:endParaRPr lang="en-GB"/>
          </a:p>
        </p:txBody>
      </p:sp>
      <p:sp>
        <p:nvSpPr>
          <p:cNvPr id="7" name="Title 1">
            <a:extLst>
              <a:ext uri="{FF2B5EF4-FFF2-40B4-BE49-F238E27FC236}">
                <a16:creationId xmlns:a16="http://schemas.microsoft.com/office/drawing/2014/main" id="{A3977534-6FB3-EA41-9A4D-8191E243D08F}"/>
              </a:ext>
            </a:extLst>
          </p:cNvPr>
          <p:cNvSpPr>
            <a:spLocks noGrp="1"/>
          </p:cNvSpPr>
          <p:nvPr>
            <p:ph type="title"/>
          </p:nvPr>
        </p:nvSpPr>
        <p:spPr>
          <a:xfrm>
            <a:off x="362339" y="0"/>
            <a:ext cx="10515600" cy="834410"/>
          </a:xfrm>
        </p:spPr>
        <p:txBody>
          <a:bodyPr>
            <a:normAutofit/>
          </a:bodyPr>
          <a:lstStyle/>
          <a:p>
            <a:r>
              <a:rPr lang="en-GB" sz="4000" b="1" dirty="0">
                <a:solidFill>
                  <a:schemeClr val="bg1"/>
                </a:solidFill>
              </a:rPr>
              <a:t>What does INLA actually calculate?</a:t>
            </a:r>
          </a:p>
        </p:txBody>
      </p:sp>
    </p:spTree>
    <p:extLst>
      <p:ext uri="{BB962C8B-B14F-4D97-AF65-F5344CB8AC3E}">
        <p14:creationId xmlns:p14="http://schemas.microsoft.com/office/powerpoint/2010/main" val="18298176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C430CD5-9E62-94E1-86DD-63CF88621161}"/>
                  </a:ext>
                </a:extLst>
              </p:cNvPr>
              <p:cNvSpPr>
                <a:spLocks noGrp="1"/>
              </p:cNvSpPr>
              <p:nvPr>
                <p:ph idx="1"/>
              </p:nvPr>
            </p:nvSpPr>
            <p:spPr>
              <a:xfrm>
                <a:off x="946355" y="1393006"/>
                <a:ext cx="10515600" cy="4351338"/>
              </a:xfrm>
            </p:spPr>
            <p:txBody>
              <a:bodyPr/>
              <a:lstStyle/>
              <a:p>
                <a:r>
                  <a:rPr lang="en-GB" dirty="0"/>
                  <a:t>The approximations </a:t>
                </a:r>
                <a14:m>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𝑝</m:t>
                        </m:r>
                      </m:e>
                    </m:acc>
                    <m:d>
                      <m:dPr>
                        <m:ctrlPr>
                          <a:rPr lang="en-GB" b="0" i="1" smtClean="0">
                            <a:latin typeface="Cambria Math" panose="02040503050406030204" pitchFamily="18" charset="0"/>
                          </a:rPr>
                        </m:ctrlPr>
                      </m:dPr>
                      <m:e>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𝜽</m:t>
                            </m:r>
                          </m:e>
                          <m:sub>
                            <m:r>
                              <a:rPr lang="en-GB" b="0" i="1" smtClean="0">
                                <a:latin typeface="Cambria Math" panose="02040503050406030204" pitchFamily="18" charset="0"/>
                              </a:rPr>
                              <m:t>𝑘</m:t>
                            </m:r>
                          </m:sub>
                        </m:sSub>
                        <m:r>
                          <a:rPr lang="en-GB" b="1" i="1" smtClean="0">
                            <a:latin typeface="Cambria Math" panose="02040503050406030204" pitchFamily="18" charset="0"/>
                          </a:rPr>
                          <m:t>,</m:t>
                        </m:r>
                        <m:r>
                          <a:rPr lang="en-GB" b="1" i="1" smtClean="0">
                            <a:latin typeface="Cambria Math" panose="02040503050406030204" pitchFamily="18" charset="0"/>
                          </a:rPr>
                          <m:t>𝒚</m:t>
                        </m:r>
                      </m:e>
                    </m:d>
                  </m:oMath>
                </a14:m>
                <a:r>
                  <a:rPr lang="en-GB" dirty="0"/>
                  <a:t> (i.e., the marginal of the latent field conditional on the relevant values of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𝜽</m:t>
                        </m:r>
                      </m:e>
                      <m:sub>
                        <m:r>
                          <a:rPr lang="en-GB" b="0" i="1" smtClean="0">
                            <a:latin typeface="Cambria Math" panose="02040503050406030204" pitchFamily="18" charset="0"/>
                          </a:rPr>
                          <m:t>𝑘</m:t>
                        </m:r>
                      </m:sub>
                    </m:sSub>
                  </m:oMath>
                </a14:m>
                <a:r>
                  <a:rPr lang="en-GB" dirty="0"/>
                  <a:t>) can be obtained using a </a:t>
                </a:r>
                <a:r>
                  <a:rPr lang="en-GB" dirty="0">
                    <a:solidFill>
                      <a:schemeClr val="tx2">
                        <a:lumMod val="75000"/>
                        <a:lumOff val="25000"/>
                      </a:schemeClr>
                    </a:solidFill>
                  </a:rPr>
                  <a:t>Gaussian</a:t>
                </a:r>
                <a:r>
                  <a:rPr lang="en-GB" dirty="0"/>
                  <a:t>, </a:t>
                </a:r>
                <a:r>
                  <a:rPr lang="en-GB" dirty="0">
                    <a:solidFill>
                      <a:schemeClr val="tx2">
                        <a:lumMod val="75000"/>
                        <a:lumOff val="25000"/>
                      </a:schemeClr>
                    </a:solidFill>
                  </a:rPr>
                  <a:t>Laplace</a:t>
                </a:r>
                <a:r>
                  <a:rPr lang="en-GB" dirty="0"/>
                  <a:t> or </a:t>
                </a:r>
                <a:r>
                  <a:rPr lang="en-GB" dirty="0">
                    <a:solidFill>
                      <a:schemeClr val="tx2">
                        <a:lumMod val="75000"/>
                        <a:lumOff val="25000"/>
                      </a:schemeClr>
                    </a:solidFill>
                  </a:rPr>
                  <a:t>simplified Laplace </a:t>
                </a:r>
                <a:r>
                  <a:rPr lang="en-GB" dirty="0"/>
                  <a:t>approximation.</a:t>
                </a:r>
              </a:p>
              <a:p>
                <a:r>
                  <a:rPr lang="en-GB" dirty="0"/>
                  <a:t>The Gaussian approximation, </a:t>
                </a:r>
                <a14:m>
                  <m:oMath xmlns:m="http://schemas.openxmlformats.org/officeDocument/2006/math">
                    <m:sSub>
                      <m:sSubPr>
                        <m:ctrlPr>
                          <a:rPr lang="en-GB" b="0" i="1" smtClean="0">
                            <a:latin typeface="Cambria Math" panose="02040503050406030204" pitchFamily="18" charset="0"/>
                          </a:rPr>
                        </m:ctrlPr>
                      </m:sSubPr>
                      <m:e>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𝑝</m:t>
                            </m:r>
                          </m:e>
                        </m:acc>
                      </m:e>
                      <m:sub>
                        <m:r>
                          <a:rPr lang="en-GB" b="0" i="1" smtClean="0">
                            <a:latin typeface="Cambria Math" panose="02040503050406030204" pitchFamily="18" charset="0"/>
                          </a:rPr>
                          <m:t>𝐺</m:t>
                        </m:r>
                      </m:sub>
                    </m:sSub>
                    <m:d>
                      <m:dPr>
                        <m:ctrlPr>
                          <a:rPr lang="en-GB" b="1" i="0" smtClean="0">
                            <a:latin typeface="Cambria Math" panose="02040503050406030204" pitchFamily="18" charset="0"/>
                          </a:rPr>
                        </m:ctrlPr>
                      </m:dPr>
                      <m:e>
                        <m:r>
                          <a:rPr lang="en-GB" b="1" i="0" smtClean="0">
                            <a:latin typeface="Cambria Math" panose="02040503050406030204" pitchFamily="18" charset="0"/>
                          </a:rPr>
                          <m:t>𝐱</m:t>
                        </m:r>
                      </m:e>
                      <m:e>
                        <m:r>
                          <a:rPr lang="en-GB" b="1" i="1" smtClean="0">
                            <a:latin typeface="Cambria Math" panose="02040503050406030204" pitchFamily="18" charset="0"/>
                          </a:rPr>
                          <m:t>𝜽</m:t>
                        </m:r>
                        <m:r>
                          <a:rPr lang="en-GB" b="0" i="1" smtClean="0">
                            <a:latin typeface="Cambria Math" panose="02040503050406030204" pitchFamily="18" charset="0"/>
                          </a:rPr>
                          <m:t>,</m:t>
                        </m:r>
                        <m:r>
                          <a:rPr lang="en-GB" b="1" i="1" smtClean="0">
                            <a:latin typeface="Cambria Math" panose="02040503050406030204" pitchFamily="18" charset="0"/>
                          </a:rPr>
                          <m:t>𝒚</m:t>
                        </m:r>
                      </m:e>
                    </m:d>
                    <m:r>
                      <a:rPr lang="en-GB" b="0" i="1" smtClean="0">
                        <a:latin typeface="Cambria Math" panose="02040503050406030204" pitchFamily="18" charset="0"/>
                      </a:rPr>
                      <m:t>,</m:t>
                    </m:r>
                  </m:oMath>
                </a14:m>
                <a:r>
                  <a:rPr lang="en-GB" dirty="0"/>
                  <a:t> is simple and fast, but it does not always work (e.g., it is subject to location and skewness inaccuracies).</a:t>
                </a:r>
              </a:p>
              <a:p>
                <a:r>
                  <a:rPr lang="en-GB" dirty="0"/>
                  <a:t>The simplified Laplace approximation is the default option in R-INLA. It is less costly to implement than the Laplace approximation, both of which are preferable to the Gaussian.</a:t>
                </a:r>
              </a:p>
            </p:txBody>
          </p:sp>
        </mc:Choice>
        <mc:Fallback xmlns="">
          <p:sp>
            <p:nvSpPr>
              <p:cNvPr id="3" name="Content Placeholder 2">
                <a:extLst>
                  <a:ext uri="{FF2B5EF4-FFF2-40B4-BE49-F238E27FC236}">
                    <a16:creationId xmlns:a16="http://schemas.microsoft.com/office/drawing/2014/main" id="{4C430CD5-9E62-94E1-86DD-63CF88621161}"/>
                  </a:ext>
                </a:extLst>
              </p:cNvPr>
              <p:cNvSpPr>
                <a:spLocks noGrp="1" noRot="1" noChangeAspect="1" noMove="1" noResize="1" noEditPoints="1" noAdjustHandles="1" noChangeArrowheads="1" noChangeShapeType="1" noTextEdit="1"/>
              </p:cNvSpPr>
              <p:nvPr>
                <p:ph idx="1"/>
              </p:nvPr>
            </p:nvSpPr>
            <p:spPr>
              <a:xfrm>
                <a:off x="946355" y="1393006"/>
                <a:ext cx="10515600" cy="4351338"/>
              </a:xfrm>
              <a:blipFill>
                <a:blip r:embed="rId2"/>
                <a:stretch>
                  <a:fillRect l="-1043" t="-2525" r="-1913"/>
                </a:stretch>
              </a:blipFill>
            </p:spPr>
            <p:txBody>
              <a:bodyPr/>
              <a:lstStyle/>
              <a:p>
                <a:r>
                  <a:rPr lang="en-GB">
                    <a:noFill/>
                  </a:rPr>
                  <a:t> </a:t>
                </a:r>
              </a:p>
            </p:txBody>
          </p:sp>
        </mc:Fallback>
      </mc:AlternateContent>
      <p:sp>
        <p:nvSpPr>
          <p:cNvPr id="2" name="Slide Number Placeholder 1">
            <a:extLst>
              <a:ext uri="{FF2B5EF4-FFF2-40B4-BE49-F238E27FC236}">
                <a16:creationId xmlns:a16="http://schemas.microsoft.com/office/drawing/2014/main" id="{B2E596B1-6F2F-B277-3B9F-478B69B32A82}"/>
              </a:ext>
            </a:extLst>
          </p:cNvPr>
          <p:cNvSpPr>
            <a:spLocks noGrp="1"/>
          </p:cNvSpPr>
          <p:nvPr>
            <p:ph type="sldNum" sz="quarter" idx="12"/>
          </p:nvPr>
        </p:nvSpPr>
        <p:spPr/>
        <p:txBody>
          <a:bodyPr/>
          <a:lstStyle/>
          <a:p>
            <a:fld id="{92E773D0-8039-41DE-9EAA-38744617136D}" type="slidenum">
              <a:rPr lang="en-GB" smtClean="0"/>
              <a:t>42</a:t>
            </a:fld>
            <a:endParaRPr lang="en-GB"/>
          </a:p>
        </p:txBody>
      </p:sp>
      <p:sp>
        <p:nvSpPr>
          <p:cNvPr id="7" name="Title 1">
            <a:extLst>
              <a:ext uri="{FF2B5EF4-FFF2-40B4-BE49-F238E27FC236}">
                <a16:creationId xmlns:a16="http://schemas.microsoft.com/office/drawing/2014/main" id="{4DD520C8-1510-388F-1583-2151A1590301}"/>
              </a:ext>
            </a:extLst>
          </p:cNvPr>
          <p:cNvSpPr>
            <a:spLocks noGrp="1"/>
          </p:cNvSpPr>
          <p:nvPr>
            <p:ph type="title"/>
          </p:nvPr>
        </p:nvSpPr>
        <p:spPr>
          <a:xfrm>
            <a:off x="362339" y="0"/>
            <a:ext cx="10515600" cy="834410"/>
          </a:xfrm>
        </p:spPr>
        <p:txBody>
          <a:bodyPr>
            <a:normAutofit/>
          </a:bodyPr>
          <a:lstStyle/>
          <a:p>
            <a:r>
              <a:rPr lang="en-GB" sz="4000" b="1" dirty="0">
                <a:solidFill>
                  <a:schemeClr val="bg1"/>
                </a:solidFill>
              </a:rPr>
              <a:t>What does INLA actually calculate?</a:t>
            </a:r>
          </a:p>
        </p:txBody>
      </p:sp>
    </p:spTree>
    <p:extLst>
      <p:ext uri="{BB962C8B-B14F-4D97-AF65-F5344CB8AC3E}">
        <p14:creationId xmlns:p14="http://schemas.microsoft.com/office/powerpoint/2010/main" val="34134309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8D2B4D-F34B-D3D5-FB0E-B7905E0FE383}"/>
              </a:ext>
            </a:extLst>
          </p:cNvPr>
          <p:cNvSpPr>
            <a:spLocks noGrp="1"/>
          </p:cNvSpPr>
          <p:nvPr>
            <p:ph idx="1"/>
          </p:nvPr>
        </p:nvSpPr>
        <p:spPr>
          <a:xfrm>
            <a:off x="838200" y="2402870"/>
            <a:ext cx="10515600" cy="1497678"/>
          </a:xfrm>
        </p:spPr>
        <p:txBody>
          <a:bodyPr>
            <a:normAutofit lnSpcReduction="10000"/>
          </a:bodyPr>
          <a:lstStyle/>
          <a:p>
            <a:r>
              <a:rPr lang="en-GB" dirty="0"/>
              <a:t>For a worked example with analytical forms for some of the posteriors involved in the approximation, see Section 4.9 (p. 118) of Blangiardo and </a:t>
            </a:r>
            <a:r>
              <a:rPr lang="en-GB" dirty="0" err="1"/>
              <a:t>Cameletti</a:t>
            </a:r>
            <a:r>
              <a:rPr lang="en-GB" dirty="0"/>
              <a:t> (2015). This example includes a comparison of the step-by-step approach with an R-INLA output. </a:t>
            </a:r>
          </a:p>
        </p:txBody>
      </p:sp>
      <p:sp>
        <p:nvSpPr>
          <p:cNvPr id="2" name="Slide Number Placeholder 1">
            <a:extLst>
              <a:ext uri="{FF2B5EF4-FFF2-40B4-BE49-F238E27FC236}">
                <a16:creationId xmlns:a16="http://schemas.microsoft.com/office/drawing/2014/main" id="{617A3780-31BC-ACBF-8057-1B648433AFFC}"/>
              </a:ext>
            </a:extLst>
          </p:cNvPr>
          <p:cNvSpPr>
            <a:spLocks noGrp="1"/>
          </p:cNvSpPr>
          <p:nvPr>
            <p:ph type="sldNum" sz="quarter" idx="12"/>
          </p:nvPr>
        </p:nvSpPr>
        <p:spPr/>
        <p:txBody>
          <a:bodyPr/>
          <a:lstStyle/>
          <a:p>
            <a:fld id="{92E773D0-8039-41DE-9EAA-38744617136D}" type="slidenum">
              <a:rPr lang="en-GB" smtClean="0"/>
              <a:t>43</a:t>
            </a:fld>
            <a:endParaRPr lang="en-GB"/>
          </a:p>
        </p:txBody>
      </p:sp>
      <p:sp>
        <p:nvSpPr>
          <p:cNvPr id="7" name="Title 1">
            <a:extLst>
              <a:ext uri="{FF2B5EF4-FFF2-40B4-BE49-F238E27FC236}">
                <a16:creationId xmlns:a16="http://schemas.microsoft.com/office/drawing/2014/main" id="{DFD879DA-5A0F-817A-7887-2EE793C24338}"/>
              </a:ext>
            </a:extLst>
          </p:cNvPr>
          <p:cNvSpPr>
            <a:spLocks noGrp="1"/>
          </p:cNvSpPr>
          <p:nvPr>
            <p:ph type="title"/>
          </p:nvPr>
        </p:nvSpPr>
        <p:spPr>
          <a:xfrm>
            <a:off x="362339" y="0"/>
            <a:ext cx="10515600" cy="834410"/>
          </a:xfrm>
        </p:spPr>
        <p:txBody>
          <a:bodyPr>
            <a:normAutofit/>
          </a:bodyPr>
          <a:lstStyle/>
          <a:p>
            <a:r>
              <a:rPr lang="en-GB" sz="4000" b="1" dirty="0">
                <a:solidFill>
                  <a:schemeClr val="bg1"/>
                </a:solidFill>
              </a:rPr>
              <a:t>What does INLA actually calculate?</a:t>
            </a:r>
          </a:p>
        </p:txBody>
      </p:sp>
    </p:spTree>
    <p:extLst>
      <p:ext uri="{BB962C8B-B14F-4D97-AF65-F5344CB8AC3E}">
        <p14:creationId xmlns:p14="http://schemas.microsoft.com/office/powerpoint/2010/main" val="17823491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62F74-F2DF-7C6E-4D63-124DF11CCDE6}"/>
              </a:ext>
            </a:extLst>
          </p:cNvPr>
          <p:cNvSpPr>
            <a:spLocks noGrp="1"/>
          </p:cNvSpPr>
          <p:nvPr>
            <p:ph type="title"/>
          </p:nvPr>
        </p:nvSpPr>
        <p:spPr>
          <a:xfrm>
            <a:off x="119743" y="130956"/>
            <a:ext cx="11562184" cy="671478"/>
          </a:xfrm>
        </p:spPr>
        <p:txBody>
          <a:bodyPr>
            <a:noAutofit/>
          </a:bodyPr>
          <a:lstStyle/>
          <a:p>
            <a:r>
              <a:rPr lang="en-GB" sz="3200" b="1" dirty="0">
                <a:solidFill>
                  <a:schemeClr val="bg1"/>
                </a:solidFill>
                <a:latin typeface="+mn-lt"/>
              </a:rPr>
              <a:t>INLA and </a:t>
            </a:r>
            <a:r>
              <a:rPr lang="en-GB" sz="3200" b="1" dirty="0" err="1">
                <a:solidFill>
                  <a:schemeClr val="bg1"/>
                </a:solidFill>
                <a:latin typeface="+mn-lt"/>
              </a:rPr>
              <a:t>inlabru</a:t>
            </a:r>
            <a:r>
              <a:rPr lang="en-GB" sz="3200" b="1" dirty="0">
                <a:solidFill>
                  <a:schemeClr val="bg1"/>
                </a:solidFill>
                <a:latin typeface="+mn-lt"/>
              </a:rPr>
              <a:t> packages: An example using linear regression analysis</a:t>
            </a:r>
          </a:p>
        </p:txBody>
      </p:sp>
      <p:sp>
        <p:nvSpPr>
          <p:cNvPr id="5" name="Shape 2">
            <a:extLst>
              <a:ext uri="{FF2B5EF4-FFF2-40B4-BE49-F238E27FC236}">
                <a16:creationId xmlns:a16="http://schemas.microsoft.com/office/drawing/2014/main" id="{03DEF890-D2FF-12C9-2927-F6B551DCBEED}"/>
              </a:ext>
            </a:extLst>
          </p:cNvPr>
          <p:cNvSpPr/>
          <p:nvPr/>
        </p:nvSpPr>
        <p:spPr>
          <a:xfrm>
            <a:off x="305218" y="1159074"/>
            <a:ext cx="3803301" cy="1938528"/>
          </a:xfrm>
          <a:prstGeom prst="roundRect">
            <a:avLst>
              <a:gd name="adj" fmla="val 3478"/>
            </a:avLst>
          </a:prstGeom>
          <a:solidFill>
            <a:srgbClr val="F4F4F2"/>
          </a:solidFill>
          <a:ln w="12700">
            <a:solidFill>
              <a:srgbClr val="D7D6D0"/>
            </a:solidFill>
            <a:prstDash val="solid"/>
          </a:ln>
        </p:spPr>
        <p:txBody>
          <a:bodyPr/>
          <a:lstStyle/>
          <a:p>
            <a:endParaRPr lang="en-GB"/>
          </a:p>
        </p:txBody>
      </p:sp>
      <p:sp>
        <p:nvSpPr>
          <p:cNvPr id="7" name="Text 3">
            <a:extLst>
              <a:ext uri="{FF2B5EF4-FFF2-40B4-BE49-F238E27FC236}">
                <a16:creationId xmlns:a16="http://schemas.microsoft.com/office/drawing/2014/main" id="{0E4BA02F-2C95-9537-E520-579A22E3EA5F}"/>
              </a:ext>
            </a:extLst>
          </p:cNvPr>
          <p:cNvSpPr txBox="1"/>
          <p:nvPr/>
        </p:nvSpPr>
        <p:spPr>
          <a:xfrm>
            <a:off x="453431" y="1323666"/>
            <a:ext cx="3564653" cy="1689329"/>
          </a:xfrm>
          <a:prstGeom prst="rect">
            <a:avLst/>
          </a:prstGeom>
          <a:noFill/>
          <a:ln/>
        </p:spPr>
        <p:txBody>
          <a:bodyPr wrap="square" lIns="0" tIns="0" rIns="0" bIns="0" rtlCol="0" anchor="t"/>
          <a:lstStyle/>
          <a:p>
            <a:pPr marL="0" indent="0">
              <a:buNone/>
            </a:pPr>
            <a:r>
              <a:rPr lang="en-US" sz="1300" dirty="0">
                <a:solidFill>
                  <a:srgbClr val="2C2C2C"/>
                </a:solidFill>
                <a:latin typeface="Consolas" pitchFamily="34" charset="0"/>
                <a:ea typeface="Consolas" pitchFamily="34" charset="-122"/>
                <a:cs typeface="Consolas" pitchFamily="34" charset="-120"/>
              </a:rPr>
              <a:t>formula &lt;- pm10 ~ 1 + temperature</a:t>
            </a:r>
            <a:endParaRPr lang="en-US" sz="1300" dirty="0"/>
          </a:p>
          <a:p>
            <a:pPr marL="0" indent="0">
              <a:buNone/>
            </a:pPr>
            <a:endParaRPr lang="en-US" sz="1300" dirty="0"/>
          </a:p>
          <a:p>
            <a:pPr marL="0" indent="0">
              <a:buNone/>
            </a:pPr>
            <a:r>
              <a:rPr lang="en-US" sz="1300" dirty="0">
                <a:solidFill>
                  <a:srgbClr val="2C2C2C"/>
                </a:solidFill>
                <a:latin typeface="Consolas" pitchFamily="34" charset="0"/>
                <a:ea typeface="Consolas" pitchFamily="34" charset="-122"/>
                <a:cs typeface="Consolas" pitchFamily="34" charset="-120"/>
              </a:rPr>
              <a:t>mod.inla &lt;- inla(formula,</a:t>
            </a:r>
            <a:endParaRPr lang="en-US" sz="1300" dirty="0"/>
          </a:p>
          <a:p>
            <a:pPr marL="0" indent="0">
              <a:buNone/>
            </a:pPr>
            <a:r>
              <a:rPr lang="en-US" sz="1300" dirty="0">
                <a:solidFill>
                  <a:srgbClr val="2C2C2C"/>
                </a:solidFill>
                <a:latin typeface="Consolas" pitchFamily="34" charset="0"/>
                <a:ea typeface="Consolas" pitchFamily="34" charset="-122"/>
                <a:cs typeface="Consolas" pitchFamily="34" charset="-120"/>
              </a:rPr>
              <a:t>                  family = "gaussian",</a:t>
            </a:r>
            <a:endParaRPr lang="en-US" sz="1300" dirty="0"/>
          </a:p>
          <a:p>
            <a:pPr marL="0" indent="0">
              <a:buNone/>
            </a:pPr>
            <a:r>
              <a:rPr lang="en-US" sz="1300" dirty="0">
                <a:solidFill>
                  <a:srgbClr val="2C2C2C"/>
                </a:solidFill>
                <a:latin typeface="Consolas" pitchFamily="34" charset="0"/>
                <a:ea typeface="Consolas" pitchFamily="34" charset="-122"/>
                <a:cs typeface="Consolas" pitchFamily="34" charset="-120"/>
              </a:rPr>
              <a:t>                  data   = mydata)</a:t>
            </a:r>
            <a:endParaRPr lang="en-US" sz="1300" dirty="0"/>
          </a:p>
          <a:p>
            <a:pPr marL="0" indent="0">
              <a:buNone/>
            </a:pPr>
            <a:endParaRPr lang="en-US" sz="1300" dirty="0"/>
          </a:p>
          <a:p>
            <a:pPr marL="0" indent="0">
              <a:buNone/>
            </a:pPr>
            <a:r>
              <a:rPr lang="en-US" sz="1300" dirty="0">
                <a:solidFill>
                  <a:srgbClr val="2C2C2C"/>
                </a:solidFill>
                <a:latin typeface="Consolas" pitchFamily="34" charset="0"/>
                <a:ea typeface="Consolas" pitchFamily="34" charset="-122"/>
                <a:cs typeface="Consolas" pitchFamily="34" charset="-120"/>
              </a:rPr>
              <a:t>summary(mod.inla)</a:t>
            </a:r>
            <a:endParaRPr lang="en-US" sz="1300" dirty="0"/>
          </a:p>
        </p:txBody>
      </p:sp>
      <p:sp>
        <p:nvSpPr>
          <p:cNvPr id="9" name="Text 4">
            <a:extLst>
              <a:ext uri="{FF2B5EF4-FFF2-40B4-BE49-F238E27FC236}">
                <a16:creationId xmlns:a16="http://schemas.microsoft.com/office/drawing/2014/main" id="{D4FC9922-439C-A52F-8C97-481A9DEF1E6A}"/>
              </a:ext>
            </a:extLst>
          </p:cNvPr>
          <p:cNvSpPr/>
          <p:nvPr/>
        </p:nvSpPr>
        <p:spPr>
          <a:xfrm>
            <a:off x="4265525" y="1702488"/>
            <a:ext cx="5169877" cy="851699"/>
          </a:xfrm>
          <a:prstGeom prst="rect">
            <a:avLst/>
          </a:prstGeom>
          <a:noFill/>
          <a:ln/>
        </p:spPr>
        <p:txBody>
          <a:bodyPr wrap="square" lIns="0" tIns="0" rIns="0" bIns="0" rtlCol="0" anchor="t"/>
          <a:lstStyle/>
          <a:p>
            <a:pPr marL="285750" indent="-285750">
              <a:buSzPct val="100000"/>
              <a:buFont typeface="Arial" panose="020B0604020202020204" pitchFamily="34" charset="0"/>
              <a:buChar char="•"/>
            </a:pPr>
            <a:r>
              <a:rPr lang="en-US" sz="1600" dirty="0">
                <a:solidFill>
                  <a:srgbClr val="185FA5"/>
                </a:solidFill>
                <a:latin typeface="Arial" pitchFamily="34" charset="0"/>
                <a:ea typeface="Arial" pitchFamily="34" charset="-122"/>
                <a:cs typeface="Arial" pitchFamily="34" charset="-120"/>
              </a:rPr>
              <a:t>One R formula holds the full linear predictor</a:t>
            </a:r>
            <a:endParaRPr lang="en-US" sz="1600" dirty="0"/>
          </a:p>
          <a:p>
            <a:pPr marL="285750" indent="-285750">
              <a:buSzPct val="100000"/>
              <a:buFont typeface="Arial" panose="020B0604020202020204" pitchFamily="34" charset="0"/>
              <a:buChar char="•"/>
            </a:pPr>
            <a:r>
              <a:rPr lang="en-US" sz="1600" dirty="0">
                <a:solidFill>
                  <a:srgbClr val="185FA5"/>
                </a:solidFill>
                <a:latin typeface="Arial" pitchFamily="34" charset="0"/>
                <a:ea typeface="Arial" pitchFamily="34" charset="-122"/>
                <a:cs typeface="Arial" pitchFamily="34" charset="-120"/>
              </a:rPr>
              <a:t>inla() takes formula + family + data directly</a:t>
            </a:r>
            <a:endParaRPr lang="en-US" sz="1600" dirty="0"/>
          </a:p>
          <a:p>
            <a:pPr marL="285750" indent="-285750">
              <a:buSzPct val="100000"/>
              <a:buFont typeface="Arial" panose="020B0604020202020204" pitchFamily="34" charset="0"/>
              <a:buChar char="•"/>
            </a:pPr>
            <a:r>
              <a:rPr lang="en-US" sz="1600" dirty="0">
                <a:solidFill>
                  <a:srgbClr val="185FA5"/>
                </a:solidFill>
                <a:latin typeface="Arial" pitchFamily="34" charset="0"/>
                <a:ea typeface="Arial" pitchFamily="34" charset="-122"/>
                <a:cs typeface="Arial" pitchFamily="34" charset="-120"/>
              </a:rPr>
              <a:t>'1' is the intercept; covariates added with '+'</a:t>
            </a:r>
            <a:endParaRPr lang="en-US" sz="1600" dirty="0"/>
          </a:p>
        </p:txBody>
      </p:sp>
      <p:sp>
        <p:nvSpPr>
          <p:cNvPr id="11" name="Shape 2">
            <a:extLst>
              <a:ext uri="{FF2B5EF4-FFF2-40B4-BE49-F238E27FC236}">
                <a16:creationId xmlns:a16="http://schemas.microsoft.com/office/drawing/2014/main" id="{6BED8E91-5E6F-DB1A-57AE-DB515DAB1358}"/>
              </a:ext>
            </a:extLst>
          </p:cNvPr>
          <p:cNvSpPr/>
          <p:nvPr/>
        </p:nvSpPr>
        <p:spPr>
          <a:xfrm>
            <a:off x="0" y="3327970"/>
            <a:ext cx="4265525" cy="2455343"/>
          </a:xfrm>
          <a:prstGeom prst="roundRect">
            <a:avLst>
              <a:gd name="adj" fmla="val 2424"/>
            </a:avLst>
          </a:prstGeom>
          <a:solidFill>
            <a:srgbClr val="F4F4F2"/>
          </a:solidFill>
          <a:ln w="12700">
            <a:solidFill>
              <a:srgbClr val="D7D6D0"/>
            </a:solidFill>
            <a:prstDash val="solid"/>
          </a:ln>
        </p:spPr>
        <p:txBody>
          <a:bodyPr/>
          <a:lstStyle/>
          <a:p>
            <a:endParaRPr lang="en-GB"/>
          </a:p>
        </p:txBody>
      </p:sp>
      <p:sp>
        <p:nvSpPr>
          <p:cNvPr id="13" name="Text 3">
            <a:extLst>
              <a:ext uri="{FF2B5EF4-FFF2-40B4-BE49-F238E27FC236}">
                <a16:creationId xmlns:a16="http://schemas.microsoft.com/office/drawing/2014/main" id="{A6D27143-E344-5E96-2FEE-919049423D91}"/>
              </a:ext>
            </a:extLst>
          </p:cNvPr>
          <p:cNvSpPr txBox="1"/>
          <p:nvPr/>
        </p:nvSpPr>
        <p:spPr>
          <a:xfrm>
            <a:off x="148213" y="3461897"/>
            <a:ext cx="4117312" cy="2187487"/>
          </a:xfrm>
          <a:prstGeom prst="rect">
            <a:avLst/>
          </a:prstGeom>
          <a:noFill/>
          <a:ln/>
        </p:spPr>
        <p:txBody>
          <a:bodyPr wrap="square" lIns="0" tIns="0" rIns="0" bIns="0" rtlCol="0" anchor="t"/>
          <a:lstStyle/>
          <a:p>
            <a:pPr marL="0" indent="0">
              <a:buNone/>
            </a:pPr>
            <a:r>
              <a:rPr lang="en-US" sz="1300" dirty="0">
                <a:solidFill>
                  <a:srgbClr val="2C2C2C"/>
                </a:solidFill>
                <a:latin typeface="Consolas" pitchFamily="34" charset="0"/>
                <a:ea typeface="Consolas" pitchFamily="34" charset="-122"/>
                <a:cs typeface="Consolas" pitchFamily="34" charset="-120"/>
              </a:rPr>
              <a:t>cmp &lt;- ~ Intercept(1) + temperature</a:t>
            </a:r>
            <a:endParaRPr lang="en-US" sz="1300" dirty="0"/>
          </a:p>
          <a:p>
            <a:pPr marL="0" indent="0">
              <a:buNone/>
            </a:pPr>
            <a:endParaRPr lang="en-US" sz="1300" dirty="0"/>
          </a:p>
          <a:p>
            <a:r>
              <a:rPr lang="en-US" sz="1300" dirty="0">
                <a:solidFill>
                  <a:srgbClr val="2C2C2C"/>
                </a:solidFill>
                <a:latin typeface="Consolas" pitchFamily="34" charset="0"/>
                <a:ea typeface="Consolas" pitchFamily="34" charset="-122"/>
                <a:cs typeface="Consolas" pitchFamily="34" charset="-120"/>
              </a:rPr>
              <a:t>likelihood &lt;- </a:t>
            </a:r>
            <a:r>
              <a:rPr lang="en-US" sz="1300" dirty="0" err="1">
                <a:solidFill>
                  <a:srgbClr val="2C2C2C"/>
                </a:solidFill>
                <a:latin typeface="Consolas" pitchFamily="34" charset="0"/>
                <a:ea typeface="Consolas" pitchFamily="34" charset="-122"/>
                <a:cs typeface="Consolas" pitchFamily="34" charset="-120"/>
              </a:rPr>
              <a:t>bru_obs</a:t>
            </a:r>
            <a:r>
              <a:rPr lang="en-US" sz="1300" dirty="0">
                <a:solidFill>
                  <a:srgbClr val="2C2C2C"/>
                </a:solidFill>
                <a:latin typeface="Consolas" pitchFamily="34" charset="0"/>
                <a:ea typeface="Consolas" pitchFamily="34" charset="-122"/>
                <a:cs typeface="Consolas" pitchFamily="34" charset="-120"/>
              </a:rPr>
              <a:t>(  </a:t>
            </a:r>
          </a:p>
          <a:p>
            <a:r>
              <a:rPr lang="en-US" sz="1300" dirty="0">
                <a:solidFill>
                  <a:srgbClr val="2C2C2C"/>
                </a:solidFill>
                <a:latin typeface="Consolas" pitchFamily="34" charset="0"/>
                <a:ea typeface="Consolas" pitchFamily="34" charset="-122"/>
                <a:cs typeface="Consolas" pitchFamily="34" charset="-120"/>
              </a:rPr>
              <a:t>formula = pm10 ~ .,  </a:t>
            </a:r>
          </a:p>
          <a:p>
            <a:r>
              <a:rPr lang="en-US" sz="1300" dirty="0">
                <a:solidFill>
                  <a:srgbClr val="2C2C2C"/>
                </a:solidFill>
                <a:latin typeface="Consolas" pitchFamily="34" charset="0"/>
                <a:ea typeface="Consolas" pitchFamily="34" charset="-122"/>
                <a:cs typeface="Consolas" pitchFamily="34" charset="-120"/>
              </a:rPr>
              <a:t>family  = "gaussian",  </a:t>
            </a:r>
          </a:p>
          <a:p>
            <a:r>
              <a:rPr lang="en-US" sz="1300" dirty="0">
                <a:solidFill>
                  <a:srgbClr val="2C2C2C"/>
                </a:solidFill>
                <a:latin typeface="Consolas" pitchFamily="34" charset="0"/>
                <a:ea typeface="Consolas" pitchFamily="34" charset="-122"/>
                <a:cs typeface="Consolas" pitchFamily="34" charset="-120"/>
              </a:rPr>
              <a:t>data    = </a:t>
            </a:r>
            <a:r>
              <a:rPr lang="en-US" sz="1300" dirty="0" err="1">
                <a:solidFill>
                  <a:srgbClr val="2C2C2C"/>
                </a:solidFill>
                <a:latin typeface="Consolas" pitchFamily="34" charset="0"/>
                <a:ea typeface="Consolas" pitchFamily="34" charset="-122"/>
                <a:cs typeface="Consolas" pitchFamily="34" charset="-120"/>
              </a:rPr>
              <a:t>mydata</a:t>
            </a:r>
            <a:r>
              <a:rPr lang="en-US" sz="1300" dirty="0">
                <a:solidFill>
                  <a:srgbClr val="2C2C2C"/>
                </a:solidFill>
                <a:latin typeface="Consolas" pitchFamily="34" charset="0"/>
                <a:ea typeface="Consolas" pitchFamily="34" charset="-122"/>
                <a:cs typeface="Consolas" pitchFamily="34" charset="-120"/>
              </a:rPr>
              <a:t>)</a:t>
            </a:r>
          </a:p>
          <a:p>
            <a:endParaRPr lang="en-US" sz="1300" dirty="0"/>
          </a:p>
          <a:p>
            <a:r>
              <a:rPr lang="en-US" sz="1300" dirty="0">
                <a:solidFill>
                  <a:srgbClr val="2C2C2C"/>
                </a:solidFill>
                <a:latin typeface="Consolas" pitchFamily="34" charset="0"/>
                <a:ea typeface="Consolas" pitchFamily="34" charset="-122"/>
                <a:cs typeface="Consolas" pitchFamily="34" charset="-120"/>
              </a:rPr>
              <a:t>mod.bru &lt;- bru(cmp, likelihood)</a:t>
            </a:r>
            <a:endParaRPr lang="en-US" sz="1300" dirty="0"/>
          </a:p>
          <a:p>
            <a:pPr marL="0" indent="0">
              <a:buNone/>
            </a:pPr>
            <a:endParaRPr lang="en-US" sz="1300" dirty="0"/>
          </a:p>
          <a:p>
            <a:pPr marL="0" indent="0">
              <a:buNone/>
            </a:pPr>
            <a:r>
              <a:rPr lang="en-US" sz="1300" dirty="0">
                <a:solidFill>
                  <a:srgbClr val="2C2C2C"/>
                </a:solidFill>
                <a:latin typeface="Consolas" pitchFamily="34" charset="0"/>
                <a:ea typeface="Consolas" pitchFamily="34" charset="-122"/>
                <a:cs typeface="Consolas" pitchFamily="34" charset="-120"/>
              </a:rPr>
              <a:t>summary(mod.bru)</a:t>
            </a:r>
            <a:endParaRPr lang="en-US" sz="1300" dirty="0"/>
          </a:p>
        </p:txBody>
      </p:sp>
      <p:sp>
        <p:nvSpPr>
          <p:cNvPr id="15" name="Text 4">
            <a:extLst>
              <a:ext uri="{FF2B5EF4-FFF2-40B4-BE49-F238E27FC236}">
                <a16:creationId xmlns:a16="http://schemas.microsoft.com/office/drawing/2014/main" id="{1C2A8A67-1E9D-A9F3-6C8C-8C1FE69EE1A1}"/>
              </a:ext>
            </a:extLst>
          </p:cNvPr>
          <p:cNvSpPr/>
          <p:nvPr/>
        </p:nvSpPr>
        <p:spPr>
          <a:xfrm>
            <a:off x="4413737" y="3970040"/>
            <a:ext cx="6204319" cy="1171199"/>
          </a:xfrm>
          <a:prstGeom prst="rect">
            <a:avLst/>
          </a:prstGeom>
          <a:noFill/>
          <a:ln/>
        </p:spPr>
        <p:txBody>
          <a:bodyPr wrap="square" lIns="0" tIns="0" rIns="0" bIns="0" rtlCol="0" anchor="t"/>
          <a:lstStyle/>
          <a:p>
            <a:pPr marL="285750" indent="-285750">
              <a:buSzPct val="100000"/>
              <a:buFont typeface="Arial" panose="020B0604020202020204" pitchFamily="34" charset="0"/>
              <a:buChar char="•"/>
            </a:pPr>
            <a:r>
              <a:rPr lang="en-US" sz="1600" dirty="0">
                <a:solidFill>
                  <a:srgbClr val="3B6D11"/>
                </a:solidFill>
                <a:latin typeface="Arial" pitchFamily="34" charset="0"/>
                <a:ea typeface="Arial" pitchFamily="34" charset="-122"/>
                <a:cs typeface="Arial" pitchFamily="34" charset="-120"/>
              </a:rPr>
              <a:t>Model specification/linear predictor split into components (cmp) + likelihood</a:t>
            </a:r>
            <a:endParaRPr lang="en-US" sz="1600" dirty="0"/>
          </a:p>
          <a:p>
            <a:pPr marL="285750" indent="-285750">
              <a:buSzPct val="100000"/>
              <a:buFont typeface="Arial" panose="020B0604020202020204" pitchFamily="34" charset="0"/>
              <a:buChar char="•"/>
            </a:pPr>
            <a:r>
              <a:rPr lang="en-US" sz="1600" dirty="0">
                <a:solidFill>
                  <a:srgbClr val="3B6D11"/>
                </a:solidFill>
                <a:latin typeface="Arial" pitchFamily="34" charset="0"/>
                <a:ea typeface="Arial" pitchFamily="34" charset="-122"/>
                <a:cs typeface="Arial" pitchFamily="34" charset="-120"/>
              </a:rPr>
              <a:t>Each term is named - here Intercept and temperature</a:t>
            </a:r>
            <a:endParaRPr lang="en-US" sz="1600" dirty="0"/>
          </a:p>
          <a:p>
            <a:pPr marL="285750" indent="-285750">
              <a:buSzPct val="100000"/>
              <a:buFont typeface="Arial" panose="020B0604020202020204" pitchFamily="34" charset="0"/>
              <a:buChar char="•"/>
            </a:pPr>
            <a:r>
              <a:rPr lang="en-US" sz="1600" dirty="0">
                <a:solidFill>
                  <a:srgbClr val="3B6D11"/>
                </a:solidFill>
                <a:latin typeface="Arial" pitchFamily="34" charset="0"/>
                <a:ea typeface="Arial" pitchFamily="34" charset="-122"/>
                <a:cs typeface="Arial" pitchFamily="34" charset="-120"/>
              </a:rPr>
              <a:t>likelihood's formula maps components onto the response</a:t>
            </a:r>
            <a:endParaRPr lang="en-US" sz="1600" dirty="0"/>
          </a:p>
          <a:p>
            <a:pPr marL="285750" indent="-285750">
              <a:buSzPct val="100000"/>
              <a:buFont typeface="Arial" panose="020B0604020202020204" pitchFamily="34" charset="0"/>
              <a:buChar char="•"/>
            </a:pPr>
            <a:r>
              <a:rPr lang="en-US" sz="1600" dirty="0">
                <a:solidFill>
                  <a:srgbClr val="3B6D11"/>
                </a:solidFill>
                <a:latin typeface="Arial" pitchFamily="34" charset="0"/>
                <a:ea typeface="Arial" pitchFamily="34" charset="-122"/>
                <a:cs typeface="Arial" pitchFamily="34" charset="-120"/>
              </a:rPr>
              <a:t>bru() combines components + likelihood to fit</a:t>
            </a:r>
            <a:endParaRPr lang="en-US" sz="1600" dirty="0"/>
          </a:p>
        </p:txBody>
      </p:sp>
      <p:sp>
        <p:nvSpPr>
          <p:cNvPr id="16" name="Slide Number Placeholder 15">
            <a:extLst>
              <a:ext uri="{FF2B5EF4-FFF2-40B4-BE49-F238E27FC236}">
                <a16:creationId xmlns:a16="http://schemas.microsoft.com/office/drawing/2014/main" id="{0F0B91A1-EA60-3875-5E1A-80B37345C09C}"/>
              </a:ext>
            </a:extLst>
          </p:cNvPr>
          <p:cNvSpPr>
            <a:spLocks noGrp="1"/>
          </p:cNvSpPr>
          <p:nvPr>
            <p:ph type="sldNum" sz="quarter" idx="12"/>
          </p:nvPr>
        </p:nvSpPr>
        <p:spPr/>
        <p:txBody>
          <a:bodyPr/>
          <a:lstStyle/>
          <a:p>
            <a:fld id="{92E773D0-8039-41DE-9EAA-38744617136D}" type="slidenum">
              <a:rPr lang="en-GB" smtClean="0"/>
              <a:t>44</a:t>
            </a:fld>
            <a:endParaRPr lang="en-GB"/>
          </a:p>
        </p:txBody>
      </p:sp>
      <p:sp>
        <p:nvSpPr>
          <p:cNvPr id="17" name="TextBox 16">
            <a:extLst>
              <a:ext uri="{FF2B5EF4-FFF2-40B4-BE49-F238E27FC236}">
                <a16:creationId xmlns:a16="http://schemas.microsoft.com/office/drawing/2014/main" id="{FF479939-10BD-9BC3-0446-E04BC6691C09}"/>
              </a:ext>
            </a:extLst>
          </p:cNvPr>
          <p:cNvSpPr txBox="1"/>
          <p:nvPr/>
        </p:nvSpPr>
        <p:spPr>
          <a:xfrm>
            <a:off x="9171992" y="1324235"/>
            <a:ext cx="2939143" cy="1200329"/>
          </a:xfrm>
          <a:prstGeom prst="rect">
            <a:avLst/>
          </a:prstGeom>
          <a:noFill/>
        </p:spPr>
        <p:txBody>
          <a:bodyPr wrap="square" rtlCol="0">
            <a:spAutoFit/>
          </a:bodyPr>
          <a:lstStyle/>
          <a:p>
            <a:r>
              <a:rPr lang="en-GB" b="1" dirty="0">
                <a:solidFill>
                  <a:schemeClr val="accent2">
                    <a:lumMod val="75000"/>
                  </a:schemeClr>
                </a:solidFill>
              </a:rPr>
              <a:t>Interesting fact:</a:t>
            </a:r>
          </a:p>
          <a:p>
            <a:r>
              <a:rPr lang="en-GB" dirty="0" err="1">
                <a:solidFill>
                  <a:schemeClr val="accent2">
                    <a:lumMod val="75000"/>
                  </a:schemeClr>
                </a:solidFill>
              </a:rPr>
              <a:t>inlabru</a:t>
            </a:r>
            <a:r>
              <a:rPr lang="en-GB" dirty="0">
                <a:solidFill>
                  <a:schemeClr val="accent2">
                    <a:lumMod val="75000"/>
                  </a:schemeClr>
                </a:solidFill>
              </a:rPr>
              <a:t> has a </a:t>
            </a:r>
            <a:r>
              <a:rPr lang="en-GB" dirty="0">
                <a:solidFill>
                  <a:schemeClr val="accent2">
                    <a:lumMod val="75000"/>
                  </a:schemeClr>
                </a:solidFill>
                <a:latin typeface="Consolas" panose="020B0609020204030204" pitchFamily="49" charset="0"/>
              </a:rPr>
              <a:t>predict() </a:t>
            </a:r>
            <a:r>
              <a:rPr lang="en-GB" dirty="0">
                <a:solidFill>
                  <a:schemeClr val="accent2">
                    <a:lumMod val="75000"/>
                  </a:schemeClr>
                </a:solidFill>
              </a:rPr>
              <a:t>function, making prediction post model-fitting easier!</a:t>
            </a:r>
          </a:p>
        </p:txBody>
      </p:sp>
      <p:sp>
        <p:nvSpPr>
          <p:cNvPr id="18" name="TextBox 17">
            <a:extLst>
              <a:ext uri="{FF2B5EF4-FFF2-40B4-BE49-F238E27FC236}">
                <a16:creationId xmlns:a16="http://schemas.microsoft.com/office/drawing/2014/main" id="{1A43F09F-616F-CCF6-416E-75E6AC2C7A78}"/>
              </a:ext>
            </a:extLst>
          </p:cNvPr>
          <p:cNvSpPr txBox="1"/>
          <p:nvPr/>
        </p:nvSpPr>
        <p:spPr>
          <a:xfrm>
            <a:off x="119743" y="6013681"/>
            <a:ext cx="10805926" cy="646331"/>
          </a:xfrm>
          <a:prstGeom prst="rect">
            <a:avLst/>
          </a:prstGeom>
          <a:noFill/>
        </p:spPr>
        <p:txBody>
          <a:bodyPr wrap="square" rtlCol="0">
            <a:spAutoFit/>
          </a:bodyPr>
          <a:lstStyle/>
          <a:p>
            <a:r>
              <a:rPr lang="en-GB" dirty="0"/>
              <a:t>To learn more about INLA and </a:t>
            </a:r>
            <a:r>
              <a:rPr lang="en-GB" dirty="0" err="1"/>
              <a:t>inlabru</a:t>
            </a:r>
            <a:r>
              <a:rPr lang="en-GB" dirty="0"/>
              <a:t> syntaxes, please visit: </a:t>
            </a:r>
            <a:r>
              <a:rPr lang="en-GB" dirty="0">
                <a:hlinkClick r:id="rId2"/>
              </a:rPr>
              <a:t>https://www.r-inla.org/</a:t>
            </a:r>
            <a:r>
              <a:rPr lang="en-GB" dirty="0"/>
              <a:t> and </a:t>
            </a:r>
            <a:r>
              <a:rPr lang="en-GB" dirty="0">
                <a:hlinkClick r:id="rId3"/>
              </a:rPr>
              <a:t>https://inlabru-org.github.io/inlabru/index.html</a:t>
            </a:r>
            <a:r>
              <a:rPr lang="en-GB" dirty="0"/>
              <a:t>; </a:t>
            </a:r>
            <a:r>
              <a:rPr lang="en-GB" dirty="0">
                <a:hlinkClick r:id="rId4"/>
              </a:rPr>
              <a:t>https://inlabru-org.github.io/inlabruCourseMay2025/index.html</a:t>
            </a:r>
            <a:r>
              <a:rPr lang="en-GB" dirty="0"/>
              <a:t>  </a:t>
            </a:r>
          </a:p>
        </p:txBody>
      </p:sp>
    </p:spTree>
    <p:extLst>
      <p:ext uri="{BB962C8B-B14F-4D97-AF65-F5344CB8AC3E}">
        <p14:creationId xmlns:p14="http://schemas.microsoft.com/office/powerpoint/2010/main" val="9927262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993D4-756A-2E0B-B86D-1E6B1765347A}"/>
              </a:ext>
            </a:extLst>
          </p:cNvPr>
          <p:cNvSpPr>
            <a:spLocks noGrp="1"/>
          </p:cNvSpPr>
          <p:nvPr>
            <p:ph type="title"/>
          </p:nvPr>
        </p:nvSpPr>
        <p:spPr>
          <a:xfrm>
            <a:off x="381000" y="136526"/>
            <a:ext cx="10515600" cy="544512"/>
          </a:xfrm>
        </p:spPr>
        <p:txBody>
          <a:bodyPr>
            <a:normAutofit fontScale="90000"/>
          </a:bodyPr>
          <a:lstStyle/>
          <a:p>
            <a:r>
              <a:rPr lang="en-GB" b="1" dirty="0">
                <a:solidFill>
                  <a:schemeClr val="bg1"/>
                </a:solidFill>
                <a:latin typeface="+mn-lt"/>
              </a:rPr>
              <a:t>Class activity</a:t>
            </a:r>
          </a:p>
        </p:txBody>
      </p:sp>
      <p:sp>
        <p:nvSpPr>
          <p:cNvPr id="3" name="Content Placeholder 2">
            <a:extLst>
              <a:ext uri="{FF2B5EF4-FFF2-40B4-BE49-F238E27FC236}">
                <a16:creationId xmlns:a16="http://schemas.microsoft.com/office/drawing/2014/main" id="{500CAB20-B7CF-7C28-2303-5589EBC21A95}"/>
              </a:ext>
            </a:extLst>
          </p:cNvPr>
          <p:cNvSpPr>
            <a:spLocks noGrp="1"/>
          </p:cNvSpPr>
          <p:nvPr>
            <p:ph idx="1"/>
          </p:nvPr>
        </p:nvSpPr>
        <p:spPr>
          <a:xfrm>
            <a:off x="502298" y="1354476"/>
            <a:ext cx="11263604" cy="4663769"/>
          </a:xfrm>
        </p:spPr>
        <p:txBody>
          <a:bodyPr>
            <a:normAutofit fontScale="92500" lnSpcReduction="20000"/>
          </a:bodyPr>
          <a:lstStyle/>
          <a:p>
            <a:r>
              <a:rPr lang="en-GB" sz="2400" dirty="0"/>
              <a:t>Suppose you are interested in understanding the factors associated with </a:t>
            </a:r>
            <a:r>
              <a:rPr lang="en-GB" sz="2400" b="1" dirty="0"/>
              <a:t>economic growth </a:t>
            </a:r>
            <a:r>
              <a:rPr lang="en-GB" sz="2400" dirty="0"/>
              <a:t>across a set of countries. You have collected annual data on gross domestic product (GDP) per capita over a 20-year period, alongside potential explanatory variables such as education expenditure, foreign direct investment, unemployment rate and inflation. </a:t>
            </a:r>
          </a:p>
          <a:p>
            <a:r>
              <a:rPr lang="en-GB" sz="2400" dirty="0"/>
              <a:t>Your objective is to develop a statistical model to </a:t>
            </a:r>
            <a:r>
              <a:rPr lang="en-GB" sz="2400" b="1" dirty="0"/>
              <a:t>quantify the associations </a:t>
            </a:r>
            <a:r>
              <a:rPr lang="en-GB" sz="2400" dirty="0"/>
              <a:t>between these explanatory variables and GDP per capita, while accounting for uncertainty in the estimates and </a:t>
            </a:r>
            <a:r>
              <a:rPr lang="en-GB" sz="2400" b="1" dirty="0"/>
              <a:t>making predictions </a:t>
            </a:r>
            <a:r>
              <a:rPr lang="en-GB" sz="2400" dirty="0"/>
              <a:t>for future economic growth.</a:t>
            </a:r>
          </a:p>
          <a:p>
            <a:r>
              <a:rPr lang="en-GB" sz="2400" dirty="0"/>
              <a:t>In </a:t>
            </a:r>
            <a:r>
              <a:rPr lang="en-GB" sz="2400" b="1" dirty="0"/>
              <a:t>groups</a:t>
            </a:r>
            <a:r>
              <a:rPr lang="en-GB" sz="2400" dirty="0"/>
              <a:t>, outline how you would approach this problem using a </a:t>
            </a:r>
            <a:r>
              <a:rPr lang="en-GB" sz="2400" b="1" dirty="0"/>
              <a:t>Bayesian statistical framework</a:t>
            </a:r>
            <a:r>
              <a:rPr lang="en-GB" sz="2400" dirty="0"/>
              <a:t>. Consider how you would specify the likelihood and choose an appropriate probability distribution for the outcome variable, define the model parameters and assign prior distributions to them, and combine the prior information with the observed data to obtain posterior distributions. </a:t>
            </a:r>
          </a:p>
          <a:p>
            <a:r>
              <a:rPr lang="en-GB" sz="2400" dirty="0"/>
              <a:t>Discuss how you would fit the model, summarise and interpret the posterior distributions, assess model adequacy, and generate predictions. Finally, explain how you might use credible intervals to quantify uncertainty in the estimated associations and how your approach would differ from a frequentist analysis.</a:t>
            </a:r>
            <a:endParaRPr lang="en-GB" dirty="0"/>
          </a:p>
        </p:txBody>
      </p:sp>
      <p:sp>
        <p:nvSpPr>
          <p:cNvPr id="4" name="Slide Number Placeholder 3">
            <a:extLst>
              <a:ext uri="{FF2B5EF4-FFF2-40B4-BE49-F238E27FC236}">
                <a16:creationId xmlns:a16="http://schemas.microsoft.com/office/drawing/2014/main" id="{7C604D97-C445-CC46-1DA2-F2A603719CBF}"/>
              </a:ext>
            </a:extLst>
          </p:cNvPr>
          <p:cNvSpPr>
            <a:spLocks noGrp="1"/>
          </p:cNvSpPr>
          <p:nvPr>
            <p:ph type="sldNum" sz="quarter" idx="12"/>
          </p:nvPr>
        </p:nvSpPr>
        <p:spPr/>
        <p:txBody>
          <a:bodyPr/>
          <a:lstStyle/>
          <a:p>
            <a:fld id="{92E773D0-8039-41DE-9EAA-38744617136D}" type="slidenum">
              <a:rPr lang="en-GB" smtClean="0"/>
              <a:t>45</a:t>
            </a:fld>
            <a:endParaRPr lang="en-GB"/>
          </a:p>
        </p:txBody>
      </p:sp>
    </p:spTree>
    <p:extLst>
      <p:ext uri="{BB962C8B-B14F-4D97-AF65-F5344CB8AC3E}">
        <p14:creationId xmlns:p14="http://schemas.microsoft.com/office/powerpoint/2010/main" val="13329339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00F19-BB0D-7FD4-62BF-384463827DE6}"/>
              </a:ext>
            </a:extLst>
          </p:cNvPr>
          <p:cNvSpPr>
            <a:spLocks noGrp="1"/>
          </p:cNvSpPr>
          <p:nvPr>
            <p:ph type="title"/>
          </p:nvPr>
        </p:nvSpPr>
        <p:spPr>
          <a:xfrm>
            <a:off x="259701" y="18255"/>
            <a:ext cx="11683483" cy="662782"/>
          </a:xfrm>
        </p:spPr>
        <p:txBody>
          <a:bodyPr>
            <a:noAutofit/>
          </a:bodyPr>
          <a:lstStyle/>
          <a:p>
            <a:r>
              <a:rPr lang="en-GB" sz="3600" b="1" dirty="0">
                <a:solidFill>
                  <a:schemeClr val="bg1"/>
                </a:solidFill>
                <a:latin typeface="+mn-lt"/>
              </a:rPr>
              <a:t>Exercise 2: Linear regression modelling in INLA/</a:t>
            </a:r>
            <a:r>
              <a:rPr lang="en-GB" sz="3600" b="1" dirty="0" err="1">
                <a:solidFill>
                  <a:schemeClr val="bg1"/>
                </a:solidFill>
                <a:latin typeface="+mn-lt"/>
              </a:rPr>
              <a:t>inlabru</a:t>
            </a:r>
            <a:endParaRPr lang="en-GB" sz="3600" b="1" dirty="0">
              <a:solidFill>
                <a:schemeClr val="bg1"/>
              </a:solidFill>
              <a:latin typeface="+mn-lt"/>
            </a:endParaRPr>
          </a:p>
        </p:txBody>
      </p:sp>
      <p:sp>
        <p:nvSpPr>
          <p:cNvPr id="3" name="Content Placeholder 2">
            <a:extLst>
              <a:ext uri="{FF2B5EF4-FFF2-40B4-BE49-F238E27FC236}">
                <a16:creationId xmlns:a16="http://schemas.microsoft.com/office/drawing/2014/main" id="{E88BA211-3FB4-CA87-2198-A656AA8AF0B2}"/>
              </a:ext>
            </a:extLst>
          </p:cNvPr>
          <p:cNvSpPr>
            <a:spLocks noGrp="1"/>
          </p:cNvSpPr>
          <p:nvPr>
            <p:ph idx="1"/>
          </p:nvPr>
        </p:nvSpPr>
        <p:spPr>
          <a:xfrm>
            <a:off x="838200" y="1368425"/>
            <a:ext cx="10515600" cy="4351338"/>
          </a:xfrm>
        </p:spPr>
        <p:txBody>
          <a:bodyPr>
            <a:normAutofit lnSpcReduction="10000"/>
          </a:bodyPr>
          <a:lstStyle/>
          <a:p>
            <a:r>
              <a:rPr lang="en-GB" dirty="0"/>
              <a:t>For this exercise, we will use the data and R script contained in the folder “</a:t>
            </a:r>
            <a:r>
              <a:rPr lang="en-GB" dirty="0" err="1"/>
              <a:t>NMMAPS_data_and_code</a:t>
            </a:r>
            <a:r>
              <a:rPr lang="en-GB" dirty="0"/>
              <a:t>”. </a:t>
            </a:r>
          </a:p>
          <a:p>
            <a:r>
              <a:rPr lang="en-GB" dirty="0"/>
              <a:t>The data “NMMAPSraw.csv”* contains daily pollutant and temperature concentrations for Salt Lake City (US) from 1987-2000.</a:t>
            </a:r>
          </a:p>
          <a:p>
            <a:r>
              <a:rPr lang="en-GB" dirty="0"/>
              <a:t>The purpose of this exercise is to acquaint you with using INLA and </a:t>
            </a:r>
            <a:r>
              <a:rPr lang="en-GB" dirty="0" err="1"/>
              <a:t>inlabru</a:t>
            </a:r>
            <a:r>
              <a:rPr lang="en-GB" dirty="0"/>
              <a:t> for Bayesian analysis. The analysis is very basic as it does not account for some features in the data (e.g., temporal autocorrelation)</a:t>
            </a:r>
          </a:p>
          <a:p>
            <a:r>
              <a:rPr lang="en-GB" dirty="0"/>
              <a:t>Follow the instructions contained in the script “</a:t>
            </a:r>
            <a:r>
              <a:rPr lang="en-GB" dirty="0" err="1"/>
              <a:t>Bayesian_linear_reg_example.R</a:t>
            </a:r>
            <a:r>
              <a:rPr lang="en-GB" dirty="0"/>
              <a:t>” to run it.</a:t>
            </a:r>
          </a:p>
        </p:txBody>
      </p:sp>
      <p:sp>
        <p:nvSpPr>
          <p:cNvPr id="4" name="TextBox 3">
            <a:extLst>
              <a:ext uri="{FF2B5EF4-FFF2-40B4-BE49-F238E27FC236}">
                <a16:creationId xmlns:a16="http://schemas.microsoft.com/office/drawing/2014/main" id="{6DFAE3E5-9B1F-97CD-5280-CD11630B56B3}"/>
              </a:ext>
            </a:extLst>
          </p:cNvPr>
          <p:cNvSpPr txBox="1"/>
          <p:nvPr/>
        </p:nvSpPr>
        <p:spPr>
          <a:xfrm>
            <a:off x="1082350" y="5959743"/>
            <a:ext cx="10515600" cy="646331"/>
          </a:xfrm>
          <a:prstGeom prst="rect">
            <a:avLst/>
          </a:prstGeom>
          <a:noFill/>
        </p:spPr>
        <p:txBody>
          <a:bodyPr wrap="square" rtlCol="0">
            <a:spAutoFit/>
          </a:bodyPr>
          <a:lstStyle/>
          <a:p>
            <a:r>
              <a:rPr lang="en-GB" dirty="0"/>
              <a:t>*The data were obtained from Blangiardo, M., &amp; </a:t>
            </a:r>
            <a:r>
              <a:rPr lang="en-GB" dirty="0" err="1"/>
              <a:t>Cameletti</a:t>
            </a:r>
            <a:r>
              <a:rPr lang="en-GB" dirty="0"/>
              <a:t>, M. (2015). </a:t>
            </a:r>
            <a:r>
              <a:rPr lang="en-GB" i="1" dirty="0"/>
              <a:t>Spatial and </a:t>
            </a:r>
            <a:r>
              <a:rPr lang="en-GB" i="1" dirty="0" err="1"/>
              <a:t>spatio</a:t>
            </a:r>
            <a:r>
              <a:rPr lang="en-GB" i="1" dirty="0"/>
              <a:t>-temporal Bayesian models with R-INLA</a:t>
            </a:r>
            <a:r>
              <a:rPr lang="en-GB" dirty="0"/>
              <a:t>. John Wiley &amp; Sons. </a:t>
            </a:r>
          </a:p>
        </p:txBody>
      </p:sp>
      <p:sp>
        <p:nvSpPr>
          <p:cNvPr id="5" name="Slide Number Placeholder 4">
            <a:extLst>
              <a:ext uri="{FF2B5EF4-FFF2-40B4-BE49-F238E27FC236}">
                <a16:creationId xmlns:a16="http://schemas.microsoft.com/office/drawing/2014/main" id="{433E12F1-3FCE-7857-E2AB-860D1D005AAB}"/>
              </a:ext>
            </a:extLst>
          </p:cNvPr>
          <p:cNvSpPr>
            <a:spLocks noGrp="1"/>
          </p:cNvSpPr>
          <p:nvPr>
            <p:ph type="sldNum" sz="quarter" idx="12"/>
          </p:nvPr>
        </p:nvSpPr>
        <p:spPr/>
        <p:txBody>
          <a:bodyPr/>
          <a:lstStyle/>
          <a:p>
            <a:fld id="{92E773D0-8039-41DE-9EAA-38744617136D}" type="slidenum">
              <a:rPr lang="en-GB" smtClean="0"/>
              <a:t>46</a:t>
            </a:fld>
            <a:endParaRPr lang="en-GB"/>
          </a:p>
        </p:txBody>
      </p:sp>
    </p:spTree>
    <p:extLst>
      <p:ext uri="{BB962C8B-B14F-4D97-AF65-F5344CB8AC3E}">
        <p14:creationId xmlns:p14="http://schemas.microsoft.com/office/powerpoint/2010/main" val="6946774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72CBD-0DF8-F9C2-A0C5-A6AD1666E4FB}"/>
              </a:ext>
            </a:extLst>
          </p:cNvPr>
          <p:cNvSpPr>
            <a:spLocks noGrp="1"/>
          </p:cNvSpPr>
          <p:nvPr>
            <p:ph type="title"/>
          </p:nvPr>
        </p:nvSpPr>
        <p:spPr>
          <a:xfrm>
            <a:off x="362339" y="0"/>
            <a:ext cx="10515600" cy="707895"/>
          </a:xfrm>
        </p:spPr>
        <p:txBody>
          <a:bodyPr>
            <a:normAutofit/>
          </a:bodyPr>
          <a:lstStyle/>
          <a:p>
            <a:r>
              <a:rPr lang="en-GB" sz="4000" b="1" dirty="0">
                <a:solidFill>
                  <a:schemeClr val="bg1"/>
                </a:solidFill>
                <a:latin typeface="+mn-lt"/>
              </a:rPr>
              <a:t>Relevant books</a:t>
            </a:r>
          </a:p>
        </p:txBody>
      </p:sp>
      <p:sp>
        <p:nvSpPr>
          <p:cNvPr id="3" name="Content Placeholder 2">
            <a:extLst>
              <a:ext uri="{FF2B5EF4-FFF2-40B4-BE49-F238E27FC236}">
                <a16:creationId xmlns:a16="http://schemas.microsoft.com/office/drawing/2014/main" id="{493A584A-A13E-DBC8-F39E-9712B052E964}"/>
              </a:ext>
            </a:extLst>
          </p:cNvPr>
          <p:cNvSpPr>
            <a:spLocks noGrp="1"/>
          </p:cNvSpPr>
          <p:nvPr>
            <p:ph idx="1"/>
          </p:nvPr>
        </p:nvSpPr>
        <p:spPr>
          <a:xfrm>
            <a:off x="838200" y="1499053"/>
            <a:ext cx="10515600" cy="3680872"/>
          </a:xfrm>
        </p:spPr>
        <p:txBody>
          <a:bodyPr>
            <a:normAutofit/>
          </a:bodyPr>
          <a:lstStyle/>
          <a:p>
            <a:r>
              <a:rPr lang="en-GB" u="sng" dirty="0"/>
              <a:t>Spatial and </a:t>
            </a:r>
            <a:r>
              <a:rPr lang="en-GB" u="sng" dirty="0" err="1"/>
              <a:t>Spatio</a:t>
            </a:r>
            <a:r>
              <a:rPr lang="en-GB" u="sng" dirty="0"/>
              <a:t>‐temporal Bayesian Models with R‐INLA </a:t>
            </a:r>
            <a:r>
              <a:rPr lang="en-GB" dirty="0"/>
              <a:t>by Marta Blangiardo and Michela </a:t>
            </a:r>
            <a:r>
              <a:rPr lang="en-GB" dirty="0" err="1"/>
              <a:t>Cameletti</a:t>
            </a:r>
            <a:endParaRPr lang="en-GB" dirty="0"/>
          </a:p>
          <a:p>
            <a:r>
              <a:rPr lang="en-GB" dirty="0">
                <a:hlinkClick r:id="rId2"/>
              </a:rPr>
              <a:t>Geospatial Health Data: </a:t>
            </a:r>
            <a:r>
              <a:rPr lang="en-GB" dirty="0" err="1">
                <a:hlinkClick r:id="rId2"/>
              </a:rPr>
              <a:t>Modeling</a:t>
            </a:r>
            <a:r>
              <a:rPr lang="en-GB" dirty="0">
                <a:hlinkClick r:id="rId2"/>
              </a:rPr>
              <a:t> and Visualization with R-INLA and Shiny</a:t>
            </a:r>
            <a:r>
              <a:rPr lang="en-GB" dirty="0"/>
              <a:t> by Paula Moraga</a:t>
            </a:r>
          </a:p>
          <a:p>
            <a:r>
              <a:rPr lang="en-GB" dirty="0">
                <a:hlinkClick r:id="rId3"/>
              </a:rPr>
              <a:t>Spatial Statistics for Data Science </a:t>
            </a:r>
            <a:r>
              <a:rPr lang="en-GB" dirty="0"/>
              <a:t>by Paula Moraga</a:t>
            </a:r>
          </a:p>
          <a:p>
            <a:r>
              <a:rPr lang="en-GB" dirty="0">
                <a:hlinkClick r:id="rId4"/>
              </a:rPr>
              <a:t>Bayesian Modelling of </a:t>
            </a:r>
            <a:r>
              <a:rPr lang="en-GB" dirty="0" err="1">
                <a:hlinkClick r:id="rId4"/>
              </a:rPr>
              <a:t>Spatio</a:t>
            </a:r>
            <a:r>
              <a:rPr lang="en-GB" dirty="0">
                <a:hlinkClick r:id="rId4"/>
              </a:rPr>
              <a:t>-temporal Data with R </a:t>
            </a:r>
            <a:r>
              <a:rPr lang="en-GB" dirty="0"/>
              <a:t>by Sujit Sahu</a:t>
            </a:r>
          </a:p>
          <a:p>
            <a:r>
              <a:rPr lang="en-GB" dirty="0">
                <a:hlinkClick r:id="rId5"/>
              </a:rPr>
              <a:t>Bayesian inference with INLA </a:t>
            </a:r>
            <a:r>
              <a:rPr lang="en-GB" dirty="0"/>
              <a:t>by Virgilio Gomez-Rubio</a:t>
            </a:r>
          </a:p>
        </p:txBody>
      </p:sp>
      <p:sp>
        <p:nvSpPr>
          <p:cNvPr id="4" name="TextBox 3">
            <a:extLst>
              <a:ext uri="{FF2B5EF4-FFF2-40B4-BE49-F238E27FC236}">
                <a16:creationId xmlns:a16="http://schemas.microsoft.com/office/drawing/2014/main" id="{3CBE986F-EA33-D88D-E3E5-DFD3D6C8816B}"/>
              </a:ext>
            </a:extLst>
          </p:cNvPr>
          <p:cNvSpPr txBox="1"/>
          <p:nvPr/>
        </p:nvSpPr>
        <p:spPr>
          <a:xfrm>
            <a:off x="838200" y="5807948"/>
            <a:ext cx="10420140" cy="461665"/>
          </a:xfrm>
          <a:prstGeom prst="rect">
            <a:avLst/>
          </a:prstGeom>
          <a:noFill/>
        </p:spPr>
        <p:txBody>
          <a:bodyPr wrap="square" rtlCol="0">
            <a:spAutoFit/>
          </a:bodyPr>
          <a:lstStyle/>
          <a:p>
            <a:r>
              <a:rPr lang="en-GB" sz="2400" dirty="0"/>
              <a:t>See https://www.r-inla.org/learnmore/books/index.html for more INLA books!</a:t>
            </a:r>
          </a:p>
        </p:txBody>
      </p:sp>
      <p:sp>
        <p:nvSpPr>
          <p:cNvPr id="5" name="Slide Number Placeholder 4">
            <a:extLst>
              <a:ext uri="{FF2B5EF4-FFF2-40B4-BE49-F238E27FC236}">
                <a16:creationId xmlns:a16="http://schemas.microsoft.com/office/drawing/2014/main" id="{B02DC432-EB48-3242-C138-8A53044CF370}"/>
              </a:ext>
            </a:extLst>
          </p:cNvPr>
          <p:cNvSpPr>
            <a:spLocks noGrp="1"/>
          </p:cNvSpPr>
          <p:nvPr>
            <p:ph type="sldNum" sz="quarter" idx="12"/>
          </p:nvPr>
        </p:nvSpPr>
        <p:spPr/>
        <p:txBody>
          <a:bodyPr/>
          <a:lstStyle/>
          <a:p>
            <a:fld id="{92E773D0-8039-41DE-9EAA-38744617136D}" type="slidenum">
              <a:rPr lang="en-GB" smtClean="0"/>
              <a:t>47</a:t>
            </a:fld>
            <a:endParaRPr lang="en-GB"/>
          </a:p>
        </p:txBody>
      </p:sp>
    </p:spTree>
    <p:extLst>
      <p:ext uri="{BB962C8B-B14F-4D97-AF65-F5344CB8AC3E}">
        <p14:creationId xmlns:p14="http://schemas.microsoft.com/office/powerpoint/2010/main" val="21930745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A9775-2DB1-176E-4BCC-0D5EFB765377}"/>
              </a:ext>
            </a:extLst>
          </p:cNvPr>
          <p:cNvSpPr>
            <a:spLocks noGrp="1"/>
          </p:cNvSpPr>
          <p:nvPr>
            <p:ph type="title"/>
          </p:nvPr>
        </p:nvSpPr>
        <p:spPr>
          <a:xfrm>
            <a:off x="306355" y="136525"/>
            <a:ext cx="2987351" cy="525948"/>
          </a:xfrm>
        </p:spPr>
        <p:txBody>
          <a:bodyPr>
            <a:normAutofit fontScale="90000"/>
          </a:bodyPr>
          <a:lstStyle/>
          <a:p>
            <a:r>
              <a:rPr lang="en-GB" b="1" dirty="0">
                <a:solidFill>
                  <a:schemeClr val="bg1"/>
                </a:solidFill>
                <a:latin typeface="+mn-lt"/>
              </a:rPr>
              <a:t>References</a:t>
            </a:r>
          </a:p>
        </p:txBody>
      </p:sp>
      <p:sp>
        <p:nvSpPr>
          <p:cNvPr id="3" name="Content Placeholder 2">
            <a:extLst>
              <a:ext uri="{FF2B5EF4-FFF2-40B4-BE49-F238E27FC236}">
                <a16:creationId xmlns:a16="http://schemas.microsoft.com/office/drawing/2014/main" id="{A7924823-DAF6-5A7F-8FDC-67AFED976621}"/>
              </a:ext>
            </a:extLst>
          </p:cNvPr>
          <p:cNvSpPr>
            <a:spLocks noGrp="1"/>
          </p:cNvSpPr>
          <p:nvPr>
            <p:ph idx="1"/>
          </p:nvPr>
        </p:nvSpPr>
        <p:spPr>
          <a:xfrm>
            <a:off x="838200" y="1473932"/>
            <a:ext cx="10515600" cy="4936915"/>
          </a:xfrm>
        </p:spPr>
        <p:txBody>
          <a:bodyPr>
            <a:noAutofit/>
          </a:bodyPr>
          <a:lstStyle/>
          <a:p>
            <a:r>
              <a:rPr lang="en-GB" sz="2000" dirty="0"/>
              <a:t>Blangiardo, M., &amp; </a:t>
            </a:r>
            <a:r>
              <a:rPr lang="en-GB" sz="2000" dirty="0" err="1"/>
              <a:t>Cameletti</a:t>
            </a:r>
            <a:r>
              <a:rPr lang="en-GB" sz="2000" dirty="0"/>
              <a:t>, M. (2015). </a:t>
            </a:r>
            <a:r>
              <a:rPr lang="en-GB" sz="2000" i="1" dirty="0"/>
              <a:t>Spatial and </a:t>
            </a:r>
            <a:r>
              <a:rPr lang="en-GB" sz="2000" i="1" dirty="0" err="1"/>
              <a:t>spatio</a:t>
            </a:r>
            <a:r>
              <a:rPr lang="en-GB" sz="2000" i="1" dirty="0"/>
              <a:t>-temporal Bayesian models with R-INLA</a:t>
            </a:r>
            <a:r>
              <a:rPr lang="en-GB" sz="2000" dirty="0"/>
              <a:t>. John Wiley &amp; Sons. </a:t>
            </a:r>
            <a:r>
              <a:rPr lang="en-GB" sz="2000" dirty="0">
                <a:hlinkClick r:id="rId2"/>
              </a:rPr>
              <a:t>https://doi.org/10.1002/9781118950203</a:t>
            </a:r>
            <a:endParaRPr lang="en-GB" sz="2000" dirty="0"/>
          </a:p>
          <a:p>
            <a:endParaRPr lang="en-GB" sz="2000" dirty="0"/>
          </a:p>
          <a:p>
            <a:r>
              <a:rPr lang="en-GB" sz="2000" dirty="0"/>
              <a:t>Daniel Simpson, Håvard Rue, Andrea </a:t>
            </a:r>
            <a:r>
              <a:rPr lang="en-GB" sz="2000" dirty="0" err="1"/>
              <a:t>Riebler</a:t>
            </a:r>
            <a:r>
              <a:rPr lang="en-GB" sz="2000" dirty="0"/>
              <a:t>, Thiago G. Martins, Sigrunn H. </a:t>
            </a:r>
            <a:r>
              <a:rPr lang="en-GB" sz="2000" dirty="0" err="1"/>
              <a:t>Sørbye</a:t>
            </a:r>
            <a:r>
              <a:rPr lang="en-GB" sz="2000" dirty="0"/>
              <a:t> (2017). Penalising Model Component Complexity: A Principled, Practical Approach to Constructing Priors, Statist. Sci. 32(1), 1-28.</a:t>
            </a:r>
          </a:p>
          <a:p>
            <a:endParaRPr lang="en-GB" sz="2000" dirty="0"/>
          </a:p>
          <a:p>
            <a:r>
              <a:rPr lang="en-GB" sz="2000" spc="15" dirty="0">
                <a:solidFill>
                  <a:srgbClr val="333333"/>
                </a:solidFill>
                <a:latin typeface="Helvetica Neue"/>
              </a:rPr>
              <a:t>Gelman, Andrew, John B. Carlin, Hal S. Stern, David B. Dunson, Aki </a:t>
            </a:r>
            <a:r>
              <a:rPr lang="en-GB" sz="2000" spc="15" dirty="0" err="1">
                <a:solidFill>
                  <a:srgbClr val="333333"/>
                </a:solidFill>
                <a:latin typeface="Helvetica Neue"/>
              </a:rPr>
              <a:t>Vehtari</a:t>
            </a:r>
            <a:r>
              <a:rPr lang="en-GB" sz="2000" spc="15" dirty="0">
                <a:solidFill>
                  <a:srgbClr val="333333"/>
                </a:solidFill>
                <a:latin typeface="Helvetica Neue"/>
              </a:rPr>
              <a:t>, and Donald B. Rubin. 2013. </a:t>
            </a:r>
            <a:r>
              <a:rPr lang="en-GB" sz="2000" i="1" spc="15" dirty="0">
                <a:solidFill>
                  <a:srgbClr val="333333"/>
                </a:solidFill>
                <a:latin typeface="Helvetica Neue"/>
              </a:rPr>
              <a:t>Bayesian Data Analysis</a:t>
            </a:r>
            <a:r>
              <a:rPr lang="en-GB" sz="2000" spc="15" dirty="0">
                <a:solidFill>
                  <a:srgbClr val="333333"/>
                </a:solidFill>
                <a:latin typeface="Helvetica Neue"/>
              </a:rPr>
              <a:t>. 3rd ed. Boca Raton, FL: Chapman &amp; Hall/CRC Press.</a:t>
            </a:r>
          </a:p>
          <a:p>
            <a:endParaRPr lang="en-GB" sz="2000" dirty="0"/>
          </a:p>
          <a:p>
            <a:r>
              <a:rPr lang="en-GB" sz="2000" dirty="0"/>
              <a:t>Rue, Havard, Sara Martino, and Nicolas Chopin. 2009. “Approximate Bayesian Inference for Latent Gaussian Models by Using Integrated Nested Laplace Approximations.” </a:t>
            </a:r>
            <a:r>
              <a:rPr lang="en-GB" sz="2000" i="1" dirty="0"/>
              <a:t>Journal of the Royal Statistical Society, Series B</a:t>
            </a:r>
            <a:r>
              <a:rPr lang="en-GB" sz="2000" dirty="0"/>
              <a:t> 71 (2): 319–92.</a:t>
            </a:r>
          </a:p>
        </p:txBody>
      </p:sp>
      <p:sp>
        <p:nvSpPr>
          <p:cNvPr id="4" name="Slide Number Placeholder 3">
            <a:extLst>
              <a:ext uri="{FF2B5EF4-FFF2-40B4-BE49-F238E27FC236}">
                <a16:creationId xmlns:a16="http://schemas.microsoft.com/office/drawing/2014/main" id="{74E2F403-E190-BB48-2D81-84E2803BCC36}"/>
              </a:ext>
            </a:extLst>
          </p:cNvPr>
          <p:cNvSpPr>
            <a:spLocks noGrp="1"/>
          </p:cNvSpPr>
          <p:nvPr>
            <p:ph type="sldNum" sz="quarter" idx="12"/>
          </p:nvPr>
        </p:nvSpPr>
        <p:spPr/>
        <p:txBody>
          <a:bodyPr/>
          <a:lstStyle/>
          <a:p>
            <a:fld id="{92E773D0-8039-41DE-9EAA-38744617136D}" type="slidenum">
              <a:rPr lang="en-GB" smtClean="0"/>
              <a:t>48</a:t>
            </a:fld>
            <a:endParaRPr lang="en-GB"/>
          </a:p>
        </p:txBody>
      </p:sp>
    </p:spTree>
    <p:extLst>
      <p:ext uri="{BB962C8B-B14F-4D97-AF65-F5344CB8AC3E}">
        <p14:creationId xmlns:p14="http://schemas.microsoft.com/office/powerpoint/2010/main" val="33506362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12881</TotalTime>
  <Words>5058</Words>
  <Application>Microsoft Office PowerPoint</Application>
  <PresentationFormat>Widescreen</PresentationFormat>
  <Paragraphs>468</Paragraphs>
  <Slides>48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Aptos</vt:lpstr>
      <vt:lpstr>Aptos Display</vt:lpstr>
      <vt:lpstr>Arial</vt:lpstr>
      <vt:lpstr>Cambria Math</vt:lpstr>
      <vt:lpstr>Consolas</vt:lpstr>
      <vt:lpstr>Helvetica Neue</vt:lpstr>
      <vt:lpstr>Merriweather</vt:lpstr>
      <vt:lpstr>Office Theme</vt:lpstr>
      <vt:lpstr>PowerPoint Presentation</vt:lpstr>
      <vt:lpstr>Learning objectives</vt:lpstr>
      <vt:lpstr>Introduction to Bayesian inference</vt:lpstr>
      <vt:lpstr>Introduction to Bayesian inference</vt:lpstr>
      <vt:lpstr>Introduction to Bayesian inference</vt:lpstr>
      <vt:lpstr>Introduction to Bayesian inference</vt:lpstr>
      <vt:lpstr>Introduction to Bayesian inference</vt:lpstr>
      <vt:lpstr>Bayes’ theorem</vt:lpstr>
      <vt:lpstr>Bayes’ theorem</vt:lpstr>
      <vt:lpstr>Bayes’ theorem – the posterior distribution </vt:lpstr>
      <vt:lpstr>PowerPoint Presentation</vt:lpstr>
      <vt:lpstr>PowerPoint Presentation</vt:lpstr>
      <vt:lpstr>The likelihood – How do we model the data?</vt:lpstr>
      <vt:lpstr>Choosing a likelihood</vt:lpstr>
      <vt:lpstr>Prior distributions</vt:lpstr>
      <vt:lpstr>PowerPoint Presentation</vt:lpstr>
      <vt:lpstr>PowerPoint Presentation</vt:lpstr>
      <vt:lpstr>Penalized complexity (PC) priors</vt:lpstr>
      <vt:lpstr>Penalized complexity (PC) priors</vt:lpstr>
      <vt:lpstr>Bayesian estimators</vt:lpstr>
      <vt:lpstr>Bayesian estimators</vt:lpstr>
      <vt:lpstr>Bayesian model choice</vt:lpstr>
      <vt:lpstr>Key ingredients of Bayesian inference</vt:lpstr>
      <vt:lpstr>Key ingredients of Bayesian inference</vt:lpstr>
      <vt:lpstr>Bayesian computation</vt:lpstr>
      <vt:lpstr>Bayesian computation</vt:lpstr>
      <vt:lpstr>Bayesian computation</vt:lpstr>
      <vt:lpstr>Bayesian computation</vt:lpstr>
      <vt:lpstr>INLA – Integrated Nested Laplace Approximation</vt:lpstr>
      <vt:lpstr>INLA – Integrated Nested Laplace Approximation</vt:lpstr>
      <vt:lpstr>INLA – Integrated Nested Laplace Approximation</vt:lpstr>
      <vt:lpstr>Latent Gaussian models (LGMs)</vt:lpstr>
      <vt:lpstr>Latent Gaussian models (LGMs)</vt:lpstr>
      <vt:lpstr>Latent Gaussian models (LGMs)</vt:lpstr>
      <vt:lpstr>Latent Gaussian models (LGMs)</vt:lpstr>
      <vt:lpstr>Latent Gaussian models (LGMs)</vt:lpstr>
      <vt:lpstr>What does INLA actually calculate?</vt:lpstr>
      <vt:lpstr>What does INLA actually calculate?</vt:lpstr>
      <vt:lpstr>What does INLA actually calculate?</vt:lpstr>
      <vt:lpstr>What does INLA calculate?</vt:lpstr>
      <vt:lpstr>What does INLA actually calculate?</vt:lpstr>
      <vt:lpstr>What does INLA actually calculate?</vt:lpstr>
      <vt:lpstr>What does INLA actually calculate?</vt:lpstr>
      <vt:lpstr>INLA and inlabru packages: An example using linear regression analysis</vt:lpstr>
      <vt:lpstr>Class activity</vt:lpstr>
      <vt:lpstr>Exercise 2: Linear regression modelling in INLA/inlabru</vt:lpstr>
      <vt:lpstr>Relevant books</vt:lpstr>
      <vt:lpstr>References</vt:lpstr>
    </vt:vector>
  </TitlesOfParts>
  <Company>University of Southampton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Edson Utazi</dc:creator>
  <cp:lastModifiedBy>Edson Utazi</cp:lastModifiedBy>
  <cp:revision>1</cp:revision>
  <dcterms:created xsi:type="dcterms:W3CDTF">2026-09-17T09:05:41Z</dcterms:created>
  <dcterms:modified xsi:type="dcterms:W3CDTF">2026-10-12T19:32:13Z</dcterms:modified>
</cp:coreProperties>
</file>