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327" r:id="rId2"/>
    <p:sldId id="323" r:id="rId3"/>
    <p:sldId id="257" r:id="rId4"/>
    <p:sldId id="258" r:id="rId5"/>
    <p:sldId id="259" r:id="rId6"/>
    <p:sldId id="264" r:id="rId7"/>
    <p:sldId id="265" r:id="rId8"/>
    <p:sldId id="300" r:id="rId9"/>
    <p:sldId id="266" r:id="rId10"/>
    <p:sldId id="267" r:id="rId11"/>
    <p:sldId id="275" r:id="rId12"/>
    <p:sldId id="276" r:id="rId13"/>
    <p:sldId id="278" r:id="rId14"/>
    <p:sldId id="277" r:id="rId15"/>
    <p:sldId id="271" r:id="rId16"/>
    <p:sldId id="272" r:id="rId17"/>
    <p:sldId id="279" r:id="rId18"/>
    <p:sldId id="273" r:id="rId19"/>
    <p:sldId id="280" r:id="rId20"/>
    <p:sldId id="281" r:id="rId21"/>
    <p:sldId id="282" r:id="rId22"/>
    <p:sldId id="285" r:id="rId23"/>
    <p:sldId id="286" r:id="rId24"/>
    <p:sldId id="284" r:id="rId25"/>
    <p:sldId id="287" r:id="rId26"/>
    <p:sldId id="288" r:id="rId27"/>
    <p:sldId id="289" r:id="rId28"/>
    <p:sldId id="292" r:id="rId29"/>
    <p:sldId id="293" r:id="rId30"/>
    <p:sldId id="294" r:id="rId31"/>
    <p:sldId id="295" r:id="rId32"/>
    <p:sldId id="260" r:id="rId33"/>
    <p:sldId id="298" r:id="rId34"/>
    <p:sldId id="290" r:id="rId35"/>
    <p:sldId id="296" r:id="rId36"/>
    <p:sldId id="297" r:id="rId37"/>
    <p:sldId id="304" r:id="rId38"/>
    <p:sldId id="301" r:id="rId39"/>
    <p:sldId id="302" r:id="rId40"/>
    <p:sldId id="303" r:id="rId41"/>
    <p:sldId id="324" r:id="rId42"/>
    <p:sldId id="270"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6CD042-713D-4F7D-8F1B-E482DC2D85CC}" v="59" dt="2026-10-12T06:05:56.7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son Utazi" userId="bcb3a38a-3ad0-4389-89a4-f1f4b25807d3" providerId="ADAL" clId="{6E6BB287-36A5-4019-B86C-EECBD7B9E602}"/>
    <pc:docChg chg="undo custSel addSld delSld modSld modMainMaster">
      <pc:chgData name="Edson Utazi" userId="bcb3a38a-3ad0-4389-89a4-f1f4b25807d3" providerId="ADAL" clId="{6E6BB287-36A5-4019-B86C-EECBD7B9E602}" dt="2026-10-12T06:05:56.729" v="1848" actId="20577"/>
      <pc:docMkLst>
        <pc:docMk/>
      </pc:docMkLst>
      <pc:sldChg chg="modSp mod">
        <pc:chgData name="Edson Utazi" userId="bcb3a38a-3ad0-4389-89a4-f1f4b25807d3" providerId="ADAL" clId="{6E6BB287-36A5-4019-B86C-EECBD7B9E602}" dt="2026-10-12T04:41:53.525" v="1707" actId="27636"/>
        <pc:sldMkLst>
          <pc:docMk/>
          <pc:sldMk cId="1588070368" sldId="257"/>
        </pc:sldMkLst>
        <pc:spChg chg="mod">
          <ac:chgData name="Edson Utazi" userId="bcb3a38a-3ad0-4389-89a4-f1f4b25807d3" providerId="ADAL" clId="{6E6BB287-36A5-4019-B86C-EECBD7B9E602}" dt="2026-10-08T13:24:37.334" v="100" actId="14100"/>
          <ac:spMkLst>
            <pc:docMk/>
            <pc:sldMk cId="1588070368" sldId="257"/>
            <ac:spMk id="2" creationId="{F0D3B1A3-EBB0-F863-53E8-4D3FE164E075}"/>
          </ac:spMkLst>
        </pc:spChg>
        <pc:spChg chg="mod">
          <ac:chgData name="Edson Utazi" userId="bcb3a38a-3ad0-4389-89a4-f1f4b25807d3" providerId="ADAL" clId="{6E6BB287-36A5-4019-B86C-EECBD7B9E602}" dt="2026-10-12T04:41:53.525" v="1707" actId="27636"/>
          <ac:spMkLst>
            <pc:docMk/>
            <pc:sldMk cId="1588070368" sldId="257"/>
            <ac:spMk id="3" creationId="{B5D42F04-DDA1-8179-E581-2AB2B38272C0}"/>
          </ac:spMkLst>
        </pc:spChg>
      </pc:sldChg>
      <pc:sldChg chg="addSp delSp modSp mod">
        <pc:chgData name="Edson Utazi" userId="bcb3a38a-3ad0-4389-89a4-f1f4b25807d3" providerId="ADAL" clId="{6E6BB287-36A5-4019-B86C-EECBD7B9E602}" dt="2026-10-12T04:43:24.476" v="1774" actId="20577"/>
        <pc:sldMkLst>
          <pc:docMk/>
          <pc:sldMk cId="3364175062" sldId="258"/>
        </pc:sldMkLst>
        <pc:spChg chg="mod">
          <ac:chgData name="Edson Utazi" userId="bcb3a38a-3ad0-4389-89a4-f1f4b25807d3" providerId="ADAL" clId="{6E6BB287-36A5-4019-B86C-EECBD7B9E602}" dt="2026-10-12T04:43:24.476" v="1774" actId="20577"/>
          <ac:spMkLst>
            <pc:docMk/>
            <pc:sldMk cId="3364175062" sldId="258"/>
            <ac:spMk id="3" creationId="{2C0BF915-052A-CA4C-580F-A8767C9F58B9}"/>
          </ac:spMkLst>
        </pc:spChg>
        <pc:spChg chg="add mod">
          <ac:chgData name="Edson Utazi" userId="bcb3a38a-3ad0-4389-89a4-f1f4b25807d3" providerId="ADAL" clId="{6E6BB287-36A5-4019-B86C-EECBD7B9E602}" dt="2026-10-08T13:25:16.934" v="108"/>
          <ac:spMkLst>
            <pc:docMk/>
            <pc:sldMk cId="3364175062" sldId="258"/>
            <ac:spMk id="6" creationId="{4D3762BA-4F35-753B-5B6A-929DD3E73F09}"/>
          </ac:spMkLst>
        </pc:spChg>
      </pc:sldChg>
      <pc:sldChg chg="modSp mod">
        <pc:chgData name="Edson Utazi" userId="bcb3a38a-3ad0-4389-89a4-f1f4b25807d3" providerId="ADAL" clId="{6E6BB287-36A5-4019-B86C-EECBD7B9E602}" dt="2026-10-08T13:25:44.316" v="116" actId="1076"/>
        <pc:sldMkLst>
          <pc:docMk/>
          <pc:sldMk cId="331200228" sldId="259"/>
        </pc:sldMkLst>
        <pc:spChg chg="mod">
          <ac:chgData name="Edson Utazi" userId="bcb3a38a-3ad0-4389-89a4-f1f4b25807d3" providerId="ADAL" clId="{6E6BB287-36A5-4019-B86C-EECBD7B9E602}" dt="2026-10-08T13:25:40.270" v="115" actId="207"/>
          <ac:spMkLst>
            <pc:docMk/>
            <pc:sldMk cId="331200228" sldId="259"/>
            <ac:spMk id="2" creationId="{D68EE8EB-7A2E-3D66-9CF8-6097EEE35C3D}"/>
          </ac:spMkLst>
        </pc:spChg>
        <pc:spChg chg="mod">
          <ac:chgData name="Edson Utazi" userId="bcb3a38a-3ad0-4389-89a4-f1f4b25807d3" providerId="ADAL" clId="{6E6BB287-36A5-4019-B86C-EECBD7B9E602}" dt="2026-10-08T13:25:44.316" v="116" actId="1076"/>
          <ac:spMkLst>
            <pc:docMk/>
            <pc:sldMk cId="331200228" sldId="259"/>
            <ac:spMk id="3" creationId="{D889F07E-4AF2-588A-E138-2F3833F0BC63}"/>
          </ac:spMkLst>
        </pc:spChg>
      </pc:sldChg>
      <pc:sldChg chg="modSp mod">
        <pc:chgData name="Edson Utazi" userId="bcb3a38a-3ad0-4389-89a4-f1f4b25807d3" providerId="ADAL" clId="{6E6BB287-36A5-4019-B86C-EECBD7B9E602}" dt="2026-10-08T13:35:42.041" v="252" actId="1076"/>
        <pc:sldMkLst>
          <pc:docMk/>
          <pc:sldMk cId="1090404541" sldId="260"/>
        </pc:sldMkLst>
        <pc:spChg chg="mod">
          <ac:chgData name="Edson Utazi" userId="bcb3a38a-3ad0-4389-89a4-f1f4b25807d3" providerId="ADAL" clId="{6E6BB287-36A5-4019-B86C-EECBD7B9E602}" dt="2026-10-08T13:35:38.893" v="251" actId="207"/>
          <ac:spMkLst>
            <pc:docMk/>
            <pc:sldMk cId="1090404541" sldId="260"/>
            <ac:spMk id="2" creationId="{D1CB9C8D-0191-56B6-1C6F-195B485B7D35}"/>
          </ac:spMkLst>
        </pc:spChg>
        <pc:spChg chg="mod">
          <ac:chgData name="Edson Utazi" userId="bcb3a38a-3ad0-4389-89a4-f1f4b25807d3" providerId="ADAL" clId="{6E6BB287-36A5-4019-B86C-EECBD7B9E602}" dt="2026-10-08T13:35:42.041" v="252" actId="1076"/>
          <ac:spMkLst>
            <pc:docMk/>
            <pc:sldMk cId="1090404541" sldId="260"/>
            <ac:spMk id="3" creationId="{C04B2497-B9F7-3AF9-0895-974782CF2F22}"/>
          </ac:spMkLst>
        </pc:spChg>
      </pc:sldChg>
      <pc:sldChg chg="addSp delSp modSp mod">
        <pc:chgData name="Edson Utazi" userId="bcb3a38a-3ad0-4389-89a4-f1f4b25807d3" providerId="ADAL" clId="{6E6BB287-36A5-4019-B86C-EECBD7B9E602}" dt="2026-10-12T04:48:33.268" v="1785" actId="20577"/>
        <pc:sldMkLst>
          <pc:docMk/>
          <pc:sldMk cId="1547423426" sldId="264"/>
        </pc:sldMkLst>
        <pc:spChg chg="add mod">
          <ac:chgData name="Edson Utazi" userId="bcb3a38a-3ad0-4389-89a4-f1f4b25807d3" providerId="ADAL" clId="{6E6BB287-36A5-4019-B86C-EECBD7B9E602}" dt="2026-10-08T13:25:58.692" v="119"/>
          <ac:spMkLst>
            <pc:docMk/>
            <pc:sldMk cId="1547423426" sldId="264"/>
            <ac:spMk id="6" creationId="{3FD79BD9-E4F8-A9CD-4B55-3267D002821E}"/>
          </ac:spMkLst>
        </pc:spChg>
        <pc:spChg chg="mod">
          <ac:chgData name="Edson Utazi" userId="bcb3a38a-3ad0-4389-89a4-f1f4b25807d3" providerId="ADAL" clId="{6E6BB287-36A5-4019-B86C-EECBD7B9E602}" dt="2026-10-12T04:48:33.268" v="1785" actId="20577"/>
          <ac:spMkLst>
            <pc:docMk/>
            <pc:sldMk cId="1547423426" sldId="264"/>
            <ac:spMk id="9" creationId="{59CC40D0-2D0A-DFB0-8377-F1E18166B600}"/>
          </ac:spMkLst>
        </pc:spChg>
      </pc:sldChg>
      <pc:sldChg chg="addSp delSp modSp mod">
        <pc:chgData name="Edson Utazi" userId="bcb3a38a-3ad0-4389-89a4-f1f4b25807d3" providerId="ADAL" clId="{6E6BB287-36A5-4019-B86C-EECBD7B9E602}" dt="2026-10-08T13:26:09.926" v="122"/>
        <pc:sldMkLst>
          <pc:docMk/>
          <pc:sldMk cId="1262270611" sldId="265"/>
        </pc:sldMkLst>
        <pc:spChg chg="add mod">
          <ac:chgData name="Edson Utazi" userId="bcb3a38a-3ad0-4389-89a4-f1f4b25807d3" providerId="ADAL" clId="{6E6BB287-36A5-4019-B86C-EECBD7B9E602}" dt="2026-10-08T13:26:09.926" v="122"/>
          <ac:spMkLst>
            <pc:docMk/>
            <pc:sldMk cId="1262270611" sldId="265"/>
            <ac:spMk id="6" creationId="{FEBFA83F-28A3-C119-A53A-B0C642AE00EE}"/>
          </ac:spMkLst>
        </pc:spChg>
      </pc:sldChg>
      <pc:sldChg chg="modSp mod">
        <pc:chgData name="Edson Utazi" userId="bcb3a38a-3ad0-4389-89a4-f1f4b25807d3" providerId="ADAL" clId="{6E6BB287-36A5-4019-B86C-EECBD7B9E602}" dt="2026-10-12T05:07:53.222" v="1791" actId="20577"/>
        <pc:sldMkLst>
          <pc:docMk/>
          <pc:sldMk cId="2193537548" sldId="266"/>
        </pc:sldMkLst>
        <pc:spChg chg="mod">
          <ac:chgData name="Edson Utazi" userId="bcb3a38a-3ad0-4389-89a4-f1f4b25807d3" providerId="ADAL" clId="{6E6BB287-36A5-4019-B86C-EECBD7B9E602}" dt="2026-10-08T13:27:31.701" v="137" actId="14100"/>
          <ac:spMkLst>
            <pc:docMk/>
            <pc:sldMk cId="2193537548" sldId="266"/>
            <ac:spMk id="2" creationId="{DB999793-562D-6A2E-4B43-0C3F17E1A22A}"/>
          </ac:spMkLst>
        </pc:spChg>
        <pc:spChg chg="mod">
          <ac:chgData name="Edson Utazi" userId="bcb3a38a-3ad0-4389-89a4-f1f4b25807d3" providerId="ADAL" clId="{6E6BB287-36A5-4019-B86C-EECBD7B9E602}" dt="2026-10-12T05:07:53.222" v="1791" actId="20577"/>
          <ac:spMkLst>
            <pc:docMk/>
            <pc:sldMk cId="2193537548" sldId="266"/>
            <ac:spMk id="6" creationId="{0D0769B2-C6A1-1B2D-EFF4-26AEC5AA8E93}"/>
          </ac:spMkLst>
        </pc:spChg>
      </pc:sldChg>
      <pc:sldChg chg="addSp delSp modSp mod">
        <pc:chgData name="Edson Utazi" userId="bcb3a38a-3ad0-4389-89a4-f1f4b25807d3" providerId="ADAL" clId="{6E6BB287-36A5-4019-B86C-EECBD7B9E602}" dt="2026-10-08T13:27:50.706" v="141" actId="1076"/>
        <pc:sldMkLst>
          <pc:docMk/>
          <pc:sldMk cId="2876821608" sldId="267"/>
        </pc:sldMkLst>
        <pc:spChg chg="mod">
          <ac:chgData name="Edson Utazi" userId="bcb3a38a-3ad0-4389-89a4-f1f4b25807d3" providerId="ADAL" clId="{6E6BB287-36A5-4019-B86C-EECBD7B9E602}" dt="2026-10-08T13:27:50.706" v="141" actId="1076"/>
          <ac:spMkLst>
            <pc:docMk/>
            <pc:sldMk cId="2876821608" sldId="267"/>
            <ac:spMk id="3" creationId="{8EF5FD9F-84A8-D7CF-016A-DBC240478747}"/>
          </ac:spMkLst>
        </pc:spChg>
        <pc:spChg chg="add mod">
          <ac:chgData name="Edson Utazi" userId="bcb3a38a-3ad0-4389-89a4-f1f4b25807d3" providerId="ADAL" clId="{6E6BB287-36A5-4019-B86C-EECBD7B9E602}" dt="2026-10-08T13:27:46.682" v="140"/>
          <ac:spMkLst>
            <pc:docMk/>
            <pc:sldMk cId="2876821608" sldId="267"/>
            <ac:spMk id="4" creationId="{E475CDFF-F2D1-6167-A639-7201B27898BD}"/>
          </ac:spMkLst>
        </pc:spChg>
      </pc:sldChg>
      <pc:sldChg chg="addSp delSp modSp mod">
        <pc:chgData name="Edson Utazi" userId="bcb3a38a-3ad0-4389-89a4-f1f4b25807d3" providerId="ADAL" clId="{6E6BB287-36A5-4019-B86C-EECBD7B9E602}" dt="2026-10-08T16:04:50.079" v="1596" actId="20577"/>
        <pc:sldMkLst>
          <pc:docMk/>
          <pc:sldMk cId="3872856194" sldId="270"/>
        </pc:sldMkLst>
        <pc:spChg chg="mod">
          <ac:chgData name="Edson Utazi" userId="bcb3a38a-3ad0-4389-89a4-f1f4b25807d3" providerId="ADAL" clId="{6E6BB287-36A5-4019-B86C-EECBD7B9E602}" dt="2026-10-08T13:55:27.566" v="381" actId="255"/>
          <ac:spMkLst>
            <pc:docMk/>
            <pc:sldMk cId="3872856194" sldId="270"/>
            <ac:spMk id="2" creationId="{C96C5CA8-2981-3AA6-285D-74AEF599FC37}"/>
          </ac:spMkLst>
        </pc:spChg>
        <pc:spChg chg="add mod">
          <ac:chgData name="Edson Utazi" userId="bcb3a38a-3ad0-4389-89a4-f1f4b25807d3" providerId="ADAL" clId="{6E6BB287-36A5-4019-B86C-EECBD7B9E602}" dt="2026-10-08T16:04:50.079" v="1596" actId="20577"/>
          <ac:spMkLst>
            <pc:docMk/>
            <pc:sldMk cId="3872856194" sldId="270"/>
            <ac:spMk id="4" creationId="{6AD74CFA-AA45-E80D-D750-CDEE3F7B50A3}"/>
          </ac:spMkLst>
        </pc:spChg>
      </pc:sldChg>
      <pc:sldChg chg="addSp delSp modSp mod">
        <pc:chgData name="Edson Utazi" userId="bcb3a38a-3ad0-4389-89a4-f1f4b25807d3" providerId="ADAL" clId="{6E6BB287-36A5-4019-B86C-EECBD7B9E602}" dt="2026-10-08T13:29:33.272" v="168" actId="1076"/>
        <pc:sldMkLst>
          <pc:docMk/>
          <pc:sldMk cId="2951105559" sldId="271"/>
        </pc:sldMkLst>
        <pc:spChg chg="mod">
          <ac:chgData name="Edson Utazi" userId="bcb3a38a-3ad0-4389-89a4-f1f4b25807d3" providerId="ADAL" clId="{6E6BB287-36A5-4019-B86C-EECBD7B9E602}" dt="2026-10-08T13:29:33.272" v="168" actId="1076"/>
          <ac:spMkLst>
            <pc:docMk/>
            <pc:sldMk cId="2951105559" sldId="271"/>
            <ac:spMk id="3" creationId="{5FB6C851-E39F-A2F7-628E-ED3F863E0DDC}"/>
          </ac:spMkLst>
        </pc:spChg>
        <pc:spChg chg="add mod">
          <ac:chgData name="Edson Utazi" userId="bcb3a38a-3ad0-4389-89a4-f1f4b25807d3" providerId="ADAL" clId="{6E6BB287-36A5-4019-B86C-EECBD7B9E602}" dt="2026-10-08T13:29:28.591" v="167"/>
          <ac:spMkLst>
            <pc:docMk/>
            <pc:sldMk cId="2951105559" sldId="271"/>
            <ac:spMk id="7" creationId="{0785805B-0415-1F5A-AC4D-30B69F8B70C2}"/>
          </ac:spMkLst>
        </pc:spChg>
      </pc:sldChg>
      <pc:sldChg chg="modSp mod">
        <pc:chgData name="Edson Utazi" userId="bcb3a38a-3ad0-4389-89a4-f1f4b25807d3" providerId="ADAL" clId="{6E6BB287-36A5-4019-B86C-EECBD7B9E602}" dt="2026-10-08T13:30:13.046" v="178" actId="14100"/>
        <pc:sldMkLst>
          <pc:docMk/>
          <pc:sldMk cId="1818812840" sldId="272"/>
        </pc:sldMkLst>
        <pc:spChg chg="mod">
          <ac:chgData name="Edson Utazi" userId="bcb3a38a-3ad0-4389-89a4-f1f4b25807d3" providerId="ADAL" clId="{6E6BB287-36A5-4019-B86C-EECBD7B9E602}" dt="2026-10-08T13:30:13.046" v="178" actId="14100"/>
          <ac:spMkLst>
            <pc:docMk/>
            <pc:sldMk cId="1818812840" sldId="272"/>
            <ac:spMk id="2" creationId="{C42F627C-C9F6-D753-E758-21357C6511A6}"/>
          </ac:spMkLst>
        </pc:spChg>
      </pc:sldChg>
      <pc:sldChg chg="modSp mod">
        <pc:chgData name="Edson Utazi" userId="bcb3a38a-3ad0-4389-89a4-f1f4b25807d3" providerId="ADAL" clId="{6E6BB287-36A5-4019-B86C-EECBD7B9E602}" dt="2026-10-08T13:31:00.314" v="188" actId="14100"/>
        <pc:sldMkLst>
          <pc:docMk/>
          <pc:sldMk cId="799493494" sldId="273"/>
        </pc:sldMkLst>
        <pc:spChg chg="mod">
          <ac:chgData name="Edson Utazi" userId="bcb3a38a-3ad0-4389-89a4-f1f4b25807d3" providerId="ADAL" clId="{6E6BB287-36A5-4019-B86C-EECBD7B9E602}" dt="2026-10-08T13:30:56.558" v="187" actId="207"/>
          <ac:spMkLst>
            <pc:docMk/>
            <pc:sldMk cId="799493494" sldId="273"/>
            <ac:spMk id="2" creationId="{EBB4D4CA-E773-F0DF-FEB8-0DFAF8F12C44}"/>
          </ac:spMkLst>
        </pc:spChg>
        <pc:spChg chg="mod">
          <ac:chgData name="Edson Utazi" userId="bcb3a38a-3ad0-4389-89a4-f1f4b25807d3" providerId="ADAL" clId="{6E6BB287-36A5-4019-B86C-EECBD7B9E602}" dt="2026-10-08T13:31:00.314" v="188" actId="14100"/>
          <ac:spMkLst>
            <pc:docMk/>
            <pc:sldMk cId="799493494" sldId="273"/>
            <ac:spMk id="3" creationId="{26D98E79-496D-2A78-EDA2-8254ABED805A}"/>
          </ac:spMkLst>
        </pc:spChg>
      </pc:sldChg>
      <pc:sldChg chg="addSp delSp modSp mod">
        <pc:chgData name="Edson Utazi" userId="bcb3a38a-3ad0-4389-89a4-f1f4b25807d3" providerId="ADAL" clId="{6E6BB287-36A5-4019-B86C-EECBD7B9E602}" dt="2026-10-08T13:27:59.823" v="144"/>
        <pc:sldMkLst>
          <pc:docMk/>
          <pc:sldMk cId="445849554" sldId="275"/>
        </pc:sldMkLst>
        <pc:spChg chg="mod">
          <ac:chgData name="Edson Utazi" userId="bcb3a38a-3ad0-4389-89a4-f1f4b25807d3" providerId="ADAL" clId="{6E6BB287-36A5-4019-B86C-EECBD7B9E602}" dt="2026-10-08T13:27:57.515" v="143" actId="1076"/>
          <ac:spMkLst>
            <pc:docMk/>
            <pc:sldMk cId="445849554" sldId="275"/>
            <ac:spMk id="3" creationId="{4DA32EFD-D02A-7AE0-512F-6FC5F2A67D35}"/>
          </ac:spMkLst>
        </pc:spChg>
        <pc:spChg chg="add mod">
          <ac:chgData name="Edson Utazi" userId="bcb3a38a-3ad0-4389-89a4-f1f4b25807d3" providerId="ADAL" clId="{6E6BB287-36A5-4019-B86C-EECBD7B9E602}" dt="2026-10-08T13:27:59.823" v="144"/>
          <ac:spMkLst>
            <pc:docMk/>
            <pc:sldMk cId="445849554" sldId="275"/>
            <ac:spMk id="4" creationId="{6887944D-C7A5-C678-2CCE-0A8D5E4BA54B}"/>
          </ac:spMkLst>
        </pc:spChg>
      </pc:sldChg>
      <pc:sldChg chg="addSp delSp modSp mod">
        <pc:chgData name="Edson Utazi" userId="bcb3a38a-3ad0-4389-89a4-f1f4b25807d3" providerId="ADAL" clId="{6E6BB287-36A5-4019-B86C-EECBD7B9E602}" dt="2026-10-12T05:25:09.137" v="1839" actId="20577"/>
        <pc:sldMkLst>
          <pc:docMk/>
          <pc:sldMk cId="3052960551" sldId="276"/>
        </pc:sldMkLst>
        <pc:spChg chg="mod">
          <ac:chgData name="Edson Utazi" userId="bcb3a38a-3ad0-4389-89a4-f1f4b25807d3" providerId="ADAL" clId="{6E6BB287-36A5-4019-B86C-EECBD7B9E602}" dt="2026-10-12T05:25:09.137" v="1839" actId="20577"/>
          <ac:spMkLst>
            <pc:docMk/>
            <pc:sldMk cId="3052960551" sldId="276"/>
            <ac:spMk id="3" creationId="{65F1FAA1-0E6F-8B72-6967-BE942734497E}"/>
          </ac:spMkLst>
        </pc:spChg>
        <pc:spChg chg="add mod">
          <ac:chgData name="Edson Utazi" userId="bcb3a38a-3ad0-4389-89a4-f1f4b25807d3" providerId="ADAL" clId="{6E6BB287-36A5-4019-B86C-EECBD7B9E602}" dt="2026-10-08T13:28:07.142" v="146"/>
          <ac:spMkLst>
            <pc:docMk/>
            <pc:sldMk cId="3052960551" sldId="276"/>
            <ac:spMk id="4" creationId="{AA9A3CC7-055B-ADE3-7A1E-DC5C2D5DFC59}"/>
          </ac:spMkLst>
        </pc:spChg>
      </pc:sldChg>
      <pc:sldChg chg="modSp mod">
        <pc:chgData name="Edson Utazi" userId="bcb3a38a-3ad0-4389-89a4-f1f4b25807d3" providerId="ADAL" clId="{6E6BB287-36A5-4019-B86C-EECBD7B9E602}" dt="2026-10-08T13:29:14.798" v="164" actId="1076"/>
        <pc:sldMkLst>
          <pc:docMk/>
          <pc:sldMk cId="1410216207" sldId="277"/>
        </pc:sldMkLst>
        <pc:spChg chg="mod">
          <ac:chgData name="Edson Utazi" userId="bcb3a38a-3ad0-4389-89a4-f1f4b25807d3" providerId="ADAL" clId="{6E6BB287-36A5-4019-B86C-EECBD7B9E602}" dt="2026-10-08T13:29:10.648" v="163" actId="2711"/>
          <ac:spMkLst>
            <pc:docMk/>
            <pc:sldMk cId="1410216207" sldId="277"/>
            <ac:spMk id="2" creationId="{D544502E-D8F5-BD2E-9D1F-100F5188FB6F}"/>
          </ac:spMkLst>
        </pc:spChg>
        <pc:spChg chg="mod">
          <ac:chgData name="Edson Utazi" userId="bcb3a38a-3ad0-4389-89a4-f1f4b25807d3" providerId="ADAL" clId="{6E6BB287-36A5-4019-B86C-EECBD7B9E602}" dt="2026-10-08T13:29:14.798" v="164" actId="1076"/>
          <ac:spMkLst>
            <pc:docMk/>
            <pc:sldMk cId="1410216207" sldId="277"/>
            <ac:spMk id="3" creationId="{6B2F86CD-8E43-C342-9C29-4AAB42D60155}"/>
          </ac:spMkLst>
        </pc:spChg>
      </pc:sldChg>
      <pc:sldChg chg="addSp modSp mod">
        <pc:chgData name="Edson Utazi" userId="bcb3a38a-3ad0-4389-89a4-f1f4b25807d3" providerId="ADAL" clId="{6E6BB287-36A5-4019-B86C-EECBD7B9E602}" dt="2026-10-08T13:28:52.439" v="157" actId="2711"/>
        <pc:sldMkLst>
          <pc:docMk/>
          <pc:sldMk cId="1485018162" sldId="278"/>
        </pc:sldMkLst>
        <pc:spChg chg="mod">
          <ac:chgData name="Edson Utazi" userId="bcb3a38a-3ad0-4389-89a4-f1f4b25807d3" providerId="ADAL" clId="{6E6BB287-36A5-4019-B86C-EECBD7B9E602}" dt="2026-10-08T13:28:52.439" v="157" actId="2711"/>
          <ac:spMkLst>
            <pc:docMk/>
            <pc:sldMk cId="1485018162" sldId="278"/>
            <ac:spMk id="2" creationId="{A6CC6996-F8EE-36B6-D4D8-B82CAA457E8F}"/>
          </ac:spMkLst>
        </pc:spChg>
        <pc:spChg chg="add mod">
          <ac:chgData name="Edson Utazi" userId="bcb3a38a-3ad0-4389-89a4-f1f4b25807d3" providerId="ADAL" clId="{6E6BB287-36A5-4019-B86C-EECBD7B9E602}" dt="2026-10-08T13:28:25.439" v="149"/>
          <ac:spMkLst>
            <pc:docMk/>
            <pc:sldMk cId="1485018162" sldId="278"/>
            <ac:spMk id="4" creationId="{3B261EFB-CA5E-70E8-C443-0B7B624C7F16}"/>
          </ac:spMkLst>
        </pc:spChg>
      </pc:sldChg>
      <pc:sldChg chg="addSp delSp modSp mod">
        <pc:chgData name="Edson Utazi" userId="bcb3a38a-3ad0-4389-89a4-f1f4b25807d3" providerId="ADAL" clId="{6E6BB287-36A5-4019-B86C-EECBD7B9E602}" dt="2026-10-08T13:30:28.990" v="180"/>
        <pc:sldMkLst>
          <pc:docMk/>
          <pc:sldMk cId="486715310" sldId="279"/>
        </pc:sldMkLst>
        <pc:spChg chg="add mod">
          <ac:chgData name="Edson Utazi" userId="bcb3a38a-3ad0-4389-89a4-f1f4b25807d3" providerId="ADAL" clId="{6E6BB287-36A5-4019-B86C-EECBD7B9E602}" dt="2026-10-08T13:30:28.990" v="180"/>
          <ac:spMkLst>
            <pc:docMk/>
            <pc:sldMk cId="486715310" sldId="279"/>
            <ac:spMk id="4" creationId="{A8A9FF5D-6550-A148-7D20-359F61E78718}"/>
          </ac:spMkLst>
        </pc:spChg>
      </pc:sldChg>
      <pc:sldChg chg="addSp delSp modSp mod">
        <pc:chgData name="Edson Utazi" userId="bcb3a38a-3ad0-4389-89a4-f1f4b25807d3" providerId="ADAL" clId="{6E6BB287-36A5-4019-B86C-EECBD7B9E602}" dt="2026-10-08T13:31:21.738" v="191"/>
        <pc:sldMkLst>
          <pc:docMk/>
          <pc:sldMk cId="1983957257" sldId="280"/>
        </pc:sldMkLst>
        <pc:spChg chg="add mod">
          <ac:chgData name="Edson Utazi" userId="bcb3a38a-3ad0-4389-89a4-f1f4b25807d3" providerId="ADAL" clId="{6E6BB287-36A5-4019-B86C-EECBD7B9E602}" dt="2026-10-08T13:31:21.738" v="191"/>
          <ac:spMkLst>
            <pc:docMk/>
            <pc:sldMk cId="1983957257" sldId="280"/>
            <ac:spMk id="6" creationId="{DA0F7345-FEE2-2E68-E884-954BB2755458}"/>
          </ac:spMkLst>
        </pc:spChg>
      </pc:sldChg>
      <pc:sldChg chg="addSp delSp modSp mod">
        <pc:chgData name="Edson Utazi" userId="bcb3a38a-3ad0-4389-89a4-f1f4b25807d3" providerId="ADAL" clId="{6E6BB287-36A5-4019-B86C-EECBD7B9E602}" dt="2026-10-08T13:31:48.777" v="197" actId="1076"/>
        <pc:sldMkLst>
          <pc:docMk/>
          <pc:sldMk cId="2707571882" sldId="281"/>
        </pc:sldMkLst>
        <pc:spChg chg="mod">
          <ac:chgData name="Edson Utazi" userId="bcb3a38a-3ad0-4389-89a4-f1f4b25807d3" providerId="ADAL" clId="{6E6BB287-36A5-4019-B86C-EECBD7B9E602}" dt="2026-10-08T13:31:48.777" v="197" actId="1076"/>
          <ac:spMkLst>
            <pc:docMk/>
            <pc:sldMk cId="2707571882" sldId="281"/>
            <ac:spMk id="3" creationId="{4A318168-BF5C-8807-E1C9-01ED265E7402}"/>
          </ac:spMkLst>
        </pc:spChg>
        <pc:spChg chg="add mod">
          <ac:chgData name="Edson Utazi" userId="bcb3a38a-3ad0-4389-89a4-f1f4b25807d3" providerId="ADAL" clId="{6E6BB287-36A5-4019-B86C-EECBD7B9E602}" dt="2026-10-08T13:31:28.550" v="193"/>
          <ac:spMkLst>
            <pc:docMk/>
            <pc:sldMk cId="2707571882" sldId="281"/>
            <ac:spMk id="4" creationId="{F1603326-632E-2F04-BD52-D8570F61B4B5}"/>
          </ac:spMkLst>
        </pc:spChg>
      </pc:sldChg>
      <pc:sldChg chg="addSp delSp modSp mod">
        <pc:chgData name="Edson Utazi" userId="bcb3a38a-3ad0-4389-89a4-f1f4b25807d3" providerId="ADAL" clId="{6E6BB287-36A5-4019-B86C-EECBD7B9E602}" dt="2026-10-08T13:31:43.007" v="196" actId="1076"/>
        <pc:sldMkLst>
          <pc:docMk/>
          <pc:sldMk cId="2022993968" sldId="282"/>
        </pc:sldMkLst>
        <pc:spChg chg="mod">
          <ac:chgData name="Edson Utazi" userId="bcb3a38a-3ad0-4389-89a4-f1f4b25807d3" providerId="ADAL" clId="{6E6BB287-36A5-4019-B86C-EECBD7B9E602}" dt="2026-10-08T13:31:43.007" v="196" actId="1076"/>
          <ac:spMkLst>
            <pc:docMk/>
            <pc:sldMk cId="2022993968" sldId="282"/>
            <ac:spMk id="3" creationId="{AB1F6C2B-5F4B-424E-12BC-5CA9601D3686}"/>
          </ac:spMkLst>
        </pc:spChg>
        <pc:spChg chg="add mod">
          <ac:chgData name="Edson Utazi" userId="bcb3a38a-3ad0-4389-89a4-f1f4b25807d3" providerId="ADAL" clId="{6E6BB287-36A5-4019-B86C-EECBD7B9E602}" dt="2026-10-08T13:31:38.427" v="195"/>
          <ac:spMkLst>
            <pc:docMk/>
            <pc:sldMk cId="2022993968" sldId="282"/>
            <ac:spMk id="4" creationId="{23072F4B-855A-C890-882D-0B5A2404FBC6}"/>
          </ac:spMkLst>
        </pc:spChg>
      </pc:sldChg>
      <pc:sldChg chg="modSp mod">
        <pc:chgData name="Edson Utazi" userId="bcb3a38a-3ad0-4389-89a4-f1f4b25807d3" providerId="ADAL" clId="{6E6BB287-36A5-4019-B86C-EECBD7B9E602}" dt="2026-10-12T05:52:22.409" v="1843" actId="27636"/>
        <pc:sldMkLst>
          <pc:docMk/>
          <pc:sldMk cId="2452809790" sldId="284"/>
        </pc:sldMkLst>
        <pc:spChg chg="mod">
          <ac:chgData name="Edson Utazi" userId="bcb3a38a-3ad0-4389-89a4-f1f4b25807d3" providerId="ADAL" clId="{6E6BB287-36A5-4019-B86C-EECBD7B9E602}" dt="2026-10-08T13:32:48.741" v="214" actId="2711"/>
          <ac:spMkLst>
            <pc:docMk/>
            <pc:sldMk cId="2452809790" sldId="284"/>
            <ac:spMk id="2" creationId="{BFF5F07C-5C6D-4D2B-C5E7-4BDF3034123F}"/>
          </ac:spMkLst>
        </pc:spChg>
        <pc:spChg chg="mod">
          <ac:chgData name="Edson Utazi" userId="bcb3a38a-3ad0-4389-89a4-f1f4b25807d3" providerId="ADAL" clId="{6E6BB287-36A5-4019-B86C-EECBD7B9E602}" dt="2026-10-12T05:52:22.409" v="1843" actId="27636"/>
          <ac:spMkLst>
            <pc:docMk/>
            <pc:sldMk cId="2452809790" sldId="284"/>
            <ac:spMk id="3" creationId="{C5980116-50A1-24AB-2B6C-0295FDAD24E4}"/>
          </ac:spMkLst>
        </pc:spChg>
      </pc:sldChg>
      <pc:sldChg chg="modSp mod">
        <pc:chgData name="Edson Utazi" userId="bcb3a38a-3ad0-4389-89a4-f1f4b25807d3" providerId="ADAL" clId="{6E6BB287-36A5-4019-B86C-EECBD7B9E602}" dt="2026-10-08T13:32:12.150" v="205" actId="1076"/>
        <pc:sldMkLst>
          <pc:docMk/>
          <pc:sldMk cId="3684541980" sldId="285"/>
        </pc:sldMkLst>
        <pc:spChg chg="mod">
          <ac:chgData name="Edson Utazi" userId="bcb3a38a-3ad0-4389-89a4-f1f4b25807d3" providerId="ADAL" clId="{6E6BB287-36A5-4019-B86C-EECBD7B9E602}" dt="2026-10-08T13:32:08.144" v="204" actId="207"/>
          <ac:spMkLst>
            <pc:docMk/>
            <pc:sldMk cId="3684541980" sldId="285"/>
            <ac:spMk id="2" creationId="{66FAE75F-D371-2C5F-B2D2-34983F52BC6E}"/>
          </ac:spMkLst>
        </pc:spChg>
        <pc:spChg chg="mod">
          <ac:chgData name="Edson Utazi" userId="bcb3a38a-3ad0-4389-89a4-f1f4b25807d3" providerId="ADAL" clId="{6E6BB287-36A5-4019-B86C-EECBD7B9E602}" dt="2026-10-08T13:32:12.150" v="205" actId="1076"/>
          <ac:spMkLst>
            <pc:docMk/>
            <pc:sldMk cId="3684541980" sldId="285"/>
            <ac:spMk id="3" creationId="{4D3F2007-5659-0DF8-39FC-DE508CEE4EA4}"/>
          </ac:spMkLst>
        </pc:spChg>
      </pc:sldChg>
      <pc:sldChg chg="addSp delSp modSp mod">
        <pc:chgData name="Edson Utazi" userId="bcb3a38a-3ad0-4389-89a4-f1f4b25807d3" providerId="ADAL" clId="{6E6BB287-36A5-4019-B86C-EECBD7B9E602}" dt="2026-10-08T13:32:25.360" v="208"/>
        <pc:sldMkLst>
          <pc:docMk/>
          <pc:sldMk cId="2420326393" sldId="286"/>
        </pc:sldMkLst>
        <pc:spChg chg="add mod">
          <ac:chgData name="Edson Utazi" userId="bcb3a38a-3ad0-4389-89a4-f1f4b25807d3" providerId="ADAL" clId="{6E6BB287-36A5-4019-B86C-EECBD7B9E602}" dt="2026-10-08T13:32:25.360" v="208"/>
          <ac:spMkLst>
            <pc:docMk/>
            <pc:sldMk cId="2420326393" sldId="286"/>
            <ac:spMk id="6" creationId="{82F15BBB-ED49-5ACB-E088-87F8EF382B6D}"/>
          </ac:spMkLst>
        </pc:spChg>
      </pc:sldChg>
      <pc:sldChg chg="modSp mod">
        <pc:chgData name="Edson Utazi" userId="bcb3a38a-3ad0-4389-89a4-f1f4b25807d3" providerId="ADAL" clId="{6E6BB287-36A5-4019-B86C-EECBD7B9E602}" dt="2026-10-08T13:33:22.913" v="221" actId="207"/>
        <pc:sldMkLst>
          <pc:docMk/>
          <pc:sldMk cId="2264802818" sldId="287"/>
        </pc:sldMkLst>
        <pc:spChg chg="mod">
          <ac:chgData name="Edson Utazi" userId="bcb3a38a-3ad0-4389-89a4-f1f4b25807d3" providerId="ADAL" clId="{6E6BB287-36A5-4019-B86C-EECBD7B9E602}" dt="2026-10-08T13:33:22.913" v="221" actId="207"/>
          <ac:spMkLst>
            <pc:docMk/>
            <pc:sldMk cId="2264802818" sldId="287"/>
            <ac:spMk id="2" creationId="{34990762-DEA2-CC53-B4F4-7B00BDC11169}"/>
          </ac:spMkLst>
        </pc:spChg>
      </pc:sldChg>
      <pc:sldChg chg="addSp delSp modSp mod">
        <pc:chgData name="Edson Utazi" userId="bcb3a38a-3ad0-4389-89a4-f1f4b25807d3" providerId="ADAL" clId="{6E6BB287-36A5-4019-B86C-EECBD7B9E602}" dt="2026-10-08T13:33:34.208" v="224"/>
        <pc:sldMkLst>
          <pc:docMk/>
          <pc:sldMk cId="3140554412" sldId="288"/>
        </pc:sldMkLst>
        <pc:spChg chg="add mod">
          <ac:chgData name="Edson Utazi" userId="bcb3a38a-3ad0-4389-89a4-f1f4b25807d3" providerId="ADAL" clId="{6E6BB287-36A5-4019-B86C-EECBD7B9E602}" dt="2026-10-08T13:33:34.208" v="224"/>
          <ac:spMkLst>
            <pc:docMk/>
            <pc:sldMk cId="3140554412" sldId="288"/>
            <ac:spMk id="6" creationId="{C510914C-3411-EDE6-EC98-C4A895AE8B89}"/>
          </ac:spMkLst>
        </pc:spChg>
      </pc:sldChg>
      <pc:sldChg chg="modSp mod">
        <pc:chgData name="Edson Utazi" userId="bcb3a38a-3ad0-4389-89a4-f1f4b25807d3" providerId="ADAL" clId="{6E6BB287-36A5-4019-B86C-EECBD7B9E602}" dt="2026-10-08T13:34:03.844" v="231" actId="113"/>
        <pc:sldMkLst>
          <pc:docMk/>
          <pc:sldMk cId="3243979260" sldId="289"/>
        </pc:sldMkLst>
        <pc:spChg chg="mod">
          <ac:chgData name="Edson Utazi" userId="bcb3a38a-3ad0-4389-89a4-f1f4b25807d3" providerId="ADAL" clId="{6E6BB287-36A5-4019-B86C-EECBD7B9E602}" dt="2026-10-08T13:34:03.844" v="231" actId="113"/>
          <ac:spMkLst>
            <pc:docMk/>
            <pc:sldMk cId="3243979260" sldId="289"/>
            <ac:spMk id="4" creationId="{3BC2A73A-899C-12B7-BB36-B4EB93C6C547}"/>
          </ac:spMkLst>
        </pc:spChg>
      </pc:sldChg>
      <pc:sldChg chg="modSp mod">
        <pc:chgData name="Edson Utazi" userId="bcb3a38a-3ad0-4389-89a4-f1f4b25807d3" providerId="ADAL" clId="{6E6BB287-36A5-4019-B86C-EECBD7B9E602}" dt="2026-10-08T13:36:26.513" v="265" actId="1076"/>
        <pc:sldMkLst>
          <pc:docMk/>
          <pc:sldMk cId="3280919364" sldId="290"/>
        </pc:sldMkLst>
        <pc:spChg chg="mod">
          <ac:chgData name="Edson Utazi" userId="bcb3a38a-3ad0-4389-89a4-f1f4b25807d3" providerId="ADAL" clId="{6E6BB287-36A5-4019-B86C-EECBD7B9E602}" dt="2026-10-08T13:36:20.895" v="264" actId="207"/>
          <ac:spMkLst>
            <pc:docMk/>
            <pc:sldMk cId="3280919364" sldId="290"/>
            <ac:spMk id="2" creationId="{1C25BC59-96FC-318C-A035-3F2778183A12}"/>
          </ac:spMkLst>
        </pc:spChg>
        <pc:spChg chg="mod">
          <ac:chgData name="Edson Utazi" userId="bcb3a38a-3ad0-4389-89a4-f1f4b25807d3" providerId="ADAL" clId="{6E6BB287-36A5-4019-B86C-EECBD7B9E602}" dt="2026-10-08T13:36:26.513" v="265" actId="1076"/>
          <ac:spMkLst>
            <pc:docMk/>
            <pc:sldMk cId="3280919364" sldId="290"/>
            <ac:spMk id="3" creationId="{360E1FB9-F606-3755-F646-EECD705BE8C4}"/>
          </ac:spMkLst>
        </pc:spChg>
      </pc:sldChg>
      <pc:sldChg chg="addSp delSp modSp mod">
        <pc:chgData name="Edson Utazi" userId="bcb3a38a-3ad0-4389-89a4-f1f4b25807d3" providerId="ADAL" clId="{6E6BB287-36A5-4019-B86C-EECBD7B9E602}" dt="2026-10-08T13:34:34.738" v="236" actId="1076"/>
        <pc:sldMkLst>
          <pc:docMk/>
          <pc:sldMk cId="1990275071" sldId="292"/>
        </pc:sldMkLst>
        <pc:spChg chg="mod">
          <ac:chgData name="Edson Utazi" userId="bcb3a38a-3ad0-4389-89a4-f1f4b25807d3" providerId="ADAL" clId="{6E6BB287-36A5-4019-B86C-EECBD7B9E602}" dt="2026-10-08T13:34:31.126" v="235" actId="1076"/>
          <ac:spMkLst>
            <pc:docMk/>
            <pc:sldMk cId="1990275071" sldId="292"/>
            <ac:spMk id="3" creationId="{2A549CB1-1438-35CF-7685-2BBCC3EF5A9B}"/>
          </ac:spMkLst>
        </pc:spChg>
        <pc:spChg chg="mod">
          <ac:chgData name="Edson Utazi" userId="bcb3a38a-3ad0-4389-89a4-f1f4b25807d3" providerId="ADAL" clId="{6E6BB287-36A5-4019-B86C-EECBD7B9E602}" dt="2026-10-08T13:34:34.738" v="236" actId="1076"/>
          <ac:spMkLst>
            <pc:docMk/>
            <pc:sldMk cId="1990275071" sldId="292"/>
            <ac:spMk id="4" creationId="{28BE594C-1897-FB3C-7FF0-176CD9BEC967}"/>
          </ac:spMkLst>
        </pc:spChg>
        <pc:spChg chg="add mod">
          <ac:chgData name="Edson Utazi" userId="bcb3a38a-3ad0-4389-89a4-f1f4b25807d3" providerId="ADAL" clId="{6E6BB287-36A5-4019-B86C-EECBD7B9E602}" dt="2026-10-08T13:34:25.804" v="234"/>
          <ac:spMkLst>
            <pc:docMk/>
            <pc:sldMk cId="1990275071" sldId="292"/>
            <ac:spMk id="7" creationId="{046B9F8F-FE9F-E9BC-3909-17F338AD4C8F}"/>
          </ac:spMkLst>
        </pc:spChg>
      </pc:sldChg>
      <pc:sldChg chg="addSp delSp modSp mod">
        <pc:chgData name="Edson Utazi" userId="bcb3a38a-3ad0-4389-89a4-f1f4b25807d3" providerId="ADAL" clId="{6E6BB287-36A5-4019-B86C-EECBD7B9E602}" dt="2026-10-08T13:34:47.009" v="239"/>
        <pc:sldMkLst>
          <pc:docMk/>
          <pc:sldMk cId="1043029978" sldId="293"/>
        </pc:sldMkLst>
        <pc:spChg chg="add mod">
          <ac:chgData name="Edson Utazi" userId="bcb3a38a-3ad0-4389-89a4-f1f4b25807d3" providerId="ADAL" clId="{6E6BB287-36A5-4019-B86C-EECBD7B9E602}" dt="2026-10-08T13:34:47.009" v="239"/>
          <ac:spMkLst>
            <pc:docMk/>
            <pc:sldMk cId="1043029978" sldId="293"/>
            <ac:spMk id="6" creationId="{0C324301-7CBC-454B-C1EA-8CEE85A7373A}"/>
          </ac:spMkLst>
        </pc:spChg>
      </pc:sldChg>
      <pc:sldChg chg="addSp delSp modSp mod">
        <pc:chgData name="Edson Utazi" userId="bcb3a38a-3ad0-4389-89a4-f1f4b25807d3" providerId="ADAL" clId="{6E6BB287-36A5-4019-B86C-EECBD7B9E602}" dt="2026-10-08T13:35:02.698" v="243" actId="1076"/>
        <pc:sldMkLst>
          <pc:docMk/>
          <pc:sldMk cId="2470168209" sldId="294"/>
        </pc:sldMkLst>
        <pc:spChg chg="mod">
          <ac:chgData name="Edson Utazi" userId="bcb3a38a-3ad0-4389-89a4-f1f4b25807d3" providerId="ADAL" clId="{6E6BB287-36A5-4019-B86C-EECBD7B9E602}" dt="2026-10-08T13:35:02.698" v="243" actId="1076"/>
          <ac:spMkLst>
            <pc:docMk/>
            <pc:sldMk cId="2470168209" sldId="294"/>
            <ac:spMk id="4" creationId="{ECD51D4D-4B6C-D8E1-4ABF-1F630DD6AC47}"/>
          </ac:spMkLst>
        </pc:spChg>
        <pc:spChg chg="add mod">
          <ac:chgData name="Edson Utazi" userId="bcb3a38a-3ad0-4389-89a4-f1f4b25807d3" providerId="ADAL" clId="{6E6BB287-36A5-4019-B86C-EECBD7B9E602}" dt="2026-10-08T13:34:58.684" v="242"/>
          <ac:spMkLst>
            <pc:docMk/>
            <pc:sldMk cId="2470168209" sldId="294"/>
            <ac:spMk id="6" creationId="{C2CE117F-D18D-687D-A0BD-A1587F5654CC}"/>
          </ac:spMkLst>
        </pc:spChg>
      </pc:sldChg>
      <pc:sldChg chg="addSp delSp modSp mod">
        <pc:chgData name="Edson Utazi" userId="bcb3a38a-3ad0-4389-89a4-f1f4b25807d3" providerId="ADAL" clId="{6E6BB287-36A5-4019-B86C-EECBD7B9E602}" dt="2026-10-08T13:35:12.280" v="246"/>
        <pc:sldMkLst>
          <pc:docMk/>
          <pc:sldMk cId="2607977561" sldId="295"/>
        </pc:sldMkLst>
        <pc:spChg chg="add mod">
          <ac:chgData name="Edson Utazi" userId="bcb3a38a-3ad0-4389-89a4-f1f4b25807d3" providerId="ADAL" clId="{6E6BB287-36A5-4019-B86C-EECBD7B9E602}" dt="2026-10-08T13:35:12.280" v="246"/>
          <ac:spMkLst>
            <pc:docMk/>
            <pc:sldMk cId="2607977561" sldId="295"/>
            <ac:spMk id="6" creationId="{72A89761-A5C7-B69F-6D98-63C1207C8D37}"/>
          </ac:spMkLst>
        </pc:spChg>
      </pc:sldChg>
      <pc:sldChg chg="modSp mod">
        <pc:chgData name="Edson Utazi" userId="bcb3a38a-3ad0-4389-89a4-f1f4b25807d3" providerId="ADAL" clId="{6E6BB287-36A5-4019-B86C-EECBD7B9E602}" dt="2026-10-08T13:36:54.893" v="273" actId="1076"/>
        <pc:sldMkLst>
          <pc:docMk/>
          <pc:sldMk cId="162075631" sldId="296"/>
        </pc:sldMkLst>
        <pc:spChg chg="mod">
          <ac:chgData name="Edson Utazi" userId="bcb3a38a-3ad0-4389-89a4-f1f4b25807d3" providerId="ADAL" clId="{6E6BB287-36A5-4019-B86C-EECBD7B9E602}" dt="2026-10-08T13:36:49.206" v="272" actId="2711"/>
          <ac:spMkLst>
            <pc:docMk/>
            <pc:sldMk cId="162075631" sldId="296"/>
            <ac:spMk id="2" creationId="{E0D5DF93-E011-E084-FE7B-7285525C5593}"/>
          </ac:spMkLst>
        </pc:spChg>
        <pc:spChg chg="mod">
          <ac:chgData name="Edson Utazi" userId="bcb3a38a-3ad0-4389-89a4-f1f4b25807d3" providerId="ADAL" clId="{6E6BB287-36A5-4019-B86C-EECBD7B9E602}" dt="2026-10-08T13:36:54.893" v="273" actId="1076"/>
          <ac:spMkLst>
            <pc:docMk/>
            <pc:sldMk cId="162075631" sldId="296"/>
            <ac:spMk id="3" creationId="{9CE2CEC7-8871-FA54-A90B-A9DF4E77C9B2}"/>
          </ac:spMkLst>
        </pc:spChg>
      </pc:sldChg>
      <pc:sldChg chg="modSp mod">
        <pc:chgData name="Edson Utazi" userId="bcb3a38a-3ad0-4389-89a4-f1f4b25807d3" providerId="ADAL" clId="{6E6BB287-36A5-4019-B86C-EECBD7B9E602}" dt="2026-10-08T13:43:46.847" v="277" actId="207"/>
        <pc:sldMkLst>
          <pc:docMk/>
          <pc:sldMk cId="2909916451" sldId="297"/>
        </pc:sldMkLst>
        <pc:spChg chg="mod">
          <ac:chgData name="Edson Utazi" userId="bcb3a38a-3ad0-4389-89a4-f1f4b25807d3" providerId="ADAL" clId="{6E6BB287-36A5-4019-B86C-EECBD7B9E602}" dt="2026-10-08T13:43:46.847" v="277" actId="207"/>
          <ac:spMkLst>
            <pc:docMk/>
            <pc:sldMk cId="2909916451" sldId="297"/>
            <ac:spMk id="2" creationId="{DB020912-C3CF-F8D4-A76F-D393C3951D8F}"/>
          </ac:spMkLst>
        </pc:spChg>
      </pc:sldChg>
      <pc:sldChg chg="modSp mod">
        <pc:chgData name="Edson Utazi" userId="bcb3a38a-3ad0-4389-89a4-f1f4b25807d3" providerId="ADAL" clId="{6E6BB287-36A5-4019-B86C-EECBD7B9E602}" dt="2026-10-12T06:05:56.729" v="1848" actId="20577"/>
        <pc:sldMkLst>
          <pc:docMk/>
          <pc:sldMk cId="4004945315" sldId="298"/>
        </pc:sldMkLst>
        <pc:spChg chg="mod">
          <ac:chgData name="Edson Utazi" userId="bcb3a38a-3ad0-4389-89a4-f1f4b25807d3" providerId="ADAL" clId="{6E6BB287-36A5-4019-B86C-EECBD7B9E602}" dt="2026-10-08T13:36:00.510" v="258" actId="2711"/>
          <ac:spMkLst>
            <pc:docMk/>
            <pc:sldMk cId="4004945315" sldId="298"/>
            <ac:spMk id="2" creationId="{336BEC2B-D6DF-197E-CFF6-AA881CFE2147}"/>
          </ac:spMkLst>
        </pc:spChg>
        <pc:spChg chg="mod">
          <ac:chgData name="Edson Utazi" userId="bcb3a38a-3ad0-4389-89a4-f1f4b25807d3" providerId="ADAL" clId="{6E6BB287-36A5-4019-B86C-EECBD7B9E602}" dt="2026-10-12T06:05:56.729" v="1848" actId="20577"/>
          <ac:spMkLst>
            <pc:docMk/>
            <pc:sldMk cId="4004945315" sldId="298"/>
            <ac:spMk id="3" creationId="{5B6C0240-7E82-4AA2-5EC1-10C692B11F86}"/>
          </ac:spMkLst>
        </pc:spChg>
      </pc:sldChg>
      <pc:sldChg chg="modSp mod">
        <pc:chgData name="Edson Utazi" userId="bcb3a38a-3ad0-4389-89a4-f1f4b25807d3" providerId="ADAL" clId="{6E6BB287-36A5-4019-B86C-EECBD7B9E602}" dt="2026-10-08T13:27:05.039" v="130" actId="14100"/>
        <pc:sldMkLst>
          <pc:docMk/>
          <pc:sldMk cId="11987116" sldId="300"/>
        </pc:sldMkLst>
        <pc:spChg chg="mod">
          <ac:chgData name="Edson Utazi" userId="bcb3a38a-3ad0-4389-89a4-f1f4b25807d3" providerId="ADAL" clId="{6E6BB287-36A5-4019-B86C-EECBD7B9E602}" dt="2026-10-08T13:27:05.039" v="130" actId="14100"/>
          <ac:spMkLst>
            <pc:docMk/>
            <pc:sldMk cId="11987116" sldId="300"/>
            <ac:spMk id="2" creationId="{C760F3DC-8AFE-3811-3D59-E2D793997A8B}"/>
          </ac:spMkLst>
        </pc:spChg>
      </pc:sldChg>
      <pc:sldChg chg="addSp delSp modSp mod">
        <pc:chgData name="Edson Utazi" userId="bcb3a38a-3ad0-4389-89a4-f1f4b25807d3" providerId="ADAL" clId="{6E6BB287-36A5-4019-B86C-EECBD7B9E602}" dt="2026-10-08T13:55:49.739" v="385" actId="14100"/>
        <pc:sldMkLst>
          <pc:docMk/>
          <pc:sldMk cId="3632900069" sldId="301"/>
        </pc:sldMkLst>
        <pc:spChg chg="add mod">
          <ac:chgData name="Edson Utazi" userId="bcb3a38a-3ad0-4389-89a4-f1f4b25807d3" providerId="ADAL" clId="{6E6BB287-36A5-4019-B86C-EECBD7B9E602}" dt="2026-10-08T13:52:49.410" v="347"/>
          <ac:spMkLst>
            <pc:docMk/>
            <pc:sldMk cId="3632900069" sldId="301"/>
            <ac:spMk id="6" creationId="{D5D777FA-35E5-9510-160B-DE4BEA5E4828}"/>
          </ac:spMkLst>
        </pc:spChg>
        <pc:spChg chg="add mod">
          <ac:chgData name="Edson Utazi" userId="bcb3a38a-3ad0-4389-89a4-f1f4b25807d3" providerId="ADAL" clId="{6E6BB287-36A5-4019-B86C-EECBD7B9E602}" dt="2026-10-08T13:55:49.739" v="385" actId="14100"/>
          <ac:spMkLst>
            <pc:docMk/>
            <pc:sldMk cId="3632900069" sldId="301"/>
            <ac:spMk id="7" creationId="{6467375C-88C0-B65E-0803-2A9C6618FC58}"/>
          </ac:spMkLst>
        </pc:spChg>
        <pc:picChg chg="mod">
          <ac:chgData name="Edson Utazi" userId="bcb3a38a-3ad0-4389-89a4-f1f4b25807d3" providerId="ADAL" clId="{6E6BB287-36A5-4019-B86C-EECBD7B9E602}" dt="2026-10-08T13:55:43.949" v="383" actId="14100"/>
          <ac:picMkLst>
            <pc:docMk/>
            <pc:sldMk cId="3632900069" sldId="301"/>
            <ac:picMk id="4" creationId="{D751E361-6955-960C-F2AF-A5B0D2BD15D8}"/>
          </ac:picMkLst>
        </pc:picChg>
      </pc:sldChg>
      <pc:sldChg chg="addSp modSp mod">
        <pc:chgData name="Edson Utazi" userId="bcb3a38a-3ad0-4389-89a4-f1f4b25807d3" providerId="ADAL" clId="{6E6BB287-36A5-4019-B86C-EECBD7B9E602}" dt="2026-10-08T13:54:25.729" v="361" actId="1076"/>
        <pc:sldMkLst>
          <pc:docMk/>
          <pc:sldMk cId="3727450684" sldId="302"/>
        </pc:sldMkLst>
        <pc:spChg chg="add mod">
          <ac:chgData name="Edson Utazi" userId="bcb3a38a-3ad0-4389-89a4-f1f4b25807d3" providerId="ADAL" clId="{6E6BB287-36A5-4019-B86C-EECBD7B9E602}" dt="2026-10-08T13:54:18.454" v="360"/>
          <ac:spMkLst>
            <pc:docMk/>
            <pc:sldMk cId="3727450684" sldId="302"/>
            <ac:spMk id="2" creationId="{463D0AD3-A289-F754-8B27-0082B82DC7A0}"/>
          </ac:spMkLst>
        </pc:spChg>
        <pc:spChg chg="mod">
          <ac:chgData name="Edson Utazi" userId="bcb3a38a-3ad0-4389-89a4-f1f4b25807d3" providerId="ADAL" clId="{6E6BB287-36A5-4019-B86C-EECBD7B9E602}" dt="2026-10-08T13:54:25.729" v="361" actId="1076"/>
          <ac:spMkLst>
            <pc:docMk/>
            <pc:sldMk cId="3727450684" sldId="302"/>
            <ac:spMk id="5" creationId="{7D78E9B0-F196-975A-4600-11372FE1881E}"/>
          </ac:spMkLst>
        </pc:spChg>
        <pc:spChg chg="mod">
          <ac:chgData name="Edson Utazi" userId="bcb3a38a-3ad0-4389-89a4-f1f4b25807d3" providerId="ADAL" clId="{6E6BB287-36A5-4019-B86C-EECBD7B9E602}" dt="2026-10-08T13:54:25.729" v="361" actId="1076"/>
          <ac:spMkLst>
            <pc:docMk/>
            <pc:sldMk cId="3727450684" sldId="302"/>
            <ac:spMk id="8" creationId="{95008CD9-1CAB-D952-6DA2-D531F77AEC97}"/>
          </ac:spMkLst>
        </pc:spChg>
        <pc:picChg chg="mod">
          <ac:chgData name="Edson Utazi" userId="bcb3a38a-3ad0-4389-89a4-f1f4b25807d3" providerId="ADAL" clId="{6E6BB287-36A5-4019-B86C-EECBD7B9E602}" dt="2026-10-08T13:54:25.729" v="361" actId="1076"/>
          <ac:picMkLst>
            <pc:docMk/>
            <pc:sldMk cId="3727450684" sldId="302"/>
            <ac:picMk id="4" creationId="{E419EA37-1567-6887-86B4-ABBD6DDBC705}"/>
          </ac:picMkLst>
        </pc:picChg>
        <pc:picChg chg="mod">
          <ac:chgData name="Edson Utazi" userId="bcb3a38a-3ad0-4389-89a4-f1f4b25807d3" providerId="ADAL" clId="{6E6BB287-36A5-4019-B86C-EECBD7B9E602}" dt="2026-10-08T13:54:25.729" v="361" actId="1076"/>
          <ac:picMkLst>
            <pc:docMk/>
            <pc:sldMk cId="3727450684" sldId="302"/>
            <ac:picMk id="6" creationId="{EE992071-DD7D-A5DD-48DA-3D953ACAB0C4}"/>
          </ac:picMkLst>
        </pc:picChg>
      </pc:sldChg>
      <pc:sldChg chg="modSp mod">
        <pc:chgData name="Edson Utazi" userId="bcb3a38a-3ad0-4389-89a4-f1f4b25807d3" providerId="ADAL" clId="{6E6BB287-36A5-4019-B86C-EECBD7B9E602}" dt="2026-10-08T15:29:37.333" v="1317" actId="27636"/>
        <pc:sldMkLst>
          <pc:docMk/>
          <pc:sldMk cId="1440363012" sldId="303"/>
        </pc:sldMkLst>
        <pc:spChg chg="mod">
          <ac:chgData name="Edson Utazi" userId="bcb3a38a-3ad0-4389-89a4-f1f4b25807d3" providerId="ADAL" clId="{6E6BB287-36A5-4019-B86C-EECBD7B9E602}" dt="2026-10-08T13:54:41.801" v="366" actId="207"/>
          <ac:spMkLst>
            <pc:docMk/>
            <pc:sldMk cId="1440363012" sldId="303"/>
            <ac:spMk id="2" creationId="{9D2691E7-CD94-E285-6AAA-9AFA73CDD28B}"/>
          </ac:spMkLst>
        </pc:spChg>
        <pc:spChg chg="mod">
          <ac:chgData name="Edson Utazi" userId="bcb3a38a-3ad0-4389-89a4-f1f4b25807d3" providerId="ADAL" clId="{6E6BB287-36A5-4019-B86C-EECBD7B9E602}" dt="2026-10-08T15:29:37.333" v="1317" actId="27636"/>
          <ac:spMkLst>
            <pc:docMk/>
            <pc:sldMk cId="1440363012" sldId="303"/>
            <ac:spMk id="3" creationId="{95C8BA86-FB48-2A18-980D-8481EE570841}"/>
          </ac:spMkLst>
        </pc:spChg>
      </pc:sldChg>
      <pc:sldChg chg="addSp delSp modSp mod">
        <pc:chgData name="Edson Utazi" userId="bcb3a38a-3ad0-4389-89a4-f1f4b25807d3" providerId="ADAL" clId="{6E6BB287-36A5-4019-B86C-EECBD7B9E602}" dt="2026-10-08T13:52:35.291" v="343" actId="14100"/>
        <pc:sldMkLst>
          <pc:docMk/>
          <pc:sldMk cId="101704168" sldId="304"/>
        </pc:sldMkLst>
        <pc:spChg chg="mod">
          <ac:chgData name="Edson Utazi" userId="bcb3a38a-3ad0-4389-89a4-f1f4b25807d3" providerId="ADAL" clId="{6E6BB287-36A5-4019-B86C-EECBD7B9E602}" dt="2026-10-08T13:52:35.291" v="343" actId="14100"/>
          <ac:spMkLst>
            <pc:docMk/>
            <pc:sldMk cId="101704168" sldId="304"/>
            <ac:spMk id="4" creationId="{6128A8AD-DF18-85B3-0626-A0CF4CE9E324}"/>
          </ac:spMkLst>
        </pc:spChg>
        <pc:spChg chg="add mod">
          <ac:chgData name="Edson Utazi" userId="bcb3a38a-3ad0-4389-89a4-f1f4b25807d3" providerId="ADAL" clId="{6E6BB287-36A5-4019-B86C-EECBD7B9E602}" dt="2026-10-08T13:51:10.499" v="313" actId="20577"/>
          <ac:spMkLst>
            <pc:docMk/>
            <pc:sldMk cId="101704168" sldId="304"/>
            <ac:spMk id="8" creationId="{12FB427C-5F9A-9515-57BA-AB776D8569AE}"/>
          </ac:spMkLst>
        </pc:spChg>
        <pc:spChg chg="add mod">
          <ac:chgData name="Edson Utazi" userId="bcb3a38a-3ad0-4389-89a4-f1f4b25807d3" providerId="ADAL" clId="{6E6BB287-36A5-4019-B86C-EECBD7B9E602}" dt="2026-10-08T13:51:58.585" v="335" actId="1076"/>
          <ac:spMkLst>
            <pc:docMk/>
            <pc:sldMk cId="101704168" sldId="304"/>
            <ac:spMk id="10" creationId="{1E66DCEE-B8C5-B11E-6768-284B2D7605B0}"/>
          </ac:spMkLst>
        </pc:spChg>
        <pc:spChg chg="add mod">
          <ac:chgData name="Edson Utazi" userId="bcb3a38a-3ad0-4389-89a4-f1f4b25807d3" providerId="ADAL" clId="{6E6BB287-36A5-4019-B86C-EECBD7B9E602}" dt="2026-10-08T13:52:08.134" v="338" actId="1076"/>
          <ac:spMkLst>
            <pc:docMk/>
            <pc:sldMk cId="101704168" sldId="304"/>
            <ac:spMk id="11" creationId="{E20DC5C6-E066-7114-A9A2-F55D3D234D12}"/>
          </ac:spMkLst>
        </pc:spChg>
        <pc:picChg chg="add mod">
          <ac:chgData name="Edson Utazi" userId="bcb3a38a-3ad0-4389-89a4-f1f4b25807d3" providerId="ADAL" clId="{6E6BB287-36A5-4019-B86C-EECBD7B9E602}" dt="2026-10-08T13:51:55.275" v="334" actId="1076"/>
          <ac:picMkLst>
            <pc:docMk/>
            <pc:sldMk cId="101704168" sldId="304"/>
            <ac:picMk id="5" creationId="{FED5AB39-6EDE-EEFB-8457-CC9308FEAC44}"/>
          </ac:picMkLst>
        </pc:picChg>
        <pc:picChg chg="add mod">
          <ac:chgData name="Edson Utazi" userId="bcb3a38a-3ad0-4389-89a4-f1f4b25807d3" providerId="ADAL" clId="{6E6BB287-36A5-4019-B86C-EECBD7B9E602}" dt="2026-10-08T13:52:01.167" v="336" actId="1076"/>
          <ac:picMkLst>
            <pc:docMk/>
            <pc:sldMk cId="101704168" sldId="304"/>
            <ac:picMk id="7" creationId="{0522B63E-AFCE-F7EF-D4D2-4C76B536AF6A}"/>
          </ac:picMkLst>
        </pc:picChg>
      </pc:sldChg>
      <pc:sldChg chg="modSp mod">
        <pc:chgData name="Edson Utazi" userId="bcb3a38a-3ad0-4389-89a4-f1f4b25807d3" providerId="ADAL" clId="{6E6BB287-36A5-4019-B86C-EECBD7B9E602}" dt="2026-10-08T14:18:17.978" v="848" actId="20577"/>
        <pc:sldMkLst>
          <pc:docMk/>
          <pc:sldMk cId="1939827695" sldId="323"/>
        </pc:sldMkLst>
        <pc:spChg chg="mod">
          <ac:chgData name="Edson Utazi" userId="bcb3a38a-3ad0-4389-89a4-f1f4b25807d3" providerId="ADAL" clId="{6E6BB287-36A5-4019-B86C-EECBD7B9E602}" dt="2026-10-08T13:24:59.919" v="104" actId="207"/>
          <ac:spMkLst>
            <pc:docMk/>
            <pc:sldMk cId="1939827695" sldId="323"/>
            <ac:spMk id="2" creationId="{00000000-0000-0000-0000-000000000000}"/>
          </ac:spMkLst>
        </pc:spChg>
        <pc:spChg chg="mod">
          <ac:chgData name="Edson Utazi" userId="bcb3a38a-3ad0-4389-89a4-f1f4b25807d3" providerId="ADAL" clId="{6E6BB287-36A5-4019-B86C-EECBD7B9E602}" dt="2026-10-08T14:18:17.978" v="848" actId="20577"/>
          <ac:spMkLst>
            <pc:docMk/>
            <pc:sldMk cId="1939827695" sldId="323"/>
            <ac:spMk id="3" creationId="{00000000-0000-0000-0000-000000000000}"/>
          </ac:spMkLst>
        </pc:spChg>
      </pc:sldChg>
      <pc:sldChg chg="modSp new mod">
        <pc:chgData name="Edson Utazi" userId="bcb3a38a-3ad0-4389-89a4-f1f4b25807d3" providerId="ADAL" clId="{6E6BB287-36A5-4019-B86C-EECBD7B9E602}" dt="2026-10-08T16:07:20.112" v="1703" actId="1076"/>
        <pc:sldMkLst>
          <pc:docMk/>
          <pc:sldMk cId="2092148082" sldId="324"/>
        </pc:sldMkLst>
        <pc:spChg chg="mod">
          <ac:chgData name="Edson Utazi" userId="bcb3a38a-3ad0-4389-89a4-f1f4b25807d3" providerId="ADAL" clId="{6E6BB287-36A5-4019-B86C-EECBD7B9E602}" dt="2026-10-08T13:55:06.992" v="375" actId="14100"/>
          <ac:spMkLst>
            <pc:docMk/>
            <pc:sldMk cId="2092148082" sldId="324"/>
            <ac:spMk id="2" creationId="{77B70F63-652E-9E45-62CF-A8700613ACD0}"/>
          </ac:spMkLst>
        </pc:spChg>
        <pc:spChg chg="mod">
          <ac:chgData name="Edson Utazi" userId="bcb3a38a-3ad0-4389-89a4-f1f4b25807d3" providerId="ADAL" clId="{6E6BB287-36A5-4019-B86C-EECBD7B9E602}" dt="2026-10-08T16:07:20.112" v="1703" actId="1076"/>
          <ac:spMkLst>
            <pc:docMk/>
            <pc:sldMk cId="2092148082" sldId="324"/>
            <ac:spMk id="3" creationId="{7F88A5CF-D0D2-23D6-FAAB-0CC76682CA2E}"/>
          </ac:spMkLst>
        </pc:spChg>
      </pc:sldChg>
      <pc:sldChg chg="modSp add mod">
        <pc:chgData name="Edson Utazi" userId="bcb3a38a-3ad0-4389-89a4-f1f4b25807d3" providerId="ADAL" clId="{6E6BB287-36A5-4019-B86C-EECBD7B9E602}" dt="2026-10-08T16:42:50.209" v="1704" actId="1076"/>
        <pc:sldMkLst>
          <pc:docMk/>
          <pc:sldMk cId="587861640" sldId="327"/>
        </pc:sldMkLst>
        <pc:spChg chg="mod">
          <ac:chgData name="Edson Utazi" userId="bcb3a38a-3ad0-4389-89a4-f1f4b25807d3" providerId="ADAL" clId="{6E6BB287-36A5-4019-B86C-EECBD7B9E602}" dt="2026-10-08T12:44:17.279" v="35" actId="1076"/>
          <ac:spMkLst>
            <pc:docMk/>
            <pc:sldMk cId="587861640" sldId="327"/>
            <ac:spMk id="142" creationId="{00000000-0000-0000-0000-000000000000}"/>
          </ac:spMkLst>
        </pc:spChg>
        <pc:picChg chg="mod">
          <ac:chgData name="Edson Utazi" userId="bcb3a38a-3ad0-4389-89a4-f1f4b25807d3" providerId="ADAL" clId="{6E6BB287-36A5-4019-B86C-EECBD7B9E602}" dt="2026-10-08T16:42:50.209" v="1704" actId="1076"/>
          <ac:picMkLst>
            <pc:docMk/>
            <pc:sldMk cId="587861640" sldId="327"/>
            <ac:picMk id="9" creationId="{49DD535F-9456-13E4-5EB7-7326A0099AAC}"/>
          </ac:picMkLst>
        </pc:picChg>
      </pc:sldChg>
      <pc:sldMasterChg chg="addSp modSp mod">
        <pc:chgData name="Edson Utazi" userId="bcb3a38a-3ad0-4389-89a4-f1f4b25807d3" providerId="ADAL" clId="{6E6BB287-36A5-4019-B86C-EECBD7B9E602}" dt="2026-10-08T13:23:44.037" v="86" actId="1036"/>
        <pc:sldMasterMkLst>
          <pc:docMk/>
          <pc:sldMasterMk cId="2883044382" sldId="2147483648"/>
        </pc:sldMasterMkLst>
        <pc:spChg chg="add mod">
          <ac:chgData name="Edson Utazi" userId="bcb3a38a-3ad0-4389-89a4-f1f4b25807d3" providerId="ADAL" clId="{6E6BB287-36A5-4019-B86C-EECBD7B9E602}" dt="2026-10-08T13:23:19.916" v="80" actId="2085"/>
          <ac:spMkLst>
            <pc:docMk/>
            <pc:sldMasterMk cId="2883044382" sldId="2147483648"/>
            <ac:spMk id="7" creationId="{29C44C27-4B81-0187-0456-05E448360BA8}"/>
          </ac:spMkLst>
        </pc:spChg>
        <pc:spChg chg="add mod">
          <ac:chgData name="Edson Utazi" userId="bcb3a38a-3ad0-4389-89a4-f1f4b25807d3" providerId="ADAL" clId="{6E6BB287-36A5-4019-B86C-EECBD7B9E602}" dt="2026-10-08T13:23:44.037" v="86" actId="1036"/>
          <ac:spMkLst>
            <pc:docMk/>
            <pc:sldMasterMk cId="2883044382" sldId="2147483648"/>
            <ac:spMk id="9" creationId="{8A53E3D4-0C26-4B97-AE6B-52EF55189E37}"/>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A06587-4886-4067-9F30-9212349E1813}" type="datetimeFigureOut">
              <a:rPr lang="en-GB" smtClean="0"/>
              <a:t>11/10/2026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A144D2-886F-41D5-A0C2-59F201B1FB00}" type="slidenum">
              <a:rPr lang="en-GB" smtClean="0"/>
              <a:t>‹#›</a:t>
            </a:fld>
            <a:endParaRPr lang="en-GB"/>
          </a:p>
        </p:txBody>
      </p:sp>
    </p:spTree>
    <p:extLst>
      <p:ext uri="{BB962C8B-B14F-4D97-AF65-F5344CB8AC3E}">
        <p14:creationId xmlns:p14="http://schemas.microsoft.com/office/powerpoint/2010/main" val="2120257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Shape 138"/>
          <p:cNvSpPr>
            <a:spLocks noGrp="1" noRot="1" noChangeAspect="1"/>
          </p:cNvSpPr>
          <p:nvPr>
            <p:ph type="sldImg" idx="2"/>
          </p:nvPr>
        </p:nvSpPr>
        <p:spPr>
          <a:xfrm>
            <a:off x="90488" y="744538"/>
            <a:ext cx="6616700" cy="3722687"/>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9" name="Shape 139"/>
          <p:cNvSpPr txBox="1">
            <a:spLocks noGrp="1"/>
          </p:cNvSpPr>
          <p:nvPr>
            <p:ph type="body" idx="1"/>
          </p:nvPr>
        </p:nvSpPr>
        <p:spPr>
          <a:xfrm>
            <a:off x="679768" y="4715153"/>
            <a:ext cx="5438140" cy="4466987"/>
          </a:xfrm>
          <a:prstGeom prst="rect">
            <a:avLst/>
          </a:prstGeom>
        </p:spPr>
        <p:txBody>
          <a:bodyPr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2317458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64D73-8E65-09D5-5608-B638EB46B5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96FAF69-A2F3-C279-B94E-AA170224B0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80C7F29-61F8-5C85-E2D7-C1AAF64FE657}"/>
              </a:ext>
            </a:extLst>
          </p:cNvPr>
          <p:cNvSpPr>
            <a:spLocks noGrp="1"/>
          </p:cNvSpPr>
          <p:nvPr>
            <p:ph type="dt" sz="half" idx="10"/>
          </p:nvPr>
        </p:nvSpPr>
        <p:spPr/>
        <p:txBody>
          <a:bodyPr/>
          <a:lstStyle/>
          <a:p>
            <a:fld id="{40A3E468-4FBB-43B8-BF97-1CC5400EF2F4}" type="datetimeFigureOut">
              <a:rPr lang="en-GB" smtClean="0"/>
              <a:t>11/10/2026</a:t>
            </a:fld>
            <a:endParaRPr lang="en-GB"/>
          </a:p>
        </p:txBody>
      </p:sp>
      <p:sp>
        <p:nvSpPr>
          <p:cNvPr id="5" name="Footer Placeholder 4">
            <a:extLst>
              <a:ext uri="{FF2B5EF4-FFF2-40B4-BE49-F238E27FC236}">
                <a16:creationId xmlns:a16="http://schemas.microsoft.com/office/drawing/2014/main" id="{90A85A7D-1960-66EC-8DED-EE879459DD1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8FB2126-541A-8F43-CD99-68446C4ACCE4}"/>
              </a:ext>
            </a:extLst>
          </p:cNvPr>
          <p:cNvSpPr>
            <a:spLocks noGrp="1"/>
          </p:cNvSpPr>
          <p:nvPr>
            <p:ph type="sldNum" sz="quarter" idx="12"/>
          </p:nvPr>
        </p:nvSpPr>
        <p:spPr/>
        <p:txBody>
          <a:bodyPr/>
          <a:lstStyle/>
          <a:p>
            <a:fld id="{924F0305-7E8D-4D9F-A32B-36F044847C0A}" type="slidenum">
              <a:rPr lang="en-GB" smtClean="0"/>
              <a:t>‹#›</a:t>
            </a:fld>
            <a:endParaRPr lang="en-GB"/>
          </a:p>
        </p:txBody>
      </p:sp>
    </p:spTree>
    <p:extLst>
      <p:ext uri="{BB962C8B-B14F-4D97-AF65-F5344CB8AC3E}">
        <p14:creationId xmlns:p14="http://schemas.microsoft.com/office/powerpoint/2010/main" val="3842690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42052-1482-533E-AD5F-0CFA5600859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E43A269-00AD-C244-1848-BFF622464E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81BB6F8-6D52-3EB2-A59F-6C5D8B129459}"/>
              </a:ext>
            </a:extLst>
          </p:cNvPr>
          <p:cNvSpPr>
            <a:spLocks noGrp="1"/>
          </p:cNvSpPr>
          <p:nvPr>
            <p:ph type="dt" sz="half" idx="10"/>
          </p:nvPr>
        </p:nvSpPr>
        <p:spPr/>
        <p:txBody>
          <a:bodyPr/>
          <a:lstStyle/>
          <a:p>
            <a:fld id="{40A3E468-4FBB-43B8-BF97-1CC5400EF2F4}" type="datetimeFigureOut">
              <a:rPr lang="en-GB" smtClean="0"/>
              <a:t>11/10/2026</a:t>
            </a:fld>
            <a:endParaRPr lang="en-GB"/>
          </a:p>
        </p:txBody>
      </p:sp>
      <p:sp>
        <p:nvSpPr>
          <p:cNvPr id="5" name="Footer Placeholder 4">
            <a:extLst>
              <a:ext uri="{FF2B5EF4-FFF2-40B4-BE49-F238E27FC236}">
                <a16:creationId xmlns:a16="http://schemas.microsoft.com/office/drawing/2014/main" id="{19CB079E-975B-A20C-30A4-1CE3E9254E5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58FD154-8211-CA2D-EA3F-B46A5740CB71}"/>
              </a:ext>
            </a:extLst>
          </p:cNvPr>
          <p:cNvSpPr>
            <a:spLocks noGrp="1"/>
          </p:cNvSpPr>
          <p:nvPr>
            <p:ph type="sldNum" sz="quarter" idx="12"/>
          </p:nvPr>
        </p:nvSpPr>
        <p:spPr/>
        <p:txBody>
          <a:bodyPr/>
          <a:lstStyle/>
          <a:p>
            <a:fld id="{924F0305-7E8D-4D9F-A32B-36F044847C0A}" type="slidenum">
              <a:rPr lang="en-GB" smtClean="0"/>
              <a:t>‹#›</a:t>
            </a:fld>
            <a:endParaRPr lang="en-GB"/>
          </a:p>
        </p:txBody>
      </p:sp>
    </p:spTree>
    <p:extLst>
      <p:ext uri="{BB962C8B-B14F-4D97-AF65-F5344CB8AC3E}">
        <p14:creationId xmlns:p14="http://schemas.microsoft.com/office/powerpoint/2010/main" val="3736389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82334-AD8D-AF48-789E-D7C4D4FECE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4DF3353-F7F4-B94B-ABDD-9FD5DBC077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945AB8-D6DE-EE03-C431-15B2CF4A5F83}"/>
              </a:ext>
            </a:extLst>
          </p:cNvPr>
          <p:cNvSpPr>
            <a:spLocks noGrp="1"/>
          </p:cNvSpPr>
          <p:nvPr>
            <p:ph type="dt" sz="half" idx="10"/>
          </p:nvPr>
        </p:nvSpPr>
        <p:spPr/>
        <p:txBody>
          <a:bodyPr/>
          <a:lstStyle/>
          <a:p>
            <a:fld id="{40A3E468-4FBB-43B8-BF97-1CC5400EF2F4}" type="datetimeFigureOut">
              <a:rPr lang="en-GB" smtClean="0"/>
              <a:t>11/10/2026</a:t>
            </a:fld>
            <a:endParaRPr lang="en-GB"/>
          </a:p>
        </p:txBody>
      </p:sp>
      <p:sp>
        <p:nvSpPr>
          <p:cNvPr id="5" name="Footer Placeholder 4">
            <a:extLst>
              <a:ext uri="{FF2B5EF4-FFF2-40B4-BE49-F238E27FC236}">
                <a16:creationId xmlns:a16="http://schemas.microsoft.com/office/drawing/2014/main" id="{45626588-5E8E-1425-E8C2-84BCB2A26E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71EC232-E6A7-C778-CEBF-53CEB34810C3}"/>
              </a:ext>
            </a:extLst>
          </p:cNvPr>
          <p:cNvSpPr>
            <a:spLocks noGrp="1"/>
          </p:cNvSpPr>
          <p:nvPr>
            <p:ph type="sldNum" sz="quarter" idx="12"/>
          </p:nvPr>
        </p:nvSpPr>
        <p:spPr/>
        <p:txBody>
          <a:bodyPr/>
          <a:lstStyle/>
          <a:p>
            <a:fld id="{924F0305-7E8D-4D9F-A32B-36F044847C0A}" type="slidenum">
              <a:rPr lang="en-GB" smtClean="0"/>
              <a:t>‹#›</a:t>
            </a:fld>
            <a:endParaRPr lang="en-GB"/>
          </a:p>
        </p:txBody>
      </p:sp>
    </p:spTree>
    <p:extLst>
      <p:ext uri="{BB962C8B-B14F-4D97-AF65-F5344CB8AC3E}">
        <p14:creationId xmlns:p14="http://schemas.microsoft.com/office/powerpoint/2010/main" val="3288186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A9852-21E0-E0C2-A5EF-8B4278B9A0A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5B1EE58-C00B-BE35-D334-E3CC26564E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1513C81-E70F-53A7-903B-58B415450E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B29A4A0-2D55-9CEE-B645-5D6699E5712E}"/>
              </a:ext>
            </a:extLst>
          </p:cNvPr>
          <p:cNvSpPr>
            <a:spLocks noGrp="1"/>
          </p:cNvSpPr>
          <p:nvPr>
            <p:ph type="dt" sz="half" idx="10"/>
          </p:nvPr>
        </p:nvSpPr>
        <p:spPr/>
        <p:txBody>
          <a:bodyPr/>
          <a:lstStyle/>
          <a:p>
            <a:fld id="{40A3E468-4FBB-43B8-BF97-1CC5400EF2F4}" type="datetimeFigureOut">
              <a:rPr lang="en-GB" smtClean="0"/>
              <a:t>11/10/2026</a:t>
            </a:fld>
            <a:endParaRPr lang="en-GB"/>
          </a:p>
        </p:txBody>
      </p:sp>
      <p:sp>
        <p:nvSpPr>
          <p:cNvPr id="6" name="Footer Placeholder 5">
            <a:extLst>
              <a:ext uri="{FF2B5EF4-FFF2-40B4-BE49-F238E27FC236}">
                <a16:creationId xmlns:a16="http://schemas.microsoft.com/office/drawing/2014/main" id="{4D0B307C-9C3F-08C8-A790-BAE136493A7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FBA856E-99F6-5B4C-44CE-5F66C3D852D0}"/>
              </a:ext>
            </a:extLst>
          </p:cNvPr>
          <p:cNvSpPr>
            <a:spLocks noGrp="1"/>
          </p:cNvSpPr>
          <p:nvPr>
            <p:ph type="sldNum" sz="quarter" idx="12"/>
          </p:nvPr>
        </p:nvSpPr>
        <p:spPr/>
        <p:txBody>
          <a:bodyPr/>
          <a:lstStyle/>
          <a:p>
            <a:fld id="{924F0305-7E8D-4D9F-A32B-36F044847C0A}" type="slidenum">
              <a:rPr lang="en-GB" smtClean="0"/>
              <a:t>‹#›</a:t>
            </a:fld>
            <a:endParaRPr lang="en-GB"/>
          </a:p>
        </p:txBody>
      </p:sp>
    </p:spTree>
    <p:extLst>
      <p:ext uri="{BB962C8B-B14F-4D97-AF65-F5344CB8AC3E}">
        <p14:creationId xmlns:p14="http://schemas.microsoft.com/office/powerpoint/2010/main" val="1734156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52F02-62EA-C99D-523D-315E77AB6A1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3ECEE7A-9E39-AF38-9CE6-7BB5650061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E8BA04-EB73-6619-3585-BDE0B0562C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44DA992-1A33-976A-F762-73636B26D5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53E88B-FD34-7AB0-C7A1-043FA8A7B8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36A2019-DB14-87B3-0A48-3826B28D4E15}"/>
              </a:ext>
            </a:extLst>
          </p:cNvPr>
          <p:cNvSpPr>
            <a:spLocks noGrp="1"/>
          </p:cNvSpPr>
          <p:nvPr>
            <p:ph type="dt" sz="half" idx="10"/>
          </p:nvPr>
        </p:nvSpPr>
        <p:spPr/>
        <p:txBody>
          <a:bodyPr/>
          <a:lstStyle/>
          <a:p>
            <a:fld id="{40A3E468-4FBB-43B8-BF97-1CC5400EF2F4}" type="datetimeFigureOut">
              <a:rPr lang="en-GB" smtClean="0"/>
              <a:t>11/10/2026</a:t>
            </a:fld>
            <a:endParaRPr lang="en-GB"/>
          </a:p>
        </p:txBody>
      </p:sp>
      <p:sp>
        <p:nvSpPr>
          <p:cNvPr id="8" name="Footer Placeholder 7">
            <a:extLst>
              <a:ext uri="{FF2B5EF4-FFF2-40B4-BE49-F238E27FC236}">
                <a16:creationId xmlns:a16="http://schemas.microsoft.com/office/drawing/2014/main" id="{4137BC3D-56F2-344E-5E96-48F0E88DED7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22190DF-E9A6-1E59-56E9-85CE953682ED}"/>
              </a:ext>
            </a:extLst>
          </p:cNvPr>
          <p:cNvSpPr>
            <a:spLocks noGrp="1"/>
          </p:cNvSpPr>
          <p:nvPr>
            <p:ph type="sldNum" sz="quarter" idx="12"/>
          </p:nvPr>
        </p:nvSpPr>
        <p:spPr/>
        <p:txBody>
          <a:bodyPr/>
          <a:lstStyle/>
          <a:p>
            <a:fld id="{924F0305-7E8D-4D9F-A32B-36F044847C0A}" type="slidenum">
              <a:rPr lang="en-GB" smtClean="0"/>
              <a:t>‹#›</a:t>
            </a:fld>
            <a:endParaRPr lang="en-GB"/>
          </a:p>
        </p:txBody>
      </p:sp>
    </p:spTree>
    <p:extLst>
      <p:ext uri="{BB962C8B-B14F-4D97-AF65-F5344CB8AC3E}">
        <p14:creationId xmlns:p14="http://schemas.microsoft.com/office/powerpoint/2010/main" val="3773807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F1A44-AED2-7322-C477-CA6B7958DBA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1DCCEC3-00EB-5CEA-B13F-9C07DDFE15FA}"/>
              </a:ext>
            </a:extLst>
          </p:cNvPr>
          <p:cNvSpPr>
            <a:spLocks noGrp="1"/>
          </p:cNvSpPr>
          <p:nvPr>
            <p:ph type="dt" sz="half" idx="10"/>
          </p:nvPr>
        </p:nvSpPr>
        <p:spPr/>
        <p:txBody>
          <a:bodyPr/>
          <a:lstStyle/>
          <a:p>
            <a:fld id="{40A3E468-4FBB-43B8-BF97-1CC5400EF2F4}" type="datetimeFigureOut">
              <a:rPr lang="en-GB" smtClean="0"/>
              <a:t>11/10/2026</a:t>
            </a:fld>
            <a:endParaRPr lang="en-GB"/>
          </a:p>
        </p:txBody>
      </p:sp>
      <p:sp>
        <p:nvSpPr>
          <p:cNvPr id="4" name="Footer Placeholder 3">
            <a:extLst>
              <a:ext uri="{FF2B5EF4-FFF2-40B4-BE49-F238E27FC236}">
                <a16:creationId xmlns:a16="http://schemas.microsoft.com/office/drawing/2014/main" id="{E5E05375-4928-EB32-12F1-9EA2BBB99D6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703F84B-0A72-3778-EFB2-FDC9A33526AA}"/>
              </a:ext>
            </a:extLst>
          </p:cNvPr>
          <p:cNvSpPr>
            <a:spLocks noGrp="1"/>
          </p:cNvSpPr>
          <p:nvPr>
            <p:ph type="sldNum" sz="quarter" idx="12"/>
          </p:nvPr>
        </p:nvSpPr>
        <p:spPr/>
        <p:txBody>
          <a:bodyPr/>
          <a:lstStyle/>
          <a:p>
            <a:fld id="{924F0305-7E8D-4D9F-A32B-36F044847C0A}" type="slidenum">
              <a:rPr lang="en-GB" smtClean="0"/>
              <a:t>‹#›</a:t>
            </a:fld>
            <a:endParaRPr lang="en-GB"/>
          </a:p>
        </p:txBody>
      </p:sp>
    </p:spTree>
    <p:extLst>
      <p:ext uri="{BB962C8B-B14F-4D97-AF65-F5344CB8AC3E}">
        <p14:creationId xmlns:p14="http://schemas.microsoft.com/office/powerpoint/2010/main" val="95387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49424D-8E3F-793C-AC0E-0C0331FCE517}"/>
              </a:ext>
            </a:extLst>
          </p:cNvPr>
          <p:cNvSpPr>
            <a:spLocks noGrp="1"/>
          </p:cNvSpPr>
          <p:nvPr>
            <p:ph type="dt" sz="half" idx="10"/>
          </p:nvPr>
        </p:nvSpPr>
        <p:spPr/>
        <p:txBody>
          <a:bodyPr/>
          <a:lstStyle/>
          <a:p>
            <a:fld id="{40A3E468-4FBB-43B8-BF97-1CC5400EF2F4}" type="datetimeFigureOut">
              <a:rPr lang="en-GB" smtClean="0"/>
              <a:t>11/10/2026</a:t>
            </a:fld>
            <a:endParaRPr lang="en-GB"/>
          </a:p>
        </p:txBody>
      </p:sp>
      <p:sp>
        <p:nvSpPr>
          <p:cNvPr id="3" name="Footer Placeholder 2">
            <a:extLst>
              <a:ext uri="{FF2B5EF4-FFF2-40B4-BE49-F238E27FC236}">
                <a16:creationId xmlns:a16="http://schemas.microsoft.com/office/drawing/2014/main" id="{BE8E2562-5360-2161-2597-8111178EB7D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DCA1A63-2CC8-FC83-CDD5-E9222148C378}"/>
              </a:ext>
            </a:extLst>
          </p:cNvPr>
          <p:cNvSpPr>
            <a:spLocks noGrp="1"/>
          </p:cNvSpPr>
          <p:nvPr>
            <p:ph type="sldNum" sz="quarter" idx="12"/>
          </p:nvPr>
        </p:nvSpPr>
        <p:spPr/>
        <p:txBody>
          <a:bodyPr/>
          <a:lstStyle/>
          <a:p>
            <a:fld id="{924F0305-7E8D-4D9F-A32B-36F044847C0A}" type="slidenum">
              <a:rPr lang="en-GB" smtClean="0"/>
              <a:t>‹#›</a:t>
            </a:fld>
            <a:endParaRPr lang="en-GB"/>
          </a:p>
        </p:txBody>
      </p:sp>
    </p:spTree>
    <p:extLst>
      <p:ext uri="{BB962C8B-B14F-4D97-AF65-F5344CB8AC3E}">
        <p14:creationId xmlns:p14="http://schemas.microsoft.com/office/powerpoint/2010/main" val="3156038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FBE09-C074-A452-B6F2-CEB18C10D3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A8C2C9E-2F59-DE62-6789-FD616DA8C5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92C8A36-72FF-8ABD-56D8-C4497FD5EB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655591-71F1-9894-20C4-DA4318603CF6}"/>
              </a:ext>
            </a:extLst>
          </p:cNvPr>
          <p:cNvSpPr>
            <a:spLocks noGrp="1"/>
          </p:cNvSpPr>
          <p:nvPr>
            <p:ph type="dt" sz="half" idx="10"/>
          </p:nvPr>
        </p:nvSpPr>
        <p:spPr/>
        <p:txBody>
          <a:bodyPr/>
          <a:lstStyle/>
          <a:p>
            <a:fld id="{40A3E468-4FBB-43B8-BF97-1CC5400EF2F4}" type="datetimeFigureOut">
              <a:rPr lang="en-GB" smtClean="0"/>
              <a:t>11/10/2026</a:t>
            </a:fld>
            <a:endParaRPr lang="en-GB"/>
          </a:p>
        </p:txBody>
      </p:sp>
      <p:sp>
        <p:nvSpPr>
          <p:cNvPr id="6" name="Footer Placeholder 5">
            <a:extLst>
              <a:ext uri="{FF2B5EF4-FFF2-40B4-BE49-F238E27FC236}">
                <a16:creationId xmlns:a16="http://schemas.microsoft.com/office/drawing/2014/main" id="{95F6F644-1D84-9C73-015C-9D8E247316C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9B473E7-252B-3110-F9C5-0B245A10E6E4}"/>
              </a:ext>
            </a:extLst>
          </p:cNvPr>
          <p:cNvSpPr>
            <a:spLocks noGrp="1"/>
          </p:cNvSpPr>
          <p:nvPr>
            <p:ph type="sldNum" sz="quarter" idx="12"/>
          </p:nvPr>
        </p:nvSpPr>
        <p:spPr/>
        <p:txBody>
          <a:bodyPr/>
          <a:lstStyle/>
          <a:p>
            <a:fld id="{924F0305-7E8D-4D9F-A32B-36F044847C0A}" type="slidenum">
              <a:rPr lang="en-GB" smtClean="0"/>
              <a:t>‹#›</a:t>
            </a:fld>
            <a:endParaRPr lang="en-GB"/>
          </a:p>
        </p:txBody>
      </p:sp>
    </p:spTree>
    <p:extLst>
      <p:ext uri="{BB962C8B-B14F-4D97-AF65-F5344CB8AC3E}">
        <p14:creationId xmlns:p14="http://schemas.microsoft.com/office/powerpoint/2010/main" val="1428691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F7A12-C05A-7954-2E86-C021640794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EE7E7D7-A7A1-A7D4-EF40-7CFB8330A3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D96F57C-5294-6C23-FA44-A66217B967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B0B614-2A12-0E1B-F30C-0806967048E7}"/>
              </a:ext>
            </a:extLst>
          </p:cNvPr>
          <p:cNvSpPr>
            <a:spLocks noGrp="1"/>
          </p:cNvSpPr>
          <p:nvPr>
            <p:ph type="dt" sz="half" idx="10"/>
          </p:nvPr>
        </p:nvSpPr>
        <p:spPr/>
        <p:txBody>
          <a:bodyPr/>
          <a:lstStyle/>
          <a:p>
            <a:fld id="{40A3E468-4FBB-43B8-BF97-1CC5400EF2F4}" type="datetimeFigureOut">
              <a:rPr lang="en-GB" smtClean="0"/>
              <a:t>11/10/2026</a:t>
            </a:fld>
            <a:endParaRPr lang="en-GB"/>
          </a:p>
        </p:txBody>
      </p:sp>
      <p:sp>
        <p:nvSpPr>
          <p:cNvPr id="6" name="Footer Placeholder 5">
            <a:extLst>
              <a:ext uri="{FF2B5EF4-FFF2-40B4-BE49-F238E27FC236}">
                <a16:creationId xmlns:a16="http://schemas.microsoft.com/office/drawing/2014/main" id="{78028677-79DC-C983-1E63-7D8BA2F443D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9B7D982-1AC3-9673-DF47-C69BFFD55923}"/>
              </a:ext>
            </a:extLst>
          </p:cNvPr>
          <p:cNvSpPr>
            <a:spLocks noGrp="1"/>
          </p:cNvSpPr>
          <p:nvPr>
            <p:ph type="sldNum" sz="quarter" idx="12"/>
          </p:nvPr>
        </p:nvSpPr>
        <p:spPr/>
        <p:txBody>
          <a:bodyPr/>
          <a:lstStyle/>
          <a:p>
            <a:fld id="{924F0305-7E8D-4D9F-A32B-36F044847C0A}" type="slidenum">
              <a:rPr lang="en-GB" smtClean="0"/>
              <a:t>‹#›</a:t>
            </a:fld>
            <a:endParaRPr lang="en-GB"/>
          </a:p>
        </p:txBody>
      </p:sp>
    </p:spTree>
    <p:extLst>
      <p:ext uri="{BB962C8B-B14F-4D97-AF65-F5344CB8AC3E}">
        <p14:creationId xmlns:p14="http://schemas.microsoft.com/office/powerpoint/2010/main" val="1549927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4AE8B-43CE-5E50-6844-2D3730EDA30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88BFAD7-2F1F-EBB6-030B-FA2CEA8192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32ED69-6717-671B-2DB7-1B7F99E8DDA8}"/>
              </a:ext>
            </a:extLst>
          </p:cNvPr>
          <p:cNvSpPr>
            <a:spLocks noGrp="1"/>
          </p:cNvSpPr>
          <p:nvPr>
            <p:ph type="dt" sz="half" idx="10"/>
          </p:nvPr>
        </p:nvSpPr>
        <p:spPr/>
        <p:txBody>
          <a:bodyPr/>
          <a:lstStyle/>
          <a:p>
            <a:fld id="{40A3E468-4FBB-43B8-BF97-1CC5400EF2F4}" type="datetimeFigureOut">
              <a:rPr lang="en-GB" smtClean="0"/>
              <a:t>11/10/2026</a:t>
            </a:fld>
            <a:endParaRPr lang="en-GB"/>
          </a:p>
        </p:txBody>
      </p:sp>
      <p:sp>
        <p:nvSpPr>
          <p:cNvPr id="5" name="Footer Placeholder 4">
            <a:extLst>
              <a:ext uri="{FF2B5EF4-FFF2-40B4-BE49-F238E27FC236}">
                <a16:creationId xmlns:a16="http://schemas.microsoft.com/office/drawing/2014/main" id="{E495F2A8-B160-A1BC-5E5F-CB456662F91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1F1BED0-36E6-D64A-2B64-D8A06731E029}"/>
              </a:ext>
            </a:extLst>
          </p:cNvPr>
          <p:cNvSpPr>
            <a:spLocks noGrp="1"/>
          </p:cNvSpPr>
          <p:nvPr>
            <p:ph type="sldNum" sz="quarter" idx="12"/>
          </p:nvPr>
        </p:nvSpPr>
        <p:spPr/>
        <p:txBody>
          <a:bodyPr/>
          <a:lstStyle/>
          <a:p>
            <a:fld id="{924F0305-7E8D-4D9F-A32B-36F044847C0A}" type="slidenum">
              <a:rPr lang="en-GB" smtClean="0"/>
              <a:t>‹#›</a:t>
            </a:fld>
            <a:endParaRPr lang="en-GB"/>
          </a:p>
        </p:txBody>
      </p:sp>
    </p:spTree>
    <p:extLst>
      <p:ext uri="{BB962C8B-B14F-4D97-AF65-F5344CB8AC3E}">
        <p14:creationId xmlns:p14="http://schemas.microsoft.com/office/powerpoint/2010/main" val="2536190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C16E98-09BF-8849-E511-C119524A49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4E3EEF2-062D-5C80-56DC-25F8CF1594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AF99571-F4E3-3E79-8300-1520D084A7AC}"/>
              </a:ext>
            </a:extLst>
          </p:cNvPr>
          <p:cNvSpPr>
            <a:spLocks noGrp="1"/>
          </p:cNvSpPr>
          <p:nvPr>
            <p:ph type="dt" sz="half" idx="10"/>
          </p:nvPr>
        </p:nvSpPr>
        <p:spPr/>
        <p:txBody>
          <a:bodyPr/>
          <a:lstStyle/>
          <a:p>
            <a:fld id="{40A3E468-4FBB-43B8-BF97-1CC5400EF2F4}" type="datetimeFigureOut">
              <a:rPr lang="en-GB" smtClean="0"/>
              <a:t>11/10/2026</a:t>
            </a:fld>
            <a:endParaRPr lang="en-GB"/>
          </a:p>
        </p:txBody>
      </p:sp>
      <p:sp>
        <p:nvSpPr>
          <p:cNvPr id="5" name="Footer Placeholder 4">
            <a:extLst>
              <a:ext uri="{FF2B5EF4-FFF2-40B4-BE49-F238E27FC236}">
                <a16:creationId xmlns:a16="http://schemas.microsoft.com/office/drawing/2014/main" id="{2EA38D7E-1B93-B37F-568B-B4957AB469B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762732A-DFF4-3F77-B382-0796B0DCA6FE}"/>
              </a:ext>
            </a:extLst>
          </p:cNvPr>
          <p:cNvSpPr>
            <a:spLocks noGrp="1"/>
          </p:cNvSpPr>
          <p:nvPr>
            <p:ph type="sldNum" sz="quarter" idx="12"/>
          </p:nvPr>
        </p:nvSpPr>
        <p:spPr/>
        <p:txBody>
          <a:bodyPr/>
          <a:lstStyle/>
          <a:p>
            <a:fld id="{924F0305-7E8D-4D9F-A32B-36F044847C0A}" type="slidenum">
              <a:rPr lang="en-GB" smtClean="0"/>
              <a:t>‹#›</a:t>
            </a:fld>
            <a:endParaRPr lang="en-GB"/>
          </a:p>
        </p:txBody>
      </p:sp>
    </p:spTree>
    <p:extLst>
      <p:ext uri="{BB962C8B-B14F-4D97-AF65-F5344CB8AC3E}">
        <p14:creationId xmlns:p14="http://schemas.microsoft.com/office/powerpoint/2010/main" val="326287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15600" y="593367"/>
            <a:ext cx="11360800" cy="763600"/>
          </a:xfrm>
          <a:prstGeom prst="rect">
            <a:avLst/>
          </a:prstGeom>
        </p:spPr>
        <p:txBody>
          <a:bodyPr wrap="square" lIns="121897" tIns="121897" rIns="121897" bIns="121897"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dirty="0"/>
          </a:p>
        </p:txBody>
      </p:sp>
      <p:sp>
        <p:nvSpPr>
          <p:cNvPr id="18" name="Shape 18"/>
          <p:cNvSpPr txBox="1">
            <a:spLocks noGrp="1"/>
          </p:cNvSpPr>
          <p:nvPr>
            <p:ph type="body" idx="1"/>
          </p:nvPr>
        </p:nvSpPr>
        <p:spPr>
          <a:xfrm>
            <a:off x="415600" y="1536633"/>
            <a:ext cx="11360800" cy="4555200"/>
          </a:xfrm>
          <a:prstGeom prst="rect">
            <a:avLst/>
          </a:prstGeom>
        </p:spPr>
        <p:txBody>
          <a:bodyPr wrap="square" lIns="121897" tIns="121897" rIns="121897" bIns="121897"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19" name="Shape 19"/>
          <p:cNvSpPr txBox="1">
            <a:spLocks noGrp="1"/>
          </p:cNvSpPr>
          <p:nvPr>
            <p:ph type="sldNum" idx="12"/>
          </p:nvPr>
        </p:nvSpPr>
        <p:spPr>
          <a:xfrm>
            <a:off x="11296611" y="6217623"/>
            <a:ext cx="731600" cy="524800"/>
          </a:xfrm>
          <a:prstGeom prst="rect">
            <a:avLst/>
          </a:prstGeom>
        </p:spPr>
        <p:txBody>
          <a:bodyPr wrap="square" lIns="121897" tIns="121897" rIns="121897" bIns="121897" anchor="ctr" anchorCtr="0">
            <a:noAutofit/>
          </a:bodyPr>
          <a:lstStyle/>
          <a:p>
            <a:fld id="{00000000-1234-1234-1234-123412341234}" type="slidenum">
              <a:rPr lang="sv" smtClean="0"/>
              <a:pPr/>
              <a:t>‹#›</a:t>
            </a:fld>
            <a:endParaRPr lang="sv"/>
          </a:p>
        </p:txBody>
      </p:sp>
    </p:spTree>
    <p:extLst>
      <p:ext uri="{BB962C8B-B14F-4D97-AF65-F5344CB8AC3E}">
        <p14:creationId xmlns:p14="http://schemas.microsoft.com/office/powerpoint/2010/main" val="2490817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8BDCE0-8269-F499-E2B9-75C71B93AC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03D2AF9-22DD-0359-7D19-CD3D5E5FD4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13A42FF-8539-9A66-41C1-CFA55691A1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A3E468-4FBB-43B8-BF97-1CC5400EF2F4}" type="datetimeFigureOut">
              <a:rPr lang="en-GB" smtClean="0"/>
              <a:t>11/10/2026</a:t>
            </a:fld>
            <a:endParaRPr lang="en-GB"/>
          </a:p>
        </p:txBody>
      </p:sp>
      <p:sp>
        <p:nvSpPr>
          <p:cNvPr id="5" name="Footer Placeholder 4">
            <a:extLst>
              <a:ext uri="{FF2B5EF4-FFF2-40B4-BE49-F238E27FC236}">
                <a16:creationId xmlns:a16="http://schemas.microsoft.com/office/drawing/2014/main" id="{77583AF1-A525-2B2A-D913-4F31738F79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4542A7FD-C62F-85A8-05D3-A46E562D1E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4F0305-7E8D-4D9F-A32B-36F044847C0A}" type="slidenum">
              <a:rPr lang="en-GB" smtClean="0"/>
              <a:t>‹#›</a:t>
            </a:fld>
            <a:endParaRPr lang="en-GB"/>
          </a:p>
        </p:txBody>
      </p:sp>
      <p:sp>
        <p:nvSpPr>
          <p:cNvPr id="7" name="Rectangle 6">
            <a:extLst>
              <a:ext uri="{FF2B5EF4-FFF2-40B4-BE49-F238E27FC236}">
                <a16:creationId xmlns:a16="http://schemas.microsoft.com/office/drawing/2014/main" id="{29C44C27-4B81-0187-0456-05E448360BA8}"/>
              </a:ext>
            </a:extLst>
          </p:cNvPr>
          <p:cNvSpPr/>
          <p:nvPr userDrawn="1"/>
        </p:nvSpPr>
        <p:spPr>
          <a:xfrm>
            <a:off x="0" y="0"/>
            <a:ext cx="12192000" cy="9698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8A53E3D4-0C26-4B97-AE6B-52EF55189E37}"/>
              </a:ext>
            </a:extLst>
          </p:cNvPr>
          <p:cNvSpPr/>
          <p:nvPr userDrawn="1"/>
        </p:nvSpPr>
        <p:spPr>
          <a:xfrm>
            <a:off x="0" y="6739946"/>
            <a:ext cx="12192000" cy="1365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83044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www.sciencedirect.com/science/article/pii/S1877584517301181?via%3Dihub#bib0008" TargetMode="External"/><Relationship Id="rId2" Type="http://schemas.openxmlformats.org/officeDocument/2006/relationships/hyperlink" Target="https://www.sciencedirect.com/science/article/pii/S1877584517301181?via%3Dihub#bib0011"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Shape 141"/>
          <p:cNvPicPr preferRelativeResize="0"/>
          <p:nvPr/>
        </p:nvPicPr>
        <p:blipFill rotWithShape="1">
          <a:blip r:embed="rId3">
            <a:alphaModFix/>
          </a:blip>
          <a:srcRect t="16840"/>
          <a:stretch/>
        </p:blipFill>
        <p:spPr>
          <a:xfrm>
            <a:off x="0" y="0"/>
            <a:ext cx="12191992" cy="5519080"/>
          </a:xfrm>
          <a:prstGeom prst="rect">
            <a:avLst/>
          </a:prstGeom>
          <a:noFill/>
          <a:ln>
            <a:noFill/>
          </a:ln>
        </p:spPr>
      </p:pic>
      <p:sp>
        <p:nvSpPr>
          <p:cNvPr id="142" name="Shape 142"/>
          <p:cNvSpPr txBox="1"/>
          <p:nvPr/>
        </p:nvSpPr>
        <p:spPr>
          <a:xfrm>
            <a:off x="1768304" y="990529"/>
            <a:ext cx="8655381" cy="1070408"/>
          </a:xfrm>
          <a:prstGeom prst="rect">
            <a:avLst/>
          </a:prstGeom>
          <a:noFill/>
          <a:ln>
            <a:noFill/>
          </a:ln>
        </p:spPr>
        <p:txBody>
          <a:bodyPr wrap="square" lIns="121897" tIns="121897" rIns="121897" bIns="121897" anchor="t" anchorCtr="0">
            <a:noAutofit/>
          </a:bodyPr>
          <a:lstStyle/>
          <a:p>
            <a:pPr algn="ctr">
              <a:buClr>
                <a:schemeClr val="dk1"/>
              </a:buClr>
              <a:buSzPct val="34375"/>
            </a:pPr>
            <a:r>
              <a:rPr lang="en-GB" sz="4400" b="1" dirty="0">
                <a:solidFill>
                  <a:schemeClr val="bg1"/>
                </a:solidFill>
              </a:rPr>
              <a:t>Areal data modelling</a:t>
            </a:r>
            <a:endParaRPr lang="en-GB" sz="4400" b="1" dirty="0">
              <a:solidFill>
                <a:schemeClr val="bg1"/>
              </a:solidFill>
              <a:latin typeface="Merriweather"/>
              <a:ea typeface="Merriweather"/>
              <a:cs typeface="Arial" panose="020B0604020202020204" pitchFamily="34" charset="0"/>
              <a:sym typeface="Merriweather"/>
            </a:endParaRPr>
          </a:p>
        </p:txBody>
      </p:sp>
      <p:cxnSp>
        <p:nvCxnSpPr>
          <p:cNvPr id="143" name="Shape 143"/>
          <p:cNvCxnSpPr>
            <a:cxnSpLocks/>
          </p:cNvCxnSpPr>
          <p:nvPr/>
        </p:nvCxnSpPr>
        <p:spPr>
          <a:xfrm>
            <a:off x="5062862" y="3254457"/>
            <a:ext cx="1995791" cy="0"/>
          </a:xfrm>
          <a:prstGeom prst="straightConnector1">
            <a:avLst/>
          </a:prstGeom>
          <a:noFill/>
          <a:ln w="38100" cap="flat" cmpd="sng">
            <a:solidFill>
              <a:srgbClr val="FFFFFF"/>
            </a:solidFill>
            <a:prstDash val="solid"/>
            <a:round/>
            <a:headEnd type="none" w="lg" len="lg"/>
            <a:tailEnd type="none" w="lg" len="lg"/>
          </a:ln>
        </p:spPr>
      </p:cxnSp>
      <p:sp>
        <p:nvSpPr>
          <p:cNvPr id="144" name="Shape 144"/>
          <p:cNvSpPr txBox="1"/>
          <p:nvPr/>
        </p:nvSpPr>
        <p:spPr>
          <a:xfrm>
            <a:off x="4826936" y="3262280"/>
            <a:ext cx="2503870" cy="624085"/>
          </a:xfrm>
          <a:prstGeom prst="rect">
            <a:avLst/>
          </a:prstGeom>
          <a:noFill/>
          <a:ln>
            <a:noFill/>
          </a:ln>
        </p:spPr>
        <p:txBody>
          <a:bodyPr wrap="square" lIns="121897" tIns="121897" rIns="121897" bIns="121897" anchor="t" anchorCtr="0">
            <a:noAutofit/>
          </a:bodyPr>
          <a:lstStyle/>
          <a:p>
            <a:pPr algn="ctr"/>
            <a:r>
              <a:rPr lang="en-US" sz="2400" b="1" dirty="0">
                <a:solidFill>
                  <a:srgbClr val="FFFFFF"/>
                </a:solidFill>
                <a:latin typeface="Arial"/>
                <a:ea typeface="Roboto"/>
                <a:cs typeface="Arial"/>
                <a:sym typeface="Roboto"/>
              </a:rPr>
              <a:t>C. Edson Utazi</a:t>
            </a:r>
            <a:endParaRPr lang="en-US" sz="2400" i="1" dirty="0">
              <a:solidFill>
                <a:srgbClr val="FFFFFF"/>
              </a:solidFill>
              <a:latin typeface="Arial"/>
              <a:ea typeface="Roboto"/>
              <a:cs typeface="Arial"/>
            </a:endParaRPr>
          </a:p>
        </p:txBody>
      </p:sp>
      <p:sp>
        <p:nvSpPr>
          <p:cNvPr id="3" name="TextBox 2"/>
          <p:cNvSpPr txBox="1"/>
          <p:nvPr/>
        </p:nvSpPr>
        <p:spPr>
          <a:xfrm>
            <a:off x="5038975" y="4579462"/>
            <a:ext cx="2114041" cy="461665"/>
          </a:xfrm>
          <a:prstGeom prst="rect">
            <a:avLst/>
          </a:prstGeom>
          <a:noFill/>
        </p:spPr>
        <p:txBody>
          <a:bodyPr wrap="square" rtlCol="0">
            <a:spAutoFit/>
          </a:bodyPr>
          <a:lstStyle/>
          <a:p>
            <a:r>
              <a:rPr lang="en-GB" sz="2400" b="1" dirty="0">
                <a:solidFill>
                  <a:schemeClr val="bg1"/>
                </a:solidFill>
              </a:rPr>
              <a:t>October 2026</a:t>
            </a:r>
          </a:p>
        </p:txBody>
      </p:sp>
      <p:pic>
        <p:nvPicPr>
          <p:cNvPr id="8" name="object 3">
            <a:extLst>
              <a:ext uri="{FF2B5EF4-FFF2-40B4-BE49-F238E27FC236}">
                <a16:creationId xmlns:a16="http://schemas.microsoft.com/office/drawing/2014/main" id="{EF639841-7CC3-503D-2851-2B503B1C0D06}"/>
              </a:ext>
            </a:extLst>
          </p:cNvPr>
          <p:cNvPicPr/>
          <p:nvPr/>
        </p:nvPicPr>
        <p:blipFill>
          <a:blip r:embed="rId4" cstate="print"/>
          <a:stretch>
            <a:fillRect/>
          </a:stretch>
        </p:blipFill>
        <p:spPr>
          <a:xfrm>
            <a:off x="655710" y="5821569"/>
            <a:ext cx="2047296" cy="505410"/>
          </a:xfrm>
          <a:prstGeom prst="rect">
            <a:avLst/>
          </a:prstGeom>
        </p:spPr>
      </p:pic>
      <p:pic>
        <p:nvPicPr>
          <p:cNvPr id="9" name="Picture 8" descr="CISON - Chartered Institute of Statisticians of Nigeria | Chartered Institute of Statisticians of Nigeria (CISON)">
            <a:extLst>
              <a:ext uri="{FF2B5EF4-FFF2-40B4-BE49-F238E27FC236}">
                <a16:creationId xmlns:a16="http://schemas.microsoft.com/office/drawing/2014/main" id="{49DD535F-9456-13E4-5EB7-7326A0099AAC}"/>
              </a:ext>
            </a:extLst>
          </p:cNvPr>
          <p:cNvPicPr>
            <a:picLocks noChangeAspect="1"/>
          </p:cNvPicPr>
          <p:nvPr/>
        </p:nvPicPr>
        <p:blipFill>
          <a:blip r:embed="rId5"/>
          <a:stretch>
            <a:fillRect/>
          </a:stretch>
        </p:blipFill>
        <p:spPr>
          <a:xfrm>
            <a:off x="5630903" y="5728792"/>
            <a:ext cx="781049" cy="710627"/>
          </a:xfrm>
          <a:prstGeom prst="rect">
            <a:avLst/>
          </a:prstGeom>
        </p:spPr>
      </p:pic>
      <p:pic>
        <p:nvPicPr>
          <p:cNvPr id="13" name="Picture 12" descr="University of Southampton Vector Logo | Free Download - (.SVG + .PNG)  format - SeekVectorLogo.Com">
            <a:extLst>
              <a:ext uri="{FF2B5EF4-FFF2-40B4-BE49-F238E27FC236}">
                <a16:creationId xmlns:a16="http://schemas.microsoft.com/office/drawing/2014/main" id="{C0679261-FDE1-5A03-6963-FE84A5C275E7}"/>
              </a:ext>
            </a:extLst>
          </p:cNvPr>
          <p:cNvPicPr>
            <a:picLocks noChangeAspect="1"/>
          </p:cNvPicPr>
          <p:nvPr/>
        </p:nvPicPr>
        <p:blipFill>
          <a:blip r:embed="rId6"/>
          <a:srcRect t="30908" b="31538"/>
          <a:stretch>
            <a:fillRect/>
          </a:stretch>
        </p:blipFill>
        <p:spPr>
          <a:xfrm>
            <a:off x="8536939" y="5625849"/>
            <a:ext cx="3360643" cy="701130"/>
          </a:xfrm>
          <a:prstGeom prst="rect">
            <a:avLst/>
          </a:prstGeom>
        </p:spPr>
      </p:pic>
    </p:spTree>
    <p:extLst>
      <p:ext uri="{BB962C8B-B14F-4D97-AF65-F5344CB8AC3E}">
        <p14:creationId xmlns:p14="http://schemas.microsoft.com/office/powerpoint/2010/main" val="587861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7929" y="0"/>
            <a:ext cx="7541029" cy="665653"/>
          </a:xfrm>
        </p:spPr>
        <p:txBody>
          <a:bodyPr>
            <a:normAutofit fontScale="90000"/>
          </a:bodyPr>
          <a:lstStyle/>
          <a:p>
            <a:r>
              <a:rPr lang="en-GB" b="1" dirty="0">
                <a:solidFill>
                  <a:schemeClr val="bg1"/>
                </a:solidFill>
                <a:latin typeface="+mn-lt"/>
              </a:rPr>
              <a:t>Learning objectives</a:t>
            </a:r>
          </a:p>
        </p:txBody>
      </p:sp>
      <p:sp>
        <p:nvSpPr>
          <p:cNvPr id="3" name="Content Placeholder 2"/>
          <p:cNvSpPr>
            <a:spLocks noGrp="1"/>
          </p:cNvSpPr>
          <p:nvPr>
            <p:ph idx="1"/>
          </p:nvPr>
        </p:nvSpPr>
        <p:spPr>
          <a:xfrm>
            <a:off x="577623" y="1374168"/>
            <a:ext cx="10309167" cy="4109663"/>
          </a:xfrm>
        </p:spPr>
        <p:txBody>
          <a:bodyPr>
            <a:normAutofit fontScale="77500" lnSpcReduction="20000"/>
          </a:bodyPr>
          <a:lstStyle/>
          <a:p>
            <a:endParaRPr lang="en-GB" dirty="0">
              <a:latin typeface="Merriweather"/>
            </a:endParaRPr>
          </a:p>
          <a:p>
            <a:pPr marL="0" indent="0">
              <a:buNone/>
            </a:pPr>
            <a:r>
              <a:rPr lang="en-GB" dirty="0"/>
              <a:t>By the end of this session, you will be able to:</a:t>
            </a:r>
          </a:p>
          <a:p>
            <a:pPr marL="0" indent="0">
              <a:buNone/>
            </a:pPr>
            <a:endParaRPr lang="en-GB" dirty="0"/>
          </a:p>
          <a:p>
            <a:pPr lvl="0"/>
            <a:r>
              <a:rPr lang="en-GB" dirty="0"/>
              <a:t>Describe areal data and distinguish them from other types of spatial data. </a:t>
            </a:r>
          </a:p>
          <a:p>
            <a:pPr lvl="0"/>
            <a:r>
              <a:rPr lang="en-GB" dirty="0"/>
              <a:t>Explain how spatial dependence is represented and characterised in areal data. </a:t>
            </a:r>
          </a:p>
          <a:p>
            <a:pPr lvl="0"/>
            <a:r>
              <a:rPr lang="en-GB" dirty="0"/>
              <a:t>Describe commonly used areal data </a:t>
            </a:r>
            <a:r>
              <a:rPr lang="en-GB"/>
              <a:t>models.</a:t>
            </a:r>
          </a:p>
          <a:p>
            <a:pPr lvl="0"/>
            <a:r>
              <a:rPr lang="en-GB"/>
              <a:t>Explain </a:t>
            </a:r>
            <a:r>
              <a:rPr lang="en-GB" dirty="0"/>
              <a:t>and differentiate conditional autoregressive (CAR) models for modelling spatial and spatiotemporal dependence in areal data. </a:t>
            </a:r>
          </a:p>
          <a:p>
            <a:pPr lvl="0"/>
            <a:r>
              <a:rPr lang="en-GB" dirty="0"/>
              <a:t>Apply spatial and spatiotemporal areal data models to real-world disease data using R-INLA. </a:t>
            </a:r>
          </a:p>
          <a:p>
            <a:pPr lvl="0"/>
            <a:r>
              <a:rPr lang="en-GB" dirty="0"/>
              <a:t>Interpret model outputs and assess spatial patterns and uncertainty in estimated disease risk.</a:t>
            </a:r>
          </a:p>
          <a:p>
            <a:endParaRPr lang="en-GB" dirty="0"/>
          </a:p>
        </p:txBody>
      </p:sp>
    </p:spTree>
    <p:extLst>
      <p:ext uri="{BB962C8B-B14F-4D97-AF65-F5344CB8AC3E}">
        <p14:creationId xmlns:p14="http://schemas.microsoft.com/office/powerpoint/2010/main" val="1939827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3B1A3-EBB0-F863-53E8-4D3FE164E075}"/>
              </a:ext>
            </a:extLst>
          </p:cNvPr>
          <p:cNvSpPr>
            <a:spLocks noGrp="1"/>
          </p:cNvSpPr>
          <p:nvPr>
            <p:ph type="title"/>
          </p:nvPr>
        </p:nvSpPr>
        <p:spPr>
          <a:xfrm>
            <a:off x="265471" y="-1"/>
            <a:ext cx="4611329" cy="723107"/>
          </a:xfrm>
        </p:spPr>
        <p:txBody>
          <a:bodyPr>
            <a:normAutofit/>
          </a:bodyPr>
          <a:lstStyle/>
          <a:p>
            <a:r>
              <a:rPr lang="en-GB" sz="4000" b="1" dirty="0">
                <a:solidFill>
                  <a:schemeClr val="bg1"/>
                </a:solidFill>
                <a:latin typeface="+mn-lt"/>
              </a:rPr>
              <a:t>Introduction</a:t>
            </a:r>
          </a:p>
        </p:txBody>
      </p:sp>
      <p:sp>
        <p:nvSpPr>
          <p:cNvPr id="3" name="Content Placeholder 2">
            <a:extLst>
              <a:ext uri="{FF2B5EF4-FFF2-40B4-BE49-F238E27FC236}">
                <a16:creationId xmlns:a16="http://schemas.microsoft.com/office/drawing/2014/main" id="{B5D42F04-DDA1-8179-E581-2AB2B38272C0}"/>
              </a:ext>
            </a:extLst>
          </p:cNvPr>
          <p:cNvSpPr>
            <a:spLocks noGrp="1"/>
          </p:cNvSpPr>
          <p:nvPr>
            <p:ph idx="1"/>
          </p:nvPr>
        </p:nvSpPr>
        <p:spPr>
          <a:xfrm>
            <a:off x="769727" y="1574235"/>
            <a:ext cx="6978445" cy="4721789"/>
          </a:xfrm>
        </p:spPr>
        <p:txBody>
          <a:bodyPr>
            <a:normAutofit/>
          </a:bodyPr>
          <a:lstStyle/>
          <a:p>
            <a:r>
              <a:rPr lang="en-GB" dirty="0"/>
              <a:t>Compared to point-referenced data, areal data observed on a discrete set of spatially referenced entities, e.g., administrative level 1 areas in a country, require different analytical approaches</a:t>
            </a:r>
          </a:p>
          <a:p>
            <a:r>
              <a:rPr lang="en-GB" dirty="0"/>
              <a:t>The discrete spatial domain changes how we define spatial association</a:t>
            </a:r>
          </a:p>
          <a:p>
            <a:r>
              <a:rPr lang="en-GB" dirty="0"/>
              <a:t>Also, the observed response variable is often a count variable, which would warrant the use of generalized linear models in the analysis</a:t>
            </a:r>
          </a:p>
        </p:txBody>
      </p:sp>
      <p:pic>
        <p:nvPicPr>
          <p:cNvPr id="6" name="Picture 5">
            <a:extLst>
              <a:ext uri="{FF2B5EF4-FFF2-40B4-BE49-F238E27FC236}">
                <a16:creationId xmlns:a16="http://schemas.microsoft.com/office/drawing/2014/main" id="{7D39212C-9856-5B92-3A6D-E4CD65443DD2}"/>
              </a:ext>
            </a:extLst>
          </p:cNvPr>
          <p:cNvPicPr>
            <a:picLocks noChangeAspect="1"/>
          </p:cNvPicPr>
          <p:nvPr/>
        </p:nvPicPr>
        <p:blipFill>
          <a:blip r:embed="rId2">
            <a:extLst>
              <a:ext uri="{28A0092B-C50C-407E-A947-70E740481C1C}">
                <a14:useLocalDpi xmlns:a14="http://schemas.microsoft.com/office/drawing/2010/main" val="0"/>
              </a:ext>
            </a:extLst>
          </a:blip>
          <a:srcRect t="16631" b="15556"/>
          <a:stretch>
            <a:fillRect/>
          </a:stretch>
        </p:blipFill>
        <p:spPr>
          <a:xfrm>
            <a:off x="8034368" y="723106"/>
            <a:ext cx="3892161" cy="2969342"/>
          </a:xfrm>
          <a:prstGeom prst="rect">
            <a:avLst/>
          </a:prstGeom>
        </p:spPr>
      </p:pic>
      <p:pic>
        <p:nvPicPr>
          <p:cNvPr id="8" name="Picture 7">
            <a:extLst>
              <a:ext uri="{FF2B5EF4-FFF2-40B4-BE49-F238E27FC236}">
                <a16:creationId xmlns:a16="http://schemas.microsoft.com/office/drawing/2014/main" id="{BC817BDC-83FB-7AA8-0128-46FBCA41C073}"/>
              </a:ext>
            </a:extLst>
          </p:cNvPr>
          <p:cNvPicPr>
            <a:picLocks noChangeAspect="1"/>
          </p:cNvPicPr>
          <p:nvPr/>
        </p:nvPicPr>
        <p:blipFill>
          <a:blip r:embed="rId3">
            <a:extLst>
              <a:ext uri="{28A0092B-C50C-407E-A947-70E740481C1C}">
                <a14:useLocalDpi xmlns:a14="http://schemas.microsoft.com/office/drawing/2010/main" val="0"/>
              </a:ext>
            </a:extLst>
          </a:blip>
          <a:srcRect l="3387" t="15913" r="4516" b="15987"/>
          <a:stretch>
            <a:fillRect/>
          </a:stretch>
        </p:blipFill>
        <p:spPr>
          <a:xfrm>
            <a:off x="8112319" y="3749905"/>
            <a:ext cx="3736258" cy="3108095"/>
          </a:xfrm>
          <a:prstGeom prst="rect">
            <a:avLst/>
          </a:prstGeom>
        </p:spPr>
      </p:pic>
      <p:cxnSp>
        <p:nvCxnSpPr>
          <p:cNvPr id="5" name="Straight Arrow Connector 4">
            <a:extLst>
              <a:ext uri="{FF2B5EF4-FFF2-40B4-BE49-F238E27FC236}">
                <a16:creationId xmlns:a16="http://schemas.microsoft.com/office/drawing/2014/main" id="{34697978-79EF-7FC6-A0F8-225C6B9C21CB}"/>
              </a:ext>
            </a:extLst>
          </p:cNvPr>
          <p:cNvCxnSpPr/>
          <p:nvPr/>
        </p:nvCxnSpPr>
        <p:spPr>
          <a:xfrm flipH="1">
            <a:off x="7384026" y="1455174"/>
            <a:ext cx="1189703" cy="47217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99BDADF-6D38-F553-FD33-82464FC2DF5A}"/>
              </a:ext>
            </a:extLst>
          </p:cNvPr>
          <p:cNvSpPr txBox="1"/>
          <p:nvPr/>
        </p:nvSpPr>
        <p:spPr>
          <a:xfrm>
            <a:off x="6814461" y="6148149"/>
            <a:ext cx="1111046" cy="369332"/>
          </a:xfrm>
          <a:prstGeom prst="rect">
            <a:avLst/>
          </a:prstGeom>
          <a:noFill/>
        </p:spPr>
        <p:txBody>
          <a:bodyPr wrap="square" rtlCol="0">
            <a:spAutoFit/>
          </a:bodyPr>
          <a:lstStyle/>
          <a:p>
            <a:r>
              <a:rPr lang="en-GB" dirty="0"/>
              <a:t>shapefile</a:t>
            </a:r>
          </a:p>
        </p:txBody>
      </p:sp>
    </p:spTree>
    <p:extLst>
      <p:ext uri="{BB962C8B-B14F-4D97-AF65-F5344CB8AC3E}">
        <p14:creationId xmlns:p14="http://schemas.microsoft.com/office/powerpoint/2010/main" val="1588070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0BF915-052A-CA4C-580F-A8767C9F58B9}"/>
              </a:ext>
            </a:extLst>
          </p:cNvPr>
          <p:cNvSpPr>
            <a:spLocks noGrp="1"/>
          </p:cNvSpPr>
          <p:nvPr>
            <p:ph idx="1"/>
          </p:nvPr>
        </p:nvSpPr>
        <p:spPr>
          <a:xfrm>
            <a:off x="838200" y="1825625"/>
            <a:ext cx="10515600" cy="3749265"/>
          </a:xfrm>
        </p:spPr>
        <p:txBody>
          <a:bodyPr/>
          <a:lstStyle/>
          <a:p>
            <a:r>
              <a:rPr lang="en-GB" dirty="0"/>
              <a:t>Areal data models are particularly useful in </a:t>
            </a:r>
            <a:r>
              <a:rPr lang="en-GB" b="1" dirty="0">
                <a:solidFill>
                  <a:schemeClr val="tx2">
                    <a:lumMod val="75000"/>
                    <a:lumOff val="25000"/>
                  </a:schemeClr>
                </a:solidFill>
              </a:rPr>
              <a:t>disease mapping </a:t>
            </a:r>
            <a:r>
              <a:rPr lang="en-GB" dirty="0"/>
              <a:t>studies, where the objective is to map the spatial pattern in disease risk over a given study region</a:t>
            </a:r>
          </a:p>
          <a:p>
            <a:r>
              <a:rPr lang="en-GB" dirty="0"/>
              <a:t> We will use Bayesian hierarchical models to </a:t>
            </a:r>
            <a:r>
              <a:rPr lang="en-GB" dirty="0" err="1"/>
              <a:t>analyze</a:t>
            </a:r>
            <a:r>
              <a:rPr lang="en-GB" dirty="0"/>
              <a:t> areal data</a:t>
            </a:r>
          </a:p>
          <a:p>
            <a:r>
              <a:rPr lang="en-GB" dirty="0"/>
              <a:t>These models characterize spatial dependence in the data using random effects, which are represented using </a:t>
            </a:r>
            <a:r>
              <a:rPr lang="en-GB" b="1" dirty="0">
                <a:solidFill>
                  <a:schemeClr val="tx2">
                    <a:lumMod val="75000"/>
                    <a:lumOff val="25000"/>
                  </a:schemeClr>
                </a:solidFill>
              </a:rPr>
              <a:t>conditional autoregressive (CAR) </a:t>
            </a:r>
            <a:r>
              <a:rPr lang="en-GB" dirty="0"/>
              <a:t>models – a type of (G)MRF. </a:t>
            </a:r>
          </a:p>
        </p:txBody>
      </p:sp>
      <p:sp>
        <p:nvSpPr>
          <p:cNvPr id="6" name="Title 1">
            <a:extLst>
              <a:ext uri="{FF2B5EF4-FFF2-40B4-BE49-F238E27FC236}">
                <a16:creationId xmlns:a16="http://schemas.microsoft.com/office/drawing/2014/main" id="{4D3762BA-4F35-753B-5B6A-929DD3E73F09}"/>
              </a:ext>
            </a:extLst>
          </p:cNvPr>
          <p:cNvSpPr>
            <a:spLocks noGrp="1"/>
          </p:cNvSpPr>
          <p:nvPr>
            <p:ph type="title"/>
          </p:nvPr>
        </p:nvSpPr>
        <p:spPr>
          <a:xfrm>
            <a:off x="265471" y="-1"/>
            <a:ext cx="4611329" cy="723107"/>
          </a:xfrm>
        </p:spPr>
        <p:txBody>
          <a:bodyPr>
            <a:normAutofit/>
          </a:bodyPr>
          <a:lstStyle/>
          <a:p>
            <a:r>
              <a:rPr lang="en-GB" sz="4000" b="1" dirty="0">
                <a:solidFill>
                  <a:schemeClr val="bg1"/>
                </a:solidFill>
                <a:latin typeface="+mn-lt"/>
              </a:rPr>
              <a:t>Introduction</a:t>
            </a:r>
          </a:p>
        </p:txBody>
      </p:sp>
    </p:spTree>
    <p:extLst>
      <p:ext uri="{BB962C8B-B14F-4D97-AF65-F5344CB8AC3E}">
        <p14:creationId xmlns:p14="http://schemas.microsoft.com/office/powerpoint/2010/main" val="3364175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EE8EB-7A2E-3D66-9CF8-6097EEE35C3D}"/>
              </a:ext>
            </a:extLst>
          </p:cNvPr>
          <p:cNvSpPr>
            <a:spLocks noGrp="1"/>
          </p:cNvSpPr>
          <p:nvPr>
            <p:ph type="title"/>
          </p:nvPr>
        </p:nvSpPr>
        <p:spPr>
          <a:xfrm>
            <a:off x="267929" y="89823"/>
            <a:ext cx="10515600" cy="657429"/>
          </a:xfrm>
        </p:spPr>
        <p:txBody>
          <a:bodyPr>
            <a:normAutofit fontScale="90000"/>
          </a:bodyPr>
          <a:lstStyle/>
          <a:p>
            <a:r>
              <a:rPr lang="en-GB" b="1" dirty="0">
                <a:solidFill>
                  <a:schemeClr val="bg1"/>
                </a:solidFill>
                <a:latin typeface="+mn-lt"/>
              </a:rPr>
              <a:t>Defining spatial dependence with areal data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889F07E-4AF2-588A-E138-2F3833F0BC63}"/>
                  </a:ext>
                </a:extLst>
              </p:cNvPr>
              <p:cNvSpPr>
                <a:spLocks noGrp="1"/>
              </p:cNvSpPr>
              <p:nvPr>
                <p:ph idx="1"/>
              </p:nvPr>
            </p:nvSpPr>
            <p:spPr>
              <a:xfrm>
                <a:off x="838200" y="1435050"/>
                <a:ext cx="10515600" cy="4611790"/>
              </a:xfrm>
            </p:spPr>
            <p:txBody>
              <a:bodyPr/>
              <a:lstStyle/>
              <a:p>
                <a:r>
                  <a:rPr lang="en-GB" dirty="0"/>
                  <a:t>With areal data, the spatial units in which data are observed are indexed by </a:t>
                </a:r>
                <a14:m>
                  <m:oMath xmlns:m="http://schemas.openxmlformats.org/officeDocument/2006/math">
                    <m:r>
                      <a:rPr lang="en-GB" b="0" i="1" smtClean="0">
                        <a:latin typeface="Cambria Math" panose="02040503050406030204" pitchFamily="18" charset="0"/>
                      </a:rPr>
                      <m:t>(1,…,</m:t>
                    </m:r>
                    <m:r>
                      <a:rPr lang="en-GB" b="0" i="1" smtClean="0">
                        <a:latin typeface="Cambria Math" panose="02040503050406030204" pitchFamily="18" charset="0"/>
                      </a:rPr>
                      <m:t>𝑛</m:t>
                    </m:r>
                    <m:r>
                      <a:rPr lang="en-GB" b="0" i="1" smtClean="0">
                        <a:latin typeface="Cambria Math" panose="02040503050406030204" pitchFamily="18" charset="0"/>
                      </a:rPr>
                      <m:t>)</m:t>
                    </m:r>
                  </m:oMath>
                </a14:m>
                <a:r>
                  <a:rPr lang="en-GB" dirty="0"/>
                  <a:t> as against </a:t>
                </a:r>
                <a14:m>
                  <m:oMath xmlns:m="http://schemas.openxmlformats.org/officeDocument/2006/math">
                    <m:r>
                      <a:rPr lang="en-GB" b="0" i="1"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1</m:t>
                        </m:r>
                      </m:sub>
                    </m:sSub>
                    <m:r>
                      <a:rPr lang="en-GB" b="0" i="1" smtClean="0">
                        <a:latin typeface="Cambria Math" panose="02040503050406030204" pitchFamily="18" charset="0"/>
                      </a:rPr>
                      <m:t>,…, </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𝑛</m:t>
                        </m:r>
                      </m:sub>
                    </m:sSub>
                    <m:r>
                      <a:rPr lang="en-GB" b="0" i="1" smtClean="0">
                        <a:latin typeface="Cambria Math" panose="02040503050406030204" pitchFamily="18" charset="0"/>
                      </a:rPr>
                      <m:t>)</m:t>
                    </m:r>
                  </m:oMath>
                </a14:m>
                <a:r>
                  <a:rPr lang="en-GB" dirty="0"/>
                  <a:t> used for point-referenced data</a:t>
                </a:r>
              </a:p>
              <a:p>
                <a:r>
                  <a:rPr lang="en-GB" dirty="0"/>
                  <a:t>Key to </a:t>
                </a:r>
                <a:r>
                  <a:rPr lang="en-GB" dirty="0" err="1"/>
                  <a:t>analyzing</a:t>
                </a:r>
                <a:r>
                  <a:rPr lang="en-GB" dirty="0"/>
                  <a:t> spatial dependence in areal data is the concept of </a:t>
                </a:r>
                <a:r>
                  <a:rPr lang="en-GB" b="1" dirty="0">
                    <a:solidFill>
                      <a:schemeClr val="tx2">
                        <a:lumMod val="75000"/>
                        <a:lumOff val="25000"/>
                      </a:schemeClr>
                    </a:solidFill>
                  </a:rPr>
                  <a:t>spatial connectivity</a:t>
                </a:r>
              </a:p>
              <a:p>
                <a:r>
                  <a:rPr lang="en-GB" dirty="0"/>
                  <a:t>Let </a:t>
                </a:r>
                <a14:m>
                  <m:oMath xmlns:m="http://schemas.openxmlformats.org/officeDocument/2006/math">
                    <m:r>
                      <a:rPr lang="en-GB" b="0" i="1" smtClean="0">
                        <a:latin typeface="Cambria Math" panose="02040503050406030204" pitchFamily="18" charset="0"/>
                      </a:rPr>
                      <m:t>𝑖</m:t>
                    </m:r>
                  </m:oMath>
                </a14:m>
                <a:r>
                  <a:rPr lang="en-GB" dirty="0"/>
                  <a:t> and </a:t>
                </a:r>
                <a14:m>
                  <m:oMath xmlns:m="http://schemas.openxmlformats.org/officeDocument/2006/math">
                    <m:r>
                      <a:rPr lang="en-GB" b="0" i="1" smtClean="0">
                        <a:latin typeface="Cambria Math" panose="02040503050406030204" pitchFamily="18" charset="0"/>
                      </a:rPr>
                      <m:t>𝑗</m:t>
                    </m:r>
                  </m:oMath>
                </a14:m>
                <a:r>
                  <a:rPr lang="en-GB" dirty="0"/>
                  <a:t> index two areas of the domain </a:t>
                </a:r>
                <a14:m>
                  <m:oMath xmlns:m="http://schemas.openxmlformats.org/officeDocument/2006/math">
                    <m:r>
                      <a:rPr lang="en-GB" b="0" i="1" smtClean="0">
                        <a:latin typeface="Cambria Math" panose="02040503050406030204" pitchFamily="18" charset="0"/>
                      </a:rPr>
                      <m:t>𝐷</m:t>
                    </m:r>
                  </m:oMath>
                </a14:m>
                <a:r>
                  <a:rPr lang="en-GB" dirty="0"/>
                  <a:t>. With each pair of areas, we associate a weight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𝑖𝑗</m:t>
                        </m:r>
                      </m:sub>
                    </m:sSub>
                  </m:oMath>
                </a14:m>
                <a:r>
                  <a:rPr lang="en-GB" dirty="0"/>
                  <a:t>. The weights are collected in an </a:t>
                </a:r>
                <a14:m>
                  <m:oMath xmlns:m="http://schemas.openxmlformats.org/officeDocument/2006/math">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𝑛</m:t>
                    </m:r>
                  </m:oMath>
                </a14:m>
                <a:r>
                  <a:rPr lang="en-GB" dirty="0"/>
                  <a:t> square matrix denoted by </a:t>
                </a:r>
                <a14:m>
                  <m:oMath xmlns:m="http://schemas.openxmlformats.org/officeDocument/2006/math">
                    <m:r>
                      <a:rPr lang="en-GB" b="0" i="1" smtClean="0">
                        <a:latin typeface="Cambria Math" panose="02040503050406030204" pitchFamily="18" charset="0"/>
                      </a:rPr>
                      <m:t>𝑊</m:t>
                    </m:r>
                  </m:oMath>
                </a14:m>
                <a:r>
                  <a:rPr lang="en-GB" dirty="0"/>
                  <a:t>. </a:t>
                </a:r>
              </a:p>
              <a:p>
                <a:r>
                  <a:rPr lang="en-GB" dirty="0"/>
                  <a:t>By convention, the diagonal elements of </a:t>
                </a:r>
                <a14:m>
                  <m:oMath xmlns:m="http://schemas.openxmlformats.org/officeDocument/2006/math">
                    <m:r>
                      <a:rPr lang="en-GB" b="0" i="1" smtClean="0">
                        <a:latin typeface="Cambria Math" panose="02040503050406030204" pitchFamily="18" charset="0"/>
                      </a:rPr>
                      <m:t>𝑊</m:t>
                    </m:r>
                  </m:oMath>
                </a14:m>
                <a:r>
                  <a:rPr lang="en-GB" dirty="0"/>
                  <a:t> are zeroes (i.e.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𝑖𝑖</m:t>
                        </m:r>
                      </m:sub>
                    </m:sSub>
                    <m:r>
                      <a:rPr lang="en-GB" b="0" i="1" smtClean="0">
                        <a:latin typeface="Cambria Math" panose="02040503050406030204" pitchFamily="18" charset="0"/>
                      </a:rPr>
                      <m:t>=0 ∀ </m:t>
                    </m:r>
                    <m:r>
                      <a:rPr lang="en-GB" b="0" i="1" smtClean="0">
                        <a:latin typeface="Cambria Math" panose="02040503050406030204" pitchFamily="18" charset="0"/>
                      </a:rPr>
                      <m:t>𝑖</m:t>
                    </m:r>
                  </m:oMath>
                </a14:m>
                <a:r>
                  <a:rPr lang="en-GB" dirty="0"/>
                  <a:t>)</a:t>
                </a:r>
              </a:p>
            </p:txBody>
          </p:sp>
        </mc:Choice>
        <mc:Fallback xmlns="">
          <p:sp>
            <p:nvSpPr>
              <p:cNvPr id="3" name="Content Placeholder 2">
                <a:extLst>
                  <a:ext uri="{FF2B5EF4-FFF2-40B4-BE49-F238E27FC236}">
                    <a16:creationId xmlns:a16="http://schemas.microsoft.com/office/drawing/2014/main" id="{D889F07E-4AF2-588A-E138-2F3833F0BC63}"/>
                  </a:ext>
                </a:extLst>
              </p:cNvPr>
              <p:cNvSpPr>
                <a:spLocks noGrp="1" noRot="1" noChangeAspect="1" noMove="1" noResize="1" noEditPoints="1" noAdjustHandles="1" noChangeArrowheads="1" noChangeShapeType="1" noTextEdit="1"/>
              </p:cNvSpPr>
              <p:nvPr>
                <p:ph idx="1"/>
              </p:nvPr>
            </p:nvSpPr>
            <p:spPr>
              <a:xfrm>
                <a:off x="838200" y="1435050"/>
                <a:ext cx="10515600" cy="4611790"/>
              </a:xfrm>
              <a:blipFill>
                <a:blip r:embed="rId2"/>
                <a:stretch>
                  <a:fillRect l="-1043" t="-2246"/>
                </a:stretch>
              </a:blipFill>
            </p:spPr>
            <p:txBody>
              <a:bodyPr/>
              <a:lstStyle/>
              <a:p>
                <a:r>
                  <a:rPr lang="en-GB">
                    <a:noFill/>
                  </a:rPr>
                  <a:t> </a:t>
                </a:r>
              </a:p>
            </p:txBody>
          </p:sp>
        </mc:Fallback>
      </mc:AlternateContent>
    </p:spTree>
    <p:extLst>
      <p:ext uri="{BB962C8B-B14F-4D97-AF65-F5344CB8AC3E}">
        <p14:creationId xmlns:p14="http://schemas.microsoft.com/office/powerpoint/2010/main" val="331200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F9D726-04A0-FF52-A213-333E850E594C}"/>
                  </a:ext>
                </a:extLst>
              </p:cNvPr>
              <p:cNvSpPr>
                <a:spLocks noGrp="1"/>
              </p:cNvSpPr>
              <p:nvPr>
                <p:ph idx="1"/>
              </p:nvPr>
            </p:nvSpPr>
            <p:spPr>
              <a:xfrm>
                <a:off x="267930" y="1253331"/>
                <a:ext cx="11491451" cy="4351338"/>
              </a:xfrm>
            </p:spPr>
            <p:txBody>
              <a:bodyPr/>
              <a:lstStyle/>
              <a:p>
                <a:r>
                  <a:rPr lang="en-GB" dirty="0"/>
                  <a:t>For the off-diagonal elements of </a:t>
                </a:r>
                <a14:m>
                  <m:oMath xmlns:m="http://schemas.openxmlformats.org/officeDocument/2006/math">
                    <m:r>
                      <a:rPr lang="en-GB" b="0" i="1" smtClean="0">
                        <a:latin typeface="Cambria Math" panose="02040503050406030204" pitchFamily="18" charset="0"/>
                      </a:rPr>
                      <m:t>𝑊</m:t>
                    </m:r>
                  </m:oMath>
                </a14:m>
                <a:r>
                  <a:rPr lang="en-GB" dirty="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𝑖𝑗</m:t>
                        </m:r>
                      </m:sub>
                    </m:sSub>
                    <m:r>
                      <a:rPr lang="en-GB" b="0" i="1" smtClean="0">
                        <a:latin typeface="Cambria Math" panose="02040503050406030204" pitchFamily="18" charset="0"/>
                      </a:rPr>
                      <m:t>&gt;0</m:t>
                    </m:r>
                  </m:oMath>
                </a14:m>
                <a:r>
                  <a:rPr lang="en-GB" dirty="0"/>
                  <a:t> if areas </a:t>
                </a:r>
                <a14:m>
                  <m:oMath xmlns:m="http://schemas.openxmlformats.org/officeDocument/2006/math">
                    <m:r>
                      <a:rPr lang="en-GB" b="0" i="1" smtClean="0">
                        <a:latin typeface="Cambria Math" panose="02040503050406030204" pitchFamily="18" charset="0"/>
                      </a:rPr>
                      <m:t>𝑖</m:t>
                    </m:r>
                  </m:oMath>
                </a14:m>
                <a:r>
                  <a:rPr lang="en-GB" dirty="0"/>
                  <a:t> and </a:t>
                </a:r>
                <a14:m>
                  <m:oMath xmlns:m="http://schemas.openxmlformats.org/officeDocument/2006/math">
                    <m:r>
                      <a:rPr lang="en-GB" b="0" i="1" smtClean="0">
                        <a:latin typeface="Cambria Math" panose="02040503050406030204" pitchFamily="18" charset="0"/>
                      </a:rPr>
                      <m:t>𝑗</m:t>
                    </m:r>
                  </m:oMath>
                </a14:m>
                <a:r>
                  <a:rPr lang="en-GB" dirty="0"/>
                  <a:t> are neighbours or connected, and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𝑖𝑗</m:t>
                        </m:r>
                      </m:sub>
                    </m:sSub>
                    <m:r>
                      <a:rPr lang="en-GB" b="0" i="1" smtClean="0">
                        <a:latin typeface="Cambria Math" panose="02040503050406030204" pitchFamily="18" charset="0"/>
                      </a:rPr>
                      <m:t>=0</m:t>
                    </m:r>
                  </m:oMath>
                </a14:m>
                <a:r>
                  <a:rPr lang="en-GB" dirty="0"/>
                  <a:t> otherwise. </a:t>
                </a:r>
              </a:p>
              <a:p>
                <a:r>
                  <a:rPr lang="en-GB" dirty="0"/>
                  <a:t>In practice, we can define the neighbourhood structure of the areas in </a:t>
                </a:r>
                <a14:m>
                  <m:oMath xmlns:m="http://schemas.openxmlformats.org/officeDocument/2006/math">
                    <m:r>
                      <a:rPr lang="en-GB" b="0" i="1" smtClean="0">
                        <a:latin typeface="Cambria Math" panose="02040503050406030204" pitchFamily="18" charset="0"/>
                      </a:rPr>
                      <m:t>𝐷</m:t>
                    </m:r>
                  </m:oMath>
                </a14:m>
                <a:r>
                  <a:rPr lang="en-GB" dirty="0"/>
                  <a:t> in different ways.</a:t>
                </a:r>
              </a:p>
              <a:p>
                <a:pPr lvl="1"/>
                <a:r>
                  <a:rPr lang="en-GB" dirty="0"/>
                  <a:t>Binary contiguity: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𝑖𝑗</m:t>
                        </m:r>
                      </m:sub>
                    </m:sSub>
                    <m:r>
                      <a:rPr lang="en-GB" b="0" i="1" smtClean="0">
                        <a:latin typeface="Cambria Math" panose="02040503050406030204" pitchFamily="18" charset="0"/>
                      </a:rPr>
                      <m:t>=1</m:t>
                    </m:r>
                  </m:oMath>
                </a14:m>
                <a:r>
                  <a:rPr lang="en-GB" dirty="0"/>
                  <a:t> if areas </a:t>
                </a:r>
                <a14:m>
                  <m:oMath xmlns:m="http://schemas.openxmlformats.org/officeDocument/2006/math">
                    <m:r>
                      <a:rPr lang="en-GB" b="0" i="1" smtClean="0">
                        <a:latin typeface="Cambria Math" panose="02040503050406030204" pitchFamily="18" charset="0"/>
                      </a:rPr>
                      <m:t>𝑖</m:t>
                    </m:r>
                  </m:oMath>
                </a14:m>
                <a:r>
                  <a:rPr lang="en-GB" dirty="0"/>
                  <a:t> and </a:t>
                </a:r>
                <a14:m>
                  <m:oMath xmlns:m="http://schemas.openxmlformats.org/officeDocument/2006/math">
                    <m:r>
                      <a:rPr lang="en-GB" b="0" i="1" smtClean="0">
                        <a:latin typeface="Cambria Math" panose="02040503050406030204" pitchFamily="18" charset="0"/>
                      </a:rPr>
                      <m:t>𝑗</m:t>
                    </m:r>
                  </m:oMath>
                </a14:m>
                <a:r>
                  <a:rPr lang="en-GB" dirty="0"/>
                  <a:t> share a common boundary or vertex (e.g. Rook or Queen contiguity), and 0 otherwise</a:t>
                </a:r>
              </a:p>
            </p:txBody>
          </p:sp>
        </mc:Choice>
        <mc:Fallback xmlns="">
          <p:sp>
            <p:nvSpPr>
              <p:cNvPr id="3" name="Content Placeholder 2">
                <a:extLst>
                  <a:ext uri="{FF2B5EF4-FFF2-40B4-BE49-F238E27FC236}">
                    <a16:creationId xmlns:a16="http://schemas.microsoft.com/office/drawing/2014/main" id="{65F9D726-04A0-FF52-A213-333E850E594C}"/>
                  </a:ext>
                </a:extLst>
              </p:cNvPr>
              <p:cNvSpPr>
                <a:spLocks noGrp="1" noRot="1" noChangeAspect="1" noMove="1" noResize="1" noEditPoints="1" noAdjustHandles="1" noChangeArrowheads="1" noChangeShapeType="1" noTextEdit="1"/>
              </p:cNvSpPr>
              <p:nvPr>
                <p:ph idx="1"/>
              </p:nvPr>
            </p:nvSpPr>
            <p:spPr>
              <a:xfrm>
                <a:off x="267930" y="1253331"/>
                <a:ext cx="11491451" cy="4351338"/>
              </a:xfrm>
              <a:blipFill>
                <a:blip r:embed="rId2"/>
                <a:stretch>
                  <a:fillRect l="-955" t="-2104"/>
                </a:stretch>
              </a:blipFill>
            </p:spPr>
            <p:txBody>
              <a:bodyPr/>
              <a:lstStyle/>
              <a:p>
                <a:r>
                  <a:rPr lang="en-GB">
                    <a:noFill/>
                  </a:rPr>
                  <a:t> </a:t>
                </a:r>
              </a:p>
            </p:txBody>
          </p:sp>
        </mc:Fallback>
      </mc:AlternateContent>
      <p:sp>
        <p:nvSpPr>
          <p:cNvPr id="9" name="TextBox 8">
            <a:extLst>
              <a:ext uri="{FF2B5EF4-FFF2-40B4-BE49-F238E27FC236}">
                <a16:creationId xmlns:a16="http://schemas.microsoft.com/office/drawing/2014/main" id="{59CC40D0-2D0A-DFB0-8377-F1E18166B600}"/>
              </a:ext>
            </a:extLst>
          </p:cNvPr>
          <p:cNvSpPr txBox="1"/>
          <p:nvPr/>
        </p:nvSpPr>
        <p:spPr>
          <a:xfrm>
            <a:off x="8197560" y="5545204"/>
            <a:ext cx="3561821" cy="923330"/>
          </a:xfrm>
          <a:prstGeom prst="rect">
            <a:avLst/>
          </a:prstGeom>
          <a:noFill/>
        </p:spPr>
        <p:txBody>
          <a:bodyPr wrap="square" rtlCol="0">
            <a:spAutoFit/>
          </a:bodyPr>
          <a:lstStyle/>
          <a:p>
            <a:r>
              <a:rPr lang="en-GB" dirty="0"/>
              <a:t>Named after chess moves: a rook moves along rows/columns only; a bishop also moves diagonally.</a:t>
            </a:r>
          </a:p>
        </p:txBody>
      </p:sp>
      <p:pic>
        <p:nvPicPr>
          <p:cNvPr id="13" name="Picture 12" descr="Spatial Dependencies and Neighbour Interactions of Wildfire Patterns in  Galician Mountain Areas (NW Spain)">
            <a:extLst>
              <a:ext uri="{FF2B5EF4-FFF2-40B4-BE49-F238E27FC236}">
                <a16:creationId xmlns:a16="http://schemas.microsoft.com/office/drawing/2014/main" id="{C836B927-B97C-1FE0-3CD3-3C261E7AB0F1}"/>
              </a:ext>
            </a:extLst>
          </p:cNvPr>
          <p:cNvPicPr>
            <a:picLocks noChangeAspect="1"/>
          </p:cNvPicPr>
          <p:nvPr/>
        </p:nvPicPr>
        <p:blipFill>
          <a:blip r:embed="rId3"/>
          <a:stretch>
            <a:fillRect/>
          </a:stretch>
        </p:blipFill>
        <p:spPr>
          <a:xfrm>
            <a:off x="1032490" y="4218681"/>
            <a:ext cx="6942777" cy="2171195"/>
          </a:xfrm>
          <a:prstGeom prst="rect">
            <a:avLst/>
          </a:prstGeom>
        </p:spPr>
      </p:pic>
      <p:sp>
        <p:nvSpPr>
          <p:cNvPr id="15" name="TextBox 14">
            <a:extLst>
              <a:ext uri="{FF2B5EF4-FFF2-40B4-BE49-F238E27FC236}">
                <a16:creationId xmlns:a16="http://schemas.microsoft.com/office/drawing/2014/main" id="{DCEFCFD1-3541-6BD6-B591-F8D3798186F9}"/>
              </a:ext>
            </a:extLst>
          </p:cNvPr>
          <p:cNvSpPr txBox="1"/>
          <p:nvPr/>
        </p:nvSpPr>
        <p:spPr>
          <a:xfrm>
            <a:off x="2532512" y="3849349"/>
            <a:ext cx="3942735" cy="369332"/>
          </a:xfrm>
          <a:prstGeom prst="rect">
            <a:avLst/>
          </a:prstGeom>
          <a:noFill/>
        </p:spPr>
        <p:txBody>
          <a:bodyPr wrap="square" rtlCol="0">
            <a:spAutoFit/>
          </a:bodyPr>
          <a:lstStyle/>
          <a:p>
            <a:r>
              <a:rPr lang="en-GB" dirty="0"/>
              <a:t>1. Rook  contiguity 2. Bishop  3. Queen</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28AF4F7-5CC4-6FD4-2C5D-305F550A3B41}"/>
                  </a:ext>
                </a:extLst>
              </p:cNvPr>
              <p:cNvSpPr txBox="1"/>
              <p:nvPr/>
            </p:nvSpPr>
            <p:spPr>
              <a:xfrm>
                <a:off x="8197560" y="4660812"/>
                <a:ext cx="3880581" cy="668645"/>
              </a:xfrm>
              <a:prstGeom prst="rect">
                <a:avLst/>
              </a:prstGeom>
              <a:noFill/>
            </p:spPr>
            <p:txBody>
              <a:bodyPr wrap="square" rtlCol="0">
                <a:spAutoFit/>
              </a:bodyPr>
              <a:lstStyle/>
              <a:p>
                <a:r>
                  <a:rPr lang="en-GB" dirty="0"/>
                  <a:t>Black dot is area </a:t>
                </a:r>
                <a14:m>
                  <m:oMath xmlns:m="http://schemas.openxmlformats.org/officeDocument/2006/math">
                    <m:r>
                      <a:rPr lang="en-GB" b="0" i="1" smtClean="0">
                        <a:latin typeface="Cambria Math" panose="02040503050406030204" pitchFamily="18" charset="0"/>
                      </a:rPr>
                      <m:t>𝑖</m:t>
                    </m:r>
                  </m:oMath>
                </a14:m>
                <a:r>
                  <a:rPr lang="en-GB" dirty="0"/>
                  <a:t> and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𝑖𝑗</m:t>
                        </m:r>
                      </m:sub>
                    </m:sSub>
                    <m:r>
                      <a:rPr lang="en-GB" b="0" i="1" smtClean="0">
                        <a:latin typeface="Cambria Math" panose="02040503050406030204" pitchFamily="18" charset="0"/>
                      </a:rPr>
                      <m:t>=1</m:t>
                    </m:r>
                  </m:oMath>
                </a14:m>
                <a:r>
                  <a:rPr lang="en-GB" dirty="0"/>
                  <a:t> for the areas the arrows point to.</a:t>
                </a:r>
              </a:p>
            </p:txBody>
          </p:sp>
        </mc:Choice>
        <mc:Fallback xmlns="">
          <p:sp>
            <p:nvSpPr>
              <p:cNvPr id="16" name="TextBox 15">
                <a:extLst>
                  <a:ext uri="{FF2B5EF4-FFF2-40B4-BE49-F238E27FC236}">
                    <a16:creationId xmlns:a16="http://schemas.microsoft.com/office/drawing/2014/main" id="{128AF4F7-5CC4-6FD4-2C5D-305F550A3B41}"/>
                  </a:ext>
                </a:extLst>
              </p:cNvPr>
              <p:cNvSpPr txBox="1">
                <a:spLocks noRot="1" noChangeAspect="1" noMove="1" noResize="1" noEditPoints="1" noAdjustHandles="1" noChangeArrowheads="1" noChangeShapeType="1" noTextEdit="1"/>
              </p:cNvSpPr>
              <p:nvPr/>
            </p:nvSpPr>
            <p:spPr>
              <a:xfrm>
                <a:off x="8197560" y="4660812"/>
                <a:ext cx="3880581" cy="668645"/>
              </a:xfrm>
              <a:prstGeom prst="rect">
                <a:avLst/>
              </a:prstGeom>
              <a:blipFill>
                <a:blip r:embed="rId4"/>
                <a:stretch>
                  <a:fillRect l="-1415" t="-3670" r="-786" b="-14679"/>
                </a:stretch>
              </a:blipFill>
            </p:spPr>
            <p:txBody>
              <a:bodyPr/>
              <a:lstStyle/>
              <a:p>
                <a:r>
                  <a:rPr lang="en-GB">
                    <a:noFill/>
                  </a:rPr>
                  <a:t> </a:t>
                </a:r>
              </a:p>
            </p:txBody>
          </p:sp>
        </mc:Fallback>
      </mc:AlternateContent>
      <p:sp>
        <p:nvSpPr>
          <p:cNvPr id="6" name="Title 1">
            <a:extLst>
              <a:ext uri="{FF2B5EF4-FFF2-40B4-BE49-F238E27FC236}">
                <a16:creationId xmlns:a16="http://schemas.microsoft.com/office/drawing/2014/main" id="{3FD79BD9-E4F8-A9CD-4B55-3267D002821E}"/>
              </a:ext>
            </a:extLst>
          </p:cNvPr>
          <p:cNvSpPr>
            <a:spLocks noGrp="1"/>
          </p:cNvSpPr>
          <p:nvPr>
            <p:ph type="title"/>
          </p:nvPr>
        </p:nvSpPr>
        <p:spPr>
          <a:xfrm>
            <a:off x="267929" y="89823"/>
            <a:ext cx="10515600" cy="657429"/>
          </a:xfrm>
        </p:spPr>
        <p:txBody>
          <a:bodyPr>
            <a:normAutofit fontScale="90000"/>
          </a:bodyPr>
          <a:lstStyle/>
          <a:p>
            <a:r>
              <a:rPr lang="en-GB" b="1" dirty="0">
                <a:solidFill>
                  <a:schemeClr val="bg1"/>
                </a:solidFill>
                <a:latin typeface="+mn-lt"/>
              </a:rPr>
              <a:t>Defining spatial dependence with areal data</a:t>
            </a:r>
          </a:p>
        </p:txBody>
      </p:sp>
    </p:spTree>
    <p:extLst>
      <p:ext uri="{BB962C8B-B14F-4D97-AF65-F5344CB8AC3E}">
        <p14:creationId xmlns:p14="http://schemas.microsoft.com/office/powerpoint/2010/main" val="1547423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4063E32-D941-0BD4-6295-9BDE62C4A2DA}"/>
                  </a:ext>
                </a:extLst>
              </p:cNvPr>
              <p:cNvSpPr>
                <a:spLocks noGrp="1"/>
              </p:cNvSpPr>
              <p:nvPr>
                <p:ph idx="1"/>
              </p:nvPr>
            </p:nvSpPr>
            <p:spPr>
              <a:xfrm>
                <a:off x="838200" y="1510993"/>
                <a:ext cx="10515600" cy="4351338"/>
              </a:xfrm>
            </p:spPr>
            <p:txBody>
              <a:bodyPr/>
              <a:lstStyle/>
              <a:p>
                <a:pPr lvl="1"/>
                <a:r>
                  <a:rPr lang="en-GB" dirty="0"/>
                  <a:t>Distance-based: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𝑖𝑗</m:t>
                        </m:r>
                      </m:sub>
                    </m:sSub>
                    <m:r>
                      <a:rPr lang="en-GB" b="0" i="1" smtClean="0">
                        <a:latin typeface="Cambria Math" panose="02040503050406030204" pitchFamily="18" charset="0"/>
                      </a:rPr>
                      <m:t>=1</m:t>
                    </m:r>
                  </m:oMath>
                </a14:m>
                <a:r>
                  <a:rPr lang="en-GB" dirty="0"/>
                  <a:t> if the distance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𝑖𝑗</m:t>
                        </m:r>
                      </m:sub>
                    </m:sSub>
                  </m:oMath>
                </a14:m>
                <a:r>
                  <a:rPr lang="en-GB" dirty="0"/>
                  <a:t> between areas </a:t>
                </a:r>
                <a14:m>
                  <m:oMath xmlns:m="http://schemas.openxmlformats.org/officeDocument/2006/math">
                    <m:r>
                      <a:rPr lang="en-GB" b="0" i="1" smtClean="0">
                        <a:latin typeface="Cambria Math" panose="02040503050406030204" pitchFamily="18" charset="0"/>
                      </a:rPr>
                      <m:t>𝑖</m:t>
                    </m:r>
                  </m:oMath>
                </a14:m>
                <a:r>
                  <a:rPr lang="en-GB" dirty="0"/>
                  <a:t> and </a:t>
                </a:r>
                <a14:m>
                  <m:oMath xmlns:m="http://schemas.openxmlformats.org/officeDocument/2006/math">
                    <m:r>
                      <a:rPr lang="en-GB" b="0" i="1" smtClean="0">
                        <a:latin typeface="Cambria Math" panose="02040503050406030204" pitchFamily="18" charset="0"/>
                      </a:rPr>
                      <m:t>𝑗</m:t>
                    </m:r>
                  </m:oMath>
                </a14:m>
                <a:r>
                  <a:rPr lang="en-GB" dirty="0"/>
                  <a:t> is within a specified threshold </a:t>
                </a:r>
                <a14:m>
                  <m:oMath xmlns:m="http://schemas.openxmlformats.org/officeDocument/2006/math">
                    <m:r>
                      <a:rPr lang="en-GB" b="0" i="1" smtClean="0">
                        <a:latin typeface="Cambria Math" panose="02040503050406030204" pitchFamily="18" charset="0"/>
                      </a:rPr>
                      <m:t>𝑑</m:t>
                    </m:r>
                  </m:oMath>
                </a14:m>
                <a:r>
                  <a:rPr lang="en-GB" dirty="0"/>
                  <a:t>, and 0 otherwise.</a:t>
                </a:r>
              </a:p>
              <a:p>
                <a:pPr lvl="1"/>
                <a:r>
                  <a:rPr lang="en-GB" dirty="0"/>
                  <a:t>Distance decay functions: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𝑖𝑗</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𝑖𝑗</m:t>
                            </m:r>
                          </m:sub>
                        </m:sSub>
                      </m:den>
                    </m:f>
                  </m:oMath>
                </a14:m>
                <a:r>
                  <a:rPr lang="en-GB" dirty="0"/>
                  <a:t> ,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𝑖𝑗</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𝑑</m:t>
                            </m:r>
                          </m:e>
                          <m:sub>
                            <m:r>
                              <a:rPr lang="en-GB" b="0" i="1" smtClean="0">
                                <a:latin typeface="Cambria Math" panose="02040503050406030204" pitchFamily="18" charset="0"/>
                              </a:rPr>
                              <m:t>𝑖𝑗</m:t>
                            </m:r>
                          </m:sub>
                          <m:sup>
                            <m:r>
                              <a:rPr lang="en-GB" b="0" i="1" smtClean="0">
                                <a:latin typeface="Cambria Math" panose="02040503050406030204" pitchFamily="18" charset="0"/>
                              </a:rPr>
                              <m:t>2</m:t>
                            </m:r>
                          </m:sup>
                        </m:sSubSup>
                      </m:den>
                    </m:f>
                  </m:oMath>
                </a14:m>
                <a:r>
                  <a:rPr lang="en-GB" dirty="0"/>
                  <a:t> or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𝑖𝑗</m:t>
                        </m:r>
                      </m:sub>
                    </m:sSub>
                    <m:r>
                      <a:rPr lang="en-GB" b="0" i="1" smtClean="0">
                        <a:latin typeface="Cambria Math" panose="02040503050406030204" pitchFamily="18" charset="0"/>
                      </a:rPr>
                      <m:t>=</m:t>
                    </m:r>
                    <m:r>
                      <m:rPr>
                        <m:sty m:val="p"/>
                      </m:rPr>
                      <a:rPr lang="en-GB" b="0" i="0" smtClean="0">
                        <a:latin typeface="Cambria Math" panose="02040503050406030204" pitchFamily="18" charset="0"/>
                      </a:rPr>
                      <m:t>exp</m:t>
                    </m:r>
                    <m:r>
                      <a:rPr lang="en-GB" b="0" i="1" smtClean="0">
                        <a:latin typeface="Cambria Math" panose="02040503050406030204" pitchFamily="18" charset="0"/>
                      </a:rPr>
                      <m:t>⁡(−</m:t>
                    </m:r>
                    <m:r>
                      <a:rPr lang="en-GB" b="0" i="1" smtClean="0">
                        <a:latin typeface="Cambria Math" panose="02040503050406030204" pitchFamily="18" charset="0"/>
                      </a:rPr>
                      <m:t>𝜙</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𝑖𝑗</m:t>
                        </m:r>
                      </m:sub>
                    </m:sSub>
                    <m:r>
                      <a:rPr lang="en-GB" b="0" i="1" smtClean="0">
                        <a:latin typeface="Cambria Math" panose="02040503050406030204" pitchFamily="18" charset="0"/>
                      </a:rPr>
                      <m:t>)</m:t>
                    </m:r>
                  </m:oMath>
                </a14:m>
                <a:r>
                  <a:rPr lang="en-GB" dirty="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𝑖𝑗</m:t>
                        </m:r>
                      </m:sub>
                    </m:sSub>
                  </m:oMath>
                </a14:m>
                <a:r>
                  <a:rPr lang="en-GB" dirty="0"/>
                  <a:t> decays with increasing distance.</a:t>
                </a:r>
              </a:p>
              <a:p>
                <a:pPr lvl="1"/>
                <a:r>
                  <a:rPr lang="en-GB" dirty="0"/>
                  <a:t> </a:t>
                </a:r>
                <a14:m>
                  <m:oMath xmlns:m="http://schemas.openxmlformats.org/officeDocument/2006/math">
                    <m:r>
                      <a:rPr lang="en-GB" b="0" i="1" smtClean="0">
                        <a:latin typeface="Cambria Math" panose="02040503050406030204" pitchFamily="18" charset="0"/>
                      </a:rPr>
                      <m:t>𝑘</m:t>
                    </m:r>
                    <m:r>
                      <a:rPr lang="en-GB" b="0" i="1" smtClean="0">
                        <a:latin typeface="Cambria Math" panose="02040503050406030204" pitchFamily="18" charset="0"/>
                      </a:rPr>
                      <m:t>−</m:t>
                    </m:r>
                  </m:oMath>
                </a14:m>
                <a:r>
                  <a:rPr lang="en-GB" dirty="0"/>
                  <a:t>nearest neighbours: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𝑖𝑗</m:t>
                        </m:r>
                      </m:sub>
                    </m:sSub>
                    <m:r>
                      <a:rPr lang="en-GB" b="0" i="1" smtClean="0">
                        <a:latin typeface="Cambria Math" panose="02040503050406030204" pitchFamily="18" charset="0"/>
                      </a:rPr>
                      <m:t>=1</m:t>
                    </m:r>
                  </m:oMath>
                </a14:m>
                <a:r>
                  <a:rPr lang="en-GB" dirty="0"/>
                  <a:t> if area </a:t>
                </a:r>
                <a14:m>
                  <m:oMath xmlns:m="http://schemas.openxmlformats.org/officeDocument/2006/math">
                    <m:r>
                      <a:rPr lang="en-GB" b="0" i="1" smtClean="0">
                        <a:latin typeface="Cambria Math" panose="02040503050406030204" pitchFamily="18" charset="0"/>
                      </a:rPr>
                      <m:t>𝑗</m:t>
                    </m:r>
                  </m:oMath>
                </a14:m>
                <a:r>
                  <a:rPr lang="en-GB" dirty="0"/>
                  <a:t> is among the </a:t>
                </a:r>
                <a14:m>
                  <m:oMath xmlns:m="http://schemas.openxmlformats.org/officeDocument/2006/math">
                    <m:r>
                      <a:rPr lang="en-GB" b="0" i="1" smtClean="0">
                        <a:latin typeface="Cambria Math" panose="02040503050406030204" pitchFamily="18" charset="0"/>
                      </a:rPr>
                      <m:t>𝑘</m:t>
                    </m:r>
                  </m:oMath>
                </a14:m>
                <a:r>
                  <a:rPr lang="en-GB" dirty="0"/>
                  <a:t> closest </a:t>
                </a:r>
                <a:r>
                  <a:rPr lang="en-GB" dirty="0" err="1"/>
                  <a:t>neaighbours</a:t>
                </a:r>
                <a:r>
                  <a:rPr lang="en-GB" dirty="0"/>
                  <a:t> of area </a:t>
                </a:r>
                <a14:m>
                  <m:oMath xmlns:m="http://schemas.openxmlformats.org/officeDocument/2006/math">
                    <m:r>
                      <a:rPr lang="en-GB" b="0" i="1" smtClean="0">
                        <a:latin typeface="Cambria Math" panose="02040503050406030204" pitchFamily="18" charset="0"/>
                      </a:rPr>
                      <m:t>𝑖</m:t>
                    </m:r>
                  </m:oMath>
                </a14:m>
                <a:r>
                  <a:rPr lang="en-GB" dirty="0"/>
                  <a:t>, regardless of absolute distance</a:t>
                </a:r>
              </a:p>
              <a:p>
                <a:endParaRPr lang="en-GB" dirty="0"/>
              </a:p>
              <a:p>
                <a:r>
                  <a:rPr lang="en-GB" dirty="0"/>
                  <a:t>The most common approach is the binary contiguity neighbourhood structure</a:t>
                </a:r>
              </a:p>
              <a:p>
                <a:endParaRPr lang="en-GB" dirty="0"/>
              </a:p>
              <a:p>
                <a:endParaRPr lang="en-GB" dirty="0"/>
              </a:p>
            </p:txBody>
          </p:sp>
        </mc:Choice>
        <mc:Fallback xmlns="">
          <p:sp>
            <p:nvSpPr>
              <p:cNvPr id="3" name="Content Placeholder 2">
                <a:extLst>
                  <a:ext uri="{FF2B5EF4-FFF2-40B4-BE49-F238E27FC236}">
                    <a16:creationId xmlns:a16="http://schemas.microsoft.com/office/drawing/2014/main" id="{14063E32-D941-0BD4-6295-9BDE62C4A2DA}"/>
                  </a:ext>
                </a:extLst>
              </p:cNvPr>
              <p:cNvSpPr>
                <a:spLocks noGrp="1" noRot="1" noChangeAspect="1" noMove="1" noResize="1" noEditPoints="1" noAdjustHandles="1" noChangeArrowheads="1" noChangeShapeType="1" noTextEdit="1"/>
              </p:cNvSpPr>
              <p:nvPr>
                <p:ph idx="1"/>
              </p:nvPr>
            </p:nvSpPr>
            <p:spPr>
              <a:xfrm>
                <a:off x="838200" y="1510993"/>
                <a:ext cx="10515600" cy="4351338"/>
              </a:xfrm>
              <a:blipFill>
                <a:blip r:embed="rId2"/>
                <a:stretch>
                  <a:fillRect l="-1043" t="-1541" r="-1217"/>
                </a:stretch>
              </a:blipFill>
            </p:spPr>
            <p:txBody>
              <a:bodyPr/>
              <a:lstStyle/>
              <a:p>
                <a:r>
                  <a:rPr lang="en-GB">
                    <a:noFill/>
                  </a:rPr>
                  <a:t> </a:t>
                </a:r>
              </a:p>
            </p:txBody>
          </p:sp>
        </mc:Fallback>
      </mc:AlternateContent>
      <p:sp>
        <p:nvSpPr>
          <p:cNvPr id="6" name="Title 1">
            <a:extLst>
              <a:ext uri="{FF2B5EF4-FFF2-40B4-BE49-F238E27FC236}">
                <a16:creationId xmlns:a16="http://schemas.microsoft.com/office/drawing/2014/main" id="{FEBFA83F-28A3-C119-A53A-B0C642AE00EE}"/>
              </a:ext>
            </a:extLst>
          </p:cNvPr>
          <p:cNvSpPr>
            <a:spLocks noGrp="1"/>
          </p:cNvSpPr>
          <p:nvPr>
            <p:ph type="title"/>
          </p:nvPr>
        </p:nvSpPr>
        <p:spPr>
          <a:xfrm>
            <a:off x="267929" y="89823"/>
            <a:ext cx="10515600" cy="657429"/>
          </a:xfrm>
        </p:spPr>
        <p:txBody>
          <a:bodyPr>
            <a:normAutofit fontScale="90000"/>
          </a:bodyPr>
          <a:lstStyle/>
          <a:p>
            <a:r>
              <a:rPr lang="en-GB" b="1" dirty="0">
                <a:solidFill>
                  <a:schemeClr val="bg1"/>
                </a:solidFill>
                <a:latin typeface="+mn-lt"/>
              </a:rPr>
              <a:t>Defining spatial dependence with areal data</a:t>
            </a:r>
          </a:p>
        </p:txBody>
      </p:sp>
    </p:spTree>
    <p:extLst>
      <p:ext uri="{BB962C8B-B14F-4D97-AF65-F5344CB8AC3E}">
        <p14:creationId xmlns:p14="http://schemas.microsoft.com/office/powerpoint/2010/main" val="1262270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0F3DC-8AFE-3811-3D59-E2D793997A8B}"/>
              </a:ext>
            </a:extLst>
          </p:cNvPr>
          <p:cNvSpPr>
            <a:spLocks noGrp="1"/>
          </p:cNvSpPr>
          <p:nvPr>
            <p:ph type="title"/>
          </p:nvPr>
        </p:nvSpPr>
        <p:spPr>
          <a:xfrm>
            <a:off x="169606" y="0"/>
            <a:ext cx="11184194" cy="796413"/>
          </a:xfrm>
        </p:spPr>
        <p:txBody>
          <a:bodyPr>
            <a:normAutofit/>
          </a:bodyPr>
          <a:lstStyle/>
          <a:p>
            <a:r>
              <a:rPr lang="en-GB" sz="3600" b="1" dirty="0">
                <a:solidFill>
                  <a:schemeClr val="bg1"/>
                </a:solidFill>
                <a:latin typeface="+mn-lt"/>
              </a:rPr>
              <a:t>Common probability distributions used for areal data</a:t>
            </a:r>
          </a:p>
        </p:txBody>
      </p:sp>
      <p:graphicFrame>
        <p:nvGraphicFramePr>
          <p:cNvPr id="13" name="Table 12">
            <a:extLst>
              <a:ext uri="{FF2B5EF4-FFF2-40B4-BE49-F238E27FC236}">
                <a16:creationId xmlns:a16="http://schemas.microsoft.com/office/drawing/2014/main" id="{56E9BBCC-01B2-EF5D-2C99-B16B9E54B49D}"/>
              </a:ext>
            </a:extLst>
          </p:cNvPr>
          <p:cNvGraphicFramePr>
            <a:graphicFrameLocks noGrp="1"/>
          </p:cNvGraphicFramePr>
          <p:nvPr>
            <p:extLst>
              <p:ext uri="{D42A27DB-BD31-4B8C-83A1-F6EECF244321}">
                <p14:modId xmlns:p14="http://schemas.microsoft.com/office/powerpoint/2010/main" val="3010890168"/>
              </p:ext>
            </p:extLst>
          </p:nvPr>
        </p:nvGraphicFramePr>
        <p:xfrm>
          <a:off x="838200" y="2093427"/>
          <a:ext cx="10515600" cy="3596199"/>
        </p:xfrm>
        <a:graphic>
          <a:graphicData uri="http://schemas.openxmlformats.org/drawingml/2006/table">
            <a:tbl>
              <a:tblPr firstRow="1" firstCol="1" bandRow="1">
                <a:tableStyleId>{5C22544A-7EE6-4342-B048-85BDC9FD1C3A}</a:tableStyleId>
              </a:tblPr>
              <a:tblGrid>
                <a:gridCol w="3505200">
                  <a:extLst>
                    <a:ext uri="{9D8B030D-6E8A-4147-A177-3AD203B41FA5}">
                      <a16:colId xmlns:a16="http://schemas.microsoft.com/office/drawing/2014/main" val="335603470"/>
                    </a:ext>
                  </a:extLst>
                </a:gridCol>
                <a:gridCol w="2401529">
                  <a:extLst>
                    <a:ext uri="{9D8B030D-6E8A-4147-A177-3AD203B41FA5}">
                      <a16:colId xmlns:a16="http://schemas.microsoft.com/office/drawing/2014/main" val="1427937838"/>
                    </a:ext>
                  </a:extLst>
                </a:gridCol>
                <a:gridCol w="4608871">
                  <a:extLst>
                    <a:ext uri="{9D8B030D-6E8A-4147-A177-3AD203B41FA5}">
                      <a16:colId xmlns:a16="http://schemas.microsoft.com/office/drawing/2014/main" val="1730964699"/>
                    </a:ext>
                  </a:extLst>
                </a:gridCol>
              </a:tblGrid>
              <a:tr h="0">
                <a:tc>
                  <a:txBody>
                    <a:bodyPr/>
                    <a:lstStyle/>
                    <a:p>
                      <a:pPr>
                        <a:lnSpc>
                          <a:spcPct val="115000"/>
                        </a:lnSpc>
                        <a:spcAft>
                          <a:spcPts val="800"/>
                        </a:spcAft>
                        <a:buNone/>
                      </a:pPr>
                      <a:r>
                        <a:rPr lang="en-GB" sz="1800" kern="100">
                          <a:effectLst/>
                        </a:rPr>
                        <a:t>Data type</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800" kern="100">
                          <a:effectLst/>
                        </a:rPr>
                        <a:t>Distribution</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800" kern="100">
                          <a:effectLst/>
                        </a:rPr>
                        <a:t>Typical example</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71232616"/>
                  </a:ext>
                </a:extLst>
              </a:tr>
              <a:tr h="0">
                <a:tc>
                  <a:txBody>
                    <a:bodyPr/>
                    <a:lstStyle/>
                    <a:p>
                      <a:pPr>
                        <a:lnSpc>
                          <a:spcPct val="115000"/>
                        </a:lnSpc>
                        <a:spcAft>
                          <a:spcPts val="800"/>
                        </a:spcAft>
                        <a:buNone/>
                      </a:pPr>
                      <a:r>
                        <a:rPr lang="en-GB" sz="1800" kern="100" dirty="0">
                          <a:effectLst/>
                        </a:rPr>
                        <a:t>Counts/</a:t>
                      </a:r>
                      <a:r>
                        <a:rPr lang="en-GB" sz="1800" kern="100" dirty="0" err="1">
                          <a:effectLst/>
                        </a:rPr>
                        <a:t>Overdispersed</a:t>
                      </a:r>
                      <a:r>
                        <a:rPr lang="en-GB" sz="1800" kern="100" dirty="0">
                          <a:effectLst/>
                        </a:rPr>
                        <a:t> counts</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800" kern="100" dirty="0">
                          <a:effectLst/>
                        </a:rPr>
                        <a:t>Poisson/Negative binomial</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800" kern="100" dirty="0">
                          <a:effectLst/>
                        </a:rPr>
                        <a:t>Number of disease cases in each district</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74634713"/>
                  </a:ext>
                </a:extLst>
              </a:tr>
              <a:tr h="0">
                <a:tc>
                  <a:txBody>
                    <a:bodyPr/>
                    <a:lstStyle/>
                    <a:p>
                      <a:pPr>
                        <a:lnSpc>
                          <a:spcPct val="115000"/>
                        </a:lnSpc>
                        <a:spcAft>
                          <a:spcPts val="800"/>
                        </a:spcAft>
                        <a:buNone/>
                      </a:pPr>
                      <a:r>
                        <a:rPr lang="en-GB" sz="1800" kern="100">
                          <a:effectLst/>
                        </a:rPr>
                        <a:t>Binary/binomial outcomes</a:t>
                      </a:r>
                    </a:p>
                    <a:p>
                      <a:pPr>
                        <a:lnSpc>
                          <a:spcPct val="115000"/>
                        </a:lnSpc>
                        <a:spcAft>
                          <a:spcPts val="800"/>
                        </a:spcAft>
                        <a:buNone/>
                      </a:pPr>
                      <a:r>
                        <a:rPr lang="en-GB" sz="1800" kern="100">
                          <a:effectLst/>
                        </a:rPr>
                        <a:t>(Proportions / prevalence)</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800" kern="100">
                          <a:effectLst/>
                        </a:rPr>
                        <a:t>Binomial</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800" kern="100" dirty="0">
                          <a:effectLst/>
                        </a:rPr>
                        <a:t>Number of children with disease out of those surveyed</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59135116"/>
                  </a:ext>
                </a:extLst>
              </a:tr>
              <a:tr h="0">
                <a:tc>
                  <a:txBody>
                    <a:bodyPr/>
                    <a:lstStyle/>
                    <a:p>
                      <a:pPr>
                        <a:lnSpc>
                          <a:spcPct val="115000"/>
                        </a:lnSpc>
                        <a:spcAft>
                          <a:spcPts val="800"/>
                        </a:spcAft>
                        <a:buNone/>
                      </a:pPr>
                      <a:r>
                        <a:rPr lang="en-GB" sz="1800" kern="100">
                          <a:effectLst/>
                        </a:rPr>
                        <a:t>Continuous measurements</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800" kern="100">
                          <a:effectLst/>
                        </a:rPr>
                        <a:t>Gaussian (Normal)</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800" kern="100">
                          <a:effectLst/>
                        </a:rPr>
                        <a:t>Mean temperature, pollution level, socioeconomic index</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29988163"/>
                  </a:ext>
                </a:extLst>
              </a:tr>
              <a:tr h="0">
                <a:tc>
                  <a:txBody>
                    <a:bodyPr/>
                    <a:lstStyle/>
                    <a:p>
                      <a:pPr>
                        <a:lnSpc>
                          <a:spcPct val="115000"/>
                        </a:lnSpc>
                        <a:spcAft>
                          <a:spcPts val="800"/>
                        </a:spcAft>
                        <a:buNone/>
                      </a:pPr>
                      <a:r>
                        <a:rPr lang="en-GB" sz="1800" kern="100">
                          <a:effectLst/>
                        </a:rPr>
                        <a:t>Positive continuous data</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800" kern="100">
                          <a:effectLst/>
                        </a:rPr>
                        <a:t>Gamma</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800" kern="100">
                          <a:effectLst/>
                        </a:rPr>
                        <a:t>Disease incidence rate, rainfall, expenditure</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8698158"/>
                  </a:ext>
                </a:extLst>
              </a:tr>
              <a:tr h="0">
                <a:tc>
                  <a:txBody>
                    <a:bodyPr/>
                    <a:lstStyle/>
                    <a:p>
                      <a:pPr>
                        <a:lnSpc>
                          <a:spcPct val="115000"/>
                        </a:lnSpc>
                        <a:spcAft>
                          <a:spcPts val="800"/>
                        </a:spcAft>
                        <a:buNone/>
                      </a:pPr>
                      <a:r>
                        <a:rPr lang="en-GB" sz="1800" kern="100">
                          <a:effectLst/>
                        </a:rPr>
                        <a:t>Positive skewed data</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800" kern="100">
                          <a:effectLst/>
                        </a:rPr>
                        <a:t>Log-normal</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800" kern="100">
                          <a:effectLst/>
                        </a:rPr>
                        <a:t>Income, environmental concentrations</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54860251"/>
                  </a:ext>
                </a:extLst>
              </a:tr>
              <a:tr h="0">
                <a:tc>
                  <a:txBody>
                    <a:bodyPr/>
                    <a:lstStyle/>
                    <a:p>
                      <a:pPr>
                        <a:lnSpc>
                          <a:spcPct val="115000"/>
                        </a:lnSpc>
                        <a:spcAft>
                          <a:spcPts val="800"/>
                        </a:spcAft>
                        <a:buNone/>
                      </a:pPr>
                      <a:r>
                        <a:rPr lang="en-GB" sz="1800" kern="100">
                          <a:effectLst/>
                        </a:rPr>
                        <a:t>Multinomial categories</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800" kern="100">
                          <a:effectLst/>
                        </a:rPr>
                        <a:t>Multinomial</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GB" sz="1800" kern="100" dirty="0">
                          <a:effectLst/>
                        </a:rPr>
                        <a:t>Population distributed among several disease-status categories</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72795268"/>
                  </a:ext>
                </a:extLst>
              </a:tr>
            </a:tbl>
          </a:graphicData>
        </a:graphic>
      </p:graphicFrame>
    </p:spTree>
    <p:extLst>
      <p:ext uri="{BB962C8B-B14F-4D97-AF65-F5344CB8AC3E}">
        <p14:creationId xmlns:p14="http://schemas.microsoft.com/office/powerpoint/2010/main" val="11987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99793-562D-6A2E-4B43-0C3F17E1A22A}"/>
              </a:ext>
            </a:extLst>
          </p:cNvPr>
          <p:cNvSpPr>
            <a:spLocks noGrp="1"/>
          </p:cNvSpPr>
          <p:nvPr>
            <p:ph type="title"/>
          </p:nvPr>
        </p:nvSpPr>
        <p:spPr>
          <a:xfrm>
            <a:off x="307258" y="0"/>
            <a:ext cx="8915400" cy="716423"/>
          </a:xfrm>
        </p:spPr>
        <p:txBody>
          <a:bodyPr>
            <a:normAutofit/>
          </a:bodyPr>
          <a:lstStyle/>
          <a:p>
            <a:r>
              <a:rPr lang="en-GB" sz="4000" b="1" dirty="0">
                <a:solidFill>
                  <a:schemeClr val="bg1"/>
                </a:solidFill>
                <a:latin typeface="+mn-lt"/>
              </a:rPr>
              <a:t>Area data models – disease mapping</a:t>
            </a:r>
          </a:p>
        </p:txBody>
      </p:sp>
      <mc:AlternateContent xmlns:mc="http://schemas.openxmlformats.org/markup-compatibility/2006">
        <mc:Choice xmlns:a14="http://schemas.microsoft.com/office/drawing/2010/main" Requires="a14">
          <p:sp>
            <p:nvSpPr>
              <p:cNvPr id="6" name="Content Placeholder 2">
                <a:extLst>
                  <a:ext uri="{FF2B5EF4-FFF2-40B4-BE49-F238E27FC236}">
                    <a16:creationId xmlns:a16="http://schemas.microsoft.com/office/drawing/2014/main" id="{0D0769B2-C6A1-1B2D-EFF4-26AEC5AA8E93}"/>
                  </a:ext>
                </a:extLst>
              </p:cNvPr>
              <p:cNvSpPr>
                <a:spLocks noGrp="1"/>
              </p:cNvSpPr>
              <p:nvPr>
                <p:ph idx="1"/>
              </p:nvPr>
            </p:nvSpPr>
            <p:spPr>
              <a:xfrm>
                <a:off x="838200" y="1501161"/>
                <a:ext cx="10515600" cy="4351338"/>
              </a:xfrm>
            </p:spPr>
            <p:txBody>
              <a:bodyPr/>
              <a:lstStyle/>
              <a:p>
                <a:r>
                  <a:rPr lang="en-GB" dirty="0"/>
                  <a:t>Let </a:t>
                </a:r>
                <a14:m>
                  <m:oMath xmlns:m="http://schemas.openxmlformats.org/officeDocument/2006/math">
                    <m:r>
                      <a:rPr lang="en-GB" b="1" i="1" smtClean="0">
                        <a:latin typeface="Cambria Math" panose="02040503050406030204" pitchFamily="18" charset="0"/>
                      </a:rPr>
                      <m:t>𝒚</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𝑛</m:t>
                        </m:r>
                      </m:sub>
                    </m:sSub>
                    <m:r>
                      <a:rPr lang="en-GB" b="0" i="1" smtClean="0">
                        <a:latin typeface="Cambria Math" panose="02040503050406030204" pitchFamily="18" charset="0"/>
                      </a:rPr>
                      <m:t>)</m:t>
                    </m:r>
                  </m:oMath>
                </a14:m>
                <a:r>
                  <a:rPr lang="en-GB" dirty="0"/>
                  <a:t> denote the observed counts of a disease in area </a:t>
                </a:r>
                <a14:m>
                  <m:oMath xmlns:m="http://schemas.openxmlformats.org/officeDocument/2006/math">
                    <m:r>
                      <a:rPr lang="en-GB" b="0" i="1" smtClean="0">
                        <a:latin typeface="Cambria Math" panose="02040503050406030204" pitchFamily="18" charset="0"/>
                      </a:rPr>
                      <m:t>𝑖</m:t>
                    </m:r>
                    <m:r>
                      <a:rPr lang="en-GB" b="0" i="0" smtClean="0">
                        <a:latin typeface="Cambria Math" panose="02040503050406030204" pitchFamily="18" charset="0"/>
                      </a:rPr>
                      <m:t>(</m:t>
                    </m:r>
                    <m:r>
                      <a:rPr lang="en-GB" b="0" i="1" smtClean="0">
                        <a:latin typeface="Cambria Math" panose="02040503050406030204" pitchFamily="18" charset="0"/>
                      </a:rPr>
                      <m:t>𝑖</m:t>
                    </m:r>
                    <m:r>
                      <a:rPr lang="en-GB" b="0" i="0" smtClean="0">
                        <a:latin typeface="Cambria Math" panose="02040503050406030204" pitchFamily="18" charset="0"/>
                      </a:rPr>
                      <m:t>=1,</m:t>
                    </m:r>
                    <m:r>
                      <a:rPr lang="en-GB" b="0" i="1" smtClean="0">
                        <a:latin typeface="Cambria Math" panose="02040503050406030204" pitchFamily="18" charset="0"/>
                      </a:rPr>
                      <m:t>…,</m:t>
                    </m:r>
                    <m:r>
                      <a:rPr lang="en-GB" b="0" i="1" smtClean="0">
                        <a:latin typeface="Cambria Math" panose="02040503050406030204" pitchFamily="18" charset="0"/>
                      </a:rPr>
                      <m:t>𝑛</m:t>
                    </m:r>
                    <m:r>
                      <a:rPr lang="en-GB" b="0" i="1" smtClean="0">
                        <a:latin typeface="Cambria Math" panose="02040503050406030204" pitchFamily="18" charset="0"/>
                      </a:rPr>
                      <m:t>)</m:t>
                    </m:r>
                  </m:oMath>
                </a14:m>
                <a:endParaRPr lang="en-GB" dirty="0"/>
              </a:p>
              <a:p>
                <a:r>
                  <a:rPr lang="en-GB" dirty="0"/>
                  <a:t>To fairly evaluate areas with increased risk levels, we need to calculate the number of cases expected to occur in each area</a:t>
                </a:r>
              </a:p>
              <a:p>
                <a:r>
                  <a:rPr lang="en-GB" dirty="0"/>
                  <a:t>We will denote these expected numbers of cases by </a:t>
                </a:r>
                <a14:m>
                  <m:oMath xmlns:m="http://schemas.openxmlformats.org/officeDocument/2006/math">
                    <m:r>
                      <a:rPr lang="en-GB" b="1" i="1" smtClean="0">
                        <a:latin typeface="Cambria Math" panose="02040503050406030204" pitchFamily="18" charset="0"/>
                      </a:rPr>
                      <m:t>𝑬</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𝑛</m:t>
                        </m:r>
                      </m:sub>
                    </m:sSub>
                    <m:r>
                      <a:rPr lang="en-GB" b="0" i="1" smtClean="0">
                        <a:latin typeface="Cambria Math" panose="02040503050406030204" pitchFamily="18" charset="0"/>
                      </a:rPr>
                      <m:t>)</m:t>
                    </m:r>
                  </m:oMath>
                </a14:m>
                <a:endParaRPr lang="en-GB" dirty="0"/>
              </a:p>
              <a:p>
                <a:r>
                  <a:rPr lang="en-GB" dirty="0"/>
                  <a:t>The </a:t>
                </a:r>
                <a14:m>
                  <m:oMath xmlns:m="http://schemas.openxmlformats.org/officeDocument/2006/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𝐸</m:t>
                        </m:r>
                      </m:e>
                      <m:sub>
                        <m:r>
                          <a:rPr lang="en-GB" b="0" i="1" smtClean="0">
                            <a:latin typeface="Cambria Math" panose="02040503050406030204" pitchFamily="18" charset="0"/>
                          </a:rPr>
                          <m:t>𝑖</m:t>
                        </m:r>
                      </m:sub>
                      <m:sup>
                        <m:r>
                          <a:rPr lang="en-GB" b="0" i="1" smtClean="0">
                            <a:latin typeface="Cambria Math" panose="02040503050406030204" pitchFamily="18" charset="0"/>
                          </a:rPr>
                          <m:t>′</m:t>
                        </m:r>
                      </m:sup>
                    </m:sSubSup>
                  </m:oMath>
                </a14:m>
                <a:r>
                  <a:rPr lang="en-GB" dirty="0"/>
                  <a:t>s are calculated as follows</a:t>
                </a:r>
              </a:p>
              <a:p>
                <a:pPr marL="0" indent="0">
                  <a:buNone/>
                </a:pPr>
                <a:r>
                  <a:rPr lang="en-GB" b="0" dirty="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𝑖</m:t>
                        </m:r>
                      </m:sub>
                    </m:sSub>
                    <m:r>
                      <a:rPr lang="en-GB" b="0" i="1" smtClean="0">
                        <a:latin typeface="Cambria Math" panose="02040503050406030204" pitchFamily="18" charset="0"/>
                      </a:rPr>
                      <m:t>=</m:t>
                    </m:r>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𝑗</m:t>
                        </m:r>
                        <m:r>
                          <m:rPr>
                            <m:brk m:alnAt="25"/>
                          </m:rPr>
                          <a:rPr lang="en-GB" b="0" i="1" smtClean="0">
                            <a:latin typeface="Cambria Math" panose="02040503050406030204" pitchFamily="18" charset="0"/>
                          </a:rPr>
                          <m:t>=</m:t>
                        </m:r>
                        <m:r>
                          <m:rPr>
                            <m:brk m:alnAt="25"/>
                          </m:rPr>
                          <a:rPr lang="en-GB" b="0" i="1" smtClean="0">
                            <a:latin typeface="Cambria Math" panose="02040503050406030204" pitchFamily="18" charset="0"/>
                          </a:rPr>
                          <m:t>1</m:t>
                        </m:r>
                      </m:sub>
                      <m:sup>
                        <m:r>
                          <a:rPr lang="en-GB" b="0" i="1" smtClean="0">
                            <a:latin typeface="Cambria Math" panose="02040503050406030204" pitchFamily="18" charset="0"/>
                          </a:rPr>
                          <m:t>𝐽</m:t>
                        </m:r>
                      </m:sup>
                      <m:e>
                        <m:r>
                          <a:rPr lang="en-GB" b="0" i="1" smtClean="0">
                            <a:latin typeface="Cambria Math" panose="02040503050406030204" pitchFamily="18" charset="0"/>
                          </a:rPr>
                          <m:t>𝑃𝑜</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𝑝</m:t>
                            </m:r>
                          </m:e>
                          <m:sub>
                            <m:r>
                              <a:rPr lang="en-GB" b="0" i="1" smtClean="0">
                                <a:latin typeface="Cambria Math" panose="02040503050406030204" pitchFamily="18" charset="0"/>
                              </a:rPr>
                              <m:t>𝑖𝑗</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𝑟</m:t>
                            </m:r>
                          </m:e>
                          <m:sub>
                            <m:r>
                              <a:rPr lang="en-GB" b="0" i="1" smtClean="0">
                                <a:latin typeface="Cambria Math" panose="02040503050406030204" pitchFamily="18" charset="0"/>
                              </a:rPr>
                              <m:t>𝑗</m:t>
                            </m:r>
                          </m:sub>
                        </m:sSub>
                      </m:e>
                    </m:nary>
                  </m:oMath>
                </a14:m>
                <a:r>
                  <a:rPr lang="en-GB" dirty="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𝑟</m:t>
                        </m:r>
                      </m:e>
                      <m:sub>
                        <m:r>
                          <a:rPr lang="en-GB" b="0" i="1" smtClean="0">
                            <a:latin typeface="Cambria Math" panose="02040503050406030204" pitchFamily="18" charset="0"/>
                          </a:rPr>
                          <m:t>𝑗</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𝑖</m:t>
                            </m:r>
                            <m:r>
                              <m:rPr>
                                <m:brk m:alnAt="25"/>
                              </m:rPr>
                              <a:rPr lang="en-GB" b="0" i="1" smtClean="0">
                                <a:latin typeface="Cambria Math" panose="02040503050406030204" pitchFamily="18" charset="0"/>
                              </a:rPr>
                              <m:t>=</m:t>
                            </m:r>
                            <m:r>
                              <m:rPr>
                                <m:brk m:alnAt="25"/>
                              </m:rPr>
                              <a:rPr lang="en-GB" b="0" i="1" smtClean="0">
                                <a:latin typeface="Cambria Math" panose="02040503050406030204" pitchFamily="18" charset="0"/>
                              </a:rPr>
                              <m:t>1</m:t>
                            </m:r>
                          </m:sub>
                          <m:sup>
                            <m:r>
                              <a:rPr lang="en-GB" b="0" i="1" smtClean="0">
                                <a:latin typeface="Cambria Math" panose="02040503050406030204" pitchFamily="18" charset="0"/>
                              </a:rPr>
                              <m:t>𝑛</m:t>
                            </m:r>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𝑖𝑗</m:t>
                                </m:r>
                              </m:sub>
                            </m:sSub>
                          </m:e>
                        </m:nary>
                      </m:num>
                      <m:den>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𝑖</m:t>
                            </m:r>
                            <m:r>
                              <m:rPr>
                                <m:brk m:alnAt="25"/>
                              </m:rPr>
                              <a:rPr lang="en-GB" b="0" i="1" smtClean="0">
                                <a:latin typeface="Cambria Math" panose="02040503050406030204" pitchFamily="18" charset="0"/>
                              </a:rPr>
                              <m:t>=</m:t>
                            </m:r>
                            <m:r>
                              <m:rPr>
                                <m:brk m:alnAt="25"/>
                              </m:rPr>
                              <a:rPr lang="en-GB" b="0" i="1" smtClean="0">
                                <a:latin typeface="Cambria Math" panose="02040503050406030204" pitchFamily="18" charset="0"/>
                              </a:rPr>
                              <m:t>1</m:t>
                            </m:r>
                          </m:sub>
                          <m:sup>
                            <m:r>
                              <a:rPr lang="en-GB" b="0" i="1" smtClean="0">
                                <a:latin typeface="Cambria Math" panose="02040503050406030204" pitchFamily="18" charset="0"/>
                              </a:rPr>
                              <m:t>𝑛</m:t>
                            </m:r>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𝑃𝑜𝑝</m:t>
                                </m:r>
                              </m:e>
                              <m:sub>
                                <m:r>
                                  <a:rPr lang="en-GB" b="0" i="1" smtClean="0">
                                    <a:latin typeface="Cambria Math" panose="02040503050406030204" pitchFamily="18" charset="0"/>
                                  </a:rPr>
                                  <m:t>𝑖𝑗</m:t>
                                </m:r>
                              </m:sub>
                            </m:sSub>
                          </m:e>
                        </m:nary>
                      </m:den>
                    </m:f>
                  </m:oMath>
                </a14:m>
                <a:r>
                  <a:rPr lang="en-GB" dirty="0"/>
                  <a:t>.</a:t>
                </a:r>
              </a:p>
            </p:txBody>
          </p:sp>
        </mc:Choice>
        <mc:Fallback>
          <p:sp>
            <p:nvSpPr>
              <p:cNvPr id="6" name="Content Placeholder 2">
                <a:extLst>
                  <a:ext uri="{FF2B5EF4-FFF2-40B4-BE49-F238E27FC236}">
                    <a16:creationId xmlns:a16="http://schemas.microsoft.com/office/drawing/2014/main" id="{0D0769B2-C6A1-1B2D-EFF4-26AEC5AA8E93}"/>
                  </a:ext>
                </a:extLst>
              </p:cNvPr>
              <p:cNvSpPr>
                <a:spLocks noGrp="1" noRot="1" noChangeAspect="1" noMove="1" noResize="1" noEditPoints="1" noAdjustHandles="1" noChangeArrowheads="1" noChangeShapeType="1" noTextEdit="1"/>
              </p:cNvSpPr>
              <p:nvPr>
                <p:ph idx="1"/>
              </p:nvPr>
            </p:nvSpPr>
            <p:spPr>
              <a:xfrm>
                <a:off x="838200" y="1501161"/>
                <a:ext cx="10515600" cy="4351338"/>
              </a:xfrm>
              <a:blipFill>
                <a:blip r:embed="rId2"/>
                <a:stretch>
                  <a:fillRect l="-1043" t="-23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2C8C574-2892-0EE0-3C27-AB96263F1B8F}"/>
                  </a:ext>
                </a:extLst>
              </p:cNvPr>
              <p:cNvSpPr txBox="1"/>
              <p:nvPr/>
            </p:nvSpPr>
            <p:spPr>
              <a:xfrm>
                <a:off x="838200" y="6056670"/>
                <a:ext cx="7413522" cy="668645"/>
              </a:xfrm>
              <a:prstGeom prst="rect">
                <a:avLst/>
              </a:prstGeom>
              <a:noFill/>
            </p:spPr>
            <p:txBody>
              <a:bodyPr wrap="square" rtlCol="0">
                <a:spAutoFit/>
              </a:bodyPr>
              <a:lstStyle/>
              <a:p>
                <a:r>
                  <a:rPr lang="en-GB" dirty="0"/>
                  <a:t>Here, </a:t>
                </a:r>
                <a14:m>
                  <m:oMath xmlns:m="http://schemas.openxmlformats.org/officeDocument/2006/math">
                    <m:r>
                      <a:rPr lang="en-GB" b="0" i="1" smtClean="0">
                        <a:latin typeface="Cambria Math" panose="02040503050406030204" pitchFamily="18" charset="0"/>
                      </a:rPr>
                      <m:t>𝑗</m:t>
                    </m:r>
                  </m:oMath>
                </a14:m>
                <a:r>
                  <a:rPr lang="en-GB" dirty="0"/>
                  <a:t> indexes the unique combinations of age and sex categories. </a:t>
                </a:r>
              </a:p>
              <a:p>
                <a14:m>
                  <m:oMath xmlns:m="http://schemas.openxmlformats.org/officeDocument/2006/math">
                    <m:r>
                      <a:rPr lang="en-GB" b="0" i="1" smtClean="0">
                        <a:latin typeface="Cambria Math" panose="02040503050406030204" pitchFamily="18" charset="0"/>
                      </a:rPr>
                      <m:t>𝑃𝑜</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𝑝</m:t>
                        </m:r>
                      </m:e>
                      <m:sub>
                        <m:r>
                          <a:rPr lang="en-GB" b="0" i="1" smtClean="0">
                            <a:latin typeface="Cambria Math" panose="02040503050406030204" pitchFamily="18" charset="0"/>
                          </a:rPr>
                          <m:t>𝑖𝑗</m:t>
                        </m:r>
                      </m:sub>
                    </m:sSub>
                  </m:oMath>
                </a14:m>
                <a:r>
                  <a:rPr lang="en-GB" dirty="0"/>
                  <a:t> denotes the total population for age and sex category </a:t>
                </a:r>
                <a14:m>
                  <m:oMath xmlns:m="http://schemas.openxmlformats.org/officeDocument/2006/math">
                    <m:r>
                      <a:rPr lang="en-GB" b="0" i="1" smtClean="0">
                        <a:latin typeface="Cambria Math" panose="02040503050406030204" pitchFamily="18" charset="0"/>
                      </a:rPr>
                      <m:t>𝑗</m:t>
                    </m:r>
                  </m:oMath>
                </a14:m>
                <a:r>
                  <a:rPr lang="en-GB" dirty="0"/>
                  <a:t> in area </a:t>
                </a:r>
                <a14:m>
                  <m:oMath xmlns:m="http://schemas.openxmlformats.org/officeDocument/2006/math">
                    <m:r>
                      <a:rPr lang="en-GB" b="0" i="1" smtClean="0">
                        <a:latin typeface="Cambria Math" panose="02040503050406030204" pitchFamily="18" charset="0"/>
                      </a:rPr>
                      <m:t>𝑖</m:t>
                    </m:r>
                  </m:oMath>
                </a14:m>
                <a:r>
                  <a:rPr lang="en-GB" dirty="0"/>
                  <a:t>.</a:t>
                </a:r>
              </a:p>
            </p:txBody>
          </p:sp>
        </mc:Choice>
        <mc:Fallback xmlns="">
          <p:sp>
            <p:nvSpPr>
              <p:cNvPr id="7" name="TextBox 6">
                <a:extLst>
                  <a:ext uri="{FF2B5EF4-FFF2-40B4-BE49-F238E27FC236}">
                    <a16:creationId xmlns:a16="http://schemas.microsoft.com/office/drawing/2014/main" id="{82C8C574-2892-0EE0-3C27-AB96263F1B8F}"/>
                  </a:ext>
                </a:extLst>
              </p:cNvPr>
              <p:cNvSpPr txBox="1">
                <a:spLocks noRot="1" noChangeAspect="1" noMove="1" noResize="1" noEditPoints="1" noAdjustHandles="1" noChangeArrowheads="1" noChangeShapeType="1" noTextEdit="1"/>
              </p:cNvSpPr>
              <p:nvPr/>
            </p:nvSpPr>
            <p:spPr>
              <a:xfrm>
                <a:off x="838200" y="6056670"/>
                <a:ext cx="7413522" cy="668645"/>
              </a:xfrm>
              <a:prstGeom prst="rect">
                <a:avLst/>
              </a:prstGeom>
              <a:blipFill>
                <a:blip r:embed="rId3"/>
                <a:stretch>
                  <a:fillRect l="-740" t="-4587" b="-12844"/>
                </a:stretch>
              </a:blipFill>
            </p:spPr>
            <p:txBody>
              <a:bodyPr/>
              <a:lstStyle/>
              <a:p>
                <a:r>
                  <a:rPr lang="en-GB">
                    <a:noFill/>
                  </a:rPr>
                  <a:t> </a:t>
                </a:r>
              </a:p>
            </p:txBody>
          </p:sp>
        </mc:Fallback>
      </mc:AlternateContent>
    </p:spTree>
    <p:extLst>
      <p:ext uri="{BB962C8B-B14F-4D97-AF65-F5344CB8AC3E}">
        <p14:creationId xmlns:p14="http://schemas.microsoft.com/office/powerpoint/2010/main" val="2193537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F5FD9F-84A8-D7CF-016A-DBC240478747}"/>
                  </a:ext>
                </a:extLst>
              </p:cNvPr>
              <p:cNvSpPr>
                <a:spLocks noGrp="1"/>
              </p:cNvSpPr>
              <p:nvPr>
                <p:ph idx="1"/>
              </p:nvPr>
            </p:nvSpPr>
            <p:spPr>
              <a:xfrm>
                <a:off x="838200" y="1481495"/>
                <a:ext cx="10515600" cy="4938969"/>
              </a:xfrm>
            </p:spPr>
            <p:txBody>
              <a:bodyPr>
                <a:normAutofit fontScale="92500" lnSpcReduction="10000"/>
              </a:bodyPr>
              <a:lstStyle/>
              <a:p>
                <a:r>
                  <a:rPr lang="en-GB" dirty="0"/>
                  <a:t>The standardised incidence ratio (SIR) is the simplest measure of disease risk, calculated as </a:t>
                </a:r>
                <a14:m>
                  <m:oMath xmlns:m="http://schemas.openxmlformats.org/officeDocument/2006/math">
                    <m:r>
                      <a:rPr lang="en-GB" b="0" i="1" smtClean="0">
                        <a:latin typeface="Cambria Math" panose="02040503050406030204" pitchFamily="18" charset="0"/>
                      </a:rPr>
                      <m:t>𝑆𝐼</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𝑅</m:t>
                        </m:r>
                      </m:e>
                      <m:sub>
                        <m:r>
                          <a:rPr lang="en-GB" b="0" i="1" smtClean="0">
                            <a:latin typeface="Cambria Math" panose="02040503050406030204" pitchFamily="18" charset="0"/>
                          </a:rPr>
                          <m:t>𝑖</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𝑖</m:t>
                            </m:r>
                          </m:sub>
                        </m:sSub>
                      </m:den>
                    </m:f>
                  </m:oMath>
                </a14:m>
                <a:r>
                  <a:rPr lang="en-GB" dirty="0"/>
                  <a:t>. </a:t>
                </a:r>
              </a:p>
              <a:p>
                <a14:m>
                  <m:oMath xmlns:m="http://schemas.openxmlformats.org/officeDocument/2006/math">
                    <m:r>
                      <a:rPr lang="en-GB" b="0" i="1" smtClean="0">
                        <a:latin typeface="Cambria Math" panose="02040503050406030204" pitchFamily="18" charset="0"/>
                      </a:rPr>
                      <m:t>𝑆𝐼𝑅</m:t>
                    </m:r>
                  </m:oMath>
                </a14:m>
                <a:r>
                  <a:rPr lang="en-GB" dirty="0"/>
                  <a:t> values &gt;1 represent elevated risks; and values &lt;1 represent lower risks</a:t>
                </a:r>
              </a:p>
              <a:p>
                <a:r>
                  <a:rPr lang="en-GB" dirty="0"/>
                  <a:t>However, the </a:t>
                </a:r>
                <a14:m>
                  <m:oMath xmlns:m="http://schemas.openxmlformats.org/officeDocument/2006/math">
                    <m:r>
                      <a:rPr lang="en-GB" b="0" i="1" smtClean="0">
                        <a:latin typeface="Cambria Math" panose="02040503050406030204" pitchFamily="18" charset="0"/>
                      </a:rPr>
                      <m:t>𝑆𝐼𝑅</m:t>
                    </m:r>
                  </m:oMath>
                </a14:m>
                <a:r>
                  <a:rPr lang="en-GB" dirty="0"/>
                  <a:t> does not account for spatial dependence, can be unreliable (elevated risks can happen by chance if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𝑖</m:t>
                        </m:r>
                      </m:sub>
                    </m:sSub>
                  </m:oMath>
                </a14:m>
                <a:r>
                  <a:rPr lang="en-GB" dirty="0"/>
                  <a:t> is small) and often exhibits large variability</a:t>
                </a:r>
              </a:p>
              <a:p>
                <a:r>
                  <a:rPr lang="en-GB" dirty="0"/>
                  <a:t>To overcome this challenge, a Bayesian model-based approach is usually adopted</a:t>
                </a:r>
              </a:p>
              <a:p>
                <a:r>
                  <a:rPr lang="en-GB" dirty="0"/>
                  <a:t>The model uses covariates and random effects to estimate disease risk. The random effects borrow strength from neighbouring areas, reducing the occurrence of excess risk by chance.</a:t>
                </a:r>
              </a:p>
            </p:txBody>
          </p:sp>
        </mc:Choice>
        <mc:Fallback xmlns="">
          <p:sp>
            <p:nvSpPr>
              <p:cNvPr id="3" name="Content Placeholder 2">
                <a:extLst>
                  <a:ext uri="{FF2B5EF4-FFF2-40B4-BE49-F238E27FC236}">
                    <a16:creationId xmlns:a16="http://schemas.microsoft.com/office/drawing/2014/main" id="{8EF5FD9F-84A8-D7CF-016A-DBC240478747}"/>
                  </a:ext>
                </a:extLst>
              </p:cNvPr>
              <p:cNvSpPr>
                <a:spLocks noGrp="1" noRot="1" noChangeAspect="1" noMove="1" noResize="1" noEditPoints="1" noAdjustHandles="1" noChangeArrowheads="1" noChangeShapeType="1" noTextEdit="1"/>
              </p:cNvSpPr>
              <p:nvPr>
                <p:ph idx="1"/>
              </p:nvPr>
            </p:nvSpPr>
            <p:spPr>
              <a:xfrm>
                <a:off x="838200" y="1481495"/>
                <a:ext cx="10515600" cy="4938969"/>
              </a:xfrm>
              <a:blipFill>
                <a:blip r:embed="rId2"/>
                <a:stretch>
                  <a:fillRect l="-928" t="-2469"/>
                </a:stretch>
              </a:blipFill>
            </p:spPr>
            <p:txBody>
              <a:bodyPr/>
              <a:lstStyle/>
              <a:p>
                <a:r>
                  <a:rPr lang="en-GB">
                    <a:noFill/>
                  </a:rPr>
                  <a:t> </a:t>
                </a:r>
              </a:p>
            </p:txBody>
          </p:sp>
        </mc:Fallback>
      </mc:AlternateContent>
      <p:sp>
        <p:nvSpPr>
          <p:cNvPr id="4" name="Title 1">
            <a:extLst>
              <a:ext uri="{FF2B5EF4-FFF2-40B4-BE49-F238E27FC236}">
                <a16:creationId xmlns:a16="http://schemas.microsoft.com/office/drawing/2014/main" id="{E475CDFF-F2D1-6167-A639-7201B27898BD}"/>
              </a:ext>
            </a:extLst>
          </p:cNvPr>
          <p:cNvSpPr>
            <a:spLocks noGrp="1"/>
          </p:cNvSpPr>
          <p:nvPr>
            <p:ph type="title"/>
          </p:nvPr>
        </p:nvSpPr>
        <p:spPr>
          <a:xfrm>
            <a:off x="307258" y="0"/>
            <a:ext cx="8915400" cy="716423"/>
          </a:xfrm>
        </p:spPr>
        <p:txBody>
          <a:bodyPr>
            <a:normAutofit/>
          </a:bodyPr>
          <a:lstStyle/>
          <a:p>
            <a:r>
              <a:rPr lang="en-GB" sz="4000" b="1" dirty="0">
                <a:solidFill>
                  <a:schemeClr val="bg1"/>
                </a:solidFill>
                <a:latin typeface="+mn-lt"/>
              </a:rPr>
              <a:t>Area data models – disease mapping</a:t>
            </a:r>
          </a:p>
        </p:txBody>
      </p:sp>
    </p:spTree>
    <p:extLst>
      <p:ext uri="{BB962C8B-B14F-4D97-AF65-F5344CB8AC3E}">
        <p14:creationId xmlns:p14="http://schemas.microsoft.com/office/powerpoint/2010/main" val="2876821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DA32EFD-D02A-7AE0-512F-6FC5F2A67D35}"/>
                  </a:ext>
                </a:extLst>
              </p:cNvPr>
              <p:cNvSpPr>
                <a:spLocks noGrp="1"/>
              </p:cNvSpPr>
              <p:nvPr>
                <p:ph idx="1"/>
              </p:nvPr>
            </p:nvSpPr>
            <p:spPr>
              <a:xfrm>
                <a:off x="838200" y="1599482"/>
                <a:ext cx="10515600" cy="4870143"/>
              </a:xfrm>
            </p:spPr>
            <p:txBody>
              <a:bodyPr>
                <a:normAutofit fontScale="92500" lnSpcReduction="10000"/>
              </a:bodyPr>
              <a:lstStyle/>
              <a:p>
                <a:pPr marL="0" indent="0">
                  <a:buNone/>
                </a:pPr>
                <a:r>
                  <a:rPr lang="en-GB" dirty="0"/>
                  <a:t>The model can be written as:</a:t>
                </a:r>
              </a:p>
              <a:p>
                <a:pPr marL="0" indent="0">
                  <a:buNone/>
                </a:pPr>
                <a:r>
                  <a:rPr lang="en-GB" b="0" dirty="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m:rPr>
                        <m:sty m:val="p"/>
                      </m:rPr>
                      <a:rPr lang="en-GB" b="0" i="0" smtClean="0">
                        <a:latin typeface="Cambria Math" panose="02040503050406030204" pitchFamily="18" charset="0"/>
                      </a:rPr>
                      <m:t>Poisson</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𝑖</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m:t>
                    </m:r>
                  </m:oMath>
                </a14:m>
                <a:r>
                  <a:rPr lang="en-GB" dirty="0"/>
                  <a:t>; </a:t>
                </a:r>
                <a14:m>
                  <m:oMath xmlns:m="http://schemas.openxmlformats.org/officeDocument/2006/math">
                    <m:r>
                      <a:rPr lang="en-GB" b="0" i="1" dirty="0" smtClean="0">
                        <a:latin typeface="Cambria Math" panose="02040503050406030204" pitchFamily="18" charset="0"/>
                      </a:rPr>
                      <m:t>𝑖</m:t>
                    </m:r>
                    <m:r>
                      <a:rPr lang="en-GB" b="0" i="1" dirty="0" smtClean="0">
                        <a:latin typeface="Cambria Math" panose="02040503050406030204" pitchFamily="18" charset="0"/>
                      </a:rPr>
                      <m:t>=1,…,</m:t>
                    </m:r>
                    <m:r>
                      <a:rPr lang="en-GB" b="0" i="1" dirty="0" smtClean="0">
                        <a:latin typeface="Cambria Math" panose="02040503050406030204" pitchFamily="18" charset="0"/>
                      </a:rPr>
                      <m:t>𝑛</m:t>
                    </m:r>
                    <m:r>
                      <a:rPr lang="en-GB" b="0" i="1" dirty="0" smtClean="0">
                        <a:latin typeface="Cambria Math" panose="02040503050406030204" pitchFamily="18" charset="0"/>
                      </a:rPr>
                      <m:t>,</m:t>
                    </m:r>
                  </m:oMath>
                </a14:m>
                <a:r>
                  <a:rPr lang="en-GB" dirty="0"/>
                  <a:t> 			(1)</a:t>
                </a:r>
              </a:p>
              <a:p>
                <a:pPr marL="0" indent="0">
                  <a:buNone/>
                </a:pPr>
                <a:r>
                  <a:rPr lang="en-GB" b="0" dirty="0"/>
                  <a:t>    </a:t>
                </a:r>
                <a14:m>
                  <m:oMath xmlns:m="http://schemas.openxmlformats.org/officeDocument/2006/math">
                    <m:func>
                      <m:funcPr>
                        <m:ctrlPr>
                          <a:rPr lang="en-GB" b="0" i="0" smtClean="0">
                            <a:latin typeface="Cambria Math" panose="02040503050406030204" pitchFamily="18" charset="0"/>
                          </a:rPr>
                        </m:ctrlPr>
                      </m:funcPr>
                      <m:fName>
                        <m:r>
                          <m:rPr>
                            <m:sty m:val="p"/>
                          </m:rPr>
                          <a:rPr lang="en-GB" b="0" i="0" smtClean="0">
                            <a:latin typeface="Cambria Math" panose="02040503050406030204" pitchFamily="18" charset="0"/>
                          </a:rPr>
                          <m:t>log</m:t>
                        </m:r>
                      </m:fName>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e>
                        </m:d>
                      </m:e>
                    </m:func>
                    <m:r>
                      <a:rPr lang="en-GB" b="0" i="1" smtClean="0">
                        <a:latin typeface="Cambria Math" panose="02040503050406030204" pitchFamily="18" charset="0"/>
                      </a:rPr>
                      <m:t>=</m:t>
                    </m:r>
                    <m:sSubSup>
                      <m:sSubSupPr>
                        <m:ctrlPr>
                          <a:rPr lang="en-GB" b="1" i="0" smtClean="0">
                            <a:latin typeface="Cambria Math" panose="02040503050406030204" pitchFamily="18" charset="0"/>
                          </a:rPr>
                        </m:ctrlPr>
                      </m:sSubSupPr>
                      <m:e>
                        <m:r>
                          <a:rPr lang="en-GB" b="1" i="0" smtClean="0">
                            <a:latin typeface="Cambria Math" panose="02040503050406030204" pitchFamily="18" charset="0"/>
                          </a:rPr>
                          <m:t>𝐱</m:t>
                        </m:r>
                      </m:e>
                      <m:sub>
                        <m:r>
                          <a:rPr lang="en-GB" b="0" i="1" smtClean="0">
                            <a:latin typeface="Cambria Math" panose="02040503050406030204" pitchFamily="18" charset="0"/>
                          </a:rPr>
                          <m:t>𝑖</m:t>
                        </m:r>
                      </m:sub>
                      <m:sup>
                        <m:r>
                          <a:rPr lang="en-GB" b="0" i="1" smtClean="0">
                            <a:latin typeface="Cambria Math" panose="02040503050406030204" pitchFamily="18" charset="0"/>
                          </a:rPr>
                          <m:t>𝑇</m:t>
                        </m:r>
                      </m:sup>
                    </m:sSubSup>
                    <m:r>
                      <a:rPr lang="en-GB" b="1" i="1" smtClean="0">
                        <a:latin typeface="Cambria Math" panose="02040503050406030204" pitchFamily="18" charset="0"/>
                      </a:rPr>
                      <m:t>𝜷</m:t>
                    </m:r>
                    <m:r>
                      <a:rPr lang="en-GB" b="0" i="0"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𝜙</m:t>
                        </m:r>
                      </m:e>
                      <m:sub>
                        <m:r>
                          <a:rPr lang="en-GB" b="0" i="1" smtClean="0">
                            <a:latin typeface="Cambria Math" panose="02040503050406030204" pitchFamily="18" charset="0"/>
                          </a:rPr>
                          <m:t>𝑖</m:t>
                        </m:r>
                      </m:sub>
                    </m:sSub>
                    <m:r>
                      <a:rPr lang="en-GB" b="1" i="0" smtClean="0">
                        <a:latin typeface="Cambria Math" panose="02040503050406030204" pitchFamily="18" charset="0"/>
                      </a:rPr>
                      <m:t>,</m:t>
                    </m:r>
                  </m:oMath>
                </a14:m>
                <a:endParaRPr lang="en-GB" b="1" dirty="0"/>
              </a:p>
              <a:p>
                <a:pPr marL="0" indent="0">
                  <a:buNone/>
                </a:pPr>
                <a:r>
                  <a:rPr lang="en-GB" b="0" dirty="0"/>
                  <a:t>where</a:t>
                </a:r>
              </a:p>
              <a:p>
                <a14:m>
                  <m:oMath xmlns:m="http://schemas.openxmlformats.org/officeDocument/2006/math">
                    <m:sSub>
                      <m:sSubPr>
                        <m:ctrlPr>
                          <a:rPr lang="en-GB" b="1" i="0" smtClean="0">
                            <a:latin typeface="Cambria Math" panose="02040503050406030204" pitchFamily="18" charset="0"/>
                          </a:rPr>
                        </m:ctrlPr>
                      </m:sSubPr>
                      <m:e>
                        <m:r>
                          <a:rPr lang="en-GB" b="1" i="0" smtClean="0">
                            <a:latin typeface="Cambria Math" panose="02040503050406030204" pitchFamily="18" charset="0"/>
                          </a:rPr>
                          <m:t>𝐱</m:t>
                        </m:r>
                      </m:e>
                      <m:sub>
                        <m:r>
                          <a:rPr lang="en-GB" b="0" i="1" smtClean="0">
                            <a:latin typeface="Cambria Math" panose="02040503050406030204" pitchFamily="18" charset="0"/>
                          </a:rPr>
                          <m:t>𝑖</m:t>
                        </m:r>
                      </m:sub>
                    </m:sSub>
                    <m:r>
                      <a:rPr lang="en-GB" b="0" i="0"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0" smtClean="0">
                                <a:latin typeface="Cambria Math" panose="02040503050406030204" pitchFamily="18" charset="0"/>
                              </a:rPr>
                            </m:ctrlPr>
                          </m:dPr>
                          <m:e>
                            <m:r>
                              <a:rPr lang="en-GB" b="0" i="0" smtClean="0">
                                <a:latin typeface="Cambria Math" panose="02040503050406030204" pitchFamily="18" charset="0"/>
                              </a:rPr>
                              <m:t>1,</m:t>
                            </m:r>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x</m:t>
                                </m:r>
                              </m:e>
                              <m:sub>
                                <m:r>
                                  <a:rPr lang="en-GB" b="0" i="1" smtClean="0">
                                    <a:latin typeface="Cambria Math" panose="02040503050406030204" pitchFamily="18" charset="0"/>
                                  </a:rPr>
                                  <m:t>𝑖</m:t>
                                </m:r>
                                <m:r>
                                  <a:rPr lang="en-GB" b="0" i="1" smtClean="0">
                                    <a:latin typeface="Cambria Math" panose="02040503050406030204" pitchFamily="18" charset="0"/>
                                  </a:rPr>
                                  <m:t>1</m:t>
                                </m:r>
                              </m:sub>
                            </m:sSub>
                            <m:r>
                              <a:rPr lang="en-GB" b="0" i="0" smtClean="0">
                                <a:latin typeface="Cambria Math" panose="02040503050406030204" pitchFamily="18" charset="0"/>
                              </a:rPr>
                              <m:t>,…,</m:t>
                            </m:r>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x</m:t>
                                </m:r>
                              </m:e>
                              <m:sub>
                                <m:r>
                                  <a:rPr lang="en-GB" b="0" i="1" smtClean="0">
                                    <a:latin typeface="Cambria Math" panose="02040503050406030204" pitchFamily="18" charset="0"/>
                                  </a:rPr>
                                  <m:t>𝑖𝑝</m:t>
                                </m:r>
                              </m:sub>
                            </m:sSub>
                          </m:e>
                        </m:d>
                      </m:e>
                      <m:sup>
                        <m:r>
                          <a:rPr lang="en-GB" b="0" i="1" smtClean="0">
                            <a:latin typeface="Cambria Math" panose="02040503050406030204" pitchFamily="18" charset="0"/>
                          </a:rPr>
                          <m:t>𝑇</m:t>
                        </m:r>
                      </m:sup>
                    </m:sSup>
                  </m:oMath>
                </a14:m>
                <a:r>
                  <a:rPr lang="en-GB" i="1" dirty="0">
                    <a:latin typeface="Cambria Math" panose="02040503050406030204" pitchFamily="18" charset="0"/>
                  </a:rPr>
                  <a:t> </a:t>
                </a:r>
                <a:r>
                  <a:rPr lang="en-GB" dirty="0"/>
                  <a:t>is a vector of covariates and </a:t>
                </a:r>
                <a14:m>
                  <m:oMath xmlns:m="http://schemas.openxmlformats.org/officeDocument/2006/math">
                    <m:r>
                      <a:rPr lang="en-GB" b="1" i="1" smtClean="0">
                        <a:latin typeface="Cambria Math" panose="02040503050406030204" pitchFamily="18" charset="0"/>
                      </a:rPr>
                      <m:t>𝜷</m:t>
                    </m:r>
                    <m:r>
                      <a:rPr lang="en-GB" b="1"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0</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𝑝</m:t>
                                </m:r>
                              </m:sub>
                            </m:sSub>
                          </m:e>
                        </m:d>
                      </m:e>
                      <m:sup>
                        <m:r>
                          <a:rPr lang="en-GB" b="0" i="1" smtClean="0">
                            <a:latin typeface="Cambria Math" panose="02040503050406030204" pitchFamily="18" charset="0"/>
                          </a:rPr>
                          <m:t>𝑇</m:t>
                        </m:r>
                      </m:sup>
                    </m:sSup>
                  </m:oMath>
                </a14:m>
                <a:r>
                  <a:rPr lang="en-GB" dirty="0"/>
                  <a:t> are the corresponding regression coefficients.</a:t>
                </a:r>
              </a:p>
              <a:p>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m:rPr>
                        <m:sty m:val="p"/>
                      </m:rPr>
                      <a:rPr lang="en-GB" b="0" i="0" smtClean="0">
                        <a:latin typeface="Cambria Math" panose="02040503050406030204" pitchFamily="18" charset="0"/>
                      </a:rPr>
                      <m:t>exp</m:t>
                    </m:r>
                    <m:r>
                      <a:rPr lang="en-GB" b="0" i="1" smtClean="0">
                        <a:latin typeface="Cambria Math" panose="02040503050406030204" pitchFamily="18" charset="0"/>
                      </a:rPr>
                      <m:t>⁡(</m:t>
                    </m:r>
                    <m:sSup>
                      <m:sSupPr>
                        <m:ctrlPr>
                          <a:rPr lang="en-GB" b="1" i="0" smtClean="0">
                            <a:latin typeface="Cambria Math" panose="02040503050406030204" pitchFamily="18" charset="0"/>
                          </a:rPr>
                        </m:ctrlPr>
                      </m:sSupPr>
                      <m:e>
                        <m:r>
                          <a:rPr lang="en-GB" b="1" i="0" smtClean="0">
                            <a:latin typeface="Cambria Math" panose="02040503050406030204" pitchFamily="18" charset="0"/>
                          </a:rPr>
                          <m:t>𝐱</m:t>
                        </m:r>
                      </m:e>
                      <m:sup>
                        <m:r>
                          <a:rPr lang="en-GB" b="0" i="1" smtClean="0">
                            <a:latin typeface="Cambria Math" panose="02040503050406030204" pitchFamily="18" charset="0"/>
                          </a:rPr>
                          <m:t>𝑇</m:t>
                        </m:r>
                      </m:sup>
                    </m:sSup>
                    <m:r>
                      <a:rPr lang="en-GB" b="1" i="1" smtClean="0">
                        <a:latin typeface="Cambria Math" panose="02040503050406030204" pitchFamily="18" charset="0"/>
                      </a:rPr>
                      <m:t>𝜷</m:t>
                    </m:r>
                    <m:r>
                      <a:rPr lang="en-GB" b="0" i="0"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𝜙</m:t>
                        </m:r>
                      </m:e>
                      <m:sub>
                        <m:r>
                          <a:rPr lang="en-GB" b="0" i="1" smtClean="0">
                            <a:latin typeface="Cambria Math" panose="02040503050406030204" pitchFamily="18" charset="0"/>
                          </a:rPr>
                          <m:t>𝑖</m:t>
                        </m:r>
                      </m:sub>
                    </m:sSub>
                    <m:r>
                      <a:rPr lang="en-GB" b="0" i="1" smtClean="0">
                        <a:latin typeface="Cambria Math" panose="02040503050406030204" pitchFamily="18" charset="0"/>
                      </a:rPr>
                      <m:t>)</m:t>
                    </m:r>
                  </m:oMath>
                </a14:m>
                <a:r>
                  <a:rPr lang="en-GB" dirty="0"/>
                  <a:t> denotes the disease risk for area </a:t>
                </a:r>
                <a14:m>
                  <m:oMath xmlns:m="http://schemas.openxmlformats.org/officeDocument/2006/math">
                    <m:r>
                      <a:rPr lang="en-GB" b="0" i="1" smtClean="0">
                        <a:latin typeface="Cambria Math" panose="02040503050406030204" pitchFamily="18" charset="0"/>
                      </a:rPr>
                      <m:t>𝑖</m:t>
                    </m:r>
                  </m:oMath>
                </a14:m>
                <a:r>
                  <a:rPr lang="en-GB" dirty="0"/>
                  <a:t>.</a:t>
                </a:r>
              </a:p>
              <a:p>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𝜙</m:t>
                        </m:r>
                      </m:e>
                      <m:sub>
                        <m:r>
                          <a:rPr lang="en-GB" b="0" i="1" smtClean="0">
                            <a:latin typeface="Cambria Math" panose="02040503050406030204" pitchFamily="18" charset="0"/>
                          </a:rPr>
                          <m:t>𝑖</m:t>
                        </m:r>
                      </m:sub>
                    </m:sSub>
                  </m:oMath>
                </a14:m>
                <a:r>
                  <a:rPr lang="en-GB" dirty="0"/>
                  <a:t> is a spatial random effect modelled using a CAR prior/model.</a:t>
                </a:r>
              </a:p>
              <a:p>
                <a14:m>
                  <m:oMath xmlns:m="http://schemas.openxmlformats.org/officeDocument/2006/math">
                    <m:func>
                      <m:funcPr>
                        <m:ctrlPr>
                          <a:rPr lang="en-GB" b="0" i="0" smtClean="0">
                            <a:latin typeface="Cambria Math" panose="02040503050406030204" pitchFamily="18" charset="0"/>
                          </a:rPr>
                        </m:ctrlPr>
                      </m:funcPr>
                      <m:fName>
                        <m:r>
                          <m:rPr>
                            <m:sty m:val="p"/>
                          </m:rPr>
                          <a:rPr lang="en-GB" b="0" i="0" smtClean="0">
                            <a:latin typeface="Cambria Math" panose="02040503050406030204" pitchFamily="18" charset="0"/>
                          </a:rPr>
                          <m:t>exp</m:t>
                        </m:r>
                      </m:fName>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𝑗</m:t>
                                </m:r>
                              </m:sub>
                            </m:sSub>
                          </m:e>
                        </m:d>
                      </m:e>
                    </m:func>
                    <m:r>
                      <a:rPr lang="en-GB" b="0" i="1" smtClean="0">
                        <a:latin typeface="Cambria Math" panose="02040503050406030204" pitchFamily="18" charset="0"/>
                      </a:rPr>
                      <m:t>(</m:t>
                    </m:r>
                    <m:r>
                      <a:rPr lang="en-GB" b="0" i="1" smtClean="0">
                        <a:latin typeface="Cambria Math" panose="02040503050406030204" pitchFamily="18" charset="0"/>
                      </a:rPr>
                      <m:t>𝑗</m:t>
                    </m:r>
                    <m:r>
                      <a:rPr lang="en-GB" b="0" i="1" smtClean="0">
                        <a:latin typeface="Cambria Math" panose="02040503050406030204" pitchFamily="18" charset="0"/>
                      </a:rPr>
                      <m:t>=1,…,</m:t>
                    </m:r>
                    <m:r>
                      <a:rPr lang="en-GB" b="0" i="1" smtClean="0">
                        <a:latin typeface="Cambria Math" panose="02040503050406030204" pitchFamily="18" charset="0"/>
                      </a:rPr>
                      <m:t>𝑝</m:t>
                    </m:r>
                    <m:r>
                      <a:rPr lang="en-GB" b="0" i="1" smtClean="0">
                        <a:latin typeface="Cambria Math" panose="02040503050406030204" pitchFamily="18" charset="0"/>
                      </a:rPr>
                      <m:t>)</m:t>
                    </m:r>
                  </m:oMath>
                </a14:m>
                <a:r>
                  <a:rPr lang="en-GB" dirty="0"/>
                  <a:t> can be interpreted as the multiplicative change in relative risk per unit change in the associated covariate </a:t>
                </a:r>
                <a14:m>
                  <m:oMath xmlns:m="http://schemas.openxmlformats.org/officeDocument/2006/math">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x</m:t>
                        </m:r>
                      </m:e>
                      <m:sub>
                        <m:r>
                          <a:rPr lang="en-GB" b="0" i="1" smtClean="0">
                            <a:latin typeface="Cambria Math" panose="02040503050406030204" pitchFamily="18" charset="0"/>
                          </a:rPr>
                          <m:t>𝑖𝑗</m:t>
                        </m:r>
                      </m:sub>
                    </m:sSub>
                  </m:oMath>
                </a14:m>
                <a:r>
                  <a:rPr lang="en-GB" dirty="0"/>
                  <a:t> (holding all others constant).</a:t>
                </a:r>
              </a:p>
            </p:txBody>
          </p:sp>
        </mc:Choice>
        <mc:Fallback xmlns="">
          <p:sp>
            <p:nvSpPr>
              <p:cNvPr id="3" name="Content Placeholder 2">
                <a:extLst>
                  <a:ext uri="{FF2B5EF4-FFF2-40B4-BE49-F238E27FC236}">
                    <a16:creationId xmlns:a16="http://schemas.microsoft.com/office/drawing/2014/main" id="{4DA32EFD-D02A-7AE0-512F-6FC5F2A67D35}"/>
                  </a:ext>
                </a:extLst>
              </p:cNvPr>
              <p:cNvSpPr>
                <a:spLocks noGrp="1" noRot="1" noChangeAspect="1" noMove="1" noResize="1" noEditPoints="1" noAdjustHandles="1" noChangeArrowheads="1" noChangeShapeType="1" noTextEdit="1"/>
              </p:cNvSpPr>
              <p:nvPr>
                <p:ph idx="1"/>
              </p:nvPr>
            </p:nvSpPr>
            <p:spPr>
              <a:xfrm>
                <a:off x="838200" y="1599482"/>
                <a:ext cx="10515600" cy="4870143"/>
              </a:xfrm>
              <a:blipFill>
                <a:blip r:embed="rId2"/>
                <a:stretch>
                  <a:fillRect l="-1043" t="-2503" r="-290"/>
                </a:stretch>
              </a:blipFill>
            </p:spPr>
            <p:txBody>
              <a:bodyPr/>
              <a:lstStyle/>
              <a:p>
                <a:r>
                  <a:rPr lang="en-GB">
                    <a:noFill/>
                  </a:rPr>
                  <a:t> </a:t>
                </a:r>
              </a:p>
            </p:txBody>
          </p:sp>
        </mc:Fallback>
      </mc:AlternateContent>
      <p:sp>
        <p:nvSpPr>
          <p:cNvPr id="4" name="Title 1">
            <a:extLst>
              <a:ext uri="{FF2B5EF4-FFF2-40B4-BE49-F238E27FC236}">
                <a16:creationId xmlns:a16="http://schemas.microsoft.com/office/drawing/2014/main" id="{6887944D-C7A5-C678-2CCE-0A8D5E4BA54B}"/>
              </a:ext>
            </a:extLst>
          </p:cNvPr>
          <p:cNvSpPr>
            <a:spLocks noGrp="1"/>
          </p:cNvSpPr>
          <p:nvPr>
            <p:ph type="title"/>
          </p:nvPr>
        </p:nvSpPr>
        <p:spPr>
          <a:xfrm>
            <a:off x="307258" y="0"/>
            <a:ext cx="8915400" cy="716423"/>
          </a:xfrm>
        </p:spPr>
        <p:txBody>
          <a:bodyPr>
            <a:normAutofit/>
          </a:bodyPr>
          <a:lstStyle/>
          <a:p>
            <a:r>
              <a:rPr lang="en-GB" sz="4000" b="1" dirty="0">
                <a:solidFill>
                  <a:schemeClr val="bg1"/>
                </a:solidFill>
                <a:latin typeface="+mn-lt"/>
              </a:rPr>
              <a:t>Area data models – disease mapping</a:t>
            </a:r>
          </a:p>
        </p:txBody>
      </p:sp>
    </p:spTree>
    <p:extLst>
      <p:ext uri="{BB962C8B-B14F-4D97-AF65-F5344CB8AC3E}">
        <p14:creationId xmlns:p14="http://schemas.microsoft.com/office/powerpoint/2010/main" val="445849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5F1FAA1-0E6F-8B72-6967-BE942734497E}"/>
                  </a:ext>
                </a:extLst>
              </p:cNvPr>
              <p:cNvSpPr>
                <a:spLocks noGrp="1"/>
              </p:cNvSpPr>
              <p:nvPr>
                <p:ph idx="1"/>
              </p:nvPr>
            </p:nvSpPr>
            <p:spPr>
              <a:xfrm>
                <a:off x="838200" y="1825625"/>
                <a:ext cx="10515600" cy="3945910"/>
              </a:xfrm>
            </p:spPr>
            <p:txBody>
              <a:bodyPr/>
              <a:lstStyle/>
              <a:p>
                <a:r>
                  <a:rPr lang="en-GB" dirty="0"/>
                  <a:t>Observe that although the Poisson distribution is </a:t>
                </a:r>
                <a:r>
                  <a:rPr lang="en-GB" dirty="0" err="1"/>
                  <a:t>equidispersed</a:t>
                </a:r>
                <a:r>
                  <a:rPr lang="en-GB" dirty="0"/>
                  <a:t>, the model in (1) is </a:t>
                </a:r>
                <a:r>
                  <a:rPr lang="en-GB" dirty="0" err="1"/>
                  <a:t>overdispersed</a:t>
                </a:r>
                <a:r>
                  <a:rPr lang="en-GB" dirty="0"/>
                  <a:t>.</a:t>
                </a:r>
              </a:p>
              <a:p>
                <a:r>
                  <a:rPr lang="en-GB" dirty="0"/>
                  <a:t>The overdispersion is induced by </a:t>
                </a:r>
                <a14:m>
                  <m:oMath xmlns:m="http://schemas.openxmlformats.org/officeDocument/2006/math">
                    <m:r>
                      <a:rPr lang="en-GB" b="1" i="1" smtClean="0">
                        <a:latin typeface="Cambria Math" panose="02040503050406030204" pitchFamily="18" charset="0"/>
                      </a:rPr>
                      <m:t>𝝓</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𝜙</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𝜙</m:t>
                        </m:r>
                      </m:e>
                      <m:sub>
                        <m:r>
                          <a:rPr lang="en-GB" b="0" i="1" smtClean="0">
                            <a:latin typeface="Cambria Math" panose="02040503050406030204" pitchFamily="18" charset="0"/>
                          </a:rPr>
                          <m:t>𝑛</m:t>
                        </m:r>
                      </m:sub>
                    </m:sSub>
                    <m:r>
                      <a:rPr lang="en-GB" b="0" i="1" smtClean="0">
                        <a:latin typeface="Cambria Math" panose="02040503050406030204" pitchFamily="18" charset="0"/>
                      </a:rPr>
                      <m:t>)</m:t>
                    </m:r>
                  </m:oMath>
                </a14:m>
                <a:r>
                  <a:rPr lang="en-GB" dirty="0"/>
                  <a:t>, which also models spatial dependence in the observed counts. (We can use iterated expectations to obtain the mean and variance of the model to show this).</a:t>
                </a:r>
              </a:p>
              <a:p>
                <a:r>
                  <a:rPr lang="en-GB" dirty="0"/>
                  <a:t>We will now turn our attention to some CAR priors available in R-INLA for the random effect, </a:t>
                </a:r>
                <a14:m>
                  <m:oMath xmlns:m="http://schemas.openxmlformats.org/officeDocument/2006/math">
                    <m:r>
                      <a:rPr lang="en-GB" b="1" i="1" smtClean="0">
                        <a:latin typeface="Cambria Math" panose="02040503050406030204" pitchFamily="18" charset="0"/>
                      </a:rPr>
                      <m:t>𝝓</m:t>
                    </m:r>
                  </m:oMath>
                </a14:m>
                <a:r>
                  <a:rPr lang="en-GB" dirty="0"/>
                  <a:t> (after introducing a binomial likelihood)</a:t>
                </a:r>
              </a:p>
            </p:txBody>
          </p:sp>
        </mc:Choice>
        <mc:Fallback>
          <p:sp>
            <p:nvSpPr>
              <p:cNvPr id="3" name="Content Placeholder 2">
                <a:extLst>
                  <a:ext uri="{FF2B5EF4-FFF2-40B4-BE49-F238E27FC236}">
                    <a16:creationId xmlns:a16="http://schemas.microsoft.com/office/drawing/2014/main" id="{65F1FAA1-0E6F-8B72-6967-BE942734497E}"/>
                  </a:ext>
                </a:extLst>
              </p:cNvPr>
              <p:cNvSpPr>
                <a:spLocks noGrp="1" noRot="1" noChangeAspect="1" noMove="1" noResize="1" noEditPoints="1" noAdjustHandles="1" noChangeArrowheads="1" noChangeShapeType="1" noTextEdit="1"/>
              </p:cNvSpPr>
              <p:nvPr>
                <p:ph idx="1"/>
              </p:nvPr>
            </p:nvSpPr>
            <p:spPr>
              <a:xfrm>
                <a:off x="838200" y="1825625"/>
                <a:ext cx="10515600" cy="3945910"/>
              </a:xfrm>
              <a:blipFill>
                <a:blip r:embed="rId2"/>
                <a:stretch>
                  <a:fillRect l="-1043" t="-2623" b="-617"/>
                </a:stretch>
              </a:blipFill>
            </p:spPr>
            <p:txBody>
              <a:bodyPr/>
              <a:lstStyle/>
              <a:p>
                <a:r>
                  <a:rPr lang="en-GB">
                    <a:noFill/>
                  </a:rPr>
                  <a:t> </a:t>
                </a:r>
              </a:p>
            </p:txBody>
          </p:sp>
        </mc:Fallback>
      </mc:AlternateContent>
      <p:sp>
        <p:nvSpPr>
          <p:cNvPr id="4" name="Title 1">
            <a:extLst>
              <a:ext uri="{FF2B5EF4-FFF2-40B4-BE49-F238E27FC236}">
                <a16:creationId xmlns:a16="http://schemas.microsoft.com/office/drawing/2014/main" id="{AA9A3CC7-055B-ADE3-7A1E-DC5C2D5DFC59}"/>
              </a:ext>
            </a:extLst>
          </p:cNvPr>
          <p:cNvSpPr>
            <a:spLocks noGrp="1"/>
          </p:cNvSpPr>
          <p:nvPr>
            <p:ph type="title"/>
          </p:nvPr>
        </p:nvSpPr>
        <p:spPr>
          <a:xfrm>
            <a:off x="307258" y="0"/>
            <a:ext cx="8915400" cy="716423"/>
          </a:xfrm>
        </p:spPr>
        <p:txBody>
          <a:bodyPr>
            <a:normAutofit/>
          </a:bodyPr>
          <a:lstStyle/>
          <a:p>
            <a:r>
              <a:rPr lang="en-GB" sz="4000" b="1" dirty="0">
                <a:solidFill>
                  <a:schemeClr val="bg1"/>
                </a:solidFill>
                <a:latin typeface="+mn-lt"/>
              </a:rPr>
              <a:t>Area data models – disease mapping</a:t>
            </a:r>
          </a:p>
        </p:txBody>
      </p:sp>
    </p:spTree>
    <p:extLst>
      <p:ext uri="{BB962C8B-B14F-4D97-AF65-F5344CB8AC3E}">
        <p14:creationId xmlns:p14="http://schemas.microsoft.com/office/powerpoint/2010/main" val="3052960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C6996-F8EE-36B6-D4D8-B82CAA457E8F}"/>
              </a:ext>
            </a:extLst>
          </p:cNvPr>
          <p:cNvSpPr>
            <a:spLocks noGrp="1"/>
          </p:cNvSpPr>
          <p:nvPr>
            <p:ph type="title"/>
          </p:nvPr>
        </p:nvSpPr>
        <p:spPr>
          <a:xfrm>
            <a:off x="484238" y="1290664"/>
            <a:ext cx="10515600" cy="282498"/>
          </a:xfrm>
        </p:spPr>
        <p:txBody>
          <a:bodyPr>
            <a:normAutofit fontScale="90000"/>
          </a:bodyPr>
          <a:lstStyle/>
          <a:p>
            <a:r>
              <a:rPr lang="en-GB" dirty="0">
                <a:latin typeface="+mn-lt"/>
              </a:rPr>
              <a:t>Binomial likelihood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90DFA5-6A20-D930-4761-294AE51E39FB}"/>
                  </a:ext>
                </a:extLst>
              </p:cNvPr>
              <p:cNvSpPr>
                <a:spLocks noGrp="1"/>
              </p:cNvSpPr>
              <p:nvPr>
                <p:ph idx="1"/>
              </p:nvPr>
            </p:nvSpPr>
            <p:spPr/>
            <p:txBody>
              <a:bodyPr>
                <a:normAutofit fontScale="92500" lnSpcReduction="10000"/>
              </a:bodyPr>
              <a:lstStyle/>
              <a:p>
                <a:r>
                  <a:rPr lang="en-GB" dirty="0"/>
                  <a:t>  We can assume different likelihoods for the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𝑌</m:t>
                        </m:r>
                      </m:e>
                      <m:sub>
                        <m:r>
                          <a:rPr lang="en-GB" i="1">
                            <a:latin typeface="Cambria Math" panose="02040503050406030204" pitchFamily="18" charset="0"/>
                          </a:rPr>
                          <m:t>𝑖</m:t>
                        </m:r>
                      </m:sub>
                    </m:sSub>
                  </m:oMath>
                </a14:m>
                <a:r>
                  <a:rPr lang="en-GB" dirty="0"/>
                  <a:t> in equation (1), depending on the outcome being modelled</a:t>
                </a:r>
              </a:p>
              <a:p>
                <a:r>
                  <a:rPr lang="en-GB" dirty="0"/>
                  <a:t>For example, with a binomial likelihood, we have</a:t>
                </a:r>
              </a:p>
              <a:p>
                <a:pPr marL="0" indent="0">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𝑌</m:t>
                        </m:r>
                      </m:e>
                      <m:sub>
                        <m:r>
                          <a:rPr lang="en-GB" i="1">
                            <a:latin typeface="Cambria Math" panose="02040503050406030204" pitchFamily="18" charset="0"/>
                          </a:rPr>
                          <m:t>𝑖</m:t>
                        </m:r>
                      </m:sub>
                    </m:sSub>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𝑝</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m:rPr>
                        <m:sty m:val="p"/>
                      </m:rPr>
                      <a:rPr lang="en-GB" b="0" i="0" smtClean="0">
                        <a:latin typeface="Cambria Math" panose="02040503050406030204" pitchFamily="18" charset="0"/>
                      </a:rPr>
                      <m:t>Binomial</m:t>
                    </m:r>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𝑚</m:t>
                        </m:r>
                      </m:e>
                      <m:sub>
                        <m:r>
                          <a:rPr lang="en-GB" b="0" i="1" smtClean="0">
                            <a:latin typeface="Cambria Math" panose="02040503050406030204" pitchFamily="18" charset="0"/>
                          </a:rPr>
                          <m:t>𝑖</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𝑝</m:t>
                        </m:r>
                      </m:e>
                      <m:sub>
                        <m:r>
                          <a:rPr lang="en-GB" b="0" i="1" smtClean="0">
                            <a:latin typeface="Cambria Math" panose="02040503050406030204" pitchFamily="18" charset="0"/>
                          </a:rPr>
                          <m:t>𝑖</m:t>
                        </m:r>
                      </m:sub>
                    </m:sSub>
                    <m:r>
                      <a:rPr lang="en-GB" i="1">
                        <a:latin typeface="Cambria Math" panose="02040503050406030204" pitchFamily="18" charset="0"/>
                      </a:rPr>
                      <m:t>)</m:t>
                    </m:r>
                  </m:oMath>
                </a14:m>
                <a:r>
                  <a:rPr lang="en-GB" dirty="0"/>
                  <a:t>; </a:t>
                </a:r>
                <a14:m>
                  <m:oMath xmlns:m="http://schemas.openxmlformats.org/officeDocument/2006/math">
                    <m:r>
                      <a:rPr lang="en-GB" i="1" dirty="0">
                        <a:latin typeface="Cambria Math" panose="02040503050406030204" pitchFamily="18" charset="0"/>
                      </a:rPr>
                      <m:t>𝑖</m:t>
                    </m:r>
                    <m:r>
                      <a:rPr lang="en-GB" i="1" dirty="0">
                        <a:latin typeface="Cambria Math" panose="02040503050406030204" pitchFamily="18" charset="0"/>
                      </a:rPr>
                      <m:t>=1,…,</m:t>
                    </m:r>
                    <m:r>
                      <a:rPr lang="en-GB" i="1" dirty="0">
                        <a:latin typeface="Cambria Math" panose="02040503050406030204" pitchFamily="18" charset="0"/>
                      </a:rPr>
                      <m:t>𝑛</m:t>
                    </m:r>
                    <m:r>
                      <a:rPr lang="en-GB" i="1" dirty="0">
                        <a:latin typeface="Cambria Math" panose="02040503050406030204" pitchFamily="18" charset="0"/>
                      </a:rPr>
                      <m:t>,</m:t>
                    </m:r>
                  </m:oMath>
                </a14:m>
                <a:r>
                  <a:rPr lang="en-GB" dirty="0"/>
                  <a:t> 			(2)</a:t>
                </a:r>
              </a:p>
              <a:p>
                <a:pPr marL="0" indent="0">
                  <a:buNone/>
                </a:pPr>
                <a:r>
                  <a:rPr lang="en-GB" dirty="0"/>
                  <a:t>    </a:t>
                </a:r>
                <a14:m>
                  <m:oMath xmlns:m="http://schemas.openxmlformats.org/officeDocument/2006/math">
                    <m:func>
                      <m:funcPr>
                        <m:ctrlPr>
                          <a:rPr lang="en-GB">
                            <a:latin typeface="Cambria Math" panose="02040503050406030204" pitchFamily="18" charset="0"/>
                          </a:rPr>
                        </m:ctrlPr>
                      </m:funcPr>
                      <m:fName>
                        <m:r>
                          <m:rPr>
                            <m:sty m:val="p"/>
                          </m:rPr>
                          <a:rPr lang="en-GB">
                            <a:latin typeface="Cambria Math" panose="02040503050406030204" pitchFamily="18" charset="0"/>
                          </a:rPr>
                          <m:t>log</m:t>
                        </m:r>
                      </m:fName>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𝑝</m:t>
                                    </m:r>
                                  </m:e>
                                  <m:sub>
                                    <m:r>
                                      <a:rPr lang="en-GB" b="0" i="1" smtClean="0">
                                        <a:latin typeface="Cambria Math" panose="02040503050406030204" pitchFamily="18" charset="0"/>
                                      </a:rPr>
                                      <m:t>𝑖</m:t>
                                    </m:r>
                                  </m:sub>
                                </m:sSub>
                              </m:num>
                              <m:den>
                                <m:r>
                                  <a:rPr lang="en-GB" b="0" i="1" smtClean="0">
                                    <a:latin typeface="Cambria Math" panose="02040503050406030204" pitchFamily="18" charset="0"/>
                                  </a:rPr>
                                  <m:t>1−</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𝑝</m:t>
                                    </m:r>
                                  </m:e>
                                  <m:sub>
                                    <m:r>
                                      <a:rPr lang="en-GB" b="0" i="1" smtClean="0">
                                        <a:latin typeface="Cambria Math" panose="02040503050406030204" pitchFamily="18" charset="0"/>
                                      </a:rPr>
                                      <m:t>𝑖</m:t>
                                    </m:r>
                                  </m:sub>
                                </m:sSub>
                              </m:den>
                            </m:f>
                          </m:e>
                        </m:d>
                      </m:e>
                    </m:func>
                    <m:r>
                      <a:rPr lang="en-GB" i="1">
                        <a:latin typeface="Cambria Math" panose="02040503050406030204" pitchFamily="18" charset="0"/>
                      </a:rPr>
                      <m:t>=</m:t>
                    </m:r>
                    <m:sSubSup>
                      <m:sSubSupPr>
                        <m:ctrlPr>
                          <a:rPr lang="en-GB" b="1">
                            <a:latin typeface="Cambria Math" panose="02040503050406030204" pitchFamily="18" charset="0"/>
                          </a:rPr>
                        </m:ctrlPr>
                      </m:sSubSupPr>
                      <m:e>
                        <m:r>
                          <a:rPr lang="en-GB" b="1">
                            <a:latin typeface="Cambria Math" panose="02040503050406030204" pitchFamily="18" charset="0"/>
                          </a:rPr>
                          <m:t>𝐱</m:t>
                        </m:r>
                      </m:e>
                      <m:sub>
                        <m:r>
                          <a:rPr lang="en-GB" i="1">
                            <a:latin typeface="Cambria Math" panose="02040503050406030204" pitchFamily="18" charset="0"/>
                          </a:rPr>
                          <m:t>𝑖</m:t>
                        </m:r>
                      </m:sub>
                      <m:sup>
                        <m:r>
                          <a:rPr lang="en-GB" i="1">
                            <a:latin typeface="Cambria Math" panose="02040503050406030204" pitchFamily="18" charset="0"/>
                          </a:rPr>
                          <m:t>𝑇</m:t>
                        </m:r>
                      </m:sup>
                    </m:sSubSup>
                    <m:r>
                      <a:rPr lang="en-GB" b="1" i="1">
                        <a:latin typeface="Cambria Math" panose="02040503050406030204" pitchFamily="18" charset="0"/>
                      </a:rPr>
                      <m:t>𝜷</m:t>
                    </m:r>
                    <m:r>
                      <a:rPr lang="en-GB">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𝜙</m:t>
                        </m:r>
                      </m:e>
                      <m:sub>
                        <m:r>
                          <a:rPr lang="en-GB" i="1">
                            <a:latin typeface="Cambria Math" panose="02040503050406030204" pitchFamily="18" charset="0"/>
                          </a:rPr>
                          <m:t>𝑖</m:t>
                        </m:r>
                      </m:sub>
                    </m:sSub>
                    <m:r>
                      <a:rPr lang="en-GB" b="1">
                        <a:latin typeface="Cambria Math" panose="02040503050406030204" pitchFamily="18" charset="0"/>
                      </a:rPr>
                      <m:t>,</m:t>
                    </m:r>
                  </m:oMath>
                </a14:m>
                <a:endParaRPr lang="en-GB" b="1" dirty="0"/>
              </a:p>
              <a:p>
                <a:pPr marL="0" indent="0">
                  <a:buNone/>
                </a:pPr>
                <a:r>
                  <a:rPr lang="en-GB" dirty="0"/>
                  <a:t>where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𝑖</m:t>
                        </m:r>
                      </m:sub>
                    </m:sSub>
                  </m:oMath>
                </a14:m>
                <a:r>
                  <a:rPr lang="en-GB" dirty="0"/>
                  <a:t> denotes the number of successes,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𝑚</m:t>
                        </m:r>
                      </m:e>
                      <m:sub>
                        <m:r>
                          <a:rPr lang="en-GB" b="0" i="1" smtClean="0">
                            <a:latin typeface="Cambria Math" panose="02040503050406030204" pitchFamily="18" charset="0"/>
                          </a:rPr>
                          <m:t>𝑖</m:t>
                        </m:r>
                      </m:sub>
                    </m:sSub>
                  </m:oMath>
                </a14:m>
                <a:r>
                  <a:rPr lang="en-GB" dirty="0"/>
                  <a:t> - the number of trails and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𝑝</m:t>
                        </m:r>
                      </m:e>
                      <m:sub>
                        <m:r>
                          <a:rPr lang="en-GB" b="0" i="1" smtClean="0">
                            <a:latin typeface="Cambria Math" panose="02040503050406030204" pitchFamily="18" charset="0"/>
                          </a:rPr>
                          <m:t>𝑖</m:t>
                        </m:r>
                      </m:sub>
                    </m:sSub>
                  </m:oMath>
                </a14:m>
                <a:r>
                  <a:rPr lang="en-GB" dirty="0"/>
                  <a:t> - the true underlying probability of success.</a:t>
                </a:r>
              </a:p>
              <a:p>
                <a:r>
                  <a:rPr lang="en-GB" dirty="0"/>
                  <a:t>Interest in model (2) is often in estimating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𝑝</m:t>
                        </m:r>
                      </m:e>
                      <m:sub>
                        <m:r>
                          <a:rPr lang="en-GB" b="0" i="1" smtClean="0">
                            <a:latin typeface="Cambria Math" panose="02040503050406030204" pitchFamily="18" charset="0"/>
                          </a:rPr>
                          <m:t>𝑖</m:t>
                        </m:r>
                      </m:sub>
                    </m:sSub>
                  </m:oMath>
                </a14:m>
                <a:r>
                  <a:rPr lang="en-GB" dirty="0"/>
                  <a:t>.</a:t>
                </a:r>
              </a:p>
              <a:p>
                <a14:m>
                  <m:oMath xmlns:m="http://schemas.openxmlformats.org/officeDocument/2006/math">
                    <m:r>
                      <m:rPr>
                        <m:sty m:val="p"/>
                      </m:rPr>
                      <a:rPr lang="en-GB" b="0" i="1" smtClean="0">
                        <a:latin typeface="Cambria Math" panose="02040503050406030204" pitchFamily="18" charset="0"/>
                      </a:rPr>
                      <m:t>exp</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𝑖</m:t>
                        </m:r>
                      </m:sub>
                    </m:sSub>
                    <m:r>
                      <a:rPr lang="en-GB" b="0" i="1" smtClean="0">
                        <a:latin typeface="Cambria Math" panose="02040503050406030204" pitchFamily="18" charset="0"/>
                      </a:rPr>
                      <m:t>)</m:t>
                    </m:r>
                  </m:oMath>
                </a14:m>
                <a:r>
                  <a:rPr lang="en-GB" dirty="0"/>
                  <a:t> is interpreted as odds ratio associated with a unit increase in the corresponding covariate </a:t>
                </a:r>
                <a14:m>
                  <m:oMath xmlns:m="http://schemas.openxmlformats.org/officeDocument/2006/math">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x</m:t>
                        </m:r>
                      </m:e>
                      <m:sub>
                        <m:r>
                          <a:rPr lang="en-GB" b="0" i="1" smtClean="0">
                            <a:latin typeface="Cambria Math" panose="02040503050406030204" pitchFamily="18" charset="0"/>
                          </a:rPr>
                          <m:t>𝑖𝑗</m:t>
                        </m:r>
                      </m:sub>
                    </m:sSub>
                  </m:oMath>
                </a14:m>
                <a:r>
                  <a:rPr lang="en-GB" dirty="0"/>
                  <a:t> (holding all others constant).</a:t>
                </a:r>
              </a:p>
            </p:txBody>
          </p:sp>
        </mc:Choice>
        <mc:Fallback xmlns="">
          <p:sp>
            <p:nvSpPr>
              <p:cNvPr id="3" name="Content Placeholder 2">
                <a:extLst>
                  <a:ext uri="{FF2B5EF4-FFF2-40B4-BE49-F238E27FC236}">
                    <a16:creationId xmlns:a16="http://schemas.microsoft.com/office/drawing/2014/main" id="{2390DFA5-6A20-D930-4761-294AE51E39FB}"/>
                  </a:ext>
                </a:extLst>
              </p:cNvPr>
              <p:cNvSpPr>
                <a:spLocks noGrp="1" noRot="1" noChangeAspect="1" noMove="1" noResize="1" noEditPoints="1" noAdjustHandles="1" noChangeArrowheads="1" noChangeShapeType="1" noTextEdit="1"/>
              </p:cNvSpPr>
              <p:nvPr>
                <p:ph idx="1"/>
              </p:nvPr>
            </p:nvSpPr>
            <p:spPr>
              <a:blipFill>
                <a:blip r:embed="rId2"/>
                <a:stretch>
                  <a:fillRect l="-1043" t="-2801" r="-812" b="-2241"/>
                </a:stretch>
              </a:blipFill>
            </p:spPr>
            <p:txBody>
              <a:bodyPr/>
              <a:lstStyle/>
              <a:p>
                <a:r>
                  <a:rPr lang="en-GB">
                    <a:noFill/>
                  </a:rPr>
                  <a:t> </a:t>
                </a:r>
              </a:p>
            </p:txBody>
          </p:sp>
        </mc:Fallback>
      </mc:AlternateContent>
      <p:sp>
        <p:nvSpPr>
          <p:cNvPr id="4" name="Title 1">
            <a:extLst>
              <a:ext uri="{FF2B5EF4-FFF2-40B4-BE49-F238E27FC236}">
                <a16:creationId xmlns:a16="http://schemas.microsoft.com/office/drawing/2014/main" id="{3B261EFB-CA5E-70E8-C443-0B7B624C7F16}"/>
              </a:ext>
            </a:extLst>
          </p:cNvPr>
          <p:cNvSpPr txBox="1">
            <a:spLocks/>
          </p:cNvSpPr>
          <p:nvPr/>
        </p:nvSpPr>
        <p:spPr>
          <a:xfrm>
            <a:off x="307258" y="0"/>
            <a:ext cx="8915400" cy="71642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000" b="1">
                <a:solidFill>
                  <a:schemeClr val="bg1"/>
                </a:solidFill>
                <a:latin typeface="+mn-lt"/>
              </a:rPr>
              <a:t>Area data models – disease mapping</a:t>
            </a:r>
            <a:endParaRPr lang="en-GB" sz="4000" b="1" dirty="0">
              <a:solidFill>
                <a:schemeClr val="bg1"/>
              </a:solidFill>
              <a:latin typeface="+mn-lt"/>
            </a:endParaRPr>
          </a:p>
        </p:txBody>
      </p:sp>
    </p:spTree>
    <p:extLst>
      <p:ext uri="{BB962C8B-B14F-4D97-AF65-F5344CB8AC3E}">
        <p14:creationId xmlns:p14="http://schemas.microsoft.com/office/powerpoint/2010/main" val="1485018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4502E-D8F5-BD2E-9D1F-100F5188FB6F}"/>
              </a:ext>
            </a:extLst>
          </p:cNvPr>
          <p:cNvSpPr>
            <a:spLocks noGrp="1"/>
          </p:cNvSpPr>
          <p:nvPr>
            <p:ph type="title"/>
          </p:nvPr>
        </p:nvSpPr>
        <p:spPr>
          <a:xfrm>
            <a:off x="326922" y="92433"/>
            <a:ext cx="10515600" cy="588604"/>
          </a:xfrm>
        </p:spPr>
        <p:txBody>
          <a:bodyPr>
            <a:normAutofit fontScale="90000"/>
          </a:bodyPr>
          <a:lstStyle/>
          <a:p>
            <a:r>
              <a:rPr lang="en-GB" b="1" dirty="0">
                <a:solidFill>
                  <a:schemeClr val="bg1"/>
                </a:solidFill>
                <a:latin typeface="+mn-lt"/>
              </a:rPr>
              <a:t>Conditional autoregressive models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B2F86CD-8E43-C342-9C29-4AAB42D60155}"/>
                  </a:ext>
                </a:extLst>
              </p:cNvPr>
              <p:cNvSpPr>
                <a:spLocks noGrp="1"/>
              </p:cNvSpPr>
              <p:nvPr>
                <p:ph idx="1"/>
              </p:nvPr>
            </p:nvSpPr>
            <p:spPr>
              <a:xfrm>
                <a:off x="838200" y="1707638"/>
                <a:ext cx="10515600" cy="4351338"/>
              </a:xfrm>
            </p:spPr>
            <p:txBody>
              <a:bodyPr>
                <a:normAutofit fontScale="92500"/>
              </a:bodyPr>
              <a:lstStyle/>
              <a:p>
                <a:r>
                  <a:rPr lang="en-GB" dirty="0"/>
                  <a:t>CAR models are a type of Markov random fields, satisfying the local Markov property</a:t>
                </a:r>
              </a:p>
              <a:p>
                <a:pPr marL="0" indent="0">
                  <a:buNone/>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𝜙</m:t>
                          </m:r>
                        </m:e>
                        <m:sub>
                          <m:r>
                            <a:rPr lang="en-GB" b="0" i="1" smtClean="0">
                              <a:latin typeface="Cambria Math" panose="02040503050406030204" pitchFamily="18" charset="0"/>
                            </a:rPr>
                            <m:t>𝑖</m:t>
                          </m:r>
                        </m:sub>
                      </m:sSub>
                      <m:r>
                        <a:rPr lang="en-GB" i="1">
                          <a:latin typeface="Cambria Math" panose="02040503050406030204" pitchFamily="18" charset="0"/>
                          <a:ea typeface="Cambria Math" panose="02040503050406030204" pitchFamily="18" charset="0"/>
                        </a:rPr>
                        <m:t>⊥</m:t>
                      </m:r>
                      <m:sSub>
                        <m:sSubPr>
                          <m:ctrlPr>
                            <a:rPr lang="en-GB" b="1" i="1" smtClean="0">
                              <a:latin typeface="Cambria Math" panose="02040503050406030204" pitchFamily="18" charset="0"/>
                              <a:ea typeface="Cambria Math" panose="02040503050406030204" pitchFamily="18" charset="0"/>
                            </a:rPr>
                          </m:ctrlPr>
                        </m:sSubPr>
                        <m:e>
                          <m:r>
                            <a:rPr lang="en-GB" b="1" i="1" smtClean="0">
                              <a:latin typeface="Cambria Math" panose="02040503050406030204" pitchFamily="18" charset="0"/>
                              <a:ea typeface="Cambria Math" panose="02040503050406030204" pitchFamily="18" charset="0"/>
                            </a:rPr>
                            <m:t>𝝓</m:t>
                          </m:r>
                        </m:e>
                        <m:sub>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𝑖</m:t>
                          </m:r>
                        </m:sub>
                      </m:sSub>
                      <m:r>
                        <a:rPr lang="en-GB" b="0" i="1" smtClean="0">
                          <a:latin typeface="Cambria Math" panose="02040503050406030204" pitchFamily="18" charset="0"/>
                          <a:ea typeface="Cambria Math" panose="02040503050406030204" pitchFamily="18" charset="0"/>
                        </a:rPr>
                        <m:t>|</m:t>
                      </m:r>
                      <m:sSub>
                        <m:sSubPr>
                          <m:ctrlPr>
                            <a:rPr lang="en-GB" b="1" i="1" smtClean="0">
                              <a:latin typeface="Cambria Math" panose="02040503050406030204" pitchFamily="18" charset="0"/>
                              <a:ea typeface="Cambria Math" panose="02040503050406030204" pitchFamily="18" charset="0"/>
                            </a:rPr>
                          </m:ctrlPr>
                        </m:sSubPr>
                        <m:e>
                          <m:r>
                            <a:rPr lang="en-GB" b="1" i="1" smtClean="0">
                              <a:latin typeface="Cambria Math" panose="02040503050406030204" pitchFamily="18" charset="0"/>
                              <a:ea typeface="Cambria Math" panose="02040503050406030204" pitchFamily="18" charset="0"/>
                            </a:rPr>
                            <m:t>𝝓</m:t>
                          </m:r>
                        </m:e>
                        <m:sub>
                          <m:r>
                            <a:rPr lang="en-GB" b="0" i="1" smtClean="0">
                              <a:latin typeface="Cambria Math" panose="02040503050406030204" pitchFamily="18" charset="0"/>
                              <a:ea typeface="Cambria Math" panose="02040503050406030204" pitchFamily="18" charset="0"/>
                            </a:rPr>
                            <m:t>𝑁</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𝑖</m:t>
                              </m:r>
                            </m:e>
                          </m:d>
                        </m:sub>
                      </m:sSub>
                      <m:r>
                        <a:rPr lang="en-GB" b="0" i="1" smtClean="0">
                          <a:latin typeface="Cambria Math" panose="02040503050406030204" pitchFamily="18" charset="0"/>
                          <a:ea typeface="Cambria Math" panose="02040503050406030204" pitchFamily="18" charset="0"/>
                        </a:rPr>
                        <m:t>.</m:t>
                      </m:r>
                    </m:oMath>
                  </m:oMathPara>
                </a14:m>
                <a:endParaRPr lang="en-GB" b="1" dirty="0"/>
              </a:p>
              <a:p>
                <a:pPr marL="0" indent="0">
                  <a:buNone/>
                </a:pPr>
                <a:r>
                  <a:rPr lang="en-GB" dirty="0"/>
                  <a:t>That is,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𝜙</m:t>
                        </m:r>
                      </m:e>
                      <m:sub>
                        <m:r>
                          <a:rPr lang="en-GB" b="0" i="1" smtClean="0">
                            <a:latin typeface="Cambria Math" panose="02040503050406030204" pitchFamily="18" charset="0"/>
                          </a:rPr>
                          <m:t>𝑖</m:t>
                        </m:r>
                      </m:sub>
                    </m:sSub>
                  </m:oMath>
                </a14:m>
                <a:r>
                  <a:rPr lang="en-GB" dirty="0"/>
                  <a:t> is independent of all other areas given its neighbours </a:t>
                </a:r>
                <a14:m>
                  <m:oMath xmlns:m="http://schemas.openxmlformats.org/officeDocument/2006/math">
                    <m:r>
                      <a:rPr lang="en-GB" b="0" i="1" smtClean="0">
                        <a:latin typeface="Cambria Math" panose="02040503050406030204" pitchFamily="18" charset="0"/>
                      </a:rPr>
                      <m:t>𝑁</m:t>
                    </m:r>
                    <m:r>
                      <a:rPr lang="en-GB" b="0" i="1" smtClean="0">
                        <a:latin typeface="Cambria Math" panose="02040503050406030204" pitchFamily="18" charset="0"/>
                      </a:rPr>
                      <m:t>(</m:t>
                    </m:r>
                    <m:r>
                      <a:rPr lang="en-GB" b="0" i="1" smtClean="0">
                        <a:latin typeface="Cambria Math" panose="02040503050406030204" pitchFamily="18" charset="0"/>
                      </a:rPr>
                      <m:t>𝑖</m:t>
                    </m:r>
                    <m:r>
                      <a:rPr lang="en-GB" b="0" i="1" smtClean="0">
                        <a:latin typeface="Cambria Math" panose="02040503050406030204" pitchFamily="18" charset="0"/>
                      </a:rPr>
                      <m:t>)</m:t>
                    </m:r>
                  </m:oMath>
                </a14:m>
                <a:r>
                  <a:rPr lang="en-GB" dirty="0"/>
                  <a:t> </a:t>
                </a:r>
              </a:p>
              <a:p>
                <a:r>
                  <a:rPr lang="en-GB" dirty="0"/>
                  <a:t>CAR models are specified by a set of full conditional distributions, one for each location, i.e.,</a:t>
                </a:r>
              </a:p>
              <a:p>
                <a:pPr marL="0" indent="0">
                  <a:buNone/>
                </a:pPr>
                <a14:m>
                  <m:oMathPara xmlns:m="http://schemas.openxmlformats.org/officeDocument/2006/math">
                    <m:oMath>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𝜙</m:t>
                              </m:r>
                            </m:e>
                            <m:sub>
                              <m:r>
                                <a:rPr lang="en-GB" b="0" i="1" smtClean="0">
                                  <a:latin typeface="Cambria Math" panose="02040503050406030204" pitchFamily="18" charset="0"/>
                                </a:rPr>
                                <m:t>𝑖</m:t>
                              </m:r>
                            </m:sub>
                          </m:sSub>
                        </m:e>
                        <m:e>
                          <m:sSub>
                            <m:sSubPr>
                              <m:ctrlPr>
                                <a:rPr lang="en-GB" b="1" i="1" smtClean="0">
                                  <a:latin typeface="Cambria Math" panose="02040503050406030204" pitchFamily="18" charset="0"/>
                                  <a:ea typeface="Cambria Math" panose="02040503050406030204" pitchFamily="18" charset="0"/>
                                </a:rPr>
                              </m:ctrlPr>
                            </m:sSubPr>
                            <m:e>
                              <m:r>
                                <a:rPr lang="en-GB" b="1" i="1" smtClean="0">
                                  <a:latin typeface="Cambria Math" panose="02040503050406030204" pitchFamily="18" charset="0"/>
                                  <a:ea typeface="Cambria Math" panose="02040503050406030204" pitchFamily="18" charset="0"/>
                                </a:rPr>
                                <m:t>𝝓</m:t>
                              </m:r>
                            </m:e>
                            <m:sub>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𝑖</m:t>
                              </m:r>
                            </m:sub>
                          </m:sSub>
                        </m:e>
                      </m:d>
                      <m:r>
                        <a:rPr lang="en-GB" b="0" i="1" smtClean="0">
                          <a:latin typeface="Cambria Math" panose="02040503050406030204" pitchFamily="18" charset="0"/>
                        </a:rPr>
                        <m:t>=</m:t>
                      </m:r>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𝜙</m:t>
                              </m:r>
                            </m:e>
                            <m:sub>
                              <m:r>
                                <a:rPr lang="en-GB" b="0" i="1" smtClean="0">
                                  <a:latin typeface="Cambria Math" panose="02040503050406030204" pitchFamily="18" charset="0"/>
                                </a:rPr>
                                <m:t>𝑖</m:t>
                              </m:r>
                            </m:sub>
                          </m:sSub>
                        </m:e>
                        <m:e>
                          <m:sSub>
                            <m:sSubPr>
                              <m:ctrlPr>
                                <a:rPr lang="en-GB" b="0" i="1" smtClean="0">
                                  <a:latin typeface="Cambria Math" panose="02040503050406030204" pitchFamily="18" charset="0"/>
                                </a:rPr>
                              </m:ctrlPr>
                            </m:sSubPr>
                            <m:e>
                              <m:r>
                                <a:rPr lang="en-GB" b="0" i="1" smtClean="0">
                                  <a:latin typeface="Cambria Math" panose="02040503050406030204" pitchFamily="18" charset="0"/>
                                </a:rPr>
                                <m:t>𝜙</m:t>
                              </m:r>
                            </m:e>
                            <m:sub>
                              <m:r>
                                <a:rPr lang="en-GB" b="0" i="1" smtClean="0">
                                  <a:latin typeface="Cambria Math" panose="02040503050406030204" pitchFamily="18" charset="0"/>
                                </a:rPr>
                                <m:t>𝑗</m:t>
                              </m:r>
                            </m:sub>
                          </m:sSub>
                          <m:r>
                            <a:rPr lang="en-GB" b="0" i="1" smtClean="0">
                              <a:latin typeface="Cambria Math" panose="02040503050406030204" pitchFamily="18" charset="0"/>
                            </a:rPr>
                            <m:t>, </m:t>
                          </m:r>
                          <m:r>
                            <a:rPr lang="en-GB" b="0" i="1" smtClean="0">
                              <a:latin typeface="Cambria Math" panose="02040503050406030204" pitchFamily="18" charset="0"/>
                            </a:rPr>
                            <m:t>𝑗</m:t>
                          </m:r>
                          <m:r>
                            <a:rPr lang="en-GB" b="0" i="1" smtClean="0">
                              <a:latin typeface="Cambria Math" panose="02040503050406030204" pitchFamily="18" charset="0"/>
                            </a:rPr>
                            <m:t>∈</m:t>
                          </m:r>
                          <m:r>
                            <a:rPr lang="en-GB" b="0" i="1" smtClean="0">
                              <a:latin typeface="Cambria Math" panose="02040503050406030204" pitchFamily="18" charset="0"/>
                            </a:rPr>
                            <m:t>𝑁</m:t>
                          </m:r>
                          <m:d>
                            <m:dPr>
                              <m:ctrlPr>
                                <a:rPr lang="en-GB" b="0" i="1" smtClean="0">
                                  <a:latin typeface="Cambria Math" panose="02040503050406030204" pitchFamily="18" charset="0"/>
                                </a:rPr>
                              </m:ctrlPr>
                            </m:dPr>
                            <m:e>
                              <m:r>
                                <a:rPr lang="en-GB" b="0" i="1" smtClean="0">
                                  <a:latin typeface="Cambria Math" panose="02040503050406030204" pitchFamily="18" charset="0"/>
                                </a:rPr>
                                <m:t>𝑖</m:t>
                              </m:r>
                            </m:e>
                          </m:d>
                        </m:e>
                      </m:d>
                      <m:r>
                        <a:rPr lang="en-GB" b="0" i="1" smtClean="0">
                          <a:latin typeface="Cambria Math" panose="02040503050406030204" pitchFamily="18" charset="0"/>
                        </a:rPr>
                        <m:t>.</m:t>
                      </m:r>
                    </m:oMath>
                  </m:oMathPara>
                </a14:m>
                <a:endParaRPr lang="en-GB" dirty="0"/>
              </a:p>
              <a:p>
                <a:r>
                  <a:rPr lang="en-GB" dirty="0"/>
                  <a:t>Hence, we do not need to see the explicit form of the joint distribution for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𝜙</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𝜙</m:t>
                        </m:r>
                      </m:e>
                      <m:sub>
                        <m:r>
                          <a:rPr lang="en-GB" b="0" i="1" smtClean="0">
                            <a:latin typeface="Cambria Math" panose="02040503050406030204" pitchFamily="18" charset="0"/>
                          </a:rPr>
                          <m:t>𝑛</m:t>
                        </m:r>
                      </m:sub>
                    </m:sSub>
                  </m:oMath>
                </a14:m>
                <a:r>
                  <a:rPr lang="en-GB" dirty="0"/>
                  <a:t> (Brook’s Lemma and Hammersley-Clifford theorem guarantee that this exists) </a:t>
                </a:r>
              </a:p>
            </p:txBody>
          </p:sp>
        </mc:Choice>
        <mc:Fallback xmlns="">
          <p:sp>
            <p:nvSpPr>
              <p:cNvPr id="3" name="Content Placeholder 2">
                <a:extLst>
                  <a:ext uri="{FF2B5EF4-FFF2-40B4-BE49-F238E27FC236}">
                    <a16:creationId xmlns:a16="http://schemas.microsoft.com/office/drawing/2014/main" id="{6B2F86CD-8E43-C342-9C29-4AAB42D60155}"/>
                  </a:ext>
                </a:extLst>
              </p:cNvPr>
              <p:cNvSpPr>
                <a:spLocks noGrp="1" noRot="1" noChangeAspect="1" noMove="1" noResize="1" noEditPoints="1" noAdjustHandles="1" noChangeArrowheads="1" noChangeShapeType="1" noTextEdit="1"/>
              </p:cNvSpPr>
              <p:nvPr>
                <p:ph idx="1"/>
              </p:nvPr>
            </p:nvSpPr>
            <p:spPr>
              <a:xfrm>
                <a:off x="838200" y="1707638"/>
                <a:ext cx="10515600" cy="4351338"/>
              </a:xfrm>
              <a:blipFill>
                <a:blip r:embed="rId2"/>
                <a:stretch>
                  <a:fillRect l="-1043" t="-2101"/>
                </a:stretch>
              </a:blipFill>
            </p:spPr>
            <p:txBody>
              <a:bodyPr/>
              <a:lstStyle/>
              <a:p>
                <a:r>
                  <a:rPr lang="en-GB">
                    <a:noFill/>
                  </a:rPr>
                  <a:t> </a:t>
                </a:r>
              </a:p>
            </p:txBody>
          </p:sp>
        </mc:Fallback>
      </mc:AlternateContent>
    </p:spTree>
    <p:extLst>
      <p:ext uri="{BB962C8B-B14F-4D97-AF65-F5344CB8AC3E}">
        <p14:creationId xmlns:p14="http://schemas.microsoft.com/office/powerpoint/2010/main" val="1410216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B6C851-E39F-A2F7-628E-ED3F863E0DDC}"/>
                  </a:ext>
                </a:extLst>
              </p:cNvPr>
              <p:cNvSpPr>
                <a:spLocks noGrp="1"/>
              </p:cNvSpPr>
              <p:nvPr>
                <p:ph idx="1"/>
              </p:nvPr>
            </p:nvSpPr>
            <p:spPr>
              <a:xfrm>
                <a:off x="838200" y="1343845"/>
                <a:ext cx="10515600" cy="5076620"/>
              </a:xfrm>
            </p:spPr>
            <p:txBody>
              <a:bodyPr>
                <a:normAutofit/>
              </a:bodyPr>
              <a:lstStyle/>
              <a:p>
                <a:pPr marL="0" indent="0">
                  <a:buNone/>
                </a:pPr>
                <a:r>
                  <a:rPr lang="en-GB" sz="2400" dirty="0"/>
                  <a:t>For example, the </a:t>
                </a:r>
                <a:r>
                  <a:rPr lang="en-GB" sz="2400" b="1" dirty="0">
                    <a:solidFill>
                      <a:schemeClr val="tx2">
                        <a:lumMod val="75000"/>
                        <a:lumOff val="25000"/>
                      </a:schemeClr>
                    </a:solidFill>
                  </a:rPr>
                  <a:t>intrinsic CAR (ICAR) </a:t>
                </a:r>
                <a:r>
                  <a:rPr lang="en-GB" sz="2400" dirty="0"/>
                  <a:t>model can be written as:</a:t>
                </a:r>
              </a:p>
              <a:p>
                <a:pPr marL="0" indent="0" algn="ctr">
                  <a:buNone/>
                </a:pP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𝜙</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sSub>
                      <m:sSubPr>
                        <m:ctrlPr>
                          <a:rPr lang="en-GB" sz="2400" b="1" i="1" smtClean="0">
                            <a:latin typeface="Cambria Math" panose="02040503050406030204" pitchFamily="18" charset="0"/>
                          </a:rPr>
                        </m:ctrlPr>
                      </m:sSubPr>
                      <m:e>
                        <m:r>
                          <a:rPr lang="en-GB" sz="2400" b="1" i="1" smtClean="0">
                            <a:latin typeface="Cambria Math" panose="02040503050406030204" pitchFamily="18" charset="0"/>
                          </a:rPr>
                          <m:t>𝝓</m:t>
                        </m:r>
                      </m:e>
                      <m:sub>
                        <m:r>
                          <a:rPr lang="en-GB" sz="2400" b="0" i="1" smtClean="0">
                            <a:latin typeface="Cambria Math" panose="02040503050406030204" pitchFamily="18" charset="0"/>
                          </a:rPr>
                          <m:t>−</m:t>
                        </m:r>
                        <m:r>
                          <a:rPr lang="en-GB" sz="2400" b="0" i="1" smtClean="0">
                            <a:latin typeface="Cambria Math" panose="02040503050406030204" pitchFamily="18" charset="0"/>
                          </a:rPr>
                          <m:t>𝑖</m:t>
                        </m:r>
                      </m:sub>
                    </m:sSub>
                    <m:r>
                      <a:rPr lang="en-GB" sz="2400" b="0" i="1" smtClean="0">
                        <a:latin typeface="Cambria Math" panose="02040503050406030204" pitchFamily="18" charset="0"/>
                      </a:rPr>
                      <m:t>∼</m:t>
                    </m:r>
                    <m:r>
                      <a:rPr lang="en-GB" sz="2400" b="0" i="1" smtClean="0">
                        <a:latin typeface="Cambria Math" panose="02040503050406030204" pitchFamily="18" charset="0"/>
                      </a:rPr>
                      <m:t>𝑁</m:t>
                    </m:r>
                    <m:d>
                      <m:dPr>
                        <m:ctrlPr>
                          <a:rPr lang="en-GB" sz="2400" b="0" i="1" smtClean="0">
                            <a:latin typeface="Cambria Math" panose="02040503050406030204" pitchFamily="18" charset="0"/>
                          </a:rPr>
                        </m:ctrlPr>
                      </m:dPr>
                      <m:e>
                        <m:f>
                          <m:fPr>
                            <m:ctrlPr>
                              <a:rPr lang="en-GB" sz="2400" b="0" i="1" smtClean="0">
                                <a:latin typeface="Cambria Math" panose="02040503050406030204" pitchFamily="18" charset="0"/>
                              </a:rPr>
                            </m:ctrlPr>
                          </m:fPr>
                          <m:num>
                            <m:nary>
                              <m:naryPr>
                                <m:chr m:val="∑"/>
                                <m:supHide m:val="on"/>
                                <m:ctrlPr>
                                  <a:rPr lang="en-GB" sz="2400" b="0" i="1" smtClean="0">
                                    <a:latin typeface="Cambria Math" panose="02040503050406030204" pitchFamily="18" charset="0"/>
                                  </a:rPr>
                                </m:ctrlPr>
                              </m:naryPr>
                              <m:sub>
                                <m:r>
                                  <a:rPr lang="en-GB" sz="2400" b="0" i="1" smtClean="0">
                                    <a:latin typeface="Cambria Math" panose="02040503050406030204" pitchFamily="18" charset="0"/>
                                  </a:rPr>
                                  <m:t>𝑗</m:t>
                                </m:r>
                                <m:r>
                                  <a:rPr lang="en-GB" sz="2400" b="0" i="1" smtClean="0">
                                    <a:latin typeface="Cambria Math" panose="02040503050406030204" pitchFamily="18" charset="0"/>
                                  </a:rPr>
                                  <m:t>∈</m:t>
                                </m:r>
                                <m:r>
                                  <a:rPr lang="en-GB" sz="2400" b="0" i="1" smtClean="0">
                                    <a:latin typeface="Cambria Math" panose="02040503050406030204" pitchFamily="18" charset="0"/>
                                  </a:rPr>
                                  <m:t>𝑁</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𝑖</m:t>
                                    </m:r>
                                  </m:e>
                                </m:d>
                              </m:sub>
                              <m:sup/>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𝑤</m:t>
                                    </m:r>
                                  </m:e>
                                  <m:sub>
                                    <m:r>
                                      <a:rPr lang="en-GB" sz="2400" b="0" i="1" smtClean="0">
                                        <a:latin typeface="Cambria Math" panose="02040503050406030204" pitchFamily="18" charset="0"/>
                                      </a:rPr>
                                      <m:t>𝑖𝑗</m:t>
                                    </m:r>
                                  </m:sub>
                                </m:sSub>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𝜙</m:t>
                                    </m:r>
                                  </m:e>
                                  <m:sub>
                                    <m:r>
                                      <a:rPr lang="en-GB" sz="2400" b="0" i="1" smtClean="0">
                                        <a:latin typeface="Cambria Math" panose="02040503050406030204" pitchFamily="18" charset="0"/>
                                      </a:rPr>
                                      <m:t>𝑗</m:t>
                                    </m:r>
                                  </m:sub>
                                </m:sSub>
                              </m:e>
                            </m:nary>
                          </m:num>
                          <m:den>
                            <m:nary>
                              <m:naryPr>
                                <m:chr m:val="∑"/>
                                <m:supHide m:val="on"/>
                                <m:ctrlPr>
                                  <a:rPr lang="en-GB" sz="2400" b="0" i="1" smtClean="0">
                                    <a:latin typeface="Cambria Math" panose="02040503050406030204" pitchFamily="18" charset="0"/>
                                  </a:rPr>
                                </m:ctrlPr>
                              </m:naryPr>
                              <m:sub>
                                <m:r>
                                  <a:rPr lang="en-GB" sz="2400" b="0" i="1" smtClean="0">
                                    <a:latin typeface="Cambria Math" panose="02040503050406030204" pitchFamily="18" charset="0"/>
                                  </a:rPr>
                                  <m:t>𝑗</m:t>
                                </m:r>
                                <m:r>
                                  <a:rPr lang="en-GB" sz="2400" b="0" i="1" smtClean="0">
                                    <a:latin typeface="Cambria Math" panose="02040503050406030204" pitchFamily="18" charset="0"/>
                                  </a:rPr>
                                  <m:t>∈</m:t>
                                </m:r>
                                <m:r>
                                  <a:rPr lang="en-GB" sz="2400" b="0" i="1" smtClean="0">
                                    <a:latin typeface="Cambria Math" panose="02040503050406030204" pitchFamily="18" charset="0"/>
                                  </a:rPr>
                                  <m:t>𝑁</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𝑖</m:t>
                                    </m:r>
                                  </m:e>
                                </m:d>
                              </m:sub>
                              <m:sup/>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𝑤</m:t>
                                    </m:r>
                                  </m:e>
                                  <m:sub>
                                    <m:r>
                                      <a:rPr lang="en-GB" sz="2400" b="0" i="1" smtClean="0">
                                        <a:latin typeface="Cambria Math" panose="02040503050406030204" pitchFamily="18" charset="0"/>
                                      </a:rPr>
                                      <m:t>𝑖𝑗</m:t>
                                    </m:r>
                                  </m:sub>
                                </m:sSub>
                              </m:e>
                            </m:nary>
                          </m:den>
                        </m:f>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1</m:t>
                            </m:r>
                          </m:num>
                          <m:den>
                            <m:r>
                              <a:rPr lang="en-GB" sz="2400" b="0" i="1" smtClean="0">
                                <a:latin typeface="Cambria Math" panose="02040503050406030204" pitchFamily="18" charset="0"/>
                              </a:rPr>
                              <m:t>𝜏</m:t>
                            </m:r>
                            <m:nary>
                              <m:naryPr>
                                <m:chr m:val="∑"/>
                                <m:supHide m:val="on"/>
                                <m:ctrlPr>
                                  <a:rPr lang="en-GB" sz="2400" b="0" i="1" smtClean="0">
                                    <a:latin typeface="Cambria Math" panose="02040503050406030204" pitchFamily="18" charset="0"/>
                                  </a:rPr>
                                </m:ctrlPr>
                              </m:naryPr>
                              <m:sub>
                                <m:r>
                                  <a:rPr lang="en-GB" sz="2400" b="0" i="1" smtClean="0">
                                    <a:latin typeface="Cambria Math" panose="02040503050406030204" pitchFamily="18" charset="0"/>
                                  </a:rPr>
                                  <m:t>𝑗</m:t>
                                </m:r>
                                <m:r>
                                  <a:rPr lang="en-GB" sz="2400" b="0" i="1" smtClean="0">
                                    <a:latin typeface="Cambria Math" panose="02040503050406030204" pitchFamily="18" charset="0"/>
                                  </a:rPr>
                                  <m:t>∈</m:t>
                                </m:r>
                                <m:r>
                                  <a:rPr lang="en-GB" sz="2400" b="0" i="1" smtClean="0">
                                    <a:latin typeface="Cambria Math" panose="02040503050406030204" pitchFamily="18" charset="0"/>
                                  </a:rPr>
                                  <m:t>𝑁</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𝑖</m:t>
                                    </m:r>
                                  </m:e>
                                </m:d>
                              </m:sub>
                              <m:sup/>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𝑤</m:t>
                                    </m:r>
                                  </m:e>
                                  <m:sub>
                                    <m:r>
                                      <a:rPr lang="en-GB" sz="2400" b="0" i="1" smtClean="0">
                                        <a:latin typeface="Cambria Math" panose="02040503050406030204" pitchFamily="18" charset="0"/>
                                      </a:rPr>
                                      <m:t>𝑖𝑗</m:t>
                                    </m:r>
                                  </m:sub>
                                </m:sSub>
                              </m:e>
                            </m:nary>
                          </m:den>
                        </m:f>
                      </m:e>
                    </m:d>
                  </m:oMath>
                </a14:m>
                <a:r>
                  <a:rPr lang="en-GB" sz="2400" dirty="0"/>
                  <a:t>.          (3)</a:t>
                </a:r>
              </a:p>
              <a:p>
                <a:pPr marL="0" indent="0" algn="ctr">
                  <a:buNone/>
                </a:pPr>
                <a:endParaRPr lang="en-GB" sz="2400" dirty="0"/>
              </a:p>
              <a:p>
                <a:pPr marL="0" indent="0">
                  <a:buNone/>
                </a:pPr>
                <a:r>
                  <a:rPr lang="en-GB" sz="2400" dirty="0"/>
                  <a:t>For equal weights,  </a:t>
                </a: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𝑤</m:t>
                        </m:r>
                      </m:e>
                      <m:sub>
                        <m:r>
                          <a:rPr lang="en-GB" sz="2400" b="0" i="1" smtClean="0">
                            <a:latin typeface="Cambria Math" panose="02040503050406030204" pitchFamily="18" charset="0"/>
                          </a:rPr>
                          <m:t>𝑖𝑗</m:t>
                        </m:r>
                      </m:sub>
                    </m:sSub>
                    <m:r>
                      <a:rPr lang="en-GB" sz="2400" b="0" i="1" smtClean="0">
                        <a:latin typeface="Cambria Math" panose="02040503050406030204" pitchFamily="18" charset="0"/>
                      </a:rPr>
                      <m:t>=</m:t>
                    </m:r>
                    <m:d>
                      <m:dPr>
                        <m:begChr m:val="{"/>
                        <m:endChr m:val=""/>
                        <m:ctrlPr>
                          <a:rPr lang="en-GB" sz="2400" b="0" i="1" smtClean="0">
                            <a:latin typeface="Cambria Math" panose="02040503050406030204" pitchFamily="18" charset="0"/>
                          </a:rPr>
                        </m:ctrlPr>
                      </m:dPr>
                      <m:e>
                        <m:eqArr>
                          <m:eqArrPr>
                            <m:ctrlPr>
                              <a:rPr lang="en-GB" sz="2400" b="0" i="1" smtClean="0">
                                <a:latin typeface="Cambria Math" panose="02040503050406030204" pitchFamily="18" charset="0"/>
                              </a:rPr>
                            </m:ctrlPr>
                          </m:eqArrPr>
                          <m:e>
                            <m:r>
                              <a:rPr lang="en-GB" sz="2400" b="0" i="1" smtClean="0">
                                <a:latin typeface="Cambria Math" panose="02040503050406030204" pitchFamily="18" charset="0"/>
                              </a:rPr>
                              <m:t>1 </m:t>
                            </m:r>
                            <m:r>
                              <m:rPr>
                                <m:sty m:val="p"/>
                              </m:rPr>
                              <a:rPr lang="en-GB" sz="2400" b="0" i="0" smtClean="0">
                                <a:latin typeface="Cambria Math" panose="02040503050406030204" pitchFamily="18" charset="0"/>
                              </a:rPr>
                              <m:t>if</m:t>
                            </m:r>
                            <m:r>
                              <a:rPr lang="en-GB" sz="2400" b="0" i="1" smtClean="0">
                                <a:latin typeface="Cambria Math" panose="02040503050406030204" pitchFamily="18" charset="0"/>
                              </a:rPr>
                              <m:t> </m:t>
                            </m:r>
                            <m:r>
                              <a:rPr lang="en-GB" sz="2400" b="0" i="1" smtClean="0">
                                <a:latin typeface="Cambria Math" panose="02040503050406030204" pitchFamily="18" charset="0"/>
                              </a:rPr>
                              <m:t>𝑗</m:t>
                            </m:r>
                            <m:r>
                              <a:rPr lang="en-GB" sz="2400" b="0" i="1" smtClean="0">
                                <a:latin typeface="Cambria Math" panose="02040503050406030204" pitchFamily="18" charset="0"/>
                              </a:rPr>
                              <m:t>∈</m:t>
                            </m:r>
                            <m:r>
                              <a:rPr lang="en-GB" sz="2400" b="0" i="1" smtClean="0">
                                <a:latin typeface="Cambria Math" panose="02040503050406030204" pitchFamily="18" charset="0"/>
                              </a:rPr>
                              <m:t>𝑁</m:t>
                            </m:r>
                            <m:r>
                              <a:rPr lang="en-GB" sz="2400" b="0" i="1" smtClean="0">
                                <a:latin typeface="Cambria Math" panose="02040503050406030204" pitchFamily="18" charset="0"/>
                              </a:rPr>
                              <m:t>(</m:t>
                            </m:r>
                            <m:r>
                              <a:rPr lang="en-GB" sz="2400" b="0" i="1" smtClean="0">
                                <a:latin typeface="Cambria Math" panose="02040503050406030204" pitchFamily="18" charset="0"/>
                              </a:rPr>
                              <m:t>𝑖</m:t>
                            </m:r>
                            <m:r>
                              <a:rPr lang="en-GB" sz="2400" b="0" i="1" smtClean="0">
                                <a:latin typeface="Cambria Math" panose="02040503050406030204" pitchFamily="18" charset="0"/>
                              </a:rPr>
                              <m:t>)</m:t>
                            </m:r>
                          </m:e>
                          <m:e>
                            <m:r>
                              <a:rPr lang="en-GB" sz="2400" b="0" i="1" smtClean="0">
                                <a:latin typeface="Cambria Math" panose="02040503050406030204" pitchFamily="18" charset="0"/>
                              </a:rPr>
                              <m:t>0 </m:t>
                            </m:r>
                            <m:r>
                              <m:rPr>
                                <m:sty m:val="p"/>
                              </m:rPr>
                              <a:rPr lang="en-GB" sz="2400" b="0" i="0" smtClean="0">
                                <a:latin typeface="Cambria Math" panose="02040503050406030204" pitchFamily="18" charset="0"/>
                              </a:rPr>
                              <m:t>otherwise</m:t>
                            </m:r>
                          </m:e>
                        </m:eqArr>
                      </m:e>
                    </m:d>
                  </m:oMath>
                </a14:m>
                <a:r>
                  <a:rPr lang="en-GB" sz="2400" dirty="0"/>
                  <a:t>, equation (3) becomes </a:t>
                </a:r>
              </a:p>
              <a:p>
                <a:pPr marL="0" indent="0">
                  <a:buNone/>
                </a:pPr>
                <a:endParaRPr lang="en-GB" sz="2400" dirty="0"/>
              </a:p>
              <a:p>
                <a:pPr marL="0" indent="0" algn="ctr">
                  <a:buNone/>
                </a:pP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𝜙</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sSub>
                      <m:sSubPr>
                        <m:ctrlPr>
                          <a:rPr lang="en-GB" sz="2400" b="1" i="1" smtClean="0">
                            <a:latin typeface="Cambria Math" panose="02040503050406030204" pitchFamily="18" charset="0"/>
                          </a:rPr>
                        </m:ctrlPr>
                      </m:sSubPr>
                      <m:e>
                        <m:r>
                          <a:rPr lang="en-GB" sz="2400" b="1" i="1" smtClean="0">
                            <a:latin typeface="Cambria Math" panose="02040503050406030204" pitchFamily="18" charset="0"/>
                          </a:rPr>
                          <m:t>𝝓</m:t>
                        </m:r>
                      </m:e>
                      <m:sub>
                        <m:r>
                          <a:rPr lang="en-GB" sz="2400" b="0" i="1" smtClean="0">
                            <a:latin typeface="Cambria Math" panose="02040503050406030204" pitchFamily="18" charset="0"/>
                          </a:rPr>
                          <m:t>−</m:t>
                        </m:r>
                        <m:r>
                          <a:rPr lang="en-GB" sz="2400" b="0" i="1" smtClean="0">
                            <a:latin typeface="Cambria Math" panose="02040503050406030204" pitchFamily="18" charset="0"/>
                          </a:rPr>
                          <m:t>𝑖</m:t>
                        </m:r>
                      </m:sub>
                    </m:sSub>
                    <m:r>
                      <a:rPr lang="en-GB" sz="2400" b="0" i="1" smtClean="0">
                        <a:latin typeface="Cambria Math" panose="02040503050406030204" pitchFamily="18" charset="0"/>
                      </a:rPr>
                      <m:t>∼</m:t>
                    </m:r>
                    <m:r>
                      <a:rPr lang="en-GB" sz="2400" b="0" i="1" smtClean="0">
                        <a:latin typeface="Cambria Math" panose="02040503050406030204" pitchFamily="18" charset="0"/>
                      </a:rPr>
                      <m:t>𝑁</m:t>
                    </m:r>
                    <m:d>
                      <m:dPr>
                        <m:ctrlPr>
                          <a:rPr lang="en-GB" sz="2400" b="0" i="1" smtClean="0">
                            <a:latin typeface="Cambria Math" panose="02040503050406030204" pitchFamily="18" charset="0"/>
                          </a:rPr>
                        </m:ctrlPr>
                      </m:dPr>
                      <m:e>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1</m:t>
                            </m:r>
                          </m:num>
                          <m:den>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𝑛</m:t>
                                </m:r>
                              </m:e>
                              <m:sub>
                                <m:r>
                                  <a:rPr lang="en-GB" sz="2400" b="0" i="1" smtClean="0">
                                    <a:latin typeface="Cambria Math" panose="02040503050406030204" pitchFamily="18" charset="0"/>
                                  </a:rPr>
                                  <m:t>𝑖</m:t>
                                </m:r>
                              </m:sub>
                            </m:sSub>
                          </m:den>
                        </m:f>
                        <m:nary>
                          <m:naryPr>
                            <m:chr m:val="∑"/>
                            <m:supHide m:val="on"/>
                            <m:ctrlPr>
                              <a:rPr lang="en-GB" sz="2400" b="0" i="1" smtClean="0">
                                <a:latin typeface="Cambria Math" panose="02040503050406030204" pitchFamily="18" charset="0"/>
                              </a:rPr>
                            </m:ctrlPr>
                          </m:naryPr>
                          <m:sub>
                            <m:r>
                              <a:rPr lang="en-GB" sz="2400" b="0" i="1" smtClean="0">
                                <a:latin typeface="Cambria Math" panose="02040503050406030204" pitchFamily="18" charset="0"/>
                              </a:rPr>
                              <m:t>𝑗</m:t>
                            </m:r>
                            <m:r>
                              <a:rPr lang="en-GB" sz="2400" b="0" i="1" smtClean="0">
                                <a:latin typeface="Cambria Math" panose="02040503050406030204" pitchFamily="18" charset="0"/>
                              </a:rPr>
                              <m:t>∈</m:t>
                            </m:r>
                            <m:r>
                              <m:rPr>
                                <m:sty m:val="p"/>
                              </m:rPr>
                              <a:rPr lang="en-GB" sz="2400" b="0" i="1" smtClean="0">
                                <a:latin typeface="Cambria Math" panose="02040503050406030204" pitchFamily="18" charset="0"/>
                              </a:rPr>
                              <m:t>N</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𝑖</m:t>
                                </m:r>
                              </m:e>
                            </m:d>
                          </m:sub>
                          <m:sup/>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𝜙</m:t>
                                </m:r>
                              </m:e>
                              <m:sub>
                                <m:r>
                                  <a:rPr lang="en-GB" sz="2400" b="0" i="1" smtClean="0">
                                    <a:latin typeface="Cambria Math" panose="02040503050406030204" pitchFamily="18" charset="0"/>
                                  </a:rPr>
                                  <m:t>𝑗</m:t>
                                </m:r>
                              </m:sub>
                            </m:sSub>
                          </m:e>
                        </m:nary>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1</m:t>
                            </m:r>
                          </m:num>
                          <m:den>
                            <m:r>
                              <a:rPr lang="en-GB" sz="2400" b="0" i="1" smtClean="0">
                                <a:latin typeface="Cambria Math" panose="02040503050406030204" pitchFamily="18" charset="0"/>
                              </a:rPr>
                              <m:t>𝜏</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𝑛</m:t>
                                </m:r>
                              </m:e>
                              <m:sub>
                                <m:r>
                                  <a:rPr lang="en-GB" sz="2400" b="0" i="1" smtClean="0">
                                    <a:latin typeface="Cambria Math" panose="02040503050406030204" pitchFamily="18" charset="0"/>
                                  </a:rPr>
                                  <m:t>𝑖</m:t>
                                </m:r>
                              </m:sub>
                            </m:sSub>
                          </m:den>
                        </m:f>
                      </m:e>
                    </m:d>
                    <m:r>
                      <a:rPr lang="en-GB" sz="2400" b="0" i="1" smtClean="0">
                        <a:latin typeface="Cambria Math" panose="02040503050406030204" pitchFamily="18" charset="0"/>
                      </a:rPr>
                      <m:t>.</m:t>
                    </m:r>
                  </m:oMath>
                </a14:m>
                <a:r>
                  <a:rPr lang="en-GB" sz="2400" dirty="0"/>
                  <a:t> </a:t>
                </a:r>
              </a:p>
              <a:p>
                <a:pPr marL="0" indent="0">
                  <a:buNone/>
                </a:pP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𝑛</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nary>
                      <m:naryPr>
                        <m:chr m:val="∑"/>
                        <m:supHide m:val="on"/>
                        <m:ctrlPr>
                          <a:rPr lang="en-GB" sz="2400" b="0" i="1" smtClean="0">
                            <a:latin typeface="Cambria Math" panose="02040503050406030204" pitchFamily="18" charset="0"/>
                          </a:rPr>
                        </m:ctrlPr>
                      </m:naryPr>
                      <m:sub>
                        <m:r>
                          <a:rPr lang="en-GB" sz="2400" b="0" i="1" smtClean="0">
                            <a:latin typeface="Cambria Math" panose="02040503050406030204" pitchFamily="18" charset="0"/>
                          </a:rPr>
                          <m:t>𝑗</m:t>
                        </m:r>
                        <m:r>
                          <a:rPr lang="en-GB" sz="2400" b="0" i="1" smtClean="0">
                            <a:latin typeface="Cambria Math" panose="02040503050406030204" pitchFamily="18" charset="0"/>
                          </a:rPr>
                          <m:t>∈</m:t>
                        </m:r>
                        <m:r>
                          <a:rPr lang="en-GB" sz="2400" b="0" i="1" smtClean="0">
                            <a:latin typeface="Cambria Math" panose="02040503050406030204" pitchFamily="18" charset="0"/>
                          </a:rPr>
                          <m:t>𝑁</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𝑖</m:t>
                            </m:r>
                          </m:e>
                        </m:d>
                      </m:sub>
                      <m:sup/>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𝑤</m:t>
                            </m:r>
                          </m:e>
                          <m:sub>
                            <m:r>
                              <a:rPr lang="en-GB" sz="2400" b="0" i="1" smtClean="0">
                                <a:latin typeface="Cambria Math" panose="02040503050406030204" pitchFamily="18" charset="0"/>
                              </a:rPr>
                              <m:t>𝑖𝑗</m:t>
                            </m:r>
                          </m:sub>
                        </m:sSub>
                      </m:e>
                    </m:nary>
                  </m:oMath>
                </a14:m>
                <a:r>
                  <a:rPr lang="en-GB" sz="2400" dirty="0"/>
                  <a:t>is the number of neighbours of area </a:t>
                </a:r>
                <a14:m>
                  <m:oMath xmlns:m="http://schemas.openxmlformats.org/officeDocument/2006/math">
                    <m:r>
                      <a:rPr lang="en-GB" sz="2400" b="0" i="1" smtClean="0">
                        <a:latin typeface="Cambria Math" panose="02040503050406030204" pitchFamily="18" charset="0"/>
                      </a:rPr>
                      <m:t>𝑖</m:t>
                    </m:r>
                    <m:r>
                      <a:rPr lang="en-GB" sz="2400" b="0" i="1" smtClean="0">
                        <a:latin typeface="Cambria Math" panose="02040503050406030204" pitchFamily="18" charset="0"/>
                      </a:rPr>
                      <m:t>.</m:t>
                    </m:r>
                  </m:oMath>
                </a14:m>
                <a:r>
                  <a:rPr lang="en-GB" sz="2400" dirty="0"/>
                  <a:t> </a:t>
                </a:r>
              </a:p>
              <a:p>
                <a:pPr marL="0" indent="0">
                  <a:buNone/>
                </a:pPr>
                <a14:m>
                  <m:oMath xmlns:m="http://schemas.openxmlformats.org/officeDocument/2006/math">
                    <m:r>
                      <a:rPr lang="en-GB" sz="2400" b="0" i="1" dirty="0" smtClean="0">
                        <a:latin typeface="Cambria Math" panose="02040503050406030204" pitchFamily="18" charset="0"/>
                      </a:rPr>
                      <m:t>𝜏</m:t>
                    </m:r>
                  </m:oMath>
                </a14:m>
                <a:r>
                  <a:rPr lang="en-GB" sz="2400" dirty="0"/>
                  <a:t> is a precision parameter controlling the amount of variation between the </a:t>
                </a: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𝜙</m:t>
                        </m:r>
                      </m:e>
                      <m:sub>
                        <m:r>
                          <a:rPr lang="en-GB" sz="2400" b="0" i="1" smtClean="0">
                            <a:latin typeface="Cambria Math" panose="02040503050406030204" pitchFamily="18" charset="0"/>
                          </a:rPr>
                          <m:t>𝑖</m:t>
                        </m:r>
                      </m:sub>
                    </m:sSub>
                  </m:oMath>
                </a14:m>
                <a:r>
                  <a:rPr lang="en-GB" sz="2400" dirty="0"/>
                  <a:t>’s. </a:t>
                </a:r>
              </a:p>
              <a:p>
                <a:pPr marL="0" indent="0" algn="ctr">
                  <a:buNone/>
                </a:pPr>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5FB6C851-E39F-A2F7-628E-ED3F863E0DDC}"/>
                  </a:ext>
                </a:extLst>
              </p:cNvPr>
              <p:cNvSpPr>
                <a:spLocks noGrp="1" noRot="1" noChangeAspect="1" noMove="1" noResize="1" noEditPoints="1" noAdjustHandles="1" noChangeArrowheads="1" noChangeShapeType="1" noTextEdit="1"/>
              </p:cNvSpPr>
              <p:nvPr>
                <p:ph idx="1"/>
              </p:nvPr>
            </p:nvSpPr>
            <p:spPr>
              <a:xfrm>
                <a:off x="838200" y="1343845"/>
                <a:ext cx="10515600" cy="5076620"/>
              </a:xfrm>
              <a:blipFill>
                <a:blip r:embed="rId2"/>
                <a:stretch>
                  <a:fillRect l="-928" t="-1561" r="-986" b="-1321"/>
                </a:stretch>
              </a:blipFill>
            </p:spPr>
            <p:txBody>
              <a:bodyPr/>
              <a:lstStyle/>
              <a:p>
                <a:r>
                  <a:rPr lang="en-GB">
                    <a:noFill/>
                  </a:rPr>
                  <a:t> </a:t>
                </a:r>
              </a:p>
            </p:txBody>
          </p:sp>
        </mc:Fallback>
      </mc:AlternateContent>
      <p:sp>
        <p:nvSpPr>
          <p:cNvPr id="6" name="TextBox 5">
            <a:extLst>
              <a:ext uri="{FF2B5EF4-FFF2-40B4-BE49-F238E27FC236}">
                <a16:creationId xmlns:a16="http://schemas.microsoft.com/office/drawing/2014/main" id="{723FD240-4694-F660-43A7-F7092C66B362}"/>
              </a:ext>
            </a:extLst>
          </p:cNvPr>
          <p:cNvSpPr txBox="1"/>
          <p:nvPr/>
        </p:nvSpPr>
        <p:spPr>
          <a:xfrm>
            <a:off x="550606" y="6420465"/>
            <a:ext cx="11415252" cy="369332"/>
          </a:xfrm>
          <a:prstGeom prst="rect">
            <a:avLst/>
          </a:prstGeom>
          <a:noFill/>
        </p:spPr>
        <p:txBody>
          <a:bodyPr wrap="square" rtlCol="0">
            <a:spAutoFit/>
          </a:bodyPr>
          <a:lstStyle/>
          <a:p>
            <a:r>
              <a:rPr lang="en-GB" dirty="0"/>
              <a:t>Interpretation: The conditional mean of an area's spatial effect is essentially the average of its neighbours' effects.</a:t>
            </a:r>
          </a:p>
        </p:txBody>
      </p:sp>
      <p:sp>
        <p:nvSpPr>
          <p:cNvPr id="7" name="Title 1">
            <a:extLst>
              <a:ext uri="{FF2B5EF4-FFF2-40B4-BE49-F238E27FC236}">
                <a16:creationId xmlns:a16="http://schemas.microsoft.com/office/drawing/2014/main" id="{0785805B-0415-1F5A-AC4D-30B69F8B70C2}"/>
              </a:ext>
            </a:extLst>
          </p:cNvPr>
          <p:cNvSpPr>
            <a:spLocks noGrp="1"/>
          </p:cNvSpPr>
          <p:nvPr>
            <p:ph type="title"/>
          </p:nvPr>
        </p:nvSpPr>
        <p:spPr>
          <a:xfrm>
            <a:off x="326922" y="92433"/>
            <a:ext cx="10515600" cy="588604"/>
          </a:xfrm>
        </p:spPr>
        <p:txBody>
          <a:bodyPr>
            <a:normAutofit fontScale="90000"/>
          </a:bodyPr>
          <a:lstStyle/>
          <a:p>
            <a:r>
              <a:rPr lang="en-GB" b="1" dirty="0">
                <a:solidFill>
                  <a:schemeClr val="bg1"/>
                </a:solidFill>
                <a:latin typeface="+mn-lt"/>
              </a:rPr>
              <a:t>Conditional autoregressive models </a:t>
            </a:r>
          </a:p>
        </p:txBody>
      </p:sp>
    </p:spTree>
    <p:extLst>
      <p:ext uri="{BB962C8B-B14F-4D97-AF65-F5344CB8AC3E}">
        <p14:creationId xmlns:p14="http://schemas.microsoft.com/office/powerpoint/2010/main" val="2951105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F627C-C9F6-D753-E758-21357C6511A6}"/>
              </a:ext>
            </a:extLst>
          </p:cNvPr>
          <p:cNvSpPr>
            <a:spLocks noGrp="1"/>
          </p:cNvSpPr>
          <p:nvPr>
            <p:ph type="title"/>
          </p:nvPr>
        </p:nvSpPr>
        <p:spPr>
          <a:xfrm>
            <a:off x="245806" y="0"/>
            <a:ext cx="11808541" cy="693175"/>
          </a:xfrm>
        </p:spPr>
        <p:txBody>
          <a:bodyPr>
            <a:normAutofit/>
          </a:bodyPr>
          <a:lstStyle/>
          <a:p>
            <a:r>
              <a:rPr lang="en-GB" sz="3700" b="1" dirty="0">
                <a:solidFill>
                  <a:schemeClr val="bg1"/>
                </a:solidFill>
                <a:latin typeface="+mn-lt"/>
              </a:rPr>
              <a:t>From CAR to a Gaussian Markov random field and INLA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A50BC0F-00DE-0204-BF83-7327BF3DD94F}"/>
                  </a:ext>
                </a:extLst>
              </p:cNvPr>
              <p:cNvSpPr>
                <a:spLocks noGrp="1"/>
              </p:cNvSpPr>
              <p:nvPr>
                <p:ph idx="1"/>
              </p:nvPr>
            </p:nvSpPr>
            <p:spPr>
              <a:xfrm>
                <a:off x="838200" y="1825624"/>
                <a:ext cx="10016613" cy="4339201"/>
              </a:xfrm>
            </p:spPr>
            <p:txBody>
              <a:bodyPr/>
              <a:lstStyle/>
              <a:p>
                <a:r>
                  <a:rPr lang="en-GB" dirty="0"/>
                  <a:t>The important connection to INLA is that, most often, CAR models are typically GMRFs</a:t>
                </a:r>
              </a:p>
              <a:p>
                <a:r>
                  <a:rPr lang="en-GB" dirty="0"/>
                  <a:t>Hence, we can write the joint distribution of </a:t>
                </a:r>
                <a14:m>
                  <m:oMath xmlns:m="http://schemas.openxmlformats.org/officeDocument/2006/math">
                    <m:r>
                      <a:rPr lang="en-GB" b="1" i="1" smtClean="0">
                        <a:latin typeface="Cambria Math" panose="02040503050406030204" pitchFamily="18" charset="0"/>
                      </a:rPr>
                      <m:t>𝝓</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𝜙</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𝜙</m:t>
                        </m:r>
                      </m:e>
                      <m:sub>
                        <m:r>
                          <a:rPr lang="en-GB" b="0" i="1" smtClean="0">
                            <a:latin typeface="Cambria Math" panose="02040503050406030204" pitchFamily="18" charset="0"/>
                          </a:rPr>
                          <m:t>𝑛</m:t>
                        </m:r>
                      </m:sub>
                    </m:sSub>
                    <m:r>
                      <a:rPr lang="en-GB" b="0" i="1" smtClean="0">
                        <a:latin typeface="Cambria Math" panose="02040503050406030204" pitchFamily="18" charset="0"/>
                      </a:rPr>
                      <m:t>)</m:t>
                    </m:r>
                  </m:oMath>
                </a14:m>
                <a:r>
                  <a:rPr lang="en-GB" dirty="0"/>
                  <a:t> as </a:t>
                </a:r>
              </a:p>
              <a:p>
                <a:pPr marL="0" indent="0">
                  <a:buNone/>
                </a:pPr>
                <a14:m>
                  <m:oMath xmlns:m="http://schemas.openxmlformats.org/officeDocument/2006/math">
                    <m:r>
                      <a:rPr lang="en-GB" b="1" i="1" smtClean="0">
                        <a:latin typeface="Cambria Math" panose="02040503050406030204" pitchFamily="18" charset="0"/>
                      </a:rPr>
                      <m:t>𝝓</m:t>
                    </m:r>
                    <m:r>
                      <a:rPr lang="en-GB" b="0"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m:t>
                    </m:r>
                    <m:r>
                      <a:rPr lang="en-GB" b="1" i="1" smtClean="0">
                        <a:latin typeface="Cambria Math" panose="02040503050406030204" pitchFamily="18" charset="0"/>
                      </a:rPr>
                      <m:t>𝟎</m:t>
                    </m:r>
                    <m:r>
                      <a:rPr lang="en-GB" b="0" i="1" smtClean="0">
                        <a:latin typeface="Cambria Math" panose="02040503050406030204" pitchFamily="18" charset="0"/>
                      </a:rPr>
                      <m:t>, </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𝑸</m:t>
                        </m:r>
                      </m:e>
                      <m:sup>
                        <m:r>
                          <a:rPr lang="en-GB" b="0" i="1" smtClean="0">
                            <a:latin typeface="Cambria Math" panose="02040503050406030204" pitchFamily="18" charset="0"/>
                          </a:rPr>
                          <m:t>−1</m:t>
                        </m:r>
                      </m:sup>
                    </m:sSup>
                    <m:r>
                      <a:rPr lang="en-GB" b="0" i="1" smtClean="0">
                        <a:latin typeface="Cambria Math" panose="02040503050406030204" pitchFamily="18" charset="0"/>
                      </a:rPr>
                      <m:t>)</m:t>
                    </m:r>
                  </m:oMath>
                </a14:m>
                <a:r>
                  <a:rPr lang="en-GB" dirty="0"/>
                  <a:t>,  where </a:t>
                </a:r>
                <a14:m>
                  <m:oMath xmlns:m="http://schemas.openxmlformats.org/officeDocument/2006/math">
                    <m:r>
                      <a:rPr lang="en-GB" b="1" i="1" smtClean="0">
                        <a:latin typeface="Cambria Math" panose="02040503050406030204" pitchFamily="18" charset="0"/>
                      </a:rPr>
                      <m:t>𝑸</m:t>
                    </m:r>
                  </m:oMath>
                </a14:m>
                <a:r>
                  <a:rPr lang="en-GB" b="1" dirty="0"/>
                  <a:t> </a:t>
                </a:r>
                <a:r>
                  <a:rPr lang="en-GB" dirty="0"/>
                  <a:t>is</a:t>
                </a:r>
                <a:r>
                  <a:rPr lang="en-GB" b="1" dirty="0"/>
                  <a:t> </a:t>
                </a:r>
                <a:r>
                  <a:rPr lang="en-GB" dirty="0"/>
                  <a:t>the precision matrix</a:t>
                </a:r>
              </a:p>
              <a:p>
                <a:r>
                  <a:rPr lang="en-GB" dirty="0"/>
                  <a:t>The important feature is that </a:t>
                </a:r>
                <a14:m>
                  <m:oMath xmlns:m="http://schemas.openxmlformats.org/officeDocument/2006/math">
                    <m:r>
                      <a:rPr lang="en-GB" b="1" i="1" smtClean="0">
                        <a:latin typeface="Cambria Math" panose="02040503050406030204" pitchFamily="18" charset="0"/>
                      </a:rPr>
                      <m:t>𝑸</m:t>
                    </m:r>
                  </m:oMath>
                </a14:m>
                <a:r>
                  <a:rPr lang="en-GB" b="1" dirty="0"/>
                  <a:t> </a:t>
                </a:r>
                <a:r>
                  <a:rPr lang="en-GB" dirty="0"/>
                  <a:t>is sparse since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𝑄</m:t>
                        </m:r>
                      </m:e>
                      <m:sub>
                        <m:r>
                          <a:rPr lang="en-GB" b="0" i="1" smtClean="0">
                            <a:latin typeface="Cambria Math" panose="02040503050406030204" pitchFamily="18" charset="0"/>
                          </a:rPr>
                          <m:t>𝑖𝑗</m:t>
                        </m:r>
                      </m:sub>
                    </m:sSub>
                    <m:r>
                      <a:rPr lang="en-GB" b="0" i="1" smtClean="0">
                        <a:latin typeface="Cambria Math" panose="02040503050406030204" pitchFamily="18" charset="0"/>
                      </a:rPr>
                      <m:t>=0</m:t>
                    </m:r>
                  </m:oMath>
                </a14:m>
                <a:r>
                  <a:rPr lang="en-GB" b="1" dirty="0"/>
                  <a:t> </a:t>
                </a:r>
                <a:r>
                  <a:rPr lang="en-GB" dirty="0"/>
                  <a:t>if areas </a:t>
                </a:r>
                <a14:m>
                  <m:oMath xmlns:m="http://schemas.openxmlformats.org/officeDocument/2006/math">
                    <m:r>
                      <a:rPr lang="en-GB" b="0" i="1" smtClean="0">
                        <a:latin typeface="Cambria Math" panose="02040503050406030204" pitchFamily="18" charset="0"/>
                      </a:rPr>
                      <m:t>𝑖</m:t>
                    </m:r>
                  </m:oMath>
                </a14:m>
                <a:r>
                  <a:rPr lang="en-GB" b="1" dirty="0"/>
                  <a:t> </a:t>
                </a:r>
                <a:r>
                  <a:rPr lang="en-GB" dirty="0"/>
                  <a:t>and </a:t>
                </a:r>
                <a14:m>
                  <m:oMath xmlns:m="http://schemas.openxmlformats.org/officeDocument/2006/math">
                    <m:r>
                      <a:rPr lang="en-GB" b="0" i="1" smtClean="0">
                        <a:latin typeface="Cambria Math" panose="02040503050406030204" pitchFamily="18" charset="0"/>
                      </a:rPr>
                      <m:t>𝑗</m:t>
                    </m:r>
                  </m:oMath>
                </a14:m>
                <a:r>
                  <a:rPr lang="en-GB" dirty="0"/>
                  <a:t> are not neighbours (Markov property).</a:t>
                </a:r>
              </a:p>
              <a:p>
                <a:r>
                  <a:rPr lang="en-GB" dirty="0"/>
                  <a:t>This is exactly the structure that INLA exploits computationally.</a:t>
                </a:r>
              </a:p>
            </p:txBody>
          </p:sp>
        </mc:Choice>
        <mc:Fallback xmlns="">
          <p:sp>
            <p:nvSpPr>
              <p:cNvPr id="3" name="Content Placeholder 2">
                <a:extLst>
                  <a:ext uri="{FF2B5EF4-FFF2-40B4-BE49-F238E27FC236}">
                    <a16:creationId xmlns:a16="http://schemas.microsoft.com/office/drawing/2014/main" id="{6A50BC0F-00DE-0204-BF83-7327BF3DD94F}"/>
                  </a:ext>
                </a:extLst>
              </p:cNvPr>
              <p:cNvSpPr>
                <a:spLocks noGrp="1" noRot="1" noChangeAspect="1" noMove="1" noResize="1" noEditPoints="1" noAdjustHandles="1" noChangeArrowheads="1" noChangeShapeType="1" noTextEdit="1"/>
              </p:cNvSpPr>
              <p:nvPr>
                <p:ph idx="1"/>
              </p:nvPr>
            </p:nvSpPr>
            <p:spPr>
              <a:xfrm>
                <a:off x="838200" y="1825624"/>
                <a:ext cx="10016613" cy="4339201"/>
              </a:xfrm>
              <a:blipFill>
                <a:blip r:embed="rId2"/>
                <a:stretch>
                  <a:fillRect l="-1096" t="-2388" r="-1522"/>
                </a:stretch>
              </a:blipFill>
            </p:spPr>
            <p:txBody>
              <a:bodyPr/>
              <a:lstStyle/>
              <a:p>
                <a:r>
                  <a:rPr lang="en-GB">
                    <a:noFill/>
                  </a:rPr>
                  <a:t> </a:t>
                </a:r>
              </a:p>
            </p:txBody>
          </p:sp>
        </mc:Fallback>
      </mc:AlternateContent>
    </p:spTree>
    <p:extLst>
      <p:ext uri="{BB962C8B-B14F-4D97-AF65-F5344CB8AC3E}">
        <p14:creationId xmlns:p14="http://schemas.microsoft.com/office/powerpoint/2010/main" val="1818812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64C392-844B-6266-1AF1-D50E41DB6CB8}"/>
                  </a:ext>
                </a:extLst>
              </p:cNvPr>
              <p:cNvSpPr>
                <a:spLocks noGrp="1"/>
              </p:cNvSpPr>
              <p:nvPr>
                <p:ph idx="1"/>
              </p:nvPr>
            </p:nvSpPr>
            <p:spPr/>
            <p:txBody>
              <a:bodyPr>
                <a:normAutofit/>
              </a:bodyPr>
              <a:lstStyle/>
              <a:p>
                <a:r>
                  <a:rPr lang="en-GB" dirty="0"/>
                  <a:t>For equation (3), we can further write the precision matrix as a function of the adjacency matrix </a:t>
                </a:r>
                <a14:m>
                  <m:oMath xmlns:m="http://schemas.openxmlformats.org/officeDocument/2006/math">
                    <m:r>
                      <a:rPr lang="en-GB" b="0" i="1" smtClean="0">
                        <a:latin typeface="Cambria Math" panose="02040503050406030204" pitchFamily="18" charset="0"/>
                      </a:rPr>
                      <m:t>𝑊</m:t>
                    </m:r>
                  </m:oMath>
                </a14:m>
                <a:r>
                  <a:rPr lang="en-GB" dirty="0"/>
                  <a:t>as</a:t>
                </a:r>
              </a:p>
              <a:p>
                <a:pPr marL="0" indent="0" algn="ctr">
                  <a:buNone/>
                </a:pPr>
                <a:r>
                  <a:rPr lang="en-GB" dirty="0"/>
                  <a:t> </a:t>
                </a:r>
                <a14:m>
                  <m:oMath xmlns:m="http://schemas.openxmlformats.org/officeDocument/2006/math">
                    <m:r>
                      <a:rPr lang="en-GB" b="1" i="1" smtClean="0">
                        <a:latin typeface="Cambria Math" panose="02040503050406030204" pitchFamily="18" charset="0"/>
                      </a:rPr>
                      <m:t>𝑸</m:t>
                    </m:r>
                    <m:r>
                      <a:rPr lang="en-GB" b="0" i="1" smtClean="0">
                        <a:latin typeface="Cambria Math" panose="02040503050406030204" pitchFamily="18" charset="0"/>
                      </a:rPr>
                      <m:t>=</m:t>
                    </m:r>
                    <m:r>
                      <a:rPr lang="en-GB" b="0" i="1" smtClean="0">
                        <a:latin typeface="Cambria Math" panose="02040503050406030204" pitchFamily="18" charset="0"/>
                      </a:rPr>
                      <m:t>𝜏</m:t>
                    </m:r>
                    <m:d>
                      <m:dPr>
                        <m:ctrlPr>
                          <a:rPr lang="en-GB" b="0" i="1" smtClean="0">
                            <a:latin typeface="Cambria Math" panose="02040503050406030204" pitchFamily="18" charset="0"/>
                          </a:rPr>
                        </m:ctrlPr>
                      </m:dPr>
                      <m:e>
                        <m:r>
                          <a:rPr lang="en-GB" b="0" i="1" smtClean="0">
                            <a:latin typeface="Cambria Math" panose="02040503050406030204" pitchFamily="18" charset="0"/>
                          </a:rPr>
                          <m:t>𝐷</m:t>
                        </m:r>
                        <m:r>
                          <a:rPr lang="en-GB" b="0" i="1" smtClean="0">
                            <a:latin typeface="Cambria Math" panose="02040503050406030204" pitchFamily="18" charset="0"/>
                          </a:rPr>
                          <m:t>−</m:t>
                        </m:r>
                        <m:r>
                          <a:rPr lang="en-GB" b="0" i="1" smtClean="0">
                            <a:latin typeface="Cambria Math" panose="02040503050406030204" pitchFamily="18" charset="0"/>
                          </a:rPr>
                          <m:t>𝑊</m:t>
                        </m:r>
                      </m:e>
                    </m:d>
                    <m:r>
                      <a:rPr lang="en-GB" b="0" i="1" smtClean="0">
                        <a:latin typeface="Cambria Math" panose="02040503050406030204" pitchFamily="18" charset="0"/>
                      </a:rPr>
                      <m:t>,</m:t>
                    </m:r>
                  </m:oMath>
                </a14:m>
                <a:r>
                  <a:rPr lang="en-GB" dirty="0"/>
                  <a:t> </a:t>
                </a:r>
              </a:p>
              <a:p>
                <a:pPr marL="0" indent="0">
                  <a:buNone/>
                </a:pPr>
                <a:r>
                  <a:rPr lang="en-GB" dirty="0"/>
                  <a:t>Where </a:t>
                </a:r>
                <a14:m>
                  <m:oMath xmlns:m="http://schemas.openxmlformats.org/officeDocument/2006/math">
                    <m:r>
                      <a:rPr lang="en-GB" b="0" i="1" smtClean="0">
                        <a:latin typeface="Cambria Math" panose="02040503050406030204" pitchFamily="18" charset="0"/>
                      </a:rPr>
                      <m:t>𝐷</m:t>
                    </m:r>
                  </m:oMath>
                </a14:m>
                <a:r>
                  <a:rPr lang="en-GB" dirty="0"/>
                  <a:t> is a diagonal matrix containing the row sums of </a:t>
                </a:r>
                <a14:m>
                  <m:oMath xmlns:m="http://schemas.openxmlformats.org/officeDocument/2006/math">
                    <m:r>
                      <a:rPr lang="en-GB" b="0" i="1" smtClean="0">
                        <a:latin typeface="Cambria Math" panose="02040503050406030204" pitchFamily="18" charset="0"/>
                      </a:rPr>
                      <m:t>𝑊</m:t>
                    </m:r>
                  </m:oMath>
                </a14:m>
                <a:r>
                  <a:rPr lang="en-GB" dirty="0"/>
                  <a:t>, i.e.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𝐷</m:t>
                        </m:r>
                      </m:e>
                      <m:sub>
                        <m:r>
                          <a:rPr lang="en-GB" b="0" i="1" smtClean="0">
                            <a:latin typeface="Cambria Math" panose="02040503050406030204" pitchFamily="18" charset="0"/>
                          </a:rPr>
                          <m:t>𝑖𝑖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𝑛</m:t>
                        </m:r>
                      </m:e>
                      <m:sub>
                        <m:r>
                          <a:rPr lang="en-GB" b="0" i="1" smtClean="0">
                            <a:latin typeface="Cambria Math" panose="02040503050406030204" pitchFamily="18" charset="0"/>
                          </a:rPr>
                          <m:t>𝑖</m:t>
                        </m:r>
                      </m:sub>
                    </m:sSub>
                  </m:oMath>
                </a14:m>
                <a:r>
                  <a:rPr lang="en-GB" dirty="0"/>
                  <a:t> (</a:t>
                </a:r>
                <a14:m>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𝑛</m:t>
                        </m:r>
                      </m:e>
                      <m:sub>
                        <m:r>
                          <a:rPr lang="en-GB" b="0" i="1" dirty="0" smtClean="0">
                            <a:latin typeface="Cambria Math" panose="02040503050406030204" pitchFamily="18" charset="0"/>
                          </a:rPr>
                          <m:t>𝑖</m:t>
                        </m:r>
                      </m:sub>
                    </m:sSub>
                  </m:oMath>
                </a14:m>
                <a:r>
                  <a:rPr lang="en-GB" dirty="0"/>
                  <a:t> is the number of neighbours for area </a:t>
                </a:r>
                <a14:m>
                  <m:oMath xmlns:m="http://schemas.openxmlformats.org/officeDocument/2006/math">
                    <m:r>
                      <a:rPr lang="en-GB" b="0" i="1" smtClean="0">
                        <a:latin typeface="Cambria Math" panose="02040503050406030204" pitchFamily="18" charset="0"/>
                      </a:rPr>
                      <m:t>𝑖</m:t>
                    </m:r>
                  </m:oMath>
                </a14:m>
                <a:r>
                  <a:rPr lang="en-GB" dirty="0"/>
                  <a:t>)</a:t>
                </a:r>
              </a:p>
              <a:p>
                <a:r>
                  <a:rPr lang="en-GB" dirty="0"/>
                  <a:t>The ICAR model (3) is intrinsic/improper: its precision matrix is singular, since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𝐷</m:t>
                        </m:r>
                        <m:r>
                          <a:rPr lang="en-GB" b="0" i="1" smtClean="0">
                            <a:latin typeface="Cambria Math" panose="02040503050406030204" pitchFamily="18" charset="0"/>
                          </a:rPr>
                          <m:t>−</m:t>
                        </m:r>
                        <m:r>
                          <a:rPr lang="en-GB" b="0" i="1" smtClean="0">
                            <a:latin typeface="Cambria Math" panose="02040503050406030204" pitchFamily="18" charset="0"/>
                          </a:rPr>
                          <m:t>𝑊</m:t>
                        </m:r>
                      </m:e>
                    </m:d>
                    <m:r>
                      <a:rPr lang="en-GB" b="1" i="1" smtClean="0">
                        <a:latin typeface="Cambria Math" panose="02040503050406030204" pitchFamily="18" charset="0"/>
                      </a:rPr>
                      <m:t>𝟏</m:t>
                    </m:r>
                    <m:r>
                      <a:rPr lang="en-GB" b="1" i="1" smtClean="0">
                        <a:latin typeface="Cambria Math" panose="02040503050406030204" pitchFamily="18" charset="0"/>
                      </a:rPr>
                      <m:t>=</m:t>
                    </m:r>
                    <m:r>
                      <a:rPr lang="en-GB" b="1" i="1" smtClean="0">
                        <a:latin typeface="Cambria Math" panose="02040503050406030204" pitchFamily="18" charset="0"/>
                      </a:rPr>
                      <m:t>𝟎</m:t>
                    </m:r>
                  </m:oMath>
                </a14:m>
                <a:r>
                  <a:rPr lang="en-GB" dirty="0"/>
                  <a:t>.</a:t>
                </a:r>
                <a:r>
                  <a:rPr lang="en-GB" b="1" dirty="0"/>
                  <a:t> </a:t>
                </a:r>
                <a:r>
                  <a:rPr lang="en-GB" dirty="0"/>
                  <a:t>So, its covariance does not exist.</a:t>
                </a:r>
              </a:p>
              <a:p>
                <a:r>
                  <a:rPr lang="en-GB" dirty="0"/>
                  <a:t>Typically, an additional constraint such as </a:t>
                </a:r>
                <a14:m>
                  <m:oMath xmlns:m="http://schemas.openxmlformats.org/officeDocument/2006/math">
                    <m:nary>
                      <m:naryPr>
                        <m:chr m:val="∑"/>
                        <m:supHide m:val="on"/>
                        <m:ctrlPr>
                          <a:rPr lang="en-GB" b="0" i="1" smtClean="0">
                            <a:latin typeface="Cambria Math" panose="02040503050406030204" pitchFamily="18" charset="0"/>
                          </a:rPr>
                        </m:ctrlPr>
                      </m:naryPr>
                      <m:sub>
                        <m:r>
                          <a:rPr lang="en-GB" b="0" i="1" smtClean="0">
                            <a:latin typeface="Cambria Math" panose="02040503050406030204" pitchFamily="18" charset="0"/>
                          </a:rPr>
                          <m:t>𝑖</m:t>
                        </m:r>
                      </m:sub>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𝜙</m:t>
                            </m:r>
                          </m:e>
                          <m:sub>
                            <m:r>
                              <a:rPr lang="en-GB" b="0" i="1" smtClean="0">
                                <a:latin typeface="Cambria Math" panose="02040503050406030204" pitchFamily="18" charset="0"/>
                              </a:rPr>
                              <m:t>𝑖</m:t>
                            </m:r>
                          </m:sub>
                        </m:sSub>
                        <m:r>
                          <a:rPr lang="en-GB" b="0" i="1" smtClean="0">
                            <a:latin typeface="Cambria Math" panose="02040503050406030204" pitchFamily="18" charset="0"/>
                          </a:rPr>
                          <m:t>=0</m:t>
                        </m:r>
                      </m:e>
                    </m:nary>
                  </m:oMath>
                </a14:m>
                <a:r>
                  <a:rPr lang="en-GB" dirty="0"/>
                  <a:t> is imposed for </a:t>
                </a:r>
                <a:r>
                  <a:rPr lang="en-GB" dirty="0" err="1"/>
                  <a:t>indentifiability</a:t>
                </a:r>
                <a:endParaRPr lang="en-GB" dirty="0"/>
              </a:p>
            </p:txBody>
          </p:sp>
        </mc:Choice>
        <mc:Fallback xmlns="">
          <p:sp>
            <p:nvSpPr>
              <p:cNvPr id="3" name="Content Placeholder 2">
                <a:extLst>
                  <a:ext uri="{FF2B5EF4-FFF2-40B4-BE49-F238E27FC236}">
                    <a16:creationId xmlns:a16="http://schemas.microsoft.com/office/drawing/2014/main" id="{D464C392-844B-6266-1AF1-D50E41DB6CB8}"/>
                  </a:ext>
                </a:extLst>
              </p:cNvPr>
              <p:cNvSpPr>
                <a:spLocks noGrp="1" noRot="1" noChangeAspect="1" noMove="1" noResize="1" noEditPoints="1" noAdjustHandles="1" noChangeArrowheads="1" noChangeShapeType="1" noTextEdit="1"/>
              </p:cNvSpPr>
              <p:nvPr>
                <p:ph idx="1"/>
              </p:nvPr>
            </p:nvSpPr>
            <p:spPr>
              <a:blipFill>
                <a:blip r:embed="rId2"/>
                <a:stretch>
                  <a:fillRect l="-1217" t="-2381" r="-1855"/>
                </a:stretch>
              </a:blipFill>
            </p:spPr>
            <p:txBody>
              <a:bodyPr/>
              <a:lstStyle/>
              <a:p>
                <a:r>
                  <a:rPr lang="en-GB">
                    <a:noFill/>
                  </a:rPr>
                  <a:t> </a:t>
                </a:r>
              </a:p>
            </p:txBody>
          </p:sp>
        </mc:Fallback>
      </mc:AlternateContent>
      <p:sp>
        <p:nvSpPr>
          <p:cNvPr id="4" name="Title 1">
            <a:extLst>
              <a:ext uri="{FF2B5EF4-FFF2-40B4-BE49-F238E27FC236}">
                <a16:creationId xmlns:a16="http://schemas.microsoft.com/office/drawing/2014/main" id="{A8A9FF5D-6550-A148-7D20-359F61E78718}"/>
              </a:ext>
            </a:extLst>
          </p:cNvPr>
          <p:cNvSpPr>
            <a:spLocks noGrp="1"/>
          </p:cNvSpPr>
          <p:nvPr>
            <p:ph type="title"/>
          </p:nvPr>
        </p:nvSpPr>
        <p:spPr>
          <a:xfrm>
            <a:off x="245806" y="0"/>
            <a:ext cx="11808541" cy="693175"/>
          </a:xfrm>
        </p:spPr>
        <p:txBody>
          <a:bodyPr>
            <a:normAutofit/>
          </a:bodyPr>
          <a:lstStyle/>
          <a:p>
            <a:r>
              <a:rPr lang="en-GB" sz="3700" b="1" dirty="0">
                <a:solidFill>
                  <a:schemeClr val="bg1"/>
                </a:solidFill>
                <a:latin typeface="+mn-lt"/>
              </a:rPr>
              <a:t>From CAR to a Gaussian Markov random field and INLA</a:t>
            </a:r>
          </a:p>
        </p:txBody>
      </p:sp>
    </p:spTree>
    <p:extLst>
      <p:ext uri="{BB962C8B-B14F-4D97-AF65-F5344CB8AC3E}">
        <p14:creationId xmlns:p14="http://schemas.microsoft.com/office/powerpoint/2010/main" val="486715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4D4CA-E773-F0DF-FEB8-0DFAF8F12C44}"/>
              </a:ext>
            </a:extLst>
          </p:cNvPr>
          <p:cNvSpPr>
            <a:spLocks noGrp="1"/>
          </p:cNvSpPr>
          <p:nvPr>
            <p:ph type="title"/>
          </p:nvPr>
        </p:nvSpPr>
        <p:spPr>
          <a:xfrm>
            <a:off x="277762" y="0"/>
            <a:ext cx="10515600" cy="681037"/>
          </a:xfrm>
        </p:spPr>
        <p:txBody>
          <a:bodyPr>
            <a:normAutofit fontScale="90000"/>
          </a:bodyPr>
          <a:lstStyle/>
          <a:p>
            <a:r>
              <a:rPr lang="en-GB" b="1" dirty="0">
                <a:solidFill>
                  <a:schemeClr val="bg1"/>
                </a:solidFill>
                <a:latin typeface="+mn-lt"/>
              </a:rPr>
              <a:t>Other CAR models used in practice</a:t>
            </a:r>
          </a:p>
        </p:txBody>
      </p:sp>
      <p:sp>
        <p:nvSpPr>
          <p:cNvPr id="3" name="Content Placeholder 2">
            <a:extLst>
              <a:ext uri="{FF2B5EF4-FFF2-40B4-BE49-F238E27FC236}">
                <a16:creationId xmlns:a16="http://schemas.microsoft.com/office/drawing/2014/main" id="{26D98E79-496D-2A78-EDA2-8254ABED805A}"/>
              </a:ext>
            </a:extLst>
          </p:cNvPr>
          <p:cNvSpPr>
            <a:spLocks noGrp="1"/>
          </p:cNvSpPr>
          <p:nvPr>
            <p:ph idx="1"/>
          </p:nvPr>
        </p:nvSpPr>
        <p:spPr>
          <a:xfrm>
            <a:off x="838200" y="1825625"/>
            <a:ext cx="10515600" cy="3051175"/>
          </a:xfrm>
        </p:spPr>
        <p:txBody>
          <a:bodyPr/>
          <a:lstStyle/>
          <a:p>
            <a:r>
              <a:rPr lang="en-GB" dirty="0"/>
              <a:t>The ICAR model is restrictive - it represents only strong spatial dependence and is inappropriate if data are only weakly correlated.</a:t>
            </a:r>
          </a:p>
          <a:p>
            <a:endParaRPr lang="en-GB" dirty="0"/>
          </a:p>
          <a:p>
            <a:r>
              <a:rPr lang="en-GB" dirty="0"/>
              <a:t>We will now consider some alternative CAR models that are more widely used in practice.</a:t>
            </a:r>
          </a:p>
        </p:txBody>
      </p:sp>
    </p:spTree>
    <p:extLst>
      <p:ext uri="{BB962C8B-B14F-4D97-AF65-F5344CB8AC3E}">
        <p14:creationId xmlns:p14="http://schemas.microsoft.com/office/powerpoint/2010/main" val="799493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6FF06B-536F-2A73-1464-A6EB12FA4E91}"/>
                  </a:ext>
                </a:extLst>
              </p:cNvPr>
              <p:cNvSpPr>
                <a:spLocks noGrp="1"/>
              </p:cNvSpPr>
              <p:nvPr>
                <p:ph idx="1"/>
              </p:nvPr>
            </p:nvSpPr>
            <p:spPr>
              <a:xfrm>
                <a:off x="838200" y="1540489"/>
                <a:ext cx="10515600" cy="4952386"/>
              </a:xfrm>
            </p:spPr>
            <p:txBody>
              <a:bodyPr>
                <a:normAutofit fontScale="92500" lnSpcReduction="20000"/>
              </a:bodyPr>
              <a:lstStyle/>
              <a:p>
                <a:pPr marL="0" indent="0">
                  <a:buNone/>
                </a:pPr>
                <a:r>
                  <a:rPr lang="en-GB" b="1" dirty="0"/>
                  <a:t>Besag–York–</a:t>
                </a:r>
                <a:r>
                  <a:rPr lang="en-GB" b="1" dirty="0" err="1"/>
                  <a:t>Mollié</a:t>
                </a:r>
                <a:r>
                  <a:rPr lang="en-GB" b="1" dirty="0"/>
                  <a:t> (BYM)</a:t>
                </a:r>
                <a:r>
                  <a:rPr lang="en-GB" dirty="0"/>
                  <a:t> </a:t>
                </a:r>
                <a:r>
                  <a:rPr lang="en-GB" b="1" dirty="0"/>
                  <a:t>model</a:t>
                </a:r>
              </a:p>
              <a:p>
                <a:r>
                  <a:rPr lang="en-GB" dirty="0"/>
                  <a:t>The BYM model decomposes spatial variation into two components:</a:t>
                </a:r>
              </a:p>
              <a:p>
                <a:pPr marL="0" indent="0" algn="ctr">
                  <a:buNone/>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𝜙</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𝑖</m:t>
                        </m:r>
                      </m:sub>
                    </m:sSub>
                  </m:oMath>
                </a14:m>
                <a:r>
                  <a:rPr lang="en-GB" dirty="0"/>
                  <a:t>,                       (4)   </a:t>
                </a:r>
              </a:p>
              <a:p>
                <a:pPr marL="0" indent="0">
                  <a:buNone/>
                </a:pPr>
                <a:r>
                  <a:rPr lang="en-GB" dirty="0"/>
                  <a:t>where</a:t>
                </a:r>
              </a:p>
              <a:p>
                <a:pPr marL="0" indent="0">
                  <a:buNone/>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𝑖</m:t>
                        </m:r>
                      </m:sub>
                    </m:sSub>
                  </m:oMath>
                </a14:m>
                <a:r>
                  <a:rPr lang="en-GB" dirty="0"/>
                  <a:t> is a structured spatial effect, usually an ICAR effect;</a:t>
                </a:r>
              </a:p>
              <a:p>
                <a:pPr marL="0" indent="0">
                  <a:buNone/>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𝑖</m:t>
                        </m:r>
                      </m:sub>
                    </m:sSub>
                  </m:oMath>
                </a14:m>
                <a:r>
                  <a:rPr lang="en-GB" dirty="0"/>
                  <a:t> is an unstructured spatial effect, usually an </a:t>
                </a:r>
                <a:r>
                  <a:rPr lang="en-GB" dirty="0" err="1"/>
                  <a:t>iid</a:t>
                </a:r>
                <a:r>
                  <a:rPr lang="en-GB" dirty="0"/>
                  <a:t> effect.</a:t>
                </a:r>
              </a:p>
              <a:p>
                <a:pPr marL="0" indent="0">
                  <a:buNone/>
                </a:pPr>
                <a:r>
                  <a:rPr lang="en-GB" dirty="0"/>
                  <a:t>Thus, we have that </a:t>
                </a:r>
                <a14:m>
                  <m:oMath xmlns:m="http://schemas.openxmlformats.org/officeDocument/2006/math">
                    <m:r>
                      <a:rPr lang="en-GB" b="1" i="1" smtClean="0">
                        <a:latin typeface="Cambria Math" panose="02040503050406030204" pitchFamily="18" charset="0"/>
                      </a:rPr>
                      <m:t>𝒖</m:t>
                    </m:r>
                    <m:r>
                      <a:rPr lang="en-GB" b="0" i="1" smtClean="0">
                        <a:latin typeface="Cambria Math" panose="02040503050406030204" pitchFamily="18" charset="0"/>
                      </a:rPr>
                      <m:t>∼</m:t>
                    </m:r>
                    <m:r>
                      <a:rPr lang="en-GB" b="0" i="1" smtClean="0">
                        <a:latin typeface="Cambria Math" panose="02040503050406030204" pitchFamily="18" charset="0"/>
                      </a:rPr>
                      <m:t>𝐼𝐶𝐴𝑅</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𝜏</m:t>
                        </m:r>
                      </m:e>
                      <m:sub>
                        <m:r>
                          <a:rPr lang="en-GB" b="0" i="1" smtClean="0">
                            <a:latin typeface="Cambria Math" panose="02040503050406030204" pitchFamily="18" charset="0"/>
                          </a:rPr>
                          <m:t>𝑢</m:t>
                        </m:r>
                      </m:sub>
                    </m:sSub>
                    <m:r>
                      <a:rPr lang="en-GB" b="0" i="1" smtClean="0">
                        <a:latin typeface="Cambria Math" panose="02040503050406030204" pitchFamily="18" charset="0"/>
                      </a:rPr>
                      <m:t>)</m:t>
                    </m:r>
                  </m:oMath>
                </a14:m>
                <a:r>
                  <a:rPr lang="en-GB" b="1" dirty="0"/>
                  <a:t> </a:t>
                </a:r>
                <a:r>
                  <a:rPr lang="en-GB" dirty="0"/>
                  <a:t>and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(0,</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𝜏</m:t>
                            </m:r>
                          </m:e>
                          <m:sub>
                            <m:r>
                              <a:rPr lang="en-GB" b="0" i="1" smtClean="0">
                                <a:latin typeface="Cambria Math" panose="02040503050406030204" pitchFamily="18" charset="0"/>
                              </a:rPr>
                              <m:t>𝑣</m:t>
                            </m:r>
                          </m:sub>
                        </m:sSub>
                      </m:den>
                    </m:f>
                    <m:r>
                      <a:rPr lang="en-GB" b="0" i="1" smtClean="0">
                        <a:latin typeface="Cambria Math" panose="02040503050406030204" pitchFamily="18" charset="0"/>
                      </a:rPr>
                      <m:t>)</m:t>
                    </m:r>
                  </m:oMath>
                </a14:m>
                <a:r>
                  <a:rPr lang="en-GB" dirty="0"/>
                  <a:t>, where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𝜏</m:t>
                        </m:r>
                      </m:e>
                      <m:sub>
                        <m:r>
                          <a:rPr lang="en-GB" b="0" i="1" smtClean="0">
                            <a:latin typeface="Cambria Math" panose="02040503050406030204" pitchFamily="18" charset="0"/>
                          </a:rPr>
                          <m:t>𝑢</m:t>
                        </m:r>
                      </m:sub>
                    </m:sSub>
                  </m:oMath>
                </a14:m>
                <a:r>
                  <a:rPr lang="en-GB" b="1" dirty="0"/>
                  <a:t> </a:t>
                </a:r>
                <a:r>
                  <a:rPr lang="en-GB" dirty="0"/>
                  <a:t>and</a:t>
                </a:r>
                <a:r>
                  <a:rPr lang="en-GB" b="1" dirty="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𝜏</m:t>
                        </m:r>
                      </m:e>
                      <m:sub>
                        <m:r>
                          <a:rPr lang="en-GB" b="0" i="1" smtClean="0">
                            <a:latin typeface="Cambria Math" panose="02040503050406030204" pitchFamily="18" charset="0"/>
                          </a:rPr>
                          <m:t>𝑣</m:t>
                        </m:r>
                      </m:sub>
                    </m:sSub>
                  </m:oMath>
                </a14:m>
                <a:r>
                  <a:rPr lang="en-GB" b="1" dirty="0"/>
                  <a:t> </a:t>
                </a:r>
                <a:r>
                  <a:rPr lang="en-GB" dirty="0"/>
                  <a:t>are precision parameters.</a:t>
                </a:r>
              </a:p>
              <a:p>
                <a:pPr marL="0" indent="0">
                  <a:buNone/>
                </a:pPr>
                <a:endParaRPr lang="en-GB" dirty="0"/>
              </a:p>
              <a:p>
                <a:r>
                  <a:rPr lang="en-GB" sz="2600" dirty="0"/>
                  <a:t>The disadvantage of the BYM model is that each area is represented by two random effects, and only their sum </a:t>
                </a:r>
                <a14:m>
                  <m:oMath xmlns:m="http://schemas.openxmlformats.org/officeDocument/2006/math">
                    <m:sSub>
                      <m:sSubPr>
                        <m:ctrlPr>
                          <a:rPr lang="en-GB" sz="2600" b="0" i="1" smtClean="0">
                            <a:latin typeface="Cambria Math" panose="02040503050406030204" pitchFamily="18" charset="0"/>
                          </a:rPr>
                        </m:ctrlPr>
                      </m:sSubPr>
                      <m:e>
                        <m:r>
                          <a:rPr lang="en-GB" sz="2600" b="0" i="1" smtClean="0">
                            <a:latin typeface="Cambria Math" panose="02040503050406030204" pitchFamily="18" charset="0"/>
                          </a:rPr>
                          <m:t>𝑢</m:t>
                        </m:r>
                      </m:e>
                      <m:sub>
                        <m:r>
                          <a:rPr lang="en-GB" sz="2600" b="0" i="1" smtClean="0">
                            <a:latin typeface="Cambria Math" panose="02040503050406030204" pitchFamily="18" charset="0"/>
                          </a:rPr>
                          <m:t>𝑖</m:t>
                        </m:r>
                      </m:sub>
                    </m:sSub>
                    <m:r>
                      <a:rPr lang="en-GB" sz="2600" b="0" i="1" smtClean="0">
                        <a:latin typeface="Cambria Math" panose="02040503050406030204" pitchFamily="18" charset="0"/>
                      </a:rPr>
                      <m:t>+</m:t>
                    </m:r>
                    <m:sSub>
                      <m:sSubPr>
                        <m:ctrlPr>
                          <a:rPr lang="en-GB" sz="2600" b="0" i="1" smtClean="0">
                            <a:latin typeface="Cambria Math" panose="02040503050406030204" pitchFamily="18" charset="0"/>
                          </a:rPr>
                        </m:ctrlPr>
                      </m:sSubPr>
                      <m:e>
                        <m:r>
                          <a:rPr lang="en-GB" sz="2600" b="0" i="1" smtClean="0">
                            <a:latin typeface="Cambria Math" panose="02040503050406030204" pitchFamily="18" charset="0"/>
                          </a:rPr>
                          <m:t>𝑣</m:t>
                        </m:r>
                      </m:e>
                      <m:sub>
                        <m:r>
                          <a:rPr lang="en-GB" sz="2600" b="0" i="1" smtClean="0">
                            <a:latin typeface="Cambria Math" panose="02040503050406030204" pitchFamily="18" charset="0"/>
                          </a:rPr>
                          <m:t>𝑖</m:t>
                        </m:r>
                      </m:sub>
                    </m:sSub>
                    <m:r>
                      <a:rPr lang="en-GB" sz="2600" b="0" i="1" smtClean="0">
                        <a:latin typeface="Cambria Math" panose="02040503050406030204" pitchFamily="18" charset="0"/>
                      </a:rPr>
                      <m:t> </m:t>
                    </m:r>
                  </m:oMath>
                </a14:m>
                <a:r>
                  <a:rPr lang="en-GB" sz="2600" dirty="0"/>
                  <a:t>is identifiable (can lead to convergence problems in MCMC; the individual components (</a:t>
                </a:r>
                <a14:m>
                  <m:oMath xmlns:m="http://schemas.openxmlformats.org/officeDocument/2006/math">
                    <m:sSub>
                      <m:sSubPr>
                        <m:ctrlPr>
                          <a:rPr lang="en-GB" sz="2600" b="0" i="1" smtClean="0">
                            <a:latin typeface="Cambria Math" panose="02040503050406030204" pitchFamily="18" charset="0"/>
                          </a:rPr>
                        </m:ctrlPr>
                      </m:sSubPr>
                      <m:e>
                        <m:r>
                          <a:rPr lang="en-GB" sz="2600" b="0" i="1" smtClean="0">
                            <a:latin typeface="Cambria Math" panose="02040503050406030204" pitchFamily="18" charset="0"/>
                          </a:rPr>
                          <m:t>𝑢</m:t>
                        </m:r>
                      </m:e>
                      <m:sub>
                        <m:r>
                          <a:rPr lang="en-GB" sz="2600" b="0" i="1" smtClean="0">
                            <a:latin typeface="Cambria Math" panose="02040503050406030204" pitchFamily="18" charset="0"/>
                          </a:rPr>
                          <m:t>𝑖</m:t>
                        </m:r>
                      </m:sub>
                    </m:sSub>
                    <m:r>
                      <a:rPr lang="en-GB" sz="2600" b="0" i="1" smtClean="0">
                        <a:latin typeface="Cambria Math" panose="02040503050406030204" pitchFamily="18" charset="0"/>
                      </a:rPr>
                      <m:t>, </m:t>
                    </m:r>
                    <m:sSub>
                      <m:sSubPr>
                        <m:ctrlPr>
                          <a:rPr lang="en-GB" sz="2600" b="0" i="1" smtClean="0">
                            <a:latin typeface="Cambria Math" panose="02040503050406030204" pitchFamily="18" charset="0"/>
                          </a:rPr>
                        </m:ctrlPr>
                      </m:sSubPr>
                      <m:e>
                        <m:r>
                          <a:rPr lang="en-GB" sz="2600" b="0" i="1" smtClean="0">
                            <a:latin typeface="Cambria Math" panose="02040503050406030204" pitchFamily="18" charset="0"/>
                          </a:rPr>
                          <m:t>𝑣</m:t>
                        </m:r>
                      </m:e>
                      <m:sub>
                        <m:r>
                          <a:rPr lang="en-GB" sz="2600" b="0" i="1" smtClean="0">
                            <a:latin typeface="Cambria Math" panose="02040503050406030204" pitchFamily="18" charset="0"/>
                          </a:rPr>
                          <m:t>𝑖</m:t>
                        </m:r>
                      </m:sub>
                    </m:sSub>
                    <m:r>
                      <a:rPr lang="en-GB" sz="2600" b="0" i="1" smtClean="0">
                        <a:latin typeface="Cambria Math" panose="02040503050406030204" pitchFamily="18" charset="0"/>
                      </a:rPr>
                      <m:t> </m:t>
                    </m:r>
                  </m:oMath>
                </a14:m>
                <a:r>
                  <a:rPr lang="en-GB" sz="2600" dirty="0"/>
                  <a:t>) may not be reliably estimated).</a:t>
                </a:r>
              </a:p>
              <a:p>
                <a:pPr marL="0" indent="0">
                  <a:buNone/>
                </a:pPr>
                <a:endParaRPr lang="en-GB" dirty="0"/>
              </a:p>
            </p:txBody>
          </p:sp>
        </mc:Choice>
        <mc:Fallback xmlns="">
          <p:sp>
            <p:nvSpPr>
              <p:cNvPr id="3" name="Content Placeholder 2">
                <a:extLst>
                  <a:ext uri="{FF2B5EF4-FFF2-40B4-BE49-F238E27FC236}">
                    <a16:creationId xmlns:a16="http://schemas.microsoft.com/office/drawing/2014/main" id="{EF6FF06B-536F-2A73-1464-A6EB12FA4E91}"/>
                  </a:ext>
                </a:extLst>
              </p:cNvPr>
              <p:cNvSpPr>
                <a:spLocks noGrp="1" noRot="1" noChangeAspect="1" noMove="1" noResize="1" noEditPoints="1" noAdjustHandles="1" noChangeArrowheads="1" noChangeShapeType="1" noTextEdit="1"/>
              </p:cNvSpPr>
              <p:nvPr>
                <p:ph idx="1"/>
              </p:nvPr>
            </p:nvSpPr>
            <p:spPr>
              <a:xfrm>
                <a:off x="838200" y="1540489"/>
                <a:ext cx="10515600" cy="4952386"/>
              </a:xfrm>
              <a:blipFill>
                <a:blip r:embed="rId2"/>
                <a:stretch>
                  <a:fillRect l="-1043" t="-3202" r="-406"/>
                </a:stretch>
              </a:blipFill>
            </p:spPr>
            <p:txBody>
              <a:bodyPr/>
              <a:lstStyle/>
              <a:p>
                <a:r>
                  <a:rPr lang="en-GB">
                    <a:noFill/>
                  </a:rPr>
                  <a:t> </a:t>
                </a:r>
              </a:p>
            </p:txBody>
          </p:sp>
        </mc:Fallback>
      </mc:AlternateContent>
      <p:sp>
        <p:nvSpPr>
          <p:cNvPr id="6" name="Title 1">
            <a:extLst>
              <a:ext uri="{FF2B5EF4-FFF2-40B4-BE49-F238E27FC236}">
                <a16:creationId xmlns:a16="http://schemas.microsoft.com/office/drawing/2014/main" id="{DA0F7345-FEE2-2E68-E884-954BB2755458}"/>
              </a:ext>
            </a:extLst>
          </p:cNvPr>
          <p:cNvSpPr>
            <a:spLocks noGrp="1"/>
          </p:cNvSpPr>
          <p:nvPr>
            <p:ph type="title"/>
          </p:nvPr>
        </p:nvSpPr>
        <p:spPr>
          <a:xfrm>
            <a:off x="277762" y="0"/>
            <a:ext cx="10515600" cy="681037"/>
          </a:xfrm>
        </p:spPr>
        <p:txBody>
          <a:bodyPr>
            <a:normAutofit fontScale="90000"/>
          </a:bodyPr>
          <a:lstStyle/>
          <a:p>
            <a:r>
              <a:rPr lang="en-GB" b="1" dirty="0">
                <a:solidFill>
                  <a:schemeClr val="bg1"/>
                </a:solidFill>
                <a:latin typeface="+mn-lt"/>
              </a:rPr>
              <a:t>Other CAR models used in practice</a:t>
            </a:r>
          </a:p>
        </p:txBody>
      </p:sp>
    </p:spTree>
    <p:extLst>
      <p:ext uri="{BB962C8B-B14F-4D97-AF65-F5344CB8AC3E}">
        <p14:creationId xmlns:p14="http://schemas.microsoft.com/office/powerpoint/2010/main" val="1983957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318168-BF5C-8807-E1C9-01ED265E7402}"/>
                  </a:ext>
                </a:extLst>
              </p:cNvPr>
              <p:cNvSpPr>
                <a:spLocks noGrp="1"/>
              </p:cNvSpPr>
              <p:nvPr>
                <p:ph idx="1"/>
              </p:nvPr>
            </p:nvSpPr>
            <p:spPr>
              <a:xfrm>
                <a:off x="468261" y="1471663"/>
                <a:ext cx="11255478" cy="4909472"/>
              </a:xfrm>
            </p:spPr>
            <p:txBody>
              <a:bodyPr>
                <a:normAutofit fontScale="92500" lnSpcReduction="10000"/>
              </a:bodyPr>
              <a:lstStyle/>
              <a:p>
                <a:pPr marL="0" indent="0">
                  <a:buNone/>
                </a:pPr>
                <a:r>
                  <a:rPr lang="en-GB" b="1" dirty="0"/>
                  <a:t>BYM2 model</a:t>
                </a:r>
              </a:p>
              <a:p>
                <a:pPr marL="0" indent="0">
                  <a:buNone/>
                </a:pPr>
                <a:r>
                  <a:rPr lang="en-GB" dirty="0"/>
                  <a:t>The BYM2 model is a scaled and </a:t>
                </a:r>
                <a:r>
                  <a:rPr lang="en-GB" dirty="0" err="1"/>
                  <a:t>reparameterised</a:t>
                </a:r>
                <a:r>
                  <a:rPr lang="en-GB" dirty="0"/>
                  <a:t> version of BYM, designed to improve interpretability and identifiability</a:t>
                </a:r>
              </a:p>
              <a:p>
                <a:pPr marL="0" indent="0">
                  <a:buNone/>
                </a:pPr>
                <a:r>
                  <a:rPr lang="en-GB" dirty="0"/>
                  <a:t>The model is given by</a:t>
                </a:r>
              </a:p>
              <a:p>
                <a:pPr marL="0" indent="0" algn="ctr">
                  <a:buNone/>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𝜙</m:t>
                        </m:r>
                      </m:e>
                      <m:sub>
                        <m:r>
                          <a:rPr lang="en-GB" b="0" i="1" smtClean="0">
                            <a:latin typeface="Cambria Math" panose="02040503050406030204" pitchFamily="18" charset="0"/>
                          </a:rPr>
                          <m:t>𝑖</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𝜏</m:t>
                            </m:r>
                          </m:e>
                        </m:rad>
                      </m:den>
                    </m:f>
                    <m:d>
                      <m:dPr>
                        <m:ctrlPr>
                          <a:rPr lang="en-GB" b="0" i="1" smtClean="0">
                            <a:latin typeface="Cambria Math" panose="02040503050406030204" pitchFamily="18" charset="0"/>
                          </a:rPr>
                        </m:ctrlPr>
                      </m:dPr>
                      <m:e>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𝜌</m:t>
                            </m:r>
                          </m:e>
                        </m:rad>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𝑢</m:t>
                            </m:r>
                          </m:e>
                          <m:sub>
                            <m:r>
                              <a:rPr lang="en-GB" b="0" i="1" smtClean="0">
                                <a:latin typeface="Cambria Math" panose="02040503050406030204" pitchFamily="18" charset="0"/>
                              </a:rPr>
                              <m:t>𝑖</m:t>
                            </m:r>
                          </m:sub>
                          <m:sup>
                            <m:r>
                              <a:rPr lang="en-GB" b="0" i="1" smtClean="0">
                                <a:latin typeface="Cambria Math" panose="02040503050406030204" pitchFamily="18" charset="0"/>
                              </a:rPr>
                              <m:t>∗</m:t>
                            </m:r>
                          </m:sup>
                        </m:sSubSup>
                        <m:r>
                          <a:rPr lang="en-GB" b="0" i="1" smtClean="0">
                            <a:latin typeface="Cambria Math" panose="02040503050406030204" pitchFamily="18" charset="0"/>
                          </a:rPr>
                          <m:t>+</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1−</m:t>
                            </m:r>
                            <m:r>
                              <a:rPr lang="en-GB" b="0" i="1" smtClean="0">
                                <a:latin typeface="Cambria Math" panose="02040503050406030204" pitchFamily="18" charset="0"/>
                              </a:rPr>
                              <m:t>𝜌</m:t>
                            </m:r>
                          </m:e>
                        </m:rad>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b="0" i="1" smtClean="0">
                                <a:latin typeface="Cambria Math" panose="02040503050406030204" pitchFamily="18" charset="0"/>
                              </a:rPr>
                              <m:t>𝑖</m:t>
                            </m:r>
                          </m:sub>
                        </m:sSub>
                      </m:e>
                    </m:d>
                  </m:oMath>
                </a14:m>
                <a:r>
                  <a:rPr lang="en-GB" dirty="0"/>
                  <a:t>,               (5)</a:t>
                </a:r>
              </a:p>
              <a:p>
                <a:pPr marL="0" lvl="0" indent="0">
                  <a:buNone/>
                </a:pPr>
                <a:r>
                  <a:rPr lang="en-GB" dirty="0"/>
                  <a:t>where </a:t>
                </a:r>
              </a:p>
              <a:p>
                <a:pPr lvl="1"/>
                <a:r>
                  <a:rPr lang="en-GB" dirty="0"/>
                  <a:t>​ </a:t>
                </a:r>
                <a14:m>
                  <m:oMath xmlns:m="http://schemas.openxmlformats.org/officeDocument/2006/math">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𝑢</m:t>
                        </m:r>
                      </m:e>
                      <m:sub>
                        <m:r>
                          <a:rPr lang="en-GB" b="0" i="1" smtClean="0">
                            <a:latin typeface="Cambria Math" panose="02040503050406030204" pitchFamily="18" charset="0"/>
                          </a:rPr>
                          <m:t>𝑖</m:t>
                        </m:r>
                      </m:sub>
                      <m:sup>
                        <m:r>
                          <a:rPr lang="en-GB" b="0" i="1" smtClean="0">
                            <a:latin typeface="Cambria Math" panose="02040503050406030204" pitchFamily="18" charset="0"/>
                          </a:rPr>
                          <m:t>∗</m:t>
                        </m:r>
                      </m:sup>
                    </m:sSubSup>
                  </m:oMath>
                </a14:m>
                <a:r>
                  <a:rPr lang="en-GB" dirty="0"/>
                  <a:t> is a scaled structured spatial effect (typically an ICAR model scaled to have a generalized variance equal to 1); </a:t>
                </a:r>
              </a:p>
              <a:p>
                <a:pPr lvl="1"/>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𝑣</m:t>
                        </m:r>
                      </m:e>
                      <m:sub>
                        <m:r>
                          <a:rPr lang="en-GB" i="1">
                            <a:latin typeface="Cambria Math" panose="02040503050406030204" pitchFamily="18" charset="0"/>
                          </a:rPr>
                          <m:t>𝑖</m:t>
                        </m:r>
                      </m:sub>
                    </m:sSub>
                  </m:oMath>
                </a14:m>
                <a:r>
                  <a:rPr lang="en-GB" dirty="0"/>
                  <a:t> is an </a:t>
                </a:r>
                <a:r>
                  <a:rPr lang="en-GB" dirty="0" err="1"/>
                  <a:t>iid</a:t>
                </a:r>
                <a:r>
                  <a:rPr lang="en-GB" dirty="0"/>
                  <a:t> spatial effect; </a:t>
                </a:r>
              </a:p>
              <a:p>
                <a:pPr lvl="1"/>
                <a14:m>
                  <m:oMath xmlns:m="http://schemas.openxmlformats.org/officeDocument/2006/math">
                    <m:r>
                      <a:rPr lang="en-GB" i="1">
                        <a:latin typeface="Cambria Math" panose="02040503050406030204" pitchFamily="18" charset="0"/>
                      </a:rPr>
                      <m:t>𝜏</m:t>
                    </m:r>
                  </m:oMath>
                </a14:m>
                <a:r>
                  <a:rPr lang="en-GB" dirty="0"/>
                  <a:t> is a precision parameter controlling the magnitude of spatial variation captured by </a:t>
                </a:r>
                <a14:m>
                  <m:oMath xmlns:m="http://schemas.openxmlformats.org/officeDocument/2006/math">
                    <m:r>
                      <a:rPr lang="en-GB" b="1" i="1" smtClean="0">
                        <a:latin typeface="Cambria Math" panose="02040503050406030204" pitchFamily="18" charset="0"/>
                      </a:rPr>
                      <m:t>𝝓</m:t>
                    </m:r>
                  </m:oMath>
                </a14:m>
                <a:r>
                  <a:rPr lang="en-GB" dirty="0"/>
                  <a:t>; </a:t>
                </a:r>
              </a:p>
              <a:p>
                <a:pPr lvl="1"/>
                <a14:m>
                  <m:oMath xmlns:m="http://schemas.openxmlformats.org/officeDocument/2006/math">
                    <m:r>
                      <a:rPr lang="en-GB" i="1">
                        <a:latin typeface="Cambria Math" panose="02040503050406030204" pitchFamily="18" charset="0"/>
                      </a:rPr>
                      <m:t>𝜌</m:t>
                    </m:r>
                    <m:r>
                      <a:rPr lang="en-GB">
                        <a:latin typeface="Cambria Math" panose="02040503050406030204" pitchFamily="18" charset="0"/>
                      </a:rPr>
                      <m:t>∈</m:t>
                    </m:r>
                    <m:d>
                      <m:dPr>
                        <m:begChr m:val="["/>
                        <m:endChr m:val="]"/>
                        <m:sepChr m:val=","/>
                        <m:ctrlPr>
                          <a:rPr lang="en-GB">
                            <a:latin typeface="Cambria Math" panose="02040503050406030204" pitchFamily="18" charset="0"/>
                          </a:rPr>
                        </m:ctrlPr>
                      </m:dPr>
                      <m:e>
                        <m:r>
                          <a:rPr lang="en-GB">
                            <a:latin typeface="Cambria Math" panose="02040503050406030204" pitchFamily="18" charset="0"/>
                          </a:rPr>
                          <m:t>0</m:t>
                        </m:r>
                      </m:e>
                      <m:e>
                        <m:r>
                          <a:rPr lang="en-GB">
                            <a:latin typeface="Cambria Math" panose="02040503050406030204" pitchFamily="18" charset="0"/>
                          </a:rPr>
                          <m:t>1</m:t>
                        </m:r>
                      </m:e>
                    </m:d>
                  </m:oMath>
                </a14:m>
                <a:r>
                  <a:rPr lang="en-GB" dirty="0"/>
                  <a:t> is a mixing parameter or the proportion of spatial variation attributable to the structured component vs the unstructured component. If </a:t>
                </a:r>
                <a14:m>
                  <m:oMath xmlns:m="http://schemas.openxmlformats.org/officeDocument/2006/math">
                    <m:r>
                      <a:rPr lang="en-GB" b="0" i="1" smtClean="0">
                        <a:latin typeface="Cambria Math" panose="02040503050406030204" pitchFamily="18" charset="0"/>
                      </a:rPr>
                      <m:t>𝜌</m:t>
                    </m:r>
                    <m:r>
                      <a:rPr lang="en-GB" b="0" i="1" smtClean="0">
                        <a:latin typeface="Cambria Math" panose="02040503050406030204" pitchFamily="18" charset="0"/>
                      </a:rPr>
                      <m:t>=1</m:t>
                    </m:r>
                  </m:oMath>
                </a14:m>
                <a:r>
                  <a:rPr lang="en-GB" dirty="0"/>
                  <a:t>, the model is purely spatial; if </a:t>
                </a:r>
                <a14:m>
                  <m:oMath xmlns:m="http://schemas.openxmlformats.org/officeDocument/2006/math">
                    <m:r>
                      <a:rPr lang="en-GB" b="0" i="1" smtClean="0">
                        <a:latin typeface="Cambria Math" panose="02040503050406030204" pitchFamily="18" charset="0"/>
                      </a:rPr>
                      <m:t>𝜌</m:t>
                    </m:r>
                    <m:r>
                      <a:rPr lang="en-GB" b="0" i="1" smtClean="0">
                        <a:latin typeface="Cambria Math" panose="02040503050406030204" pitchFamily="18" charset="0"/>
                      </a:rPr>
                      <m:t>=0</m:t>
                    </m:r>
                  </m:oMath>
                </a14:m>
                <a:r>
                  <a:rPr lang="en-GB" dirty="0"/>
                  <a:t>, the model has no spatial smoothing and is purely unstructured.</a:t>
                </a:r>
              </a:p>
            </p:txBody>
          </p:sp>
        </mc:Choice>
        <mc:Fallback xmlns="">
          <p:sp>
            <p:nvSpPr>
              <p:cNvPr id="3" name="Content Placeholder 2">
                <a:extLst>
                  <a:ext uri="{FF2B5EF4-FFF2-40B4-BE49-F238E27FC236}">
                    <a16:creationId xmlns:a16="http://schemas.microsoft.com/office/drawing/2014/main" id="{4A318168-BF5C-8807-E1C9-01ED265E7402}"/>
                  </a:ext>
                </a:extLst>
              </p:cNvPr>
              <p:cNvSpPr>
                <a:spLocks noGrp="1" noRot="1" noChangeAspect="1" noMove="1" noResize="1" noEditPoints="1" noAdjustHandles="1" noChangeArrowheads="1" noChangeShapeType="1" noTextEdit="1"/>
              </p:cNvSpPr>
              <p:nvPr>
                <p:ph idx="1"/>
              </p:nvPr>
            </p:nvSpPr>
            <p:spPr>
              <a:xfrm>
                <a:off x="468261" y="1471663"/>
                <a:ext cx="11255478" cy="4909472"/>
              </a:xfrm>
              <a:blipFill>
                <a:blip r:embed="rId2"/>
                <a:stretch>
                  <a:fillRect l="-975" t="-2481" r="-975" b="-496"/>
                </a:stretch>
              </a:blipFill>
            </p:spPr>
            <p:txBody>
              <a:bodyPr/>
              <a:lstStyle/>
              <a:p>
                <a:r>
                  <a:rPr lang="en-GB">
                    <a:noFill/>
                  </a:rPr>
                  <a:t> </a:t>
                </a:r>
              </a:p>
            </p:txBody>
          </p:sp>
        </mc:Fallback>
      </mc:AlternateContent>
      <p:sp>
        <p:nvSpPr>
          <p:cNvPr id="4" name="Title 1">
            <a:extLst>
              <a:ext uri="{FF2B5EF4-FFF2-40B4-BE49-F238E27FC236}">
                <a16:creationId xmlns:a16="http://schemas.microsoft.com/office/drawing/2014/main" id="{F1603326-632E-2F04-BD52-D8570F61B4B5}"/>
              </a:ext>
            </a:extLst>
          </p:cNvPr>
          <p:cNvSpPr>
            <a:spLocks noGrp="1"/>
          </p:cNvSpPr>
          <p:nvPr>
            <p:ph type="title"/>
          </p:nvPr>
        </p:nvSpPr>
        <p:spPr>
          <a:xfrm>
            <a:off x="277762" y="0"/>
            <a:ext cx="10515600" cy="681037"/>
          </a:xfrm>
        </p:spPr>
        <p:txBody>
          <a:bodyPr>
            <a:normAutofit fontScale="90000"/>
          </a:bodyPr>
          <a:lstStyle/>
          <a:p>
            <a:r>
              <a:rPr lang="en-GB" b="1" dirty="0">
                <a:solidFill>
                  <a:schemeClr val="bg1"/>
                </a:solidFill>
                <a:latin typeface="+mn-lt"/>
              </a:rPr>
              <a:t>Other CAR models used in practice</a:t>
            </a:r>
          </a:p>
        </p:txBody>
      </p:sp>
    </p:spTree>
    <p:extLst>
      <p:ext uri="{BB962C8B-B14F-4D97-AF65-F5344CB8AC3E}">
        <p14:creationId xmlns:p14="http://schemas.microsoft.com/office/powerpoint/2010/main" val="27075718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1F6C2B-5F4B-424E-12BC-5CA9601D3686}"/>
                  </a:ext>
                </a:extLst>
              </p:cNvPr>
              <p:cNvSpPr>
                <a:spLocks noGrp="1"/>
              </p:cNvSpPr>
              <p:nvPr>
                <p:ph idx="1"/>
              </p:nvPr>
            </p:nvSpPr>
            <p:spPr>
              <a:xfrm>
                <a:off x="838200" y="1432334"/>
                <a:ext cx="10515600" cy="4667250"/>
              </a:xfrm>
            </p:spPr>
            <p:txBody>
              <a:bodyPr>
                <a:normAutofit fontScale="92500" lnSpcReduction="20000"/>
              </a:bodyPr>
              <a:lstStyle/>
              <a:p>
                <a:pPr marL="0" indent="0">
                  <a:buNone/>
                </a:pPr>
                <a:r>
                  <a:rPr lang="en-GB" b="1" dirty="0"/>
                  <a:t>Leroux model</a:t>
                </a:r>
              </a:p>
              <a:p>
                <a:r>
                  <a:rPr lang="en-GB" dirty="0"/>
                  <a:t>The model introduces a parameter controlling the degree of spatial dependence directly into a single spatial effect, instead of adding a structured and an unstructured component.</a:t>
                </a:r>
              </a:p>
              <a:p>
                <a:pPr marL="0" indent="0">
                  <a:buNone/>
                </a:pPr>
                <a:r>
                  <a:rPr lang="en-GB" dirty="0"/>
                  <a:t>The model is given by</a:t>
                </a:r>
              </a:p>
              <a:p>
                <a:pPr marL="0" indent="0">
                  <a:buNone/>
                </a:pPr>
                <a:endParaRPr lang="en-GB" dirty="0"/>
              </a:p>
              <a:p>
                <a:pPr marL="0" indent="0" algn="ctr">
                  <a:buNone/>
                </a:pPr>
                <a14:m>
                  <m:oMath xmlns:m="http://schemas.openxmlformats.org/officeDocument/2006/math">
                    <m:r>
                      <a:rPr lang="en-GB" b="1" i="1" smtClean="0">
                        <a:latin typeface="Cambria Math" panose="02040503050406030204" pitchFamily="18" charset="0"/>
                      </a:rPr>
                      <m:t>𝝓</m:t>
                    </m:r>
                    <m:r>
                      <a:rPr lang="en-GB" b="0"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m:t>
                    </m:r>
                    <m:r>
                      <a:rPr lang="en-GB" b="1" i="1" smtClean="0">
                        <a:latin typeface="Cambria Math" panose="02040503050406030204" pitchFamily="18" charset="0"/>
                      </a:rPr>
                      <m:t>𝟎</m:t>
                    </m:r>
                    <m:r>
                      <a:rPr lang="en-GB" b="0" i="1" smtClean="0">
                        <a:latin typeface="Cambria Math" panose="02040503050406030204" pitchFamily="18" charset="0"/>
                      </a:rPr>
                      <m:t>, </m:t>
                    </m:r>
                    <m:sSup>
                      <m:sSupPr>
                        <m:ctrlPr>
                          <a:rPr lang="en-GB" b="0" i="1" smtClean="0">
                            <a:latin typeface="Cambria Math" panose="02040503050406030204" pitchFamily="18" charset="0"/>
                          </a:rPr>
                        </m:ctrlPr>
                      </m:sSupPr>
                      <m:e>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𝜏</m:t>
                            </m:r>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𝜌</m:t>
                                </m:r>
                                <m:d>
                                  <m:dPr>
                                    <m:ctrlPr>
                                      <a:rPr lang="en-GB" b="0" i="1" smtClean="0">
                                        <a:latin typeface="Cambria Math" panose="02040503050406030204" pitchFamily="18" charset="0"/>
                                      </a:rPr>
                                    </m:ctrlPr>
                                  </m:dPr>
                                  <m:e>
                                    <m:r>
                                      <a:rPr lang="en-GB" b="0" i="1" smtClean="0">
                                        <a:latin typeface="Cambria Math" panose="02040503050406030204" pitchFamily="18" charset="0"/>
                                      </a:rPr>
                                      <m:t>𝐷</m:t>
                                    </m:r>
                                    <m:r>
                                      <a:rPr lang="en-GB" b="0" i="1" smtClean="0">
                                        <a:latin typeface="Cambria Math" panose="02040503050406030204" pitchFamily="18" charset="0"/>
                                      </a:rPr>
                                      <m:t>−</m:t>
                                    </m:r>
                                    <m:r>
                                      <a:rPr lang="en-GB" b="0" i="1" smtClean="0">
                                        <a:latin typeface="Cambria Math" panose="02040503050406030204" pitchFamily="18" charset="0"/>
                                      </a:rPr>
                                      <m:t>𝑊</m:t>
                                    </m:r>
                                  </m:e>
                                </m:d>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1−</m:t>
                                    </m:r>
                                    <m:r>
                                      <a:rPr lang="en-GB" b="0" i="1" smtClean="0">
                                        <a:latin typeface="Cambria Math" panose="02040503050406030204" pitchFamily="18" charset="0"/>
                                      </a:rPr>
                                      <m:t>𝜌</m:t>
                                    </m:r>
                                  </m:e>
                                </m:d>
                                <m:sSub>
                                  <m:sSubPr>
                                    <m:ctrlPr>
                                      <a:rPr lang="en-GB" b="0" i="1" smtClean="0">
                                        <a:latin typeface="Cambria Math" panose="02040503050406030204" pitchFamily="18" charset="0"/>
                                      </a:rPr>
                                    </m:ctrlPr>
                                  </m:sSubPr>
                                  <m:e>
                                    <m:r>
                                      <a:rPr lang="en-GB" b="0" i="1" smtClean="0">
                                        <a:latin typeface="Cambria Math" panose="02040503050406030204" pitchFamily="18" charset="0"/>
                                      </a:rPr>
                                      <m:t>𝐼</m:t>
                                    </m:r>
                                  </m:e>
                                  <m:sub>
                                    <m:r>
                                      <a:rPr lang="en-GB" b="0" i="1" smtClean="0">
                                        <a:latin typeface="Cambria Math" panose="02040503050406030204" pitchFamily="18" charset="0"/>
                                      </a:rPr>
                                      <m:t>𝑛</m:t>
                                    </m:r>
                                  </m:sub>
                                </m:sSub>
                              </m:e>
                            </m:d>
                          </m:e>
                        </m:d>
                      </m:e>
                      <m:sup>
                        <m:r>
                          <a:rPr lang="en-GB" b="0" i="1" smtClean="0">
                            <a:latin typeface="Cambria Math" panose="02040503050406030204" pitchFamily="18" charset="0"/>
                          </a:rPr>
                          <m:t>−1</m:t>
                        </m:r>
                      </m:sup>
                    </m:sSup>
                    <m:r>
                      <a:rPr lang="en-GB" b="0" i="1" smtClean="0">
                        <a:latin typeface="Cambria Math" panose="02040503050406030204" pitchFamily="18" charset="0"/>
                      </a:rPr>
                      <m:t>)</m:t>
                    </m:r>
                  </m:oMath>
                </a14:m>
                <a:r>
                  <a:rPr lang="en-GB" dirty="0"/>
                  <a:t>,    (6)</a:t>
                </a:r>
              </a:p>
              <a:p>
                <a:pPr marL="0" indent="0" algn="ctr">
                  <a:buNone/>
                </a:pPr>
                <a:endParaRPr lang="en-GB" dirty="0"/>
              </a:p>
              <a:p>
                <a:pPr marL="0" indent="0">
                  <a:buNone/>
                </a:pPr>
                <a:r>
                  <a:rPr lang="en-GB" dirty="0"/>
                  <a:t>where </a:t>
                </a:r>
                <a14:m>
                  <m:oMath xmlns:m="http://schemas.openxmlformats.org/officeDocument/2006/math">
                    <m:r>
                      <a:rPr lang="en-GB" b="0" i="1" smtClean="0">
                        <a:latin typeface="Cambria Math" panose="02040503050406030204" pitchFamily="18" charset="0"/>
                      </a:rPr>
                      <m:t>0</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𝜌</m:t>
                    </m:r>
                    <m:r>
                      <a:rPr lang="en-GB" b="0" i="1" smtClean="0">
                        <a:latin typeface="Cambria Math" panose="02040503050406030204" pitchFamily="18" charset="0"/>
                        <a:ea typeface="Cambria Math" panose="02040503050406030204" pitchFamily="18" charset="0"/>
                      </a:rPr>
                      <m:t>≤1</m:t>
                    </m:r>
                  </m:oMath>
                </a14:m>
                <a:r>
                  <a:rPr lang="en-GB" dirty="0"/>
                  <a:t>. When </a:t>
                </a:r>
                <a14:m>
                  <m:oMath xmlns:m="http://schemas.openxmlformats.org/officeDocument/2006/math">
                    <m:r>
                      <a:rPr lang="en-GB" b="0" i="1" smtClean="0">
                        <a:latin typeface="Cambria Math" panose="02040503050406030204" pitchFamily="18" charset="0"/>
                      </a:rPr>
                      <m:t>𝜌</m:t>
                    </m:r>
                    <m:r>
                      <a:rPr lang="en-GB" b="0" i="1" smtClean="0">
                        <a:latin typeface="Cambria Math" panose="02040503050406030204" pitchFamily="18" charset="0"/>
                      </a:rPr>
                      <m:t>=1</m:t>
                    </m:r>
                  </m:oMath>
                </a14:m>
                <a:r>
                  <a:rPr lang="en-GB" dirty="0"/>
                  <a:t>, the model approaches ICAR and when </a:t>
                </a:r>
                <a14:m>
                  <m:oMath xmlns:m="http://schemas.openxmlformats.org/officeDocument/2006/math">
                    <m:r>
                      <a:rPr lang="en-GB" b="0" i="1" smtClean="0">
                        <a:latin typeface="Cambria Math" panose="02040503050406030204" pitchFamily="18" charset="0"/>
                      </a:rPr>
                      <m:t>𝜌</m:t>
                    </m:r>
                    <m:r>
                      <a:rPr lang="en-GB" b="0" i="1" smtClean="0">
                        <a:latin typeface="Cambria Math" panose="02040503050406030204" pitchFamily="18" charset="0"/>
                      </a:rPr>
                      <m:t>=0</m:t>
                    </m:r>
                  </m:oMath>
                </a14:m>
                <a:r>
                  <a:rPr lang="en-GB" dirty="0"/>
                  <a:t>, the model essentially becomes an </a:t>
                </a:r>
                <a:r>
                  <a:rPr lang="en-GB" dirty="0" err="1"/>
                  <a:t>iid</a:t>
                </a:r>
                <a:r>
                  <a:rPr lang="en-GB" dirty="0"/>
                  <a:t> model. </a:t>
                </a:r>
                <a14:m>
                  <m:oMath xmlns:m="http://schemas.openxmlformats.org/officeDocument/2006/math">
                    <m:r>
                      <a:rPr lang="en-GB" b="0" i="1" smtClean="0">
                        <a:latin typeface="Cambria Math" panose="02040503050406030204" pitchFamily="18" charset="0"/>
                      </a:rPr>
                      <m:t>𝜏</m:t>
                    </m:r>
                  </m:oMath>
                </a14:m>
                <a:r>
                  <a:rPr lang="en-GB" dirty="0"/>
                  <a:t> is a precision parameter.</a:t>
                </a:r>
              </a:p>
              <a:p>
                <a:r>
                  <a:rPr lang="en-GB" dirty="0"/>
                  <a:t>The Leroux model provides a continuous transition between an </a:t>
                </a:r>
                <a:r>
                  <a:rPr lang="en-GB" dirty="0" err="1"/>
                  <a:t>iid</a:t>
                </a:r>
                <a:r>
                  <a:rPr lang="en-GB" dirty="0"/>
                  <a:t> term and a spatially structured term. </a:t>
                </a:r>
              </a:p>
            </p:txBody>
          </p:sp>
        </mc:Choice>
        <mc:Fallback xmlns="">
          <p:sp>
            <p:nvSpPr>
              <p:cNvPr id="3" name="Content Placeholder 2">
                <a:extLst>
                  <a:ext uri="{FF2B5EF4-FFF2-40B4-BE49-F238E27FC236}">
                    <a16:creationId xmlns:a16="http://schemas.microsoft.com/office/drawing/2014/main" id="{AB1F6C2B-5F4B-424E-12BC-5CA9601D3686}"/>
                  </a:ext>
                </a:extLst>
              </p:cNvPr>
              <p:cNvSpPr>
                <a:spLocks noGrp="1" noRot="1" noChangeAspect="1" noMove="1" noResize="1" noEditPoints="1" noAdjustHandles="1" noChangeArrowheads="1" noChangeShapeType="1" noTextEdit="1"/>
              </p:cNvSpPr>
              <p:nvPr>
                <p:ph idx="1"/>
              </p:nvPr>
            </p:nvSpPr>
            <p:spPr>
              <a:xfrm>
                <a:off x="838200" y="1432334"/>
                <a:ext cx="10515600" cy="4667250"/>
              </a:xfrm>
              <a:blipFill>
                <a:blip r:embed="rId2"/>
                <a:stretch>
                  <a:fillRect l="-1043" t="-3264" r="-986" b="-1958"/>
                </a:stretch>
              </a:blipFill>
            </p:spPr>
            <p:txBody>
              <a:bodyPr/>
              <a:lstStyle/>
              <a:p>
                <a:r>
                  <a:rPr lang="en-GB">
                    <a:noFill/>
                  </a:rPr>
                  <a:t> </a:t>
                </a:r>
              </a:p>
            </p:txBody>
          </p:sp>
        </mc:Fallback>
      </mc:AlternateContent>
      <p:sp>
        <p:nvSpPr>
          <p:cNvPr id="4" name="Title 1">
            <a:extLst>
              <a:ext uri="{FF2B5EF4-FFF2-40B4-BE49-F238E27FC236}">
                <a16:creationId xmlns:a16="http://schemas.microsoft.com/office/drawing/2014/main" id="{23072F4B-855A-C890-882D-0B5A2404FBC6}"/>
              </a:ext>
            </a:extLst>
          </p:cNvPr>
          <p:cNvSpPr>
            <a:spLocks noGrp="1"/>
          </p:cNvSpPr>
          <p:nvPr>
            <p:ph type="title"/>
          </p:nvPr>
        </p:nvSpPr>
        <p:spPr>
          <a:xfrm>
            <a:off x="277762" y="0"/>
            <a:ext cx="10515600" cy="681037"/>
          </a:xfrm>
        </p:spPr>
        <p:txBody>
          <a:bodyPr>
            <a:normAutofit fontScale="90000"/>
          </a:bodyPr>
          <a:lstStyle/>
          <a:p>
            <a:r>
              <a:rPr lang="en-GB" b="1" dirty="0">
                <a:solidFill>
                  <a:schemeClr val="bg1"/>
                </a:solidFill>
                <a:latin typeface="+mn-lt"/>
              </a:rPr>
              <a:t>Other CAR models used in practice</a:t>
            </a:r>
          </a:p>
        </p:txBody>
      </p:sp>
    </p:spTree>
    <p:extLst>
      <p:ext uri="{BB962C8B-B14F-4D97-AF65-F5344CB8AC3E}">
        <p14:creationId xmlns:p14="http://schemas.microsoft.com/office/powerpoint/2010/main" val="20229939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AE75F-D371-2C5F-B2D2-34983F52BC6E}"/>
              </a:ext>
            </a:extLst>
          </p:cNvPr>
          <p:cNvSpPr>
            <a:spLocks noGrp="1"/>
          </p:cNvSpPr>
          <p:nvPr>
            <p:ph type="title"/>
          </p:nvPr>
        </p:nvSpPr>
        <p:spPr>
          <a:xfrm>
            <a:off x="287593" y="0"/>
            <a:ext cx="10515600" cy="683342"/>
          </a:xfrm>
        </p:spPr>
        <p:txBody>
          <a:bodyPr>
            <a:normAutofit fontScale="90000"/>
          </a:bodyPr>
          <a:lstStyle/>
          <a:p>
            <a:r>
              <a:rPr lang="en-GB" b="1" dirty="0">
                <a:solidFill>
                  <a:schemeClr val="bg1"/>
                </a:solidFill>
                <a:latin typeface="+mn-lt"/>
              </a:rPr>
              <a:t>Choosing priors for the parameters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D3F2007-5659-0DF8-39FC-DE508CEE4EA4}"/>
                  </a:ext>
                </a:extLst>
              </p:cNvPr>
              <p:cNvSpPr>
                <a:spLocks noGrp="1"/>
              </p:cNvSpPr>
              <p:nvPr>
                <p:ph idx="1"/>
              </p:nvPr>
            </p:nvSpPr>
            <p:spPr>
              <a:xfrm>
                <a:off x="572729" y="1550323"/>
                <a:ext cx="11186652" cy="4938968"/>
              </a:xfrm>
            </p:spPr>
            <p:txBody>
              <a:bodyPr>
                <a:normAutofit/>
              </a:bodyPr>
              <a:lstStyle/>
              <a:p>
                <a:r>
                  <a:rPr lang="en-GB" dirty="0"/>
                  <a:t>Regression parameters -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𝑗</m:t>
                        </m:r>
                      </m:sub>
                    </m:sSub>
                    <m:r>
                      <a:rPr lang="en-GB" b="0"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(0, </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𝜎</m:t>
                        </m:r>
                      </m:e>
                      <m:sub>
                        <m:r>
                          <a:rPr lang="en-GB" b="0" i="1" smtClean="0">
                            <a:latin typeface="Cambria Math" panose="02040503050406030204" pitchFamily="18" charset="0"/>
                          </a:rPr>
                          <m:t>𝛽</m:t>
                        </m:r>
                      </m:sub>
                      <m:sup>
                        <m:r>
                          <a:rPr lang="en-GB" b="0" i="1" smtClean="0">
                            <a:latin typeface="Cambria Math" panose="02040503050406030204" pitchFamily="18" charset="0"/>
                          </a:rPr>
                          <m:t>2</m:t>
                        </m:r>
                      </m:sup>
                    </m:sSubSup>
                    <m:r>
                      <a:rPr lang="en-GB" b="0" i="1" smtClean="0">
                        <a:latin typeface="Cambria Math" panose="02040503050406030204" pitchFamily="18" charset="0"/>
                      </a:rPr>
                      <m:t>)</m:t>
                    </m:r>
                  </m:oMath>
                </a14:m>
                <a:r>
                  <a:rPr lang="en-GB" dirty="0"/>
                  <a:t> ( when </a:t>
                </a:r>
                <a14:m>
                  <m:oMath xmlns:m="http://schemas.openxmlformats.org/officeDocument/2006/math">
                    <m:sSubSup>
                      <m:sSubSupPr>
                        <m:ctrlPr>
                          <a:rPr lang="en-GB" i="1">
                            <a:latin typeface="Cambria Math" panose="02040503050406030204" pitchFamily="18" charset="0"/>
                          </a:rPr>
                        </m:ctrlPr>
                      </m:sSubSupPr>
                      <m:e>
                        <m:r>
                          <a:rPr lang="en-GB" i="1">
                            <a:latin typeface="Cambria Math" panose="02040503050406030204" pitchFamily="18" charset="0"/>
                          </a:rPr>
                          <m:t>𝜎</m:t>
                        </m:r>
                      </m:e>
                      <m:sub>
                        <m:r>
                          <a:rPr lang="en-GB" i="1">
                            <a:latin typeface="Cambria Math" panose="02040503050406030204" pitchFamily="18" charset="0"/>
                          </a:rPr>
                          <m:t>𝛽</m:t>
                        </m:r>
                      </m:sub>
                      <m:sup>
                        <m:r>
                          <a:rPr lang="en-GB" i="1">
                            <a:latin typeface="Cambria Math" panose="02040503050406030204" pitchFamily="18" charset="0"/>
                          </a:rPr>
                          <m:t>2</m:t>
                        </m:r>
                      </m:sup>
                    </m:sSubSup>
                  </m:oMath>
                </a14:m>
                <a:r>
                  <a:rPr lang="en-GB" dirty="0"/>
                  <a:t> is large </a:t>
                </a:r>
                <a14:m>
                  <m:oMath xmlns:m="http://schemas.openxmlformats.org/officeDocument/2006/math">
                    <m:r>
                      <a:rPr lang="en-GB" i="1" smtClean="0">
                        <a:latin typeface="Cambria Math" panose="02040503050406030204" pitchFamily="18" charset="0"/>
                        <a:ea typeface="Cambria Math" panose="02040503050406030204" pitchFamily="18" charset="0"/>
                      </a:rPr>
                      <m:t>⇒</m:t>
                    </m:r>
                  </m:oMath>
                </a14:m>
                <a:r>
                  <a:rPr lang="en-GB" dirty="0"/>
                  <a:t> a weakly informative prior)</a:t>
                </a:r>
              </a:p>
              <a:p>
                <a:endParaRPr lang="en-GB" dirty="0"/>
              </a:p>
              <a:p>
                <a:r>
                  <a:rPr lang="en-GB" dirty="0"/>
                  <a:t>BYM prior on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𝜙</m:t>
                        </m:r>
                      </m:e>
                      <m:sub>
                        <m:r>
                          <a:rPr lang="en-GB" b="0" i="1" smtClean="0">
                            <a:latin typeface="Cambria Math" panose="02040503050406030204" pitchFamily="18" charset="0"/>
                          </a:rPr>
                          <m:t>𝑖</m:t>
                        </m:r>
                      </m:sub>
                    </m:sSub>
                  </m:oMath>
                </a14:m>
                <a:r>
                  <a:rPr lang="en-GB" dirty="0"/>
                  <a:t>:</a:t>
                </a:r>
              </a:p>
              <a:p>
                <a:pPr marL="0" indent="0">
                  <a:buNone/>
                </a:pPr>
                <a:r>
                  <a:rPr lang="en-GB" dirty="0"/>
                  <a:t>   Penalized complexity PC) priors: </a:t>
                </a:r>
                <a14:m>
                  <m:oMath xmlns:m="http://schemas.openxmlformats.org/officeDocument/2006/math">
                    <m:r>
                      <a:rPr lang="en-GB" b="0" i="1" smtClean="0">
                        <a:latin typeface="Cambria Math" panose="02040503050406030204" pitchFamily="18" charset="0"/>
                      </a:rPr>
                      <m:t>𝑝</m:t>
                    </m:r>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1</m:t>
                            </m:r>
                          </m:num>
                          <m:den>
                            <m:rad>
                              <m:radPr>
                                <m:degHide m:val="on"/>
                                <m:ctrlPr>
                                  <a:rPr lang="en-GB" i="1">
                                    <a:latin typeface="Cambria Math" panose="02040503050406030204" pitchFamily="18" charset="0"/>
                                  </a:rPr>
                                </m:ctrlPr>
                              </m:radPr>
                              <m:deg/>
                              <m:e>
                                <m:sSub>
                                  <m:sSubPr>
                                    <m:ctrlPr>
                                      <a:rPr lang="en-GB" i="1">
                                        <a:latin typeface="Cambria Math" panose="02040503050406030204" pitchFamily="18" charset="0"/>
                                      </a:rPr>
                                    </m:ctrlPr>
                                  </m:sSubPr>
                                  <m:e>
                                    <m:r>
                                      <a:rPr lang="en-GB" i="1">
                                        <a:latin typeface="Cambria Math" panose="02040503050406030204" pitchFamily="18" charset="0"/>
                                      </a:rPr>
                                      <m:t>𝜏</m:t>
                                    </m:r>
                                  </m:e>
                                  <m:sub>
                                    <m:r>
                                      <a:rPr lang="en-GB" i="1">
                                        <a:latin typeface="Cambria Math" panose="02040503050406030204" pitchFamily="18" charset="0"/>
                                      </a:rPr>
                                      <m:t>𝑢</m:t>
                                    </m:r>
                                  </m:sub>
                                </m:sSub>
                              </m:e>
                            </m:rad>
                          </m:den>
                        </m:f>
                        <m:r>
                          <a:rPr lang="en-GB" b="0" i="1" smtClean="0">
                            <a:latin typeface="Cambria Math" panose="02040503050406030204" pitchFamily="18" charset="0"/>
                          </a:rPr>
                          <m:t>&gt;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𝑢</m:t>
                            </m:r>
                          </m:sub>
                        </m:sSub>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𝑢</m:t>
                        </m:r>
                      </m:sub>
                    </m:sSub>
                  </m:oMath>
                </a14:m>
                <a:r>
                  <a:rPr lang="en-GB" dirty="0"/>
                  <a:t> and </a:t>
                </a:r>
                <a14:m>
                  <m:oMath xmlns:m="http://schemas.openxmlformats.org/officeDocument/2006/math">
                    <m:r>
                      <a:rPr lang="en-GB" b="0" i="1" smtClean="0">
                        <a:latin typeface="Cambria Math" panose="02040503050406030204" pitchFamily="18" charset="0"/>
                      </a:rPr>
                      <m:t>𝑝</m:t>
                    </m:r>
                    <m:r>
                      <a:rPr lang="en-GB" b="0" i="0"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ad>
                          <m:radPr>
                            <m:degHide m:val="on"/>
                            <m:ctrlPr>
                              <a:rPr lang="en-GB" i="1">
                                <a:latin typeface="Cambria Math" panose="02040503050406030204" pitchFamily="18" charset="0"/>
                              </a:rPr>
                            </m:ctrlPr>
                          </m:radPr>
                          <m:deg/>
                          <m:e>
                            <m:sSub>
                              <m:sSubPr>
                                <m:ctrlPr>
                                  <a:rPr lang="en-GB" i="1">
                                    <a:latin typeface="Cambria Math" panose="02040503050406030204" pitchFamily="18" charset="0"/>
                                  </a:rPr>
                                </m:ctrlPr>
                              </m:sSubPr>
                              <m:e>
                                <m:r>
                                  <a:rPr lang="en-GB" i="1">
                                    <a:latin typeface="Cambria Math" panose="02040503050406030204" pitchFamily="18" charset="0"/>
                                  </a:rPr>
                                  <m:t>𝜏</m:t>
                                </m:r>
                              </m:e>
                              <m:sub>
                                <m:r>
                                  <a:rPr lang="en-GB" b="0" i="1" smtClean="0">
                                    <a:latin typeface="Cambria Math" panose="02040503050406030204" pitchFamily="18" charset="0"/>
                                  </a:rPr>
                                  <m:t>𝑣</m:t>
                                </m:r>
                              </m:sub>
                            </m:sSub>
                          </m:e>
                        </m:rad>
                      </m:den>
                    </m:f>
                    <m:r>
                      <a:rPr lang="en-GB" b="0" i="1" smtClean="0">
                        <a:latin typeface="Cambria Math" panose="02040503050406030204" pitchFamily="18" charset="0"/>
                      </a:rPr>
                      <m:t>&gt;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𝑣</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𝑣</m:t>
                        </m:r>
                      </m:sub>
                    </m:sSub>
                  </m:oMath>
                </a14:m>
                <a:endParaRPr lang="en-GB" b="0" dirty="0"/>
              </a:p>
              <a:p>
                <a:endParaRPr lang="en-GB" dirty="0"/>
              </a:p>
              <a:p>
                <a:r>
                  <a:rPr lang="en-GB" dirty="0"/>
                  <a:t>BYM2 prior on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𝜙</m:t>
                        </m:r>
                      </m:e>
                      <m:sub>
                        <m:r>
                          <a:rPr lang="en-GB" i="1">
                            <a:latin typeface="Cambria Math" panose="02040503050406030204" pitchFamily="18" charset="0"/>
                          </a:rPr>
                          <m:t>𝑖</m:t>
                        </m:r>
                      </m:sub>
                    </m:sSub>
                  </m:oMath>
                </a14:m>
                <a:r>
                  <a:rPr lang="en-GB" dirty="0"/>
                  <a:t>: </a:t>
                </a:r>
                <a14:m>
                  <m:oMath xmlns:m="http://schemas.openxmlformats.org/officeDocument/2006/math">
                    <m:r>
                      <a:rPr lang="en-GB" b="0" i="1" smtClean="0">
                        <a:latin typeface="Cambria Math" panose="02040503050406030204" pitchFamily="18" charset="0"/>
                      </a:rPr>
                      <m:t>𝑝</m:t>
                    </m:r>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ad>
                          <m:radPr>
                            <m:degHide m:val="on"/>
                            <m:ctrlPr>
                              <a:rPr lang="en-GB" i="1">
                                <a:latin typeface="Cambria Math" panose="02040503050406030204" pitchFamily="18" charset="0"/>
                              </a:rPr>
                            </m:ctrlPr>
                          </m:radPr>
                          <m:deg/>
                          <m:e>
                            <m:r>
                              <a:rPr lang="en-GB" b="0" i="1" smtClean="0">
                                <a:latin typeface="Cambria Math" panose="02040503050406030204" pitchFamily="18" charset="0"/>
                              </a:rPr>
                              <m:t>𝜏</m:t>
                            </m:r>
                          </m:e>
                        </m:rad>
                      </m:den>
                    </m:f>
                    <m:r>
                      <a:rPr lang="en-GB" i="1">
                        <a:latin typeface="Cambria Math" panose="02040503050406030204" pitchFamily="18" charset="0"/>
                      </a:rPr>
                      <m:t>&gt;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𝜏</m:t>
                        </m:r>
                      </m:sub>
                    </m:sSub>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𝜏</m:t>
                        </m:r>
                      </m:sub>
                    </m:sSub>
                  </m:oMath>
                </a14:m>
                <a:r>
                  <a:rPr lang="en-GB" dirty="0"/>
                  <a:t>;</a:t>
                </a:r>
                <a14:m>
                  <m:oMath xmlns:m="http://schemas.openxmlformats.org/officeDocument/2006/math">
                    <m:r>
                      <a:rPr lang="en-GB" b="0" i="0" smtClean="0">
                        <a:latin typeface="Cambria Math" panose="02040503050406030204" pitchFamily="18" charset="0"/>
                      </a:rPr>
                      <m:t> </m:t>
                    </m:r>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𝜌</m:t>
                        </m:r>
                        <m:r>
                          <a:rPr lang="en-GB" b="0" i="1" smtClean="0">
                            <a:latin typeface="Cambria Math" panose="02040503050406030204" pitchFamily="18" charset="0"/>
                          </a:rPr>
                          <m:t>&lt;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𝜌</m:t>
                            </m:r>
                          </m:sub>
                        </m:sSub>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𝜌</m:t>
                        </m:r>
                      </m:sub>
                    </m:sSub>
                  </m:oMath>
                </a14:m>
                <a:endParaRPr lang="en-GB" dirty="0"/>
              </a:p>
            </p:txBody>
          </p:sp>
        </mc:Choice>
        <mc:Fallback xmlns="">
          <p:sp>
            <p:nvSpPr>
              <p:cNvPr id="3" name="Content Placeholder 2">
                <a:extLst>
                  <a:ext uri="{FF2B5EF4-FFF2-40B4-BE49-F238E27FC236}">
                    <a16:creationId xmlns:a16="http://schemas.microsoft.com/office/drawing/2014/main" id="{4D3F2007-5659-0DF8-39FC-DE508CEE4EA4}"/>
                  </a:ext>
                </a:extLst>
              </p:cNvPr>
              <p:cNvSpPr>
                <a:spLocks noGrp="1" noRot="1" noChangeAspect="1" noMove="1" noResize="1" noEditPoints="1" noAdjustHandles="1" noChangeArrowheads="1" noChangeShapeType="1" noTextEdit="1"/>
              </p:cNvSpPr>
              <p:nvPr>
                <p:ph idx="1"/>
              </p:nvPr>
            </p:nvSpPr>
            <p:spPr>
              <a:xfrm>
                <a:off x="572729" y="1550323"/>
                <a:ext cx="11186652" cy="4938968"/>
              </a:xfrm>
              <a:blipFill>
                <a:blip r:embed="rId2"/>
                <a:stretch>
                  <a:fillRect l="-981" t="-1356"/>
                </a:stretch>
              </a:blipFill>
            </p:spPr>
            <p:txBody>
              <a:bodyPr/>
              <a:lstStyle/>
              <a:p>
                <a:r>
                  <a:rPr lang="en-GB">
                    <a:noFill/>
                  </a:rPr>
                  <a:t> </a:t>
                </a:r>
              </a:p>
            </p:txBody>
          </p:sp>
        </mc:Fallback>
      </mc:AlternateContent>
    </p:spTree>
    <p:extLst>
      <p:ext uri="{BB962C8B-B14F-4D97-AF65-F5344CB8AC3E}">
        <p14:creationId xmlns:p14="http://schemas.microsoft.com/office/powerpoint/2010/main" val="36845419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6D5934-D951-46AA-B122-F0E223AA3FEF}"/>
                  </a:ext>
                </a:extLst>
              </p:cNvPr>
              <p:cNvSpPr>
                <a:spLocks noGrp="1"/>
              </p:cNvSpPr>
              <p:nvPr>
                <p:ph idx="1"/>
              </p:nvPr>
            </p:nvSpPr>
            <p:spPr/>
            <p:txBody>
              <a:bodyPr/>
              <a:lstStyle/>
              <a:p>
                <a:r>
                  <a:rPr lang="en-GB" dirty="0"/>
                  <a:t>Leroux prior on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𝜙</m:t>
                        </m:r>
                      </m:e>
                      <m:sub>
                        <m:r>
                          <a:rPr lang="en-GB" b="0" i="1" smtClean="0">
                            <a:latin typeface="Cambria Math" panose="02040503050406030204" pitchFamily="18" charset="0"/>
                          </a:rPr>
                          <m:t>𝑖</m:t>
                        </m:r>
                      </m:sub>
                    </m:sSub>
                  </m:oMath>
                </a14:m>
                <a:r>
                  <a:rPr lang="en-GB" dirty="0"/>
                  <a:t>:</a:t>
                </a:r>
              </a:p>
              <a:p>
                <a:pPr marL="0" indent="0">
                  <a:buNone/>
                </a:pPr>
                <a14:m>
                  <m:oMath xmlns:m="http://schemas.openxmlformats.org/officeDocument/2006/math">
                    <m:r>
                      <a:rPr lang="en-GB" i="1">
                        <a:latin typeface="Cambria Math" panose="02040503050406030204" pitchFamily="18" charset="0"/>
                      </a:rPr>
                      <m:t>𝑝</m:t>
                    </m:r>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ad>
                          <m:radPr>
                            <m:degHide m:val="on"/>
                            <m:ctrlPr>
                              <a:rPr lang="en-GB" i="1">
                                <a:latin typeface="Cambria Math" panose="02040503050406030204" pitchFamily="18" charset="0"/>
                              </a:rPr>
                            </m:ctrlPr>
                          </m:radPr>
                          <m:deg/>
                          <m:e>
                            <m:r>
                              <a:rPr lang="en-GB" i="1">
                                <a:latin typeface="Cambria Math" panose="02040503050406030204" pitchFamily="18" charset="0"/>
                              </a:rPr>
                              <m:t>𝜏</m:t>
                            </m:r>
                          </m:e>
                        </m:rad>
                      </m:den>
                    </m:f>
                    <m:r>
                      <a:rPr lang="en-GB" i="1">
                        <a:latin typeface="Cambria Math" panose="02040503050406030204" pitchFamily="18" charset="0"/>
                      </a:rPr>
                      <m:t>&gt;</m:t>
                    </m:r>
                    <m:sSub>
                      <m:sSubPr>
                        <m:ctrlPr>
                          <a:rPr lang="en-GB" i="1">
                            <a:latin typeface="Cambria Math" panose="02040503050406030204" pitchFamily="18" charset="0"/>
                          </a:rPr>
                        </m:ctrlPr>
                      </m:sSubPr>
                      <m:e>
                        <m:r>
                          <a:rPr lang="en-GB" i="1">
                            <a:latin typeface="Cambria Math" panose="02040503050406030204" pitchFamily="18" charset="0"/>
                          </a:rPr>
                          <m:t>𝑎</m:t>
                        </m:r>
                      </m:e>
                      <m:sub>
                        <m:r>
                          <a:rPr lang="en-GB" i="1">
                            <a:latin typeface="Cambria Math" panose="02040503050406030204" pitchFamily="18" charset="0"/>
                          </a:rPr>
                          <m:t>𝜏</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𝜏</m:t>
                        </m:r>
                      </m:sub>
                    </m:sSub>
                  </m:oMath>
                </a14:m>
                <a:r>
                  <a:rPr lang="en-GB" dirty="0"/>
                  <a:t>;</a:t>
                </a:r>
                <a14:m>
                  <m:oMath xmlns:m="http://schemas.openxmlformats.org/officeDocument/2006/math">
                    <m:r>
                      <a:rPr lang="en-GB">
                        <a:latin typeface="Cambria Math" panose="02040503050406030204" pitchFamily="18" charset="0"/>
                      </a:rPr>
                      <m:t> </m:t>
                    </m:r>
                    <m:r>
                      <a:rPr lang="en-GB" i="1">
                        <a:latin typeface="Cambria Math" panose="02040503050406030204" pitchFamily="18" charset="0"/>
                      </a:rPr>
                      <m:t>𝑝</m:t>
                    </m:r>
                    <m:d>
                      <m:dPr>
                        <m:ctrlPr>
                          <a:rPr lang="en-GB" i="1">
                            <a:latin typeface="Cambria Math" panose="02040503050406030204" pitchFamily="18" charset="0"/>
                          </a:rPr>
                        </m:ctrlPr>
                      </m:dPr>
                      <m:e>
                        <m:r>
                          <a:rPr lang="en-GB" i="1">
                            <a:latin typeface="Cambria Math" panose="02040503050406030204" pitchFamily="18" charset="0"/>
                          </a:rPr>
                          <m:t>𝜌</m:t>
                        </m:r>
                        <m:r>
                          <a:rPr lang="en-GB" i="1">
                            <a:latin typeface="Cambria Math" panose="02040503050406030204" pitchFamily="18" charset="0"/>
                          </a:rPr>
                          <m:t>&lt;</m:t>
                        </m:r>
                        <m:sSub>
                          <m:sSubPr>
                            <m:ctrlPr>
                              <a:rPr lang="en-GB" i="1">
                                <a:latin typeface="Cambria Math" panose="02040503050406030204" pitchFamily="18" charset="0"/>
                              </a:rPr>
                            </m:ctrlPr>
                          </m:sSubPr>
                          <m:e>
                            <m:r>
                              <a:rPr lang="en-GB" i="1">
                                <a:latin typeface="Cambria Math" panose="02040503050406030204" pitchFamily="18" charset="0"/>
                              </a:rPr>
                              <m:t>𝑎</m:t>
                            </m:r>
                          </m:e>
                          <m:sub>
                            <m:r>
                              <a:rPr lang="en-GB" i="1">
                                <a:latin typeface="Cambria Math" panose="02040503050406030204" pitchFamily="18" charset="0"/>
                              </a:rPr>
                              <m:t>𝜌</m:t>
                            </m:r>
                          </m:sub>
                        </m:sSub>
                      </m:e>
                    </m:d>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𝜌</m:t>
                        </m:r>
                      </m:sub>
                    </m:sSub>
                  </m:oMath>
                </a14:m>
                <a:r>
                  <a:rPr lang="en-GB" dirty="0"/>
                  <a:t> </a:t>
                </a:r>
              </a:p>
              <a:p>
                <a:pPr marL="0" indent="0">
                  <a:buNone/>
                </a:pPr>
                <a:endParaRPr lang="en-GB" dirty="0"/>
              </a:p>
              <a:p>
                <a:pPr marL="0" indent="0">
                  <a:buNone/>
                </a:pPr>
                <a:r>
                  <a:rPr lang="en-GB" dirty="0"/>
                  <a:t>(e.g., in the BYM2 model, we could choose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𝑎</m:t>
                        </m:r>
                      </m:e>
                      <m:sub>
                        <m:r>
                          <a:rPr lang="en-GB" i="1">
                            <a:latin typeface="Cambria Math" panose="02040503050406030204" pitchFamily="18" charset="0"/>
                          </a:rPr>
                          <m:t>𝜏</m:t>
                        </m:r>
                      </m:sub>
                    </m:sSub>
                    <m:r>
                      <a:rPr lang="en-GB" i="1">
                        <a:latin typeface="Cambria Math" panose="02040503050406030204" pitchFamily="18" charset="0"/>
                      </a:rPr>
                      <m:t>=1, </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𝜏</m:t>
                        </m:r>
                      </m:sub>
                    </m:sSub>
                    <m:r>
                      <a:rPr lang="en-GB" i="1">
                        <a:latin typeface="Cambria Math" panose="02040503050406030204" pitchFamily="18" charset="0"/>
                      </a:rPr>
                      <m:t>=0.01,</m:t>
                    </m:r>
                    <m:sSub>
                      <m:sSubPr>
                        <m:ctrlPr>
                          <a:rPr lang="en-GB" i="1">
                            <a:latin typeface="Cambria Math" panose="02040503050406030204" pitchFamily="18" charset="0"/>
                          </a:rPr>
                        </m:ctrlPr>
                      </m:sSubPr>
                      <m:e>
                        <m:r>
                          <a:rPr lang="en-GB" i="1">
                            <a:latin typeface="Cambria Math" panose="02040503050406030204" pitchFamily="18" charset="0"/>
                          </a:rPr>
                          <m:t>𝑎</m:t>
                        </m:r>
                      </m:e>
                      <m:sub>
                        <m:r>
                          <a:rPr lang="en-GB" i="1">
                            <a:latin typeface="Cambria Math" panose="02040503050406030204" pitchFamily="18" charset="0"/>
                          </a:rPr>
                          <m:t>𝜌</m:t>
                        </m:r>
                      </m:sub>
                    </m:sSub>
                    <m:r>
                      <a:rPr lang="en-GB" i="1">
                        <a:latin typeface="Cambria Math" panose="02040503050406030204" pitchFamily="18" charset="0"/>
                      </a:rPr>
                      <m:t>=0.5,</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𝜌</m:t>
                        </m:r>
                      </m:sub>
                    </m:sSub>
                    <m:r>
                      <a:rPr lang="en-GB" i="1">
                        <a:latin typeface="Cambria Math" panose="02040503050406030204" pitchFamily="18" charset="0"/>
                      </a:rPr>
                      <m:t>=0.01</m:t>
                    </m:r>
                  </m:oMath>
                </a14:m>
                <a:r>
                  <a:rPr lang="en-GB" dirty="0"/>
                  <a:t>)</a:t>
                </a:r>
              </a:p>
              <a:p>
                <a:pPr marL="0" indent="0">
                  <a:buNone/>
                </a:pPr>
                <a:endParaRPr lang="en-GB" dirty="0"/>
              </a:p>
              <a:p>
                <a:endParaRPr lang="en-GB" dirty="0"/>
              </a:p>
            </p:txBody>
          </p:sp>
        </mc:Choice>
        <mc:Fallback xmlns="">
          <p:sp>
            <p:nvSpPr>
              <p:cNvPr id="3" name="Content Placeholder 2">
                <a:extLst>
                  <a:ext uri="{FF2B5EF4-FFF2-40B4-BE49-F238E27FC236}">
                    <a16:creationId xmlns:a16="http://schemas.microsoft.com/office/drawing/2014/main" id="{A66D5934-D951-46AA-B122-F0E223AA3FEF}"/>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GB">
                    <a:noFill/>
                  </a:rPr>
                  <a:t> </a:t>
                </a:r>
              </a:p>
            </p:txBody>
          </p:sp>
        </mc:Fallback>
      </mc:AlternateContent>
      <p:sp>
        <p:nvSpPr>
          <p:cNvPr id="6" name="Title 1">
            <a:extLst>
              <a:ext uri="{FF2B5EF4-FFF2-40B4-BE49-F238E27FC236}">
                <a16:creationId xmlns:a16="http://schemas.microsoft.com/office/drawing/2014/main" id="{82F15BBB-ED49-5ACB-E088-87F8EF382B6D}"/>
              </a:ext>
            </a:extLst>
          </p:cNvPr>
          <p:cNvSpPr>
            <a:spLocks noGrp="1"/>
          </p:cNvSpPr>
          <p:nvPr>
            <p:ph type="title"/>
          </p:nvPr>
        </p:nvSpPr>
        <p:spPr>
          <a:xfrm>
            <a:off x="287593" y="0"/>
            <a:ext cx="10515600" cy="683342"/>
          </a:xfrm>
        </p:spPr>
        <p:txBody>
          <a:bodyPr>
            <a:normAutofit fontScale="90000"/>
          </a:bodyPr>
          <a:lstStyle/>
          <a:p>
            <a:r>
              <a:rPr lang="en-GB" b="1" dirty="0">
                <a:solidFill>
                  <a:schemeClr val="bg1"/>
                </a:solidFill>
                <a:latin typeface="+mn-lt"/>
              </a:rPr>
              <a:t>Choosing priors for the parameters</a:t>
            </a:r>
          </a:p>
        </p:txBody>
      </p:sp>
    </p:spTree>
    <p:extLst>
      <p:ext uri="{BB962C8B-B14F-4D97-AF65-F5344CB8AC3E}">
        <p14:creationId xmlns:p14="http://schemas.microsoft.com/office/powerpoint/2010/main" val="2420326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5F07C-5C6D-4D2B-C5E7-4BDF3034123F}"/>
              </a:ext>
            </a:extLst>
          </p:cNvPr>
          <p:cNvSpPr>
            <a:spLocks noGrp="1"/>
          </p:cNvSpPr>
          <p:nvPr>
            <p:ph type="title"/>
          </p:nvPr>
        </p:nvSpPr>
        <p:spPr>
          <a:xfrm>
            <a:off x="277761" y="19665"/>
            <a:ext cx="10515600" cy="757084"/>
          </a:xfrm>
        </p:spPr>
        <p:txBody>
          <a:bodyPr/>
          <a:lstStyle/>
          <a:p>
            <a:r>
              <a:rPr lang="en-GB" b="1" dirty="0">
                <a:solidFill>
                  <a:schemeClr val="bg1"/>
                </a:solidFill>
                <a:latin typeface="+mn-lt"/>
              </a:rPr>
              <a:t>Spatiotemporal CAR 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5980116-50A1-24AB-2B6C-0295FDAD24E4}"/>
                  </a:ext>
                </a:extLst>
              </p:cNvPr>
              <p:cNvSpPr>
                <a:spLocks noGrp="1"/>
              </p:cNvSpPr>
              <p:nvPr>
                <p:ph idx="1"/>
              </p:nvPr>
            </p:nvSpPr>
            <p:spPr>
              <a:xfrm>
                <a:off x="732503" y="1442167"/>
                <a:ext cx="10515600" cy="4909472"/>
              </a:xfrm>
            </p:spPr>
            <p:txBody>
              <a:bodyPr>
                <a:normAutofit fontScale="92500" lnSpcReduction="10000"/>
              </a:bodyPr>
              <a:lstStyle/>
              <a:p>
                <a:r>
                  <a:rPr lang="en-GB" dirty="0"/>
                  <a:t>Letting </a:t>
                </a:r>
                <a14:m>
                  <m:oMath xmlns:m="http://schemas.openxmlformats.org/officeDocument/2006/math">
                    <m:r>
                      <a:rPr lang="en-GB" b="0" i="1" smtClean="0">
                        <a:latin typeface="Cambria Math" panose="02040503050406030204" pitchFamily="18" charset="0"/>
                      </a:rPr>
                      <m:t>𝑡</m:t>
                    </m:r>
                  </m:oMath>
                </a14:m>
                <a:r>
                  <a:rPr lang="en-GB" dirty="0"/>
                  <a:t> denote the time index, the spatiotemporal version of model (1) can be written as</a:t>
                </a:r>
              </a:p>
              <a:p>
                <a:endParaRPr lang="en-GB" dirty="0"/>
              </a:p>
              <a:p>
                <a:pPr marL="0" indent="0">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𝑌</m:t>
                        </m:r>
                      </m:e>
                      <m:sub>
                        <m:r>
                          <a:rPr lang="en-GB" i="1">
                            <a:latin typeface="Cambria Math" panose="02040503050406030204" pitchFamily="18" charset="0"/>
                          </a:rPr>
                          <m:t>𝑖</m:t>
                        </m:r>
                        <m:r>
                          <a:rPr lang="en-GB" b="0" i="1" smtClean="0">
                            <a:latin typeface="Cambria Math" panose="02040503050406030204" pitchFamily="18" charset="0"/>
                          </a:rPr>
                          <m:t>𝑡</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𝐸</m:t>
                        </m:r>
                      </m:e>
                      <m:sub>
                        <m:r>
                          <a:rPr lang="en-GB" i="1">
                            <a:latin typeface="Cambria Math" panose="02040503050406030204" pitchFamily="18" charset="0"/>
                          </a:rPr>
                          <m:t>𝑖</m:t>
                        </m:r>
                        <m:r>
                          <a:rPr lang="en-GB" b="0" i="1" smtClean="0">
                            <a:latin typeface="Cambria Math" panose="02040503050406030204" pitchFamily="18" charset="0"/>
                          </a:rPr>
                          <m:t>𝑡</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𝜇</m:t>
                        </m:r>
                      </m:e>
                      <m:sub>
                        <m:r>
                          <a:rPr lang="en-GB" i="1">
                            <a:latin typeface="Cambria Math" panose="02040503050406030204" pitchFamily="18" charset="0"/>
                          </a:rPr>
                          <m:t>𝑖</m:t>
                        </m:r>
                        <m:r>
                          <a:rPr lang="en-GB" b="0" i="1" smtClean="0">
                            <a:latin typeface="Cambria Math" panose="02040503050406030204" pitchFamily="18" charset="0"/>
                          </a:rPr>
                          <m:t>𝑡</m:t>
                        </m:r>
                      </m:sub>
                    </m:sSub>
                    <m:r>
                      <a:rPr lang="en-GB" i="1">
                        <a:latin typeface="Cambria Math" panose="02040503050406030204" pitchFamily="18" charset="0"/>
                      </a:rPr>
                      <m:t>∼</m:t>
                    </m:r>
                    <m:r>
                      <m:rPr>
                        <m:sty m:val="p"/>
                      </m:rPr>
                      <a:rPr lang="en-GB">
                        <a:latin typeface="Cambria Math" panose="02040503050406030204" pitchFamily="18" charset="0"/>
                      </a:rPr>
                      <m:t>Poisson</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𝐸</m:t>
                        </m:r>
                      </m:e>
                      <m:sub>
                        <m:r>
                          <a:rPr lang="en-GB" i="1">
                            <a:latin typeface="Cambria Math" panose="02040503050406030204" pitchFamily="18" charset="0"/>
                          </a:rPr>
                          <m:t>𝑖</m:t>
                        </m:r>
                        <m:r>
                          <a:rPr lang="en-GB" b="0" i="1" smtClean="0">
                            <a:latin typeface="Cambria Math" panose="02040503050406030204" pitchFamily="18" charset="0"/>
                          </a:rPr>
                          <m:t>𝑡</m:t>
                        </m:r>
                      </m:sub>
                    </m:sSub>
                    <m:sSub>
                      <m:sSubPr>
                        <m:ctrlPr>
                          <a:rPr lang="en-GB" i="1">
                            <a:latin typeface="Cambria Math" panose="02040503050406030204" pitchFamily="18" charset="0"/>
                          </a:rPr>
                        </m:ctrlPr>
                      </m:sSubPr>
                      <m:e>
                        <m:r>
                          <a:rPr lang="en-GB" i="1">
                            <a:latin typeface="Cambria Math" panose="02040503050406030204" pitchFamily="18" charset="0"/>
                          </a:rPr>
                          <m:t>𝜇</m:t>
                        </m:r>
                      </m:e>
                      <m:sub>
                        <m:r>
                          <a:rPr lang="en-GB" i="1">
                            <a:latin typeface="Cambria Math" panose="02040503050406030204" pitchFamily="18" charset="0"/>
                          </a:rPr>
                          <m:t>𝑖</m:t>
                        </m:r>
                        <m:r>
                          <a:rPr lang="en-GB" b="0" i="1" smtClean="0">
                            <a:latin typeface="Cambria Math" panose="02040503050406030204" pitchFamily="18" charset="0"/>
                          </a:rPr>
                          <m:t>𝑡</m:t>
                        </m:r>
                      </m:sub>
                    </m:sSub>
                    <m:r>
                      <a:rPr lang="en-GB" i="1">
                        <a:latin typeface="Cambria Math" panose="02040503050406030204" pitchFamily="18" charset="0"/>
                      </a:rPr>
                      <m:t>)</m:t>
                    </m:r>
                  </m:oMath>
                </a14:m>
                <a:r>
                  <a:rPr lang="en-GB" dirty="0"/>
                  <a:t>; </a:t>
                </a:r>
                <a14:m>
                  <m:oMath xmlns:m="http://schemas.openxmlformats.org/officeDocument/2006/math">
                    <m:r>
                      <a:rPr lang="en-GB" i="1" dirty="0">
                        <a:latin typeface="Cambria Math" panose="02040503050406030204" pitchFamily="18" charset="0"/>
                      </a:rPr>
                      <m:t>𝑖</m:t>
                    </m:r>
                    <m:r>
                      <a:rPr lang="en-GB" i="1" dirty="0">
                        <a:latin typeface="Cambria Math" panose="02040503050406030204" pitchFamily="18" charset="0"/>
                      </a:rPr>
                      <m:t>=1,…,</m:t>
                    </m:r>
                    <m:r>
                      <a:rPr lang="en-GB" i="1" dirty="0">
                        <a:latin typeface="Cambria Math" panose="02040503050406030204" pitchFamily="18" charset="0"/>
                      </a:rPr>
                      <m:t>𝑛</m:t>
                    </m:r>
                    <m:r>
                      <a:rPr lang="en-GB" b="0" i="1" dirty="0" smtClean="0">
                        <a:latin typeface="Cambria Math" panose="02040503050406030204" pitchFamily="18" charset="0"/>
                      </a:rPr>
                      <m:t>;</m:t>
                    </m:r>
                    <m:r>
                      <a:rPr lang="en-GB" b="0" i="1" dirty="0" smtClean="0">
                        <a:latin typeface="Cambria Math" panose="02040503050406030204" pitchFamily="18" charset="0"/>
                      </a:rPr>
                      <m:t>𝑡</m:t>
                    </m:r>
                    <m:r>
                      <a:rPr lang="en-GB" b="0" i="1" dirty="0" smtClean="0">
                        <a:latin typeface="Cambria Math" panose="02040503050406030204" pitchFamily="18" charset="0"/>
                      </a:rPr>
                      <m:t>=1,…,</m:t>
                    </m:r>
                    <m:r>
                      <a:rPr lang="en-GB" b="0" i="1" dirty="0" smtClean="0">
                        <a:latin typeface="Cambria Math" panose="02040503050406030204" pitchFamily="18" charset="0"/>
                      </a:rPr>
                      <m:t>𝑇</m:t>
                    </m:r>
                  </m:oMath>
                </a14:m>
                <a:r>
                  <a:rPr lang="en-GB" dirty="0"/>
                  <a:t>	         (7)</a:t>
                </a:r>
              </a:p>
              <a:p>
                <a:pPr marL="0" indent="0">
                  <a:buNone/>
                </a:pPr>
                <a:r>
                  <a:rPr lang="en-GB" dirty="0"/>
                  <a:t>    </a:t>
                </a:r>
                <a14:m>
                  <m:oMath xmlns:m="http://schemas.openxmlformats.org/officeDocument/2006/math">
                    <m:func>
                      <m:funcPr>
                        <m:ctrlPr>
                          <a:rPr lang="en-GB">
                            <a:latin typeface="Cambria Math" panose="02040503050406030204" pitchFamily="18" charset="0"/>
                          </a:rPr>
                        </m:ctrlPr>
                      </m:funcPr>
                      <m:fName>
                        <m:r>
                          <m:rPr>
                            <m:sty m:val="p"/>
                          </m:rPr>
                          <a:rPr lang="en-GB">
                            <a:latin typeface="Cambria Math" panose="02040503050406030204" pitchFamily="18" charset="0"/>
                          </a:rPr>
                          <m:t>log</m:t>
                        </m:r>
                      </m:fName>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𝜇</m:t>
                                </m:r>
                              </m:e>
                              <m:sub>
                                <m:r>
                                  <a:rPr lang="en-GB" i="1">
                                    <a:latin typeface="Cambria Math" panose="02040503050406030204" pitchFamily="18" charset="0"/>
                                  </a:rPr>
                                  <m:t>𝑖</m:t>
                                </m:r>
                                <m:r>
                                  <a:rPr lang="en-GB" b="0" i="1" smtClean="0">
                                    <a:latin typeface="Cambria Math" panose="02040503050406030204" pitchFamily="18" charset="0"/>
                                  </a:rPr>
                                  <m:t>𝑡</m:t>
                                </m:r>
                              </m:sub>
                            </m:sSub>
                          </m:e>
                        </m:d>
                      </m:e>
                    </m:func>
                    <m:r>
                      <a:rPr lang="en-GB" i="1">
                        <a:latin typeface="Cambria Math" panose="02040503050406030204" pitchFamily="18" charset="0"/>
                      </a:rPr>
                      <m:t>=</m:t>
                    </m:r>
                    <m:sSubSup>
                      <m:sSubSupPr>
                        <m:ctrlPr>
                          <a:rPr lang="en-GB" b="1">
                            <a:latin typeface="Cambria Math" panose="02040503050406030204" pitchFamily="18" charset="0"/>
                          </a:rPr>
                        </m:ctrlPr>
                      </m:sSubSupPr>
                      <m:e>
                        <m:r>
                          <a:rPr lang="en-GB" b="1">
                            <a:latin typeface="Cambria Math" panose="02040503050406030204" pitchFamily="18" charset="0"/>
                          </a:rPr>
                          <m:t>𝐱</m:t>
                        </m:r>
                      </m:e>
                      <m:sub>
                        <m:r>
                          <a:rPr lang="en-GB" i="1">
                            <a:latin typeface="Cambria Math" panose="02040503050406030204" pitchFamily="18" charset="0"/>
                          </a:rPr>
                          <m:t>𝑖</m:t>
                        </m:r>
                        <m:r>
                          <a:rPr lang="en-GB" b="0" i="1" smtClean="0">
                            <a:latin typeface="Cambria Math" panose="02040503050406030204" pitchFamily="18" charset="0"/>
                          </a:rPr>
                          <m:t>𝑡</m:t>
                        </m:r>
                      </m:sub>
                      <m:sup>
                        <m:r>
                          <a:rPr lang="en-GB" i="1">
                            <a:latin typeface="Cambria Math" panose="02040503050406030204" pitchFamily="18" charset="0"/>
                          </a:rPr>
                          <m:t>𝑇</m:t>
                        </m:r>
                      </m:sup>
                    </m:sSubSup>
                    <m:r>
                      <a:rPr lang="en-GB" b="1" i="1">
                        <a:latin typeface="Cambria Math" panose="02040503050406030204" pitchFamily="18" charset="0"/>
                      </a:rPr>
                      <m:t>𝜷</m:t>
                    </m:r>
                    <m:r>
                      <a:rPr lang="en-GB">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𝜙</m:t>
                        </m:r>
                      </m:e>
                      <m:sub>
                        <m:r>
                          <a:rPr lang="en-GB" i="1">
                            <a:latin typeface="Cambria Math" panose="02040503050406030204" pitchFamily="18" charset="0"/>
                          </a:rPr>
                          <m:t>𝑖</m:t>
                        </m:r>
                        <m:r>
                          <a:rPr lang="en-GB" b="0" i="1" smtClean="0">
                            <a:latin typeface="Cambria Math" panose="02040503050406030204" pitchFamily="18" charset="0"/>
                          </a:rPr>
                          <m:t>𝑡</m:t>
                        </m:r>
                      </m:sub>
                    </m:sSub>
                    <m:r>
                      <a:rPr lang="en-GB" b="1">
                        <a:latin typeface="Cambria Math" panose="02040503050406030204" pitchFamily="18" charset="0"/>
                      </a:rPr>
                      <m:t>,</m:t>
                    </m:r>
                  </m:oMath>
                </a14:m>
                <a:endParaRPr lang="en-GB" dirty="0"/>
              </a:p>
              <a:p>
                <a:pPr marL="0" indent="0">
                  <a:buNone/>
                </a:pPr>
                <a:endParaRPr lang="en-GB" dirty="0"/>
              </a:p>
              <a:p>
                <a:pPr marL="0" indent="0">
                  <a:buNone/>
                </a:pPr>
                <a:r>
                  <a:rPr lang="en-GB" dirty="0"/>
                  <a:t>where</a:t>
                </a:r>
              </a:p>
              <a:p>
                <a14:m>
                  <m:oMath xmlns:m="http://schemas.openxmlformats.org/officeDocument/2006/math">
                    <m:sSub>
                      <m:sSubPr>
                        <m:ctrlPr>
                          <a:rPr lang="en-GB" b="1">
                            <a:latin typeface="Cambria Math" panose="02040503050406030204" pitchFamily="18" charset="0"/>
                          </a:rPr>
                        </m:ctrlPr>
                      </m:sSubPr>
                      <m:e>
                        <m:r>
                          <a:rPr lang="en-GB" b="1">
                            <a:latin typeface="Cambria Math" panose="02040503050406030204" pitchFamily="18" charset="0"/>
                          </a:rPr>
                          <m:t>𝐱</m:t>
                        </m:r>
                      </m:e>
                      <m:sub>
                        <m:r>
                          <a:rPr lang="en-GB" i="1">
                            <a:latin typeface="Cambria Math" panose="02040503050406030204" pitchFamily="18" charset="0"/>
                          </a:rPr>
                          <m:t>𝑖</m:t>
                        </m:r>
                        <m:r>
                          <a:rPr lang="en-GB" b="0" i="1" smtClean="0">
                            <a:latin typeface="Cambria Math" panose="02040503050406030204" pitchFamily="18" charset="0"/>
                          </a:rPr>
                          <m:t>𝑡</m:t>
                        </m:r>
                      </m:sub>
                    </m:sSub>
                    <m:r>
                      <a:rPr lang="en-GB">
                        <a:latin typeface="Cambria Math" panose="02040503050406030204" pitchFamily="18" charset="0"/>
                      </a:rPr>
                      <m:t>=</m:t>
                    </m:r>
                    <m:sSup>
                      <m:sSupPr>
                        <m:ctrlPr>
                          <a:rPr lang="en-GB" i="1">
                            <a:latin typeface="Cambria Math" panose="02040503050406030204" pitchFamily="18" charset="0"/>
                          </a:rPr>
                        </m:ctrlPr>
                      </m:sSupPr>
                      <m:e>
                        <m:d>
                          <m:dPr>
                            <m:ctrlPr>
                              <a:rPr lang="en-GB">
                                <a:latin typeface="Cambria Math" panose="02040503050406030204" pitchFamily="18" charset="0"/>
                              </a:rPr>
                            </m:ctrlPr>
                          </m:dPr>
                          <m:e>
                            <m:r>
                              <a:rPr lang="en-GB">
                                <a:latin typeface="Cambria Math" panose="02040503050406030204" pitchFamily="18" charset="0"/>
                              </a:rPr>
                              <m:t>1,</m:t>
                            </m:r>
                            <m:sSub>
                              <m:sSubPr>
                                <m:ctrlPr>
                                  <a:rPr lang="en-GB">
                                    <a:latin typeface="Cambria Math" panose="02040503050406030204" pitchFamily="18" charset="0"/>
                                  </a:rPr>
                                </m:ctrlPr>
                              </m:sSubPr>
                              <m:e>
                                <m:r>
                                  <m:rPr>
                                    <m:sty m:val="p"/>
                                  </m:rPr>
                                  <a:rPr lang="en-GB">
                                    <a:latin typeface="Cambria Math" panose="02040503050406030204" pitchFamily="18" charset="0"/>
                                  </a:rPr>
                                  <m:t>x</m:t>
                                </m:r>
                              </m:e>
                              <m:sub>
                                <m:r>
                                  <a:rPr lang="en-GB" i="1">
                                    <a:latin typeface="Cambria Math" panose="02040503050406030204" pitchFamily="18" charset="0"/>
                                  </a:rPr>
                                  <m:t>𝑖</m:t>
                                </m:r>
                                <m:r>
                                  <a:rPr lang="en-GB" b="0" i="1" smtClean="0">
                                    <a:latin typeface="Cambria Math" panose="02040503050406030204" pitchFamily="18" charset="0"/>
                                  </a:rPr>
                                  <m:t>𝑡</m:t>
                                </m:r>
                                <m:r>
                                  <a:rPr lang="en-GB" i="1">
                                    <a:latin typeface="Cambria Math" panose="02040503050406030204" pitchFamily="18" charset="0"/>
                                  </a:rPr>
                                  <m:t>1</m:t>
                                </m:r>
                              </m:sub>
                            </m:sSub>
                            <m:r>
                              <a:rPr lang="en-GB">
                                <a:latin typeface="Cambria Math" panose="02040503050406030204" pitchFamily="18" charset="0"/>
                              </a:rPr>
                              <m:t>,…,</m:t>
                            </m:r>
                            <m:sSub>
                              <m:sSubPr>
                                <m:ctrlPr>
                                  <a:rPr lang="en-GB">
                                    <a:latin typeface="Cambria Math" panose="02040503050406030204" pitchFamily="18" charset="0"/>
                                  </a:rPr>
                                </m:ctrlPr>
                              </m:sSubPr>
                              <m:e>
                                <m:r>
                                  <m:rPr>
                                    <m:sty m:val="p"/>
                                  </m:rPr>
                                  <a:rPr lang="en-GB">
                                    <a:latin typeface="Cambria Math" panose="02040503050406030204" pitchFamily="18" charset="0"/>
                                  </a:rPr>
                                  <m:t>x</m:t>
                                </m:r>
                              </m:e>
                              <m:sub>
                                <m:r>
                                  <a:rPr lang="en-GB" i="1">
                                    <a:latin typeface="Cambria Math" panose="02040503050406030204" pitchFamily="18" charset="0"/>
                                  </a:rPr>
                                  <m:t>𝑖</m:t>
                                </m:r>
                                <m:r>
                                  <a:rPr lang="en-GB" b="0" i="1" smtClean="0">
                                    <a:latin typeface="Cambria Math" panose="02040503050406030204" pitchFamily="18" charset="0"/>
                                  </a:rPr>
                                  <m:t>𝑡</m:t>
                                </m:r>
                                <m:r>
                                  <a:rPr lang="en-GB" i="1">
                                    <a:latin typeface="Cambria Math" panose="02040503050406030204" pitchFamily="18" charset="0"/>
                                  </a:rPr>
                                  <m:t>𝑝</m:t>
                                </m:r>
                              </m:sub>
                            </m:sSub>
                          </m:e>
                        </m:d>
                      </m:e>
                      <m:sup>
                        <m:r>
                          <a:rPr lang="en-GB" i="1">
                            <a:latin typeface="Cambria Math" panose="02040503050406030204" pitchFamily="18" charset="0"/>
                          </a:rPr>
                          <m:t>𝑇</m:t>
                        </m:r>
                      </m:sup>
                    </m:sSup>
                  </m:oMath>
                </a14:m>
                <a:r>
                  <a:rPr lang="en-GB" i="1" dirty="0">
                    <a:latin typeface="Cambria Math" panose="02040503050406030204" pitchFamily="18" charset="0"/>
                  </a:rPr>
                  <a:t> </a:t>
                </a:r>
                <a:r>
                  <a:rPr lang="en-GB" dirty="0"/>
                  <a:t>is a vector of covariates and </a:t>
                </a:r>
                <a14:m>
                  <m:oMath xmlns:m="http://schemas.openxmlformats.org/officeDocument/2006/math">
                    <m:r>
                      <a:rPr lang="en-GB" b="1" i="1">
                        <a:latin typeface="Cambria Math" panose="02040503050406030204" pitchFamily="18" charset="0"/>
                      </a:rPr>
                      <m:t>𝜷</m:t>
                    </m:r>
                    <m:r>
                      <a:rPr lang="en-GB" b="1"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0</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𝑝</m:t>
                                </m:r>
                              </m:sub>
                            </m:sSub>
                          </m:e>
                        </m:d>
                      </m:e>
                      <m:sup>
                        <m:r>
                          <a:rPr lang="en-GB" i="1">
                            <a:latin typeface="Cambria Math" panose="02040503050406030204" pitchFamily="18" charset="0"/>
                          </a:rPr>
                          <m:t>𝑇</m:t>
                        </m:r>
                      </m:sup>
                    </m:sSup>
                  </m:oMath>
                </a14:m>
                <a:r>
                  <a:rPr lang="en-GB" dirty="0"/>
                  <a:t> are the corresponding regression coefficients.</a:t>
                </a:r>
              </a:p>
              <a:p>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𝜇</m:t>
                        </m:r>
                      </m:e>
                      <m:sub>
                        <m:r>
                          <a:rPr lang="en-GB" i="1">
                            <a:latin typeface="Cambria Math" panose="02040503050406030204" pitchFamily="18" charset="0"/>
                          </a:rPr>
                          <m:t>𝑖</m:t>
                        </m:r>
                        <m:r>
                          <a:rPr lang="en-GB" b="0" i="1" smtClean="0">
                            <a:latin typeface="Cambria Math" panose="02040503050406030204" pitchFamily="18" charset="0"/>
                          </a:rPr>
                          <m:t>𝑡</m:t>
                        </m:r>
                      </m:sub>
                    </m:sSub>
                    <m:r>
                      <a:rPr lang="en-GB" i="1">
                        <a:latin typeface="Cambria Math" panose="02040503050406030204" pitchFamily="18" charset="0"/>
                      </a:rPr>
                      <m:t>=</m:t>
                    </m:r>
                    <m:r>
                      <m:rPr>
                        <m:sty m:val="p"/>
                      </m:rPr>
                      <a:rPr lang="en-GB">
                        <a:latin typeface="Cambria Math" panose="02040503050406030204" pitchFamily="18" charset="0"/>
                      </a:rPr>
                      <m:t>exp</m:t>
                    </m:r>
                    <m:r>
                      <a:rPr lang="en-GB" i="1">
                        <a:latin typeface="Cambria Math" panose="02040503050406030204" pitchFamily="18" charset="0"/>
                      </a:rPr>
                      <m:t>⁡(</m:t>
                    </m:r>
                    <m:sSup>
                      <m:sSupPr>
                        <m:ctrlPr>
                          <a:rPr lang="en-GB" b="1">
                            <a:latin typeface="Cambria Math" panose="02040503050406030204" pitchFamily="18" charset="0"/>
                          </a:rPr>
                        </m:ctrlPr>
                      </m:sSupPr>
                      <m:e>
                        <m:r>
                          <a:rPr lang="en-GB" b="1">
                            <a:latin typeface="Cambria Math" panose="02040503050406030204" pitchFamily="18" charset="0"/>
                          </a:rPr>
                          <m:t>𝐱</m:t>
                        </m:r>
                      </m:e>
                      <m:sup>
                        <m:r>
                          <a:rPr lang="en-GB" i="1">
                            <a:latin typeface="Cambria Math" panose="02040503050406030204" pitchFamily="18" charset="0"/>
                          </a:rPr>
                          <m:t>𝑇</m:t>
                        </m:r>
                      </m:sup>
                    </m:sSup>
                    <m:r>
                      <a:rPr lang="en-GB" b="1" i="1">
                        <a:latin typeface="Cambria Math" panose="02040503050406030204" pitchFamily="18" charset="0"/>
                      </a:rPr>
                      <m:t>𝜷</m:t>
                    </m:r>
                    <m:r>
                      <a:rPr lang="en-GB">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𝜙</m:t>
                        </m:r>
                      </m:e>
                      <m:sub>
                        <m:r>
                          <a:rPr lang="en-GB" i="1">
                            <a:latin typeface="Cambria Math" panose="02040503050406030204" pitchFamily="18" charset="0"/>
                          </a:rPr>
                          <m:t>𝑖</m:t>
                        </m:r>
                        <m:r>
                          <a:rPr lang="en-GB" b="0" i="1" smtClean="0">
                            <a:latin typeface="Cambria Math" panose="02040503050406030204" pitchFamily="18" charset="0"/>
                          </a:rPr>
                          <m:t>𝑡</m:t>
                        </m:r>
                      </m:sub>
                    </m:sSub>
                    <m:r>
                      <a:rPr lang="en-GB" i="1">
                        <a:latin typeface="Cambria Math" panose="02040503050406030204" pitchFamily="18" charset="0"/>
                      </a:rPr>
                      <m:t>)</m:t>
                    </m:r>
                  </m:oMath>
                </a14:m>
                <a:r>
                  <a:rPr lang="en-GB" dirty="0"/>
                  <a:t> denotes the disease risk for area </a:t>
                </a:r>
                <a14:m>
                  <m:oMath xmlns:m="http://schemas.openxmlformats.org/officeDocument/2006/math">
                    <m:r>
                      <a:rPr lang="en-GB" i="1">
                        <a:latin typeface="Cambria Math" panose="02040503050406030204" pitchFamily="18" charset="0"/>
                      </a:rPr>
                      <m:t>𝑖</m:t>
                    </m:r>
                  </m:oMath>
                </a14:m>
                <a:r>
                  <a:rPr lang="en-GB" dirty="0"/>
                  <a:t> at time </a:t>
                </a:r>
                <a14:m>
                  <m:oMath xmlns:m="http://schemas.openxmlformats.org/officeDocument/2006/math">
                    <m:r>
                      <a:rPr lang="en-GB" b="0" i="1" smtClean="0">
                        <a:latin typeface="Cambria Math" panose="02040503050406030204" pitchFamily="18" charset="0"/>
                      </a:rPr>
                      <m:t>𝑡</m:t>
                    </m:r>
                  </m:oMath>
                </a14:m>
                <a:r>
                  <a:rPr lang="en-GB" dirty="0"/>
                  <a:t>.</a:t>
                </a:r>
              </a:p>
              <a:p>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𝜙</m:t>
                        </m:r>
                      </m:e>
                      <m:sub>
                        <m:r>
                          <a:rPr lang="en-GB" i="1">
                            <a:latin typeface="Cambria Math" panose="02040503050406030204" pitchFamily="18" charset="0"/>
                          </a:rPr>
                          <m:t>𝑖</m:t>
                        </m:r>
                        <m:r>
                          <a:rPr lang="en-GB" b="0" i="1" smtClean="0">
                            <a:latin typeface="Cambria Math" panose="02040503050406030204" pitchFamily="18" charset="0"/>
                          </a:rPr>
                          <m:t>𝑡</m:t>
                        </m:r>
                      </m:sub>
                    </m:sSub>
                  </m:oMath>
                </a14:m>
                <a:r>
                  <a:rPr lang="en-GB" dirty="0"/>
                  <a:t> is a spatiotemporal random effect. </a:t>
                </a:r>
              </a:p>
              <a:p>
                <a:pPr marL="0" indent="0">
                  <a:buNone/>
                </a:pPr>
                <a:endParaRPr lang="en-GB" dirty="0"/>
              </a:p>
            </p:txBody>
          </p:sp>
        </mc:Choice>
        <mc:Fallback>
          <p:sp>
            <p:nvSpPr>
              <p:cNvPr id="3" name="Content Placeholder 2">
                <a:extLst>
                  <a:ext uri="{FF2B5EF4-FFF2-40B4-BE49-F238E27FC236}">
                    <a16:creationId xmlns:a16="http://schemas.microsoft.com/office/drawing/2014/main" id="{C5980116-50A1-24AB-2B6C-0295FDAD24E4}"/>
                  </a:ext>
                </a:extLst>
              </p:cNvPr>
              <p:cNvSpPr>
                <a:spLocks noGrp="1" noRot="1" noChangeAspect="1" noMove="1" noResize="1" noEditPoints="1" noAdjustHandles="1" noChangeArrowheads="1" noChangeShapeType="1" noTextEdit="1"/>
              </p:cNvSpPr>
              <p:nvPr>
                <p:ph idx="1"/>
              </p:nvPr>
            </p:nvSpPr>
            <p:spPr>
              <a:xfrm>
                <a:off x="732503" y="1442167"/>
                <a:ext cx="10515600" cy="4909472"/>
              </a:xfrm>
              <a:blipFill>
                <a:blip r:embed="rId2"/>
                <a:stretch>
                  <a:fillRect l="-1043" t="-2609" r="-1217"/>
                </a:stretch>
              </a:blipFill>
            </p:spPr>
            <p:txBody>
              <a:bodyPr/>
              <a:lstStyle/>
              <a:p>
                <a:r>
                  <a:rPr lang="en-GB">
                    <a:noFill/>
                  </a:rPr>
                  <a:t> </a:t>
                </a:r>
              </a:p>
            </p:txBody>
          </p:sp>
        </mc:Fallback>
      </mc:AlternateContent>
    </p:spTree>
    <p:extLst>
      <p:ext uri="{BB962C8B-B14F-4D97-AF65-F5344CB8AC3E}">
        <p14:creationId xmlns:p14="http://schemas.microsoft.com/office/powerpoint/2010/main" val="2452809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4990762-DEA2-CC53-B4F4-7B00BDC11169}"/>
                  </a:ext>
                </a:extLst>
              </p:cNvPr>
              <p:cNvSpPr>
                <a:spLocks noGrp="1"/>
              </p:cNvSpPr>
              <p:nvPr>
                <p:ph type="title"/>
              </p:nvPr>
            </p:nvSpPr>
            <p:spPr>
              <a:xfrm>
                <a:off x="307258" y="3943"/>
                <a:ext cx="10515600" cy="677094"/>
              </a:xfrm>
            </p:spPr>
            <p:txBody>
              <a:bodyPr>
                <a:normAutofit fontScale="90000"/>
              </a:bodyPr>
              <a:lstStyle/>
              <a:p>
                <a:r>
                  <a:rPr lang="en-GB" b="1" dirty="0">
                    <a:solidFill>
                      <a:schemeClr val="bg1"/>
                    </a:solidFill>
                    <a:latin typeface="+mn-lt"/>
                  </a:rPr>
                  <a:t>Modelling</a:t>
                </a:r>
                <a:r>
                  <a:rPr lang="en-GB" dirty="0">
                    <a:solidFill>
                      <a:schemeClr val="bg1"/>
                    </a:solidFill>
                  </a:rPr>
                  <a:t> </a:t>
                </a:r>
                <a14:m>
                  <m:oMath xmlns:m="http://schemas.openxmlformats.org/officeDocument/2006/math">
                    <m:sSub>
                      <m:sSubPr>
                        <m:ctrlPr>
                          <a:rPr lang="en-GB" i="1">
                            <a:solidFill>
                              <a:schemeClr val="bg1"/>
                            </a:solidFill>
                            <a:latin typeface="Cambria Math" panose="02040503050406030204" pitchFamily="18" charset="0"/>
                          </a:rPr>
                        </m:ctrlPr>
                      </m:sSubPr>
                      <m:e>
                        <m:r>
                          <a:rPr lang="en-GB" i="1">
                            <a:solidFill>
                              <a:schemeClr val="bg1"/>
                            </a:solidFill>
                            <a:latin typeface="Cambria Math" panose="02040503050406030204" pitchFamily="18" charset="0"/>
                          </a:rPr>
                          <m:t>𝜙</m:t>
                        </m:r>
                      </m:e>
                      <m:sub>
                        <m:r>
                          <a:rPr lang="en-GB" i="1">
                            <a:solidFill>
                              <a:schemeClr val="bg1"/>
                            </a:solidFill>
                            <a:latin typeface="Cambria Math" panose="02040503050406030204" pitchFamily="18" charset="0"/>
                          </a:rPr>
                          <m:t>𝑖𝑡</m:t>
                        </m:r>
                      </m:sub>
                    </m:sSub>
                  </m:oMath>
                </a14:m>
                <a:r>
                  <a:rPr lang="en-GB" dirty="0">
                    <a:solidFill>
                      <a:schemeClr val="bg1"/>
                    </a:solidFill>
                  </a:rPr>
                  <a:t> </a:t>
                </a:r>
              </a:p>
            </p:txBody>
          </p:sp>
        </mc:Choice>
        <mc:Fallback xmlns="">
          <p:sp>
            <p:nvSpPr>
              <p:cNvPr id="2" name="Title 1">
                <a:extLst>
                  <a:ext uri="{FF2B5EF4-FFF2-40B4-BE49-F238E27FC236}">
                    <a16:creationId xmlns:a16="http://schemas.microsoft.com/office/drawing/2014/main" id="{34990762-DEA2-CC53-B4F4-7B00BDC11169}"/>
                  </a:ext>
                </a:extLst>
              </p:cNvPr>
              <p:cNvSpPr>
                <a:spLocks noGrp="1" noRot="1" noChangeAspect="1" noMove="1" noResize="1" noEditPoints="1" noAdjustHandles="1" noChangeArrowheads="1" noChangeShapeType="1" noTextEdit="1"/>
              </p:cNvSpPr>
              <p:nvPr>
                <p:ph type="title"/>
              </p:nvPr>
            </p:nvSpPr>
            <p:spPr>
              <a:xfrm>
                <a:off x="307258" y="3943"/>
                <a:ext cx="10515600" cy="677094"/>
              </a:xfrm>
              <a:blipFill>
                <a:blip r:embed="rId2"/>
                <a:stretch>
                  <a:fillRect l="-2029" t="-21622" b="-3693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E26ABF9-85C7-2873-5BC0-C502568C46B0}"/>
                  </a:ext>
                </a:extLst>
              </p:cNvPr>
              <p:cNvSpPr>
                <a:spLocks noGrp="1"/>
              </p:cNvSpPr>
              <p:nvPr>
                <p:ph idx="1"/>
              </p:nvPr>
            </p:nvSpPr>
            <p:spPr/>
            <p:txBody>
              <a:bodyPr/>
              <a:lstStyle/>
              <a:p>
                <a:r>
                  <a:rPr lang="en-GB" dirty="0"/>
                  <a:t>Parametric (linear) trend model (</a:t>
                </a:r>
                <a:r>
                  <a:rPr lang="en-GB" dirty="0" err="1"/>
                  <a:t>Bernadinelli</a:t>
                </a:r>
                <a:r>
                  <a:rPr lang="en-GB" dirty="0"/>
                  <a:t> et al (1995))</a:t>
                </a:r>
              </a:p>
              <a:p>
                <a:pPr marL="0" indent="0">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𝜙</m:t>
                        </m:r>
                      </m:e>
                      <m:sub>
                        <m:r>
                          <a:rPr lang="en-GB" i="1">
                            <a:latin typeface="Cambria Math" panose="02040503050406030204" pitchFamily="18" charset="0"/>
                          </a:rPr>
                          <m:t>𝑖𝑡</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𝑢</m:t>
                        </m:r>
                      </m:e>
                      <m:sub>
                        <m:r>
                          <a:rPr lang="en-GB" i="1">
                            <a:latin typeface="Cambria Math" panose="02040503050406030204" pitchFamily="18" charset="0"/>
                          </a:rPr>
                          <m:t>𝑖</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𝑣</m:t>
                        </m:r>
                      </m:e>
                      <m:sub>
                        <m:r>
                          <a:rPr lang="en-GB" i="1">
                            <a:latin typeface="Cambria Math" panose="02040503050406030204" pitchFamily="18" charset="0"/>
                          </a:rPr>
                          <m:t>𝑖</m:t>
                        </m:r>
                      </m:sub>
                    </m:sSub>
                    <m:r>
                      <a:rPr lang="en-GB" i="1">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𝛼</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𝛿</m:t>
                            </m:r>
                          </m:e>
                          <m:sub>
                            <m:r>
                              <a:rPr lang="en-GB" i="1">
                                <a:latin typeface="Cambria Math" panose="02040503050406030204" pitchFamily="18" charset="0"/>
                              </a:rPr>
                              <m:t>𝑖</m:t>
                            </m:r>
                          </m:sub>
                        </m:sSub>
                      </m:e>
                    </m:d>
                    <m:r>
                      <a:rPr lang="en-GB" i="1">
                        <a:latin typeface="Cambria Math" panose="02040503050406030204" pitchFamily="18" charset="0"/>
                      </a:rPr>
                      <m:t>×</m:t>
                    </m:r>
                    <m:r>
                      <a:rPr lang="en-GB" i="1">
                        <a:latin typeface="Cambria Math" panose="02040503050406030204" pitchFamily="18" charset="0"/>
                      </a:rPr>
                      <m:t>𝑡</m:t>
                    </m:r>
                  </m:oMath>
                </a14:m>
                <a:r>
                  <a:rPr lang="en-GB" dirty="0"/>
                  <a:t>                         (8)</a:t>
                </a:r>
              </a:p>
              <a:p>
                <a:pPr marL="0" indent="0">
                  <a:buNone/>
                </a:pPr>
                <a:endParaRPr lang="en-GB" dirty="0"/>
              </a:p>
              <a:p>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𝑢</m:t>
                        </m:r>
                      </m:e>
                      <m:sub>
                        <m:r>
                          <a:rPr lang="en-GB" i="1">
                            <a:latin typeface="Cambria Math" panose="02040503050406030204" pitchFamily="18" charset="0"/>
                          </a:rPr>
                          <m:t>𝑖</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𝑣</m:t>
                        </m:r>
                      </m:e>
                      <m:sub>
                        <m:r>
                          <a:rPr lang="en-GB" i="1">
                            <a:latin typeface="Cambria Math" panose="02040503050406030204" pitchFamily="18" charset="0"/>
                          </a:rPr>
                          <m:t>𝑖</m:t>
                        </m:r>
                      </m:sub>
                    </m:sSub>
                  </m:oMath>
                </a14:m>
                <a:r>
                  <a:rPr lang="en-GB" dirty="0"/>
                  <a:t> are as defined before in equation (4)</a:t>
                </a:r>
              </a:p>
              <a:p>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𝛿</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𝑖</m:t>
                    </m:r>
                    <m:r>
                      <a:rPr lang="en-GB" b="0" i="1" smtClean="0">
                        <a:latin typeface="Cambria Math" panose="02040503050406030204" pitchFamily="18" charset="0"/>
                      </a:rPr>
                      <m:t>=1,…,</m:t>
                    </m:r>
                    <m:r>
                      <a:rPr lang="en-GB" b="0" i="1" smtClean="0">
                        <a:latin typeface="Cambria Math" panose="02040503050406030204" pitchFamily="18" charset="0"/>
                      </a:rPr>
                      <m:t>𝑛</m:t>
                    </m:r>
                    <m:r>
                      <a:rPr lang="en-GB" b="0" i="1" smtClean="0">
                        <a:latin typeface="Cambria Math" panose="02040503050406030204" pitchFamily="18" charset="0"/>
                      </a:rPr>
                      <m:t>)</m:t>
                    </m:r>
                  </m:oMath>
                </a14:m>
                <a:r>
                  <a:rPr lang="en-GB" dirty="0"/>
                  <a:t>  represent the differences between the global trend </a:t>
                </a:r>
                <a14:m>
                  <m:oMath xmlns:m="http://schemas.openxmlformats.org/officeDocument/2006/math">
                    <m:r>
                      <a:rPr lang="en-GB" b="0" i="1" smtClean="0">
                        <a:latin typeface="Cambria Math" panose="02040503050406030204" pitchFamily="18" charset="0"/>
                      </a:rPr>
                      <m:t>𝛼</m:t>
                    </m:r>
                  </m:oMath>
                </a14:m>
                <a:r>
                  <a:rPr lang="en-GB" dirty="0"/>
                  <a:t> and the trend for each area (differential trend for area </a:t>
                </a:r>
                <a14:m>
                  <m:oMath xmlns:m="http://schemas.openxmlformats.org/officeDocument/2006/math">
                    <m:r>
                      <a:rPr lang="en-GB" b="0" i="1" smtClean="0">
                        <a:latin typeface="Cambria Math" panose="02040503050406030204" pitchFamily="18" charset="0"/>
                      </a:rPr>
                      <m:t>𝑖</m:t>
                    </m:r>
                  </m:oMath>
                </a14:m>
                <a:r>
                  <a:rPr lang="en-GB" dirty="0"/>
                  <a:t>; a sum-to-zero constraint is also imposed on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𝛿</m:t>
                        </m:r>
                      </m:e>
                      <m:sub>
                        <m:r>
                          <a:rPr lang="en-GB" b="0" i="1" smtClean="0">
                            <a:latin typeface="Cambria Math" panose="02040503050406030204" pitchFamily="18" charset="0"/>
                          </a:rPr>
                          <m:t>𝑖</m:t>
                        </m:r>
                      </m:sub>
                    </m:sSub>
                  </m:oMath>
                </a14:m>
                <a:r>
                  <a:rPr lang="en-GB" dirty="0"/>
                  <a:t>). </a:t>
                </a:r>
              </a:p>
              <a:p>
                <a:r>
                  <a:rPr lang="en-GB" dirty="0"/>
                  <a:t>It can be assumed that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𝛿</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(0,1/</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𝜏</m:t>
                        </m:r>
                      </m:e>
                      <m:sub>
                        <m:r>
                          <a:rPr lang="en-GB" b="0" i="1" smtClean="0">
                            <a:latin typeface="Cambria Math" panose="02040503050406030204" pitchFamily="18" charset="0"/>
                          </a:rPr>
                          <m:t>𝛿</m:t>
                        </m:r>
                      </m:sub>
                    </m:sSub>
                    <m:r>
                      <a:rPr lang="en-GB" b="0" i="1" smtClean="0">
                        <a:latin typeface="Cambria Math" panose="02040503050406030204" pitchFamily="18" charset="0"/>
                      </a:rPr>
                      <m:t>)</m:t>
                    </m:r>
                  </m:oMath>
                </a14:m>
                <a:endParaRPr lang="en-GB" dirty="0"/>
              </a:p>
              <a:p>
                <a:endParaRPr lang="en-GB" dirty="0"/>
              </a:p>
              <a:p>
                <a:endParaRPr lang="en-GB" dirty="0"/>
              </a:p>
              <a:p>
                <a:endParaRPr lang="en-GB" dirty="0"/>
              </a:p>
              <a:p>
                <a:endParaRPr lang="en-GB" dirty="0"/>
              </a:p>
            </p:txBody>
          </p:sp>
        </mc:Choice>
        <mc:Fallback xmlns="">
          <p:sp>
            <p:nvSpPr>
              <p:cNvPr id="3" name="Content Placeholder 2">
                <a:extLst>
                  <a:ext uri="{FF2B5EF4-FFF2-40B4-BE49-F238E27FC236}">
                    <a16:creationId xmlns:a16="http://schemas.microsoft.com/office/drawing/2014/main" id="{CE26ABF9-85C7-2873-5BC0-C502568C46B0}"/>
                  </a:ext>
                </a:extLst>
              </p:cNvPr>
              <p:cNvSpPr>
                <a:spLocks noGrp="1" noRot="1" noChangeAspect="1" noMove="1" noResize="1" noEditPoints="1" noAdjustHandles="1" noChangeArrowheads="1" noChangeShapeType="1" noTextEdit="1"/>
              </p:cNvSpPr>
              <p:nvPr>
                <p:ph idx="1"/>
              </p:nvPr>
            </p:nvSpPr>
            <p:spPr>
              <a:blipFill>
                <a:blip r:embed="rId3"/>
                <a:stretch>
                  <a:fillRect l="-1043" t="-2381" r="-1159"/>
                </a:stretch>
              </a:blipFill>
            </p:spPr>
            <p:txBody>
              <a:bodyPr/>
              <a:lstStyle/>
              <a:p>
                <a:r>
                  <a:rPr lang="en-GB">
                    <a:noFill/>
                  </a:rPr>
                  <a:t> </a:t>
                </a:r>
              </a:p>
            </p:txBody>
          </p:sp>
        </mc:Fallback>
      </mc:AlternateContent>
    </p:spTree>
    <p:extLst>
      <p:ext uri="{BB962C8B-B14F-4D97-AF65-F5344CB8AC3E}">
        <p14:creationId xmlns:p14="http://schemas.microsoft.com/office/powerpoint/2010/main" val="22648028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C21079-95B5-F041-CE80-F4B216BD05A6}"/>
                  </a:ext>
                </a:extLst>
              </p:cNvPr>
              <p:cNvSpPr>
                <a:spLocks noGrp="1"/>
              </p:cNvSpPr>
              <p:nvPr>
                <p:ph idx="1"/>
              </p:nvPr>
            </p:nvSpPr>
            <p:spPr/>
            <p:txBody>
              <a:bodyPr>
                <a:normAutofit lnSpcReduction="10000"/>
              </a:bodyPr>
              <a:lstStyle/>
              <a:p>
                <a:r>
                  <a:rPr lang="en-GB" dirty="0"/>
                  <a:t>Nonparametric trend model (Knorr-Held, 2000)</a:t>
                </a:r>
              </a:p>
              <a:p>
                <a:pPr marL="0" indent="0" algn="ctr">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𝜙</m:t>
                        </m:r>
                      </m:e>
                      <m:sub>
                        <m:r>
                          <a:rPr lang="en-GB" i="1">
                            <a:latin typeface="Cambria Math" panose="02040503050406030204" pitchFamily="18" charset="0"/>
                          </a:rPr>
                          <m:t>𝑖𝑡</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𝑢</m:t>
                        </m:r>
                      </m:e>
                      <m:sub>
                        <m:r>
                          <a:rPr lang="en-GB" i="1">
                            <a:latin typeface="Cambria Math" panose="02040503050406030204" pitchFamily="18" charset="0"/>
                          </a:rPr>
                          <m:t>𝑖</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𝑣</m:t>
                        </m:r>
                      </m:e>
                      <m:sub>
                        <m:r>
                          <a:rPr lang="en-GB" i="1">
                            <a:latin typeface="Cambria Math" panose="02040503050406030204" pitchFamily="18" charset="0"/>
                          </a:rPr>
                          <m:t>𝑖</m:t>
                        </m:r>
                      </m:sub>
                    </m:sSub>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𝛾</m:t>
                        </m:r>
                      </m:e>
                      <m:sub>
                        <m:r>
                          <a:rPr lang="en-GB" b="0" i="1" smtClean="0">
                            <a:latin typeface="Cambria Math" panose="02040503050406030204" pitchFamily="18" charset="0"/>
                          </a:rPr>
                          <m:t>𝑡</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𝑡</m:t>
                        </m:r>
                      </m:sub>
                    </m:sSub>
                  </m:oMath>
                </a14:m>
                <a:r>
                  <a:rPr lang="en-GB" dirty="0"/>
                  <a:t>                         (9)</a:t>
                </a:r>
              </a:p>
              <a:p>
                <a:endParaRPr lang="en-GB" dirty="0"/>
              </a:p>
              <a:p>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𝛾</m:t>
                        </m:r>
                      </m:e>
                      <m:sub>
                        <m:r>
                          <a:rPr lang="en-GB" b="0" i="1" smtClean="0">
                            <a:latin typeface="Cambria Math" panose="02040503050406030204" pitchFamily="18" charset="0"/>
                          </a:rPr>
                          <m:t>𝑡</m:t>
                        </m:r>
                      </m:sub>
                    </m:sSub>
                  </m:oMath>
                </a14:m>
                <a:r>
                  <a:rPr lang="en-GB" dirty="0"/>
                  <a:t> is a temporally structured effect (can be modelled as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𝛾</m:t>
                        </m:r>
                      </m:e>
                      <m:sub>
                        <m:r>
                          <a:rPr lang="en-GB" b="0" i="1" smtClean="0">
                            <a:latin typeface="Cambria Math" panose="02040503050406030204" pitchFamily="18" charset="0"/>
                          </a:rPr>
                          <m:t>𝑡</m:t>
                        </m:r>
                      </m:sub>
                    </m:sSub>
                    <m:r>
                      <a:rPr lang="en-GB" b="0" i="1" smtClean="0">
                        <a:latin typeface="Cambria Math" panose="02040503050406030204" pitchFamily="18" charset="0"/>
                      </a:rPr>
                      <m:t>∼</m:t>
                    </m:r>
                    <m:r>
                      <a:rPr lang="en-GB" b="0" i="1" smtClean="0">
                        <a:latin typeface="Cambria Math" panose="02040503050406030204" pitchFamily="18" charset="0"/>
                      </a:rPr>
                      <m:t>𝑅𝑊</m:t>
                    </m:r>
                    <m:r>
                      <a:rPr lang="en-GB" b="0" i="1" smtClean="0">
                        <a:latin typeface="Cambria Math" panose="02040503050406030204" pitchFamily="18" charset="0"/>
                      </a:rPr>
                      <m:t>(1)</m:t>
                    </m:r>
                  </m:oMath>
                </a14:m>
                <a:r>
                  <a:rPr lang="en-GB" dirty="0"/>
                  <a:t>; </a:t>
                </a:r>
                <a14:m>
                  <m:oMath xmlns:m="http://schemas.openxmlformats.org/officeDocument/2006/math">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𝛾</m:t>
                        </m:r>
                      </m:e>
                      <m:sub>
                        <m:r>
                          <a:rPr lang="en-GB" b="0" i="1" dirty="0" smtClean="0">
                            <a:latin typeface="Cambria Math" panose="02040503050406030204" pitchFamily="18" charset="0"/>
                          </a:rPr>
                          <m:t>𝑡</m:t>
                        </m:r>
                      </m:sub>
                    </m:sSub>
                    <m:r>
                      <a:rPr lang="en-GB" b="0" i="1" dirty="0" smtClean="0">
                        <a:latin typeface="Cambria Math" panose="02040503050406030204" pitchFamily="18" charset="0"/>
                      </a:rPr>
                      <m:t>∼</m:t>
                    </m:r>
                    <m:r>
                      <a:rPr lang="en-GB" b="0" i="1" dirty="0" smtClean="0">
                        <a:latin typeface="Cambria Math" panose="02040503050406030204" pitchFamily="18" charset="0"/>
                      </a:rPr>
                      <m:t>𝑅𝑊</m:t>
                    </m:r>
                    <m:r>
                      <a:rPr lang="en-GB" b="0" i="1" dirty="0" smtClean="0">
                        <a:latin typeface="Cambria Math" panose="02040503050406030204" pitchFamily="18" charset="0"/>
                      </a:rPr>
                      <m:t>(2)</m:t>
                    </m:r>
                  </m:oMath>
                </a14:m>
                <a:r>
                  <a:rPr lang="en-GB" dirty="0"/>
                  <a:t>, etc)</a:t>
                </a:r>
              </a:p>
              <a:p>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𝑡</m:t>
                        </m:r>
                      </m:sub>
                    </m:sSub>
                  </m:oMath>
                </a14:m>
                <a:r>
                  <a:rPr lang="en-GB" dirty="0"/>
                  <a:t> - unstructured temporal effect, modelled as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𝑡</m:t>
                        </m:r>
                      </m:sub>
                    </m:sSub>
                    <m:r>
                      <a:rPr lang="en-GB" b="0"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(0,</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𝜏</m:t>
                            </m:r>
                          </m:e>
                          <m:sub>
                            <m:r>
                              <a:rPr lang="en-GB" b="0" i="1" smtClean="0">
                                <a:latin typeface="Cambria Math" panose="02040503050406030204" pitchFamily="18" charset="0"/>
                              </a:rPr>
                              <m:t>𝛼</m:t>
                            </m:r>
                          </m:sub>
                        </m:sSub>
                      </m:den>
                    </m:f>
                    <m:r>
                      <a:rPr lang="en-GB" b="0" i="1" smtClean="0">
                        <a:latin typeface="Cambria Math" panose="02040503050406030204" pitchFamily="18" charset="0"/>
                      </a:rPr>
                      <m:t>)</m:t>
                    </m:r>
                  </m:oMath>
                </a14:m>
                <a:endParaRPr lang="en-GB" dirty="0"/>
              </a:p>
              <a:p>
                <a:r>
                  <a:rPr lang="en-GB" dirty="0"/>
                  <a:t>Key feature – relaxes the parametric (linear) trend assumption in model (8) (time trend has an explicit functional form governed by </a:t>
                </a:r>
                <a14:m>
                  <m:oMath xmlns:m="http://schemas.openxmlformats.org/officeDocument/2006/math">
                    <m:r>
                      <a:rPr lang="en-GB" i="1">
                        <a:latin typeface="Cambria Math" panose="02040503050406030204" pitchFamily="18" charset="0"/>
                      </a:rPr>
                      <m:t>𝛼</m:t>
                    </m:r>
                  </m:oMath>
                </a14:m>
                <a:r>
                  <a:rPr lang="en-GB" dirty="0"/>
                  <a:t> and one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𝛿</m:t>
                        </m:r>
                      </m:e>
                      <m:sub>
                        <m:r>
                          <a:rPr lang="en-GB" i="1">
                            <a:latin typeface="Cambria Math" panose="02040503050406030204" pitchFamily="18" charset="0"/>
                          </a:rPr>
                          <m:t>𝑖</m:t>
                        </m:r>
                      </m:sub>
                    </m:sSub>
                  </m:oMath>
                </a14:m>
                <a:r>
                  <a:rPr lang="en-GB" dirty="0"/>
                  <a:t> per area) </a:t>
                </a:r>
              </a:p>
            </p:txBody>
          </p:sp>
        </mc:Choice>
        <mc:Fallback xmlns="">
          <p:sp>
            <p:nvSpPr>
              <p:cNvPr id="3" name="Content Placeholder 2">
                <a:extLst>
                  <a:ext uri="{FF2B5EF4-FFF2-40B4-BE49-F238E27FC236}">
                    <a16:creationId xmlns:a16="http://schemas.microsoft.com/office/drawing/2014/main" id="{26C21079-95B5-F041-CE80-F4B216BD05A6}"/>
                  </a:ext>
                </a:extLst>
              </p:cNvPr>
              <p:cNvSpPr>
                <a:spLocks noGrp="1" noRot="1" noChangeAspect="1" noMove="1" noResize="1" noEditPoints="1" noAdjustHandles="1" noChangeArrowheads="1" noChangeShapeType="1" noTextEdit="1"/>
              </p:cNvSpPr>
              <p:nvPr>
                <p:ph idx="1"/>
              </p:nvPr>
            </p:nvSpPr>
            <p:spPr>
              <a:blipFill>
                <a:blip r:embed="rId3"/>
                <a:stretch>
                  <a:fillRect l="-1043" t="-30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itle 1">
                <a:extLst>
                  <a:ext uri="{FF2B5EF4-FFF2-40B4-BE49-F238E27FC236}">
                    <a16:creationId xmlns:a16="http://schemas.microsoft.com/office/drawing/2014/main" id="{C510914C-3411-EDE6-EC98-C4A895AE8B89}"/>
                  </a:ext>
                </a:extLst>
              </p:cNvPr>
              <p:cNvSpPr>
                <a:spLocks noGrp="1"/>
              </p:cNvSpPr>
              <p:nvPr>
                <p:ph type="title"/>
              </p:nvPr>
            </p:nvSpPr>
            <p:spPr>
              <a:xfrm>
                <a:off x="307258" y="3943"/>
                <a:ext cx="10515600" cy="677094"/>
              </a:xfrm>
            </p:spPr>
            <p:txBody>
              <a:bodyPr>
                <a:normAutofit fontScale="90000"/>
              </a:bodyPr>
              <a:lstStyle/>
              <a:p>
                <a:r>
                  <a:rPr lang="en-GB" b="1" dirty="0">
                    <a:solidFill>
                      <a:schemeClr val="bg1"/>
                    </a:solidFill>
                    <a:latin typeface="+mn-lt"/>
                  </a:rPr>
                  <a:t>Modelling</a:t>
                </a:r>
                <a:r>
                  <a:rPr lang="en-GB" dirty="0">
                    <a:solidFill>
                      <a:schemeClr val="bg1"/>
                    </a:solidFill>
                  </a:rPr>
                  <a:t> </a:t>
                </a:r>
                <a14:m>
                  <m:oMath xmlns:m="http://schemas.openxmlformats.org/officeDocument/2006/math">
                    <m:sSub>
                      <m:sSubPr>
                        <m:ctrlPr>
                          <a:rPr lang="en-GB" i="1">
                            <a:solidFill>
                              <a:schemeClr val="bg1"/>
                            </a:solidFill>
                            <a:latin typeface="Cambria Math" panose="02040503050406030204" pitchFamily="18" charset="0"/>
                          </a:rPr>
                        </m:ctrlPr>
                      </m:sSubPr>
                      <m:e>
                        <m:r>
                          <a:rPr lang="en-GB" i="1">
                            <a:solidFill>
                              <a:schemeClr val="bg1"/>
                            </a:solidFill>
                            <a:latin typeface="Cambria Math" panose="02040503050406030204" pitchFamily="18" charset="0"/>
                          </a:rPr>
                          <m:t>𝜙</m:t>
                        </m:r>
                      </m:e>
                      <m:sub>
                        <m:r>
                          <a:rPr lang="en-GB" i="1">
                            <a:solidFill>
                              <a:schemeClr val="bg1"/>
                            </a:solidFill>
                            <a:latin typeface="Cambria Math" panose="02040503050406030204" pitchFamily="18" charset="0"/>
                          </a:rPr>
                          <m:t>𝑖𝑡</m:t>
                        </m:r>
                      </m:sub>
                    </m:sSub>
                  </m:oMath>
                </a14:m>
                <a:r>
                  <a:rPr lang="en-GB" dirty="0">
                    <a:solidFill>
                      <a:schemeClr val="bg1"/>
                    </a:solidFill>
                  </a:rPr>
                  <a:t> </a:t>
                </a:r>
              </a:p>
            </p:txBody>
          </p:sp>
        </mc:Choice>
        <mc:Fallback xmlns="">
          <p:sp>
            <p:nvSpPr>
              <p:cNvPr id="6" name="Title 1">
                <a:extLst>
                  <a:ext uri="{FF2B5EF4-FFF2-40B4-BE49-F238E27FC236}">
                    <a16:creationId xmlns:a16="http://schemas.microsoft.com/office/drawing/2014/main" id="{C510914C-3411-EDE6-EC98-C4A895AE8B89}"/>
                  </a:ext>
                </a:extLst>
              </p:cNvPr>
              <p:cNvSpPr>
                <a:spLocks noGrp="1" noRot="1" noChangeAspect="1" noMove="1" noResize="1" noEditPoints="1" noAdjustHandles="1" noChangeArrowheads="1" noChangeShapeType="1" noTextEdit="1"/>
              </p:cNvSpPr>
              <p:nvPr>
                <p:ph type="title"/>
              </p:nvPr>
            </p:nvSpPr>
            <p:spPr>
              <a:xfrm>
                <a:off x="307258" y="3943"/>
                <a:ext cx="10515600" cy="677094"/>
              </a:xfrm>
              <a:blipFill>
                <a:blip r:embed="rId4"/>
                <a:stretch>
                  <a:fillRect l="-2029" t="-21622" b="-36937"/>
                </a:stretch>
              </a:blipFill>
            </p:spPr>
            <p:txBody>
              <a:bodyPr/>
              <a:lstStyle/>
              <a:p>
                <a:r>
                  <a:rPr lang="en-GB">
                    <a:noFill/>
                  </a:rPr>
                  <a:t> </a:t>
                </a:r>
              </a:p>
            </p:txBody>
          </p:sp>
        </mc:Fallback>
      </mc:AlternateContent>
    </p:spTree>
    <p:extLst>
      <p:ext uri="{BB962C8B-B14F-4D97-AF65-F5344CB8AC3E}">
        <p14:creationId xmlns:p14="http://schemas.microsoft.com/office/powerpoint/2010/main" val="31405544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EDE180-430C-246F-0480-5DAFEACFC157}"/>
                  </a:ext>
                </a:extLst>
              </p:cNvPr>
              <p:cNvSpPr>
                <a:spLocks noGrp="1"/>
              </p:cNvSpPr>
              <p:nvPr>
                <p:ph idx="1"/>
              </p:nvPr>
            </p:nvSpPr>
            <p:spPr/>
            <p:txBody>
              <a:bodyPr>
                <a:normAutofit fontScale="92500" lnSpcReduction="10000"/>
              </a:bodyPr>
              <a:lstStyle/>
              <a:p>
                <a:r>
                  <a:rPr lang="en-GB" dirty="0"/>
                  <a:t>Space-time interaction models  (Knorr-held, 2000) </a:t>
                </a:r>
              </a:p>
              <a:p>
                <a:pPr marL="0" indent="0">
                  <a:buNone/>
                </a:pPr>
                <a:endParaRPr lang="en-GB" dirty="0"/>
              </a:p>
              <a:p>
                <a:pPr marL="0" indent="0" algn="ctr">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𝜙</m:t>
                        </m:r>
                      </m:e>
                      <m:sub>
                        <m:r>
                          <a:rPr lang="en-GB" i="1">
                            <a:latin typeface="Cambria Math" panose="02040503050406030204" pitchFamily="18" charset="0"/>
                          </a:rPr>
                          <m:t>𝑖𝑡</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𝑢</m:t>
                        </m:r>
                      </m:e>
                      <m:sub>
                        <m:r>
                          <a:rPr lang="en-GB" i="1">
                            <a:latin typeface="Cambria Math" panose="02040503050406030204" pitchFamily="18" charset="0"/>
                          </a:rPr>
                          <m:t>𝑖</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𝑣</m:t>
                        </m:r>
                      </m:e>
                      <m:sub>
                        <m:r>
                          <a:rPr lang="en-GB" i="1">
                            <a:latin typeface="Cambria Math" panose="02040503050406030204" pitchFamily="18" charset="0"/>
                          </a:rPr>
                          <m:t>𝑖</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𝛾</m:t>
                        </m:r>
                      </m:e>
                      <m:sub>
                        <m:r>
                          <a:rPr lang="en-GB" i="1">
                            <a:latin typeface="Cambria Math" panose="02040503050406030204" pitchFamily="18" charset="0"/>
                          </a:rPr>
                          <m:t>𝑡</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𝛼</m:t>
                        </m:r>
                      </m:e>
                      <m:sub>
                        <m:r>
                          <a:rPr lang="en-GB" i="1">
                            <a:latin typeface="Cambria Math" panose="02040503050406030204" pitchFamily="18" charset="0"/>
                          </a:rPr>
                          <m:t>𝑡</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𝛿</m:t>
                        </m:r>
                      </m:e>
                      <m:sub>
                        <m:r>
                          <a:rPr lang="en-GB" b="0" i="1" smtClean="0">
                            <a:latin typeface="Cambria Math" panose="02040503050406030204" pitchFamily="18" charset="0"/>
                          </a:rPr>
                          <m:t>𝑖𝑡</m:t>
                        </m:r>
                      </m:sub>
                    </m:sSub>
                  </m:oMath>
                </a14:m>
                <a:r>
                  <a:rPr lang="en-GB" dirty="0"/>
                  <a:t> 				(10)</a:t>
                </a:r>
              </a:p>
              <a:p>
                <a:endParaRPr lang="en-GB" i="1" dirty="0">
                  <a:latin typeface="Cambria Math" panose="02040503050406030204" pitchFamily="18" charset="0"/>
                </a:endParaRPr>
              </a:p>
              <a:p>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𝛿</m:t>
                        </m:r>
                      </m:e>
                      <m:sub>
                        <m:r>
                          <a:rPr lang="en-GB" i="1">
                            <a:latin typeface="Cambria Math" panose="02040503050406030204" pitchFamily="18" charset="0"/>
                          </a:rPr>
                          <m:t>𝑖𝑡</m:t>
                        </m:r>
                      </m:sub>
                    </m:sSub>
                  </m:oMath>
                </a14:m>
                <a:r>
                  <a:rPr lang="en-GB" dirty="0"/>
                  <a:t> is a space-time interaction term</a:t>
                </a:r>
              </a:p>
              <a:p>
                <a:r>
                  <a:rPr lang="en-GB" dirty="0"/>
                  <a:t>Type I interaction: Two unstructured effects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𝑖</m:t>
                        </m:r>
                      </m:sub>
                    </m:sSub>
                  </m:oMath>
                </a14:m>
                <a:r>
                  <a:rPr lang="en-GB" dirty="0"/>
                  <a:t> and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𝑡</m:t>
                        </m:r>
                      </m:sub>
                    </m:sSub>
                  </m:oMath>
                </a14:m>
                <a:r>
                  <a:rPr lang="en-GB" dirty="0"/>
                  <a:t> interact, such that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𝛿</m:t>
                        </m:r>
                      </m:e>
                      <m:sub>
                        <m:r>
                          <a:rPr lang="en-GB" b="0" i="1" smtClean="0">
                            <a:latin typeface="Cambria Math" panose="02040503050406030204" pitchFamily="18" charset="0"/>
                          </a:rPr>
                          <m:t>𝑖𝑡</m:t>
                        </m:r>
                      </m:sub>
                    </m:sSub>
                    <m:r>
                      <a:rPr lang="en-GB" b="0"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(0,</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𝜏</m:t>
                            </m:r>
                          </m:e>
                          <m:sub>
                            <m:r>
                              <a:rPr lang="en-GB" b="0" i="1" smtClean="0">
                                <a:latin typeface="Cambria Math" panose="02040503050406030204" pitchFamily="18" charset="0"/>
                              </a:rPr>
                              <m:t>𝛿</m:t>
                            </m:r>
                          </m:sub>
                        </m:sSub>
                      </m:den>
                    </m:f>
                    <m:r>
                      <a:rPr lang="en-GB" b="0" i="1" smtClean="0">
                        <a:latin typeface="Cambria Math" panose="02040503050406030204" pitchFamily="18" charset="0"/>
                      </a:rPr>
                      <m:t>)</m:t>
                    </m:r>
                  </m:oMath>
                </a14:m>
                <a:endParaRPr lang="en-GB" dirty="0"/>
              </a:p>
              <a:p>
                <a:r>
                  <a:rPr lang="en-GB" dirty="0"/>
                  <a:t>If we assume that </a:t>
                </a:r>
                <a14:m>
                  <m:oMath xmlns:m="http://schemas.openxmlformats.org/officeDocument/2006/math">
                    <m:r>
                      <a:rPr lang="en-GB" b="1" i="1">
                        <a:latin typeface="Cambria Math" panose="02040503050406030204" pitchFamily="18" charset="0"/>
                      </a:rPr>
                      <m:t>𝜹</m:t>
                    </m:r>
                    <m:r>
                      <a:rPr lang="en-GB" b="1"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(0,</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𝜏</m:t>
                        </m:r>
                      </m:e>
                      <m:sub>
                        <m:r>
                          <a:rPr lang="en-GB" b="0" i="1" smtClean="0">
                            <a:latin typeface="Cambria Math" panose="02040503050406030204" pitchFamily="18" charset="0"/>
                          </a:rPr>
                          <m:t>𝛿</m:t>
                        </m:r>
                      </m:sub>
                    </m:sSub>
                    <m:sSub>
                      <m:sSubPr>
                        <m:ctrlPr>
                          <a:rPr lang="en-GB" b="1" i="1" smtClean="0">
                            <a:latin typeface="Cambria Math" panose="02040503050406030204" pitchFamily="18" charset="0"/>
                          </a:rPr>
                        </m:ctrlPr>
                      </m:sSubPr>
                      <m:e>
                        <m:r>
                          <a:rPr lang="en-GB" b="1" i="1" smtClean="0">
                            <a:latin typeface="Cambria Math" panose="02040503050406030204" pitchFamily="18" charset="0"/>
                          </a:rPr>
                          <m:t>𝑹</m:t>
                        </m:r>
                      </m:e>
                      <m:sub>
                        <m:r>
                          <a:rPr lang="en-GB" b="0" i="1" smtClean="0">
                            <a:latin typeface="Cambria Math" panose="02040503050406030204" pitchFamily="18" charset="0"/>
                          </a:rPr>
                          <m:t>𝛿</m:t>
                        </m:r>
                      </m:sub>
                    </m:sSub>
                    <m:r>
                      <a:rPr lang="en-GB" b="0" i="1" smtClean="0">
                        <a:latin typeface="Cambria Math" panose="02040503050406030204" pitchFamily="18" charset="0"/>
                      </a:rPr>
                      <m:t>)</m:t>
                    </m:r>
                  </m:oMath>
                </a14:m>
                <a:r>
                  <a:rPr lang="en-GB" dirty="0"/>
                  <a:t>, then the structure matrix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𝑹</m:t>
                        </m:r>
                      </m:e>
                      <m:sub>
                        <m:r>
                          <a:rPr lang="en-GB" i="1">
                            <a:latin typeface="Cambria Math" panose="02040503050406030204" pitchFamily="18" charset="0"/>
                          </a:rPr>
                          <m:t>𝛿</m:t>
                        </m:r>
                      </m:sub>
                    </m:sSub>
                  </m:oMath>
                </a14:m>
                <a:r>
                  <a:rPr lang="en-GB" dirty="0"/>
                  <a:t> can be expressed as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𝑹</m:t>
                        </m:r>
                      </m:e>
                      <m:sub>
                        <m:r>
                          <a:rPr lang="en-GB" i="1">
                            <a:latin typeface="Cambria Math" panose="02040503050406030204" pitchFamily="18" charset="0"/>
                          </a:rPr>
                          <m:t>𝛿</m:t>
                        </m:r>
                      </m:sub>
                    </m:sSub>
                    <m:r>
                      <a:rPr lang="en-GB" b="1" i="1" smtClean="0">
                        <a:latin typeface="Cambria Math" panose="02040503050406030204" pitchFamily="18" charset="0"/>
                      </a:rPr>
                      <m:t>=</m:t>
                    </m:r>
                    <m:r>
                      <a:rPr lang="en-GB" b="0" i="1" smtClean="0">
                        <a:latin typeface="Cambria Math" panose="02040503050406030204" pitchFamily="18" charset="0"/>
                      </a:rPr>
                      <m:t>𝐼</m:t>
                    </m:r>
                    <m:r>
                      <a:rPr lang="en-GB" b="1"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𝐼</m:t>
                    </m:r>
                  </m:oMath>
                </a14:m>
                <a:r>
                  <a:rPr lang="en-GB" dirty="0"/>
                  <a:t>, where </a:t>
                </a:r>
                <a14:m>
                  <m:oMath xmlns:m="http://schemas.openxmlformats.org/officeDocument/2006/math">
                    <m:r>
                      <a:rPr lang="en-GB" b="1" i="1">
                        <a:latin typeface="Cambria Math" panose="02040503050406030204" pitchFamily="18" charset="0"/>
                        <a:ea typeface="Cambria Math" panose="02040503050406030204" pitchFamily="18" charset="0"/>
                      </a:rPr>
                      <m:t>⊗</m:t>
                    </m:r>
                  </m:oMath>
                </a14:m>
                <a:r>
                  <a:rPr lang="en-GB" dirty="0"/>
                  <a:t> denotes the Kronecker product and </a:t>
                </a:r>
                <a14:m>
                  <m:oMath xmlns:m="http://schemas.openxmlformats.org/officeDocument/2006/math">
                    <m:r>
                      <a:rPr lang="en-GB" b="0" i="1" smtClean="0">
                        <a:latin typeface="Cambria Math" panose="02040503050406030204" pitchFamily="18" charset="0"/>
                      </a:rPr>
                      <m:t>𝐼</m:t>
                    </m:r>
                  </m:oMath>
                </a14:m>
                <a:r>
                  <a:rPr lang="en-GB" dirty="0"/>
                  <a:t> an identity matrix</a:t>
                </a:r>
              </a:p>
            </p:txBody>
          </p:sp>
        </mc:Choice>
        <mc:Fallback xmlns="">
          <p:sp>
            <p:nvSpPr>
              <p:cNvPr id="3" name="Content Placeholder 2">
                <a:extLst>
                  <a:ext uri="{FF2B5EF4-FFF2-40B4-BE49-F238E27FC236}">
                    <a16:creationId xmlns:a16="http://schemas.microsoft.com/office/drawing/2014/main" id="{A1EDE180-430C-246F-0480-5DAFEACFC157}"/>
                  </a:ext>
                </a:extLst>
              </p:cNvPr>
              <p:cNvSpPr>
                <a:spLocks noGrp="1" noRot="1" noChangeAspect="1" noMove="1" noResize="1" noEditPoints="1" noAdjustHandles="1" noChangeArrowheads="1" noChangeShapeType="1" noTextEdit="1"/>
              </p:cNvSpPr>
              <p:nvPr>
                <p:ph idx="1"/>
              </p:nvPr>
            </p:nvSpPr>
            <p:spPr>
              <a:blipFill>
                <a:blip r:embed="rId2"/>
                <a:stretch>
                  <a:fillRect l="-928" t="-2801" r="-812" b="-42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itle 1">
                <a:extLst>
                  <a:ext uri="{FF2B5EF4-FFF2-40B4-BE49-F238E27FC236}">
                    <a16:creationId xmlns:a16="http://schemas.microsoft.com/office/drawing/2014/main" id="{3BC2A73A-899C-12B7-BB36-B4EB93C6C547}"/>
                  </a:ext>
                </a:extLst>
              </p:cNvPr>
              <p:cNvSpPr>
                <a:spLocks noGrp="1"/>
              </p:cNvSpPr>
              <p:nvPr>
                <p:ph type="title"/>
              </p:nvPr>
            </p:nvSpPr>
            <p:spPr>
              <a:xfrm>
                <a:off x="296196" y="102265"/>
                <a:ext cx="10931013" cy="578772"/>
              </a:xfrm>
            </p:spPr>
            <p:txBody>
              <a:bodyPr>
                <a:normAutofit fontScale="90000"/>
              </a:bodyPr>
              <a:lstStyle/>
              <a:p>
                <a:r>
                  <a:rPr lang="en-GB" b="1" dirty="0">
                    <a:solidFill>
                      <a:schemeClr val="bg1"/>
                    </a:solidFill>
                    <a:latin typeface="+mn-lt"/>
                  </a:rPr>
                  <a:t>Modelling </a:t>
                </a:r>
                <a14:m>
                  <m:oMath xmlns:m="http://schemas.openxmlformats.org/officeDocument/2006/math">
                    <m:sSub>
                      <m:sSubPr>
                        <m:ctrlPr>
                          <a:rPr lang="en-GB" b="0" i="1">
                            <a:solidFill>
                              <a:schemeClr val="bg1"/>
                            </a:solidFill>
                            <a:latin typeface="Cambria Math" panose="02040503050406030204" pitchFamily="18" charset="0"/>
                          </a:rPr>
                        </m:ctrlPr>
                      </m:sSubPr>
                      <m:e>
                        <m:r>
                          <a:rPr lang="en-GB" b="0" i="1">
                            <a:solidFill>
                              <a:schemeClr val="bg1"/>
                            </a:solidFill>
                            <a:latin typeface="Cambria Math" panose="02040503050406030204" pitchFamily="18" charset="0"/>
                          </a:rPr>
                          <m:t>𝜙</m:t>
                        </m:r>
                      </m:e>
                      <m:sub>
                        <m:r>
                          <a:rPr lang="en-GB" b="0" i="1">
                            <a:solidFill>
                              <a:schemeClr val="bg1"/>
                            </a:solidFill>
                            <a:latin typeface="Cambria Math" panose="02040503050406030204" pitchFamily="18" charset="0"/>
                          </a:rPr>
                          <m:t>𝑖𝑡</m:t>
                        </m:r>
                      </m:sub>
                    </m:sSub>
                  </m:oMath>
                </a14:m>
                <a:r>
                  <a:rPr lang="en-GB" b="1" dirty="0">
                    <a:solidFill>
                      <a:schemeClr val="bg1"/>
                    </a:solidFill>
                    <a:latin typeface="+mn-lt"/>
                  </a:rPr>
                  <a:t> - space-time interaction models </a:t>
                </a:r>
              </a:p>
            </p:txBody>
          </p:sp>
        </mc:Choice>
        <mc:Fallback xmlns="">
          <p:sp>
            <p:nvSpPr>
              <p:cNvPr id="4" name="Title 1">
                <a:extLst>
                  <a:ext uri="{FF2B5EF4-FFF2-40B4-BE49-F238E27FC236}">
                    <a16:creationId xmlns:a16="http://schemas.microsoft.com/office/drawing/2014/main" id="{3BC2A73A-899C-12B7-BB36-B4EB93C6C547}"/>
                  </a:ext>
                </a:extLst>
              </p:cNvPr>
              <p:cNvSpPr>
                <a:spLocks noGrp="1" noRot="1" noChangeAspect="1" noMove="1" noResize="1" noEditPoints="1" noAdjustHandles="1" noChangeArrowheads="1" noChangeShapeType="1" noTextEdit="1"/>
              </p:cNvSpPr>
              <p:nvPr>
                <p:ph type="title"/>
              </p:nvPr>
            </p:nvSpPr>
            <p:spPr>
              <a:xfrm>
                <a:off x="296196" y="102265"/>
                <a:ext cx="10931013" cy="578772"/>
              </a:xfrm>
              <a:blipFill>
                <a:blip r:embed="rId3"/>
                <a:stretch>
                  <a:fillRect l="-2008" t="-33684" r="-669" b="-51579"/>
                </a:stretch>
              </a:blipFill>
            </p:spPr>
            <p:txBody>
              <a:bodyPr/>
              <a:lstStyle/>
              <a:p>
                <a:r>
                  <a:rPr lang="en-GB">
                    <a:noFill/>
                  </a:rPr>
                  <a:t> </a:t>
                </a:r>
              </a:p>
            </p:txBody>
          </p:sp>
        </mc:Fallback>
      </mc:AlternateContent>
      <p:cxnSp>
        <p:nvCxnSpPr>
          <p:cNvPr id="6" name="Straight Arrow Connector 5">
            <a:extLst>
              <a:ext uri="{FF2B5EF4-FFF2-40B4-BE49-F238E27FC236}">
                <a16:creationId xmlns:a16="http://schemas.microsoft.com/office/drawing/2014/main" id="{B0E23B29-5EDB-3CC9-07CB-7CC1A41121EF}"/>
              </a:ext>
            </a:extLst>
          </p:cNvPr>
          <p:cNvCxnSpPr>
            <a:cxnSpLocks/>
          </p:cNvCxnSpPr>
          <p:nvPr/>
        </p:nvCxnSpPr>
        <p:spPr>
          <a:xfrm flipV="1">
            <a:off x="3883742" y="943897"/>
            <a:ext cx="2408903" cy="19172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B9B69020-A8E3-6C1A-5883-9CA8100819F8}"/>
              </a:ext>
            </a:extLst>
          </p:cNvPr>
          <p:cNvCxnSpPr>
            <a:cxnSpLocks/>
          </p:cNvCxnSpPr>
          <p:nvPr/>
        </p:nvCxnSpPr>
        <p:spPr>
          <a:xfrm flipV="1">
            <a:off x="5230761" y="943897"/>
            <a:ext cx="1061884" cy="19172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131B013-1E33-F76C-3DCF-DFF88D921D5B}"/>
              </a:ext>
            </a:extLst>
          </p:cNvPr>
          <p:cNvSpPr txBox="1"/>
          <p:nvPr/>
        </p:nvSpPr>
        <p:spPr>
          <a:xfrm>
            <a:off x="6096000" y="658574"/>
            <a:ext cx="2202426" cy="369332"/>
          </a:xfrm>
          <a:prstGeom prst="rect">
            <a:avLst/>
          </a:prstGeom>
          <a:noFill/>
        </p:spPr>
        <p:txBody>
          <a:bodyPr wrap="square" rtlCol="0">
            <a:spAutoFit/>
          </a:bodyPr>
          <a:lstStyle/>
          <a:p>
            <a:r>
              <a:rPr lang="en-GB" dirty="0"/>
              <a:t>Unstructured terms</a:t>
            </a:r>
          </a:p>
        </p:txBody>
      </p:sp>
      <p:cxnSp>
        <p:nvCxnSpPr>
          <p:cNvPr id="10" name="Straight Arrow Connector 9">
            <a:extLst>
              <a:ext uri="{FF2B5EF4-FFF2-40B4-BE49-F238E27FC236}">
                <a16:creationId xmlns:a16="http://schemas.microsoft.com/office/drawing/2014/main" id="{69A86612-1D85-C5AD-D0EE-A0E5AA0723CA}"/>
              </a:ext>
            </a:extLst>
          </p:cNvPr>
          <p:cNvCxnSpPr>
            <a:cxnSpLocks/>
          </p:cNvCxnSpPr>
          <p:nvPr/>
        </p:nvCxnSpPr>
        <p:spPr>
          <a:xfrm flipV="1">
            <a:off x="3175819" y="1425677"/>
            <a:ext cx="5755558" cy="13666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82A5A432-755A-FBE0-A528-86FA70DC4B25}"/>
              </a:ext>
            </a:extLst>
          </p:cNvPr>
          <p:cNvCxnSpPr>
            <a:cxnSpLocks/>
          </p:cNvCxnSpPr>
          <p:nvPr/>
        </p:nvCxnSpPr>
        <p:spPr>
          <a:xfrm flipV="1">
            <a:off x="4611329" y="1425677"/>
            <a:ext cx="4320048" cy="14355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882169AE-926F-42D0-2A1F-999861FC14CF}"/>
              </a:ext>
            </a:extLst>
          </p:cNvPr>
          <p:cNvSpPr txBox="1"/>
          <p:nvPr/>
        </p:nvSpPr>
        <p:spPr>
          <a:xfrm>
            <a:off x="8641324" y="1110683"/>
            <a:ext cx="1928353" cy="369332"/>
          </a:xfrm>
          <a:prstGeom prst="rect">
            <a:avLst/>
          </a:prstGeom>
          <a:noFill/>
        </p:spPr>
        <p:txBody>
          <a:bodyPr wrap="square" rtlCol="0">
            <a:spAutoFit/>
          </a:bodyPr>
          <a:lstStyle/>
          <a:p>
            <a:r>
              <a:rPr lang="en-GB" dirty="0"/>
              <a:t>Structured terms</a:t>
            </a:r>
          </a:p>
        </p:txBody>
      </p:sp>
    </p:spTree>
    <p:extLst>
      <p:ext uri="{BB962C8B-B14F-4D97-AF65-F5344CB8AC3E}">
        <p14:creationId xmlns:p14="http://schemas.microsoft.com/office/powerpoint/2010/main" val="32439792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549CB1-1438-35CF-7685-2BBCC3EF5A9B}"/>
                  </a:ext>
                </a:extLst>
              </p:cNvPr>
              <p:cNvSpPr>
                <a:spLocks noGrp="1"/>
              </p:cNvSpPr>
              <p:nvPr>
                <p:ph idx="1"/>
              </p:nvPr>
            </p:nvSpPr>
            <p:spPr>
              <a:xfrm>
                <a:off x="916858" y="1435049"/>
                <a:ext cx="10515600" cy="3591949"/>
              </a:xfrm>
            </p:spPr>
            <p:txBody>
              <a:bodyPr/>
              <a:lstStyle/>
              <a:p>
                <a:r>
                  <a:rPr lang="en-GB" dirty="0"/>
                  <a:t>Type II interaction: Unstructured spatial effect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r>
                          <a:rPr lang="en-GB" i="1">
                            <a:latin typeface="Cambria Math" panose="02040503050406030204" pitchFamily="18" charset="0"/>
                          </a:rPr>
                          <m:t>𝑖</m:t>
                        </m:r>
                      </m:sub>
                    </m:sSub>
                  </m:oMath>
                </a14:m>
                <a:r>
                  <a:rPr lang="en-GB" dirty="0"/>
                  <a:t> and structured temporal effect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𝛾</m:t>
                        </m:r>
                      </m:e>
                      <m:sub>
                        <m:r>
                          <a:rPr lang="en-GB" i="1">
                            <a:latin typeface="Cambria Math" panose="02040503050406030204" pitchFamily="18" charset="0"/>
                          </a:rPr>
                          <m:t>𝑡</m:t>
                        </m:r>
                      </m:sub>
                    </m:sSub>
                  </m:oMath>
                </a14:m>
                <a:r>
                  <a:rPr lang="en-GB" dirty="0"/>
                  <a:t> interact, such that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𝑹</m:t>
                        </m:r>
                      </m:e>
                      <m:sub>
                        <m:r>
                          <a:rPr lang="en-GB" i="1">
                            <a:latin typeface="Cambria Math" panose="02040503050406030204" pitchFamily="18" charset="0"/>
                          </a:rPr>
                          <m:t>𝛿</m:t>
                        </m:r>
                      </m:sub>
                    </m:sSub>
                    <m:r>
                      <a:rPr lang="en-GB" b="0" i="0"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𝑹</m:t>
                        </m:r>
                      </m:e>
                      <m:sub>
                        <m:r>
                          <a:rPr lang="en-GB" b="0" i="1" smtClean="0">
                            <a:latin typeface="Cambria Math" panose="02040503050406030204" pitchFamily="18" charset="0"/>
                          </a:rPr>
                          <m:t>𝑣</m:t>
                        </m:r>
                      </m:sub>
                    </m:sSub>
                    <m:r>
                      <a:rPr lang="en-GB" b="1" i="1">
                        <a:latin typeface="Cambria Math" panose="02040503050406030204" pitchFamily="18" charset="0"/>
                        <a:ea typeface="Cambria Math" panose="02040503050406030204" pitchFamily="18" charset="0"/>
                      </a:rPr>
                      <m:t>⊗</m:t>
                    </m:r>
                    <m:sSub>
                      <m:sSubPr>
                        <m:ctrlPr>
                          <a:rPr lang="en-GB" b="1" i="1" smtClean="0">
                            <a:latin typeface="Cambria Math" panose="02040503050406030204" pitchFamily="18" charset="0"/>
                            <a:ea typeface="Cambria Math" panose="02040503050406030204" pitchFamily="18" charset="0"/>
                          </a:rPr>
                        </m:ctrlPr>
                      </m:sSubPr>
                      <m:e>
                        <m:r>
                          <a:rPr lang="en-GB" b="1" i="1" smtClean="0">
                            <a:latin typeface="Cambria Math" panose="02040503050406030204" pitchFamily="18" charset="0"/>
                            <a:ea typeface="Cambria Math" panose="02040503050406030204" pitchFamily="18" charset="0"/>
                          </a:rPr>
                          <m:t>𝑹</m:t>
                        </m:r>
                      </m:e>
                      <m:sub>
                        <m:r>
                          <a:rPr lang="en-GB" b="0" i="1" smtClean="0">
                            <a:latin typeface="Cambria Math" panose="02040503050406030204" pitchFamily="18" charset="0"/>
                            <a:ea typeface="Cambria Math" panose="02040503050406030204" pitchFamily="18" charset="0"/>
                          </a:rPr>
                          <m:t>𝛾</m:t>
                        </m:r>
                      </m:sub>
                    </m:sSub>
                  </m:oMath>
                </a14:m>
                <a:r>
                  <a:rPr lang="en-GB" dirty="0"/>
                  <a:t>.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𝑹</m:t>
                        </m:r>
                      </m:e>
                      <m:sub>
                        <m:r>
                          <a:rPr lang="en-GB" i="1">
                            <a:latin typeface="Cambria Math" panose="02040503050406030204" pitchFamily="18" charset="0"/>
                          </a:rPr>
                          <m:t>𝑣</m:t>
                        </m:r>
                      </m:sub>
                    </m:sSub>
                    <m:r>
                      <a:rPr lang="en-GB" b="1" i="1" smtClean="0">
                        <a:latin typeface="Cambria Math" panose="02040503050406030204" pitchFamily="18" charset="0"/>
                      </a:rPr>
                      <m:t>=</m:t>
                    </m:r>
                    <m:r>
                      <a:rPr lang="en-GB" b="0" i="1" smtClean="0">
                        <a:latin typeface="Cambria Math" panose="02040503050406030204" pitchFamily="18" charset="0"/>
                      </a:rPr>
                      <m:t>𝐼</m:t>
                    </m:r>
                  </m:oMath>
                </a14:m>
                <a:r>
                  <a:rPr lang="en-GB" dirty="0"/>
                  <a:t> and </a:t>
                </a:r>
                <a14:m>
                  <m:oMath xmlns:m="http://schemas.openxmlformats.org/officeDocument/2006/math">
                    <m:sSub>
                      <m:sSubPr>
                        <m:ctrlPr>
                          <a:rPr lang="en-GB" b="1" i="1">
                            <a:latin typeface="Cambria Math" panose="02040503050406030204" pitchFamily="18" charset="0"/>
                            <a:ea typeface="Cambria Math" panose="02040503050406030204" pitchFamily="18" charset="0"/>
                          </a:rPr>
                        </m:ctrlPr>
                      </m:sSubPr>
                      <m:e>
                        <m:r>
                          <a:rPr lang="en-GB" b="1" i="1">
                            <a:latin typeface="Cambria Math" panose="02040503050406030204" pitchFamily="18" charset="0"/>
                            <a:ea typeface="Cambria Math" panose="02040503050406030204" pitchFamily="18" charset="0"/>
                          </a:rPr>
                          <m:t>𝑹</m:t>
                        </m:r>
                      </m:e>
                      <m:sub>
                        <m:r>
                          <a:rPr lang="en-GB" i="1">
                            <a:latin typeface="Cambria Math" panose="02040503050406030204" pitchFamily="18" charset="0"/>
                            <a:ea typeface="Cambria Math" panose="02040503050406030204" pitchFamily="18" charset="0"/>
                          </a:rPr>
                          <m:t>𝛾</m:t>
                        </m:r>
                      </m:sub>
                    </m:sSub>
                  </m:oMath>
                </a14:m>
                <a:r>
                  <a:rPr lang="en-GB" dirty="0"/>
                  <a:t> is a structure matrix with a neighbourhood structure specified through an RW(1), an RW(2) or an AR(1)</a:t>
                </a:r>
              </a:p>
              <a:p>
                <a:endParaRPr lang="en-GB" dirty="0"/>
              </a:p>
              <a:p>
                <a:pPr marL="0" indent="0">
                  <a:buNone/>
                </a:pPr>
                <a:r>
                  <a:rPr lang="en-GB" dirty="0"/>
                  <a:t>Interpretation: The parameters for the </a:t>
                </a:r>
                <a14:m>
                  <m:oMath xmlns:m="http://schemas.openxmlformats.org/officeDocument/2006/math">
                    <m:r>
                      <a:rPr lang="en-GB" b="0" i="1" smtClean="0">
                        <a:latin typeface="Cambria Math" panose="02040503050406030204" pitchFamily="18" charset="0"/>
                      </a:rPr>
                      <m:t>𝑖</m:t>
                    </m:r>
                  </m:oMath>
                </a14:m>
                <a:r>
                  <a:rPr lang="en-GB" dirty="0" err="1"/>
                  <a:t>th</a:t>
                </a:r>
                <a:r>
                  <a:rPr lang="en-GB" dirty="0"/>
                  <a:t> area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𝛿</m:t>
                        </m:r>
                      </m:e>
                      <m:sub>
                        <m:r>
                          <a:rPr lang="en-GB" i="1">
                            <a:latin typeface="Cambria Math" panose="02040503050406030204" pitchFamily="18" charset="0"/>
                          </a:rPr>
                          <m:t>𝑖</m:t>
                        </m:r>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𝛿</m:t>
                        </m:r>
                      </m:e>
                      <m:sub>
                        <m:r>
                          <a:rPr lang="en-GB" i="1">
                            <a:latin typeface="Cambria Math" panose="02040503050406030204" pitchFamily="18" charset="0"/>
                          </a:rPr>
                          <m:t>𝑖</m:t>
                        </m:r>
                        <m:r>
                          <a:rPr lang="en-GB" b="0" i="1" smtClean="0">
                            <a:latin typeface="Cambria Math" panose="02040503050406030204" pitchFamily="18" charset="0"/>
                          </a:rPr>
                          <m:t>𝑇</m:t>
                        </m:r>
                      </m:sub>
                    </m:sSub>
                  </m:oMath>
                </a14:m>
                <a:r>
                  <a:rPr lang="en-GB" dirty="0"/>
                  <a:t> have an autoregressive temporal structure, which is independent from those of other areas.</a:t>
                </a:r>
              </a:p>
              <a:p>
                <a:pPr marL="0" indent="0">
                  <a:buNone/>
                </a:pPr>
                <a:endParaRPr lang="en-GB" dirty="0"/>
              </a:p>
            </p:txBody>
          </p:sp>
        </mc:Choice>
        <mc:Fallback xmlns="">
          <p:sp>
            <p:nvSpPr>
              <p:cNvPr id="3" name="Content Placeholder 2">
                <a:extLst>
                  <a:ext uri="{FF2B5EF4-FFF2-40B4-BE49-F238E27FC236}">
                    <a16:creationId xmlns:a16="http://schemas.microsoft.com/office/drawing/2014/main" id="{2A549CB1-1438-35CF-7685-2BBCC3EF5A9B}"/>
                  </a:ext>
                </a:extLst>
              </p:cNvPr>
              <p:cNvSpPr>
                <a:spLocks noGrp="1" noRot="1" noChangeAspect="1" noMove="1" noResize="1" noEditPoints="1" noAdjustHandles="1" noChangeArrowheads="1" noChangeShapeType="1" noTextEdit="1"/>
              </p:cNvSpPr>
              <p:nvPr>
                <p:ph idx="1"/>
              </p:nvPr>
            </p:nvSpPr>
            <p:spPr>
              <a:xfrm>
                <a:off x="916858" y="1435049"/>
                <a:ext cx="10515600" cy="3591949"/>
              </a:xfrm>
              <a:blipFill>
                <a:blip r:embed="rId2"/>
                <a:stretch>
                  <a:fillRect l="-1159" t="-2881" b="-152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8BE594C-1897-FB3C-7FF0-176CD9BEC967}"/>
                  </a:ext>
                </a:extLst>
              </p:cNvPr>
              <p:cNvSpPr txBox="1"/>
              <p:nvPr/>
            </p:nvSpPr>
            <p:spPr>
              <a:xfrm>
                <a:off x="108155" y="5026998"/>
                <a:ext cx="11975690" cy="1606530"/>
              </a:xfrm>
              <a:prstGeom prst="rect">
                <a:avLst/>
              </a:prstGeom>
              <a:noFill/>
            </p:spPr>
            <p:txBody>
              <a:bodyPr wrap="square" rtlCol="0">
                <a:spAutoFit/>
              </a:bodyPr>
              <a:lstStyle/>
              <a:p>
                <a:r>
                  <a:rPr lang="en-GB" dirty="0"/>
                  <a:t>For an RW1,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𝛾</m:t>
                        </m:r>
                      </m:e>
                      <m:sub>
                        <m:r>
                          <a:rPr lang="en-GB" b="0" i="1" smtClean="0">
                            <a:latin typeface="Cambria Math" panose="02040503050406030204" pitchFamily="18" charset="0"/>
                          </a:rPr>
                          <m:t>𝑡</m:t>
                        </m:r>
                      </m:sub>
                    </m:sSub>
                    <m:r>
                      <a:rPr lang="en-GB" b="0" i="1" smtClean="0">
                        <a:latin typeface="Cambria Math" panose="02040503050406030204" pitchFamily="18" charset="0"/>
                      </a:rPr>
                      <m:t>∼</m:t>
                    </m:r>
                    <m:r>
                      <a:rPr lang="en-GB" b="0" i="1" smtClean="0">
                        <a:latin typeface="Cambria Math" panose="02040503050406030204" pitchFamily="18" charset="0"/>
                      </a:rPr>
                      <m:t>𝑅𝑊</m:t>
                    </m:r>
                    <m:r>
                      <a:rPr lang="en-GB" b="0" i="1" smtClean="0">
                        <a:latin typeface="Cambria Math" panose="02040503050406030204" pitchFamily="18" charset="0"/>
                      </a:rPr>
                      <m:t>1 ⇒</m:t>
                    </m:r>
                    <m:r>
                      <a:rPr lang="en-GB" b="0" i="1" smtClean="0">
                        <a:latin typeface="Cambria Math" panose="02040503050406030204" pitchFamily="18" charset="0"/>
                        <a:ea typeface="Cambria Math" panose="02040503050406030204" pitchFamily="18" charset="0"/>
                      </a:rPr>
                      <m:t>𝑝</m:t>
                    </m:r>
                    <m:d>
                      <m:dPr>
                        <m:ctrlPr>
                          <a:rPr lang="en-GB" b="0" i="1" smtClean="0">
                            <a:latin typeface="Cambria Math" panose="02040503050406030204" pitchFamily="18" charset="0"/>
                            <a:ea typeface="Cambria Math" panose="02040503050406030204" pitchFamily="18" charset="0"/>
                          </a:rPr>
                        </m:ctrlPr>
                      </m:dPr>
                      <m:e>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𝛾</m:t>
                            </m:r>
                          </m:e>
                          <m:sub>
                            <m:r>
                              <a:rPr lang="en-GB" b="0" i="1" smtClean="0">
                                <a:latin typeface="Cambria Math" panose="02040503050406030204" pitchFamily="18" charset="0"/>
                                <a:ea typeface="Cambria Math" panose="02040503050406030204" pitchFamily="18" charset="0"/>
                              </a:rPr>
                              <m:t>1</m:t>
                            </m:r>
                          </m:sub>
                        </m:sSub>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𝛾</m:t>
                            </m:r>
                          </m:e>
                          <m:sub>
                            <m:r>
                              <a:rPr lang="en-GB" b="0" i="1" smtClean="0">
                                <a:latin typeface="Cambria Math" panose="02040503050406030204" pitchFamily="18" charset="0"/>
                                <a:ea typeface="Cambria Math" panose="02040503050406030204" pitchFamily="18" charset="0"/>
                              </a:rPr>
                              <m:t>𝑇</m:t>
                            </m:r>
                          </m:sub>
                        </m:sSub>
                      </m:e>
                      <m:e>
                        <m:r>
                          <a:rPr lang="en-GB" b="0" i="1" smtClean="0">
                            <a:latin typeface="Cambria Math" panose="02040503050406030204" pitchFamily="18" charset="0"/>
                            <a:ea typeface="Cambria Math" panose="02040503050406030204" pitchFamily="18" charset="0"/>
                          </a:rPr>
                          <m:t>𝜏</m:t>
                        </m:r>
                      </m:e>
                    </m:d>
                    <m:r>
                      <a:rPr lang="en-GB" b="0" i="1" smtClean="0">
                        <a:latin typeface="Cambria Math" panose="02040503050406030204" pitchFamily="18" charset="0"/>
                        <a:ea typeface="Cambria Math" panose="02040503050406030204" pitchFamily="18" charset="0"/>
                      </a:rPr>
                      <m:t>∝</m:t>
                    </m:r>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𝜏</m:t>
                        </m:r>
                      </m:e>
                      <m:sup>
                        <m:f>
                          <m:fP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𝑇</m:t>
                            </m:r>
                            <m:r>
                              <a:rPr lang="en-GB" b="0" i="1" smtClean="0">
                                <a:latin typeface="Cambria Math" panose="02040503050406030204" pitchFamily="18" charset="0"/>
                                <a:ea typeface="Cambria Math" panose="02040503050406030204" pitchFamily="18" charset="0"/>
                              </a:rPr>
                              <m:t>−1</m:t>
                            </m:r>
                          </m:num>
                          <m:den>
                            <m:r>
                              <a:rPr lang="en-GB" b="0" i="1" smtClean="0">
                                <a:latin typeface="Cambria Math" panose="02040503050406030204" pitchFamily="18" charset="0"/>
                                <a:ea typeface="Cambria Math" panose="02040503050406030204" pitchFamily="18" charset="0"/>
                              </a:rPr>
                              <m:t>2</m:t>
                            </m:r>
                          </m:den>
                        </m:f>
                      </m:sup>
                    </m:sSup>
                    <m:func>
                      <m:funcPr>
                        <m:ctrlPr>
                          <a:rPr lang="en-GB" b="0" i="0" smtClean="0">
                            <a:latin typeface="Cambria Math" panose="02040503050406030204" pitchFamily="18" charset="0"/>
                            <a:ea typeface="Cambria Math" panose="02040503050406030204" pitchFamily="18" charset="0"/>
                          </a:rPr>
                        </m:ctrlPr>
                      </m:funcPr>
                      <m:fName>
                        <m:r>
                          <m:rPr>
                            <m:sty m:val="p"/>
                          </m:rPr>
                          <a:rPr lang="en-GB" b="0" i="0" smtClean="0">
                            <a:latin typeface="Cambria Math" panose="02040503050406030204" pitchFamily="18" charset="0"/>
                            <a:ea typeface="Cambria Math" panose="02040503050406030204" pitchFamily="18" charset="0"/>
                          </a:rPr>
                          <m:t>exp</m:t>
                        </m:r>
                      </m:fName>
                      <m:e>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m:t>
                            </m:r>
                            <m:f>
                              <m:fP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𝜏</m:t>
                                </m:r>
                              </m:num>
                              <m:den>
                                <m:r>
                                  <a:rPr lang="en-GB" b="0" i="1" smtClean="0">
                                    <a:latin typeface="Cambria Math" panose="02040503050406030204" pitchFamily="18" charset="0"/>
                                    <a:ea typeface="Cambria Math" panose="02040503050406030204" pitchFamily="18" charset="0"/>
                                  </a:rPr>
                                  <m:t>2</m:t>
                                </m:r>
                              </m:den>
                            </m:f>
                            <m:nary>
                              <m:naryPr>
                                <m:chr m:val="∑"/>
                                <m:limLoc m:val="subSup"/>
                                <m:ctrlPr>
                                  <a:rPr lang="en-GB" b="0" i="1" smtClean="0">
                                    <a:latin typeface="Cambria Math" panose="02040503050406030204" pitchFamily="18" charset="0"/>
                                    <a:ea typeface="Cambria Math" panose="02040503050406030204" pitchFamily="18" charset="0"/>
                                  </a:rPr>
                                </m:ctrlPr>
                              </m:naryPr>
                              <m:sub>
                                <m:r>
                                  <m:rPr>
                                    <m:brk m:alnAt="25"/>
                                  </m:rPr>
                                  <a:rPr lang="en-GB" b="0" i="1" smtClean="0">
                                    <a:latin typeface="Cambria Math" panose="02040503050406030204" pitchFamily="18" charset="0"/>
                                    <a:ea typeface="Cambria Math" panose="02040503050406030204" pitchFamily="18" charset="0"/>
                                  </a:rPr>
                                  <m:t>𝑡</m:t>
                                </m:r>
                                <m:r>
                                  <m:rPr>
                                    <m:brk m:alnAt="25"/>
                                  </m:rPr>
                                  <a:rPr lang="en-GB" b="0" i="1" smtClean="0">
                                    <a:latin typeface="Cambria Math" panose="02040503050406030204" pitchFamily="18" charset="0"/>
                                    <a:ea typeface="Cambria Math" panose="02040503050406030204" pitchFamily="18" charset="0"/>
                                  </a:rPr>
                                  <m:t>=</m:t>
                                </m:r>
                                <m:r>
                                  <m:rPr>
                                    <m:brk m:alnAt="25"/>
                                  </m:rPr>
                                  <a:rPr lang="en-GB" b="0" i="1" smtClean="0">
                                    <a:latin typeface="Cambria Math" panose="02040503050406030204" pitchFamily="18" charset="0"/>
                                    <a:ea typeface="Cambria Math" panose="02040503050406030204" pitchFamily="18" charset="0"/>
                                  </a:rPr>
                                  <m:t>2</m:t>
                                </m:r>
                              </m:sub>
                              <m:sup>
                                <m:r>
                                  <a:rPr lang="en-GB" b="0" i="1" smtClean="0">
                                    <a:latin typeface="Cambria Math" panose="02040503050406030204" pitchFamily="18" charset="0"/>
                                    <a:ea typeface="Cambria Math" panose="02040503050406030204" pitchFamily="18" charset="0"/>
                                  </a:rPr>
                                  <m:t>𝑇</m:t>
                                </m:r>
                              </m:sup>
                              <m:e>
                                <m:sSup>
                                  <m:sSupPr>
                                    <m:ctrlPr>
                                      <a:rPr lang="en-GB" b="0" i="1" smtClean="0">
                                        <a:latin typeface="Cambria Math" panose="02040503050406030204" pitchFamily="18" charset="0"/>
                                        <a:ea typeface="Cambria Math" panose="02040503050406030204" pitchFamily="18" charset="0"/>
                                      </a:rPr>
                                    </m:ctrlPr>
                                  </m:sSupPr>
                                  <m:e>
                                    <m:d>
                                      <m:dPr>
                                        <m:ctrlPr>
                                          <a:rPr lang="en-GB" b="0" i="1" smtClean="0">
                                            <a:latin typeface="Cambria Math" panose="02040503050406030204" pitchFamily="18" charset="0"/>
                                            <a:ea typeface="Cambria Math" panose="02040503050406030204" pitchFamily="18" charset="0"/>
                                          </a:rPr>
                                        </m:ctrlPr>
                                      </m:dPr>
                                      <m:e>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𝛾</m:t>
                                            </m:r>
                                          </m:e>
                                          <m:sub>
                                            <m:r>
                                              <a:rPr lang="en-GB" b="0" i="1" smtClean="0">
                                                <a:latin typeface="Cambria Math" panose="02040503050406030204" pitchFamily="18" charset="0"/>
                                                <a:ea typeface="Cambria Math" panose="02040503050406030204" pitchFamily="18" charset="0"/>
                                              </a:rPr>
                                              <m:t>𝑡</m:t>
                                            </m:r>
                                          </m:sub>
                                        </m:sSub>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𝛾</m:t>
                                            </m:r>
                                          </m:e>
                                          <m:sub>
                                            <m:r>
                                              <a:rPr lang="en-GB" b="0" i="1" smtClean="0">
                                                <a:latin typeface="Cambria Math" panose="02040503050406030204" pitchFamily="18" charset="0"/>
                                                <a:ea typeface="Cambria Math" panose="02040503050406030204" pitchFamily="18" charset="0"/>
                                              </a:rPr>
                                              <m:t>𝑡</m:t>
                                            </m:r>
                                            <m:r>
                                              <a:rPr lang="en-GB" b="0" i="1" smtClean="0">
                                                <a:latin typeface="Cambria Math" panose="02040503050406030204" pitchFamily="18" charset="0"/>
                                                <a:ea typeface="Cambria Math" panose="02040503050406030204" pitchFamily="18" charset="0"/>
                                              </a:rPr>
                                              <m:t>−1</m:t>
                                            </m:r>
                                          </m:sub>
                                        </m:sSub>
                                      </m:e>
                                    </m:d>
                                  </m:e>
                                  <m:sup>
                                    <m:r>
                                      <a:rPr lang="en-GB" b="0" i="1" smtClean="0">
                                        <a:latin typeface="Cambria Math" panose="02040503050406030204" pitchFamily="18" charset="0"/>
                                        <a:ea typeface="Cambria Math" panose="02040503050406030204" pitchFamily="18" charset="0"/>
                                      </a:rPr>
                                      <m:t>2</m:t>
                                    </m:r>
                                  </m:sup>
                                </m:sSup>
                              </m:e>
                            </m:nary>
                          </m:e>
                        </m:d>
                      </m:e>
                    </m:func>
                  </m:oMath>
                </a14:m>
                <a:r>
                  <a:rPr lang="en-GB" b="0" dirty="0">
                    <a:ea typeface="Cambria Math" panose="02040503050406030204" pitchFamily="18" charset="0"/>
                  </a:rPr>
                  <a:t> (</a:t>
                </a:r>
                <a14:m>
                  <m:oMath xmlns:m="http://schemas.openxmlformats.org/officeDocument/2006/math">
                    <m:r>
                      <a:rPr lang="en-GB" b="0" i="1" dirty="0" smtClean="0">
                        <a:latin typeface="Cambria Math" panose="02040503050406030204" pitchFamily="18" charset="0"/>
                        <a:ea typeface="Cambria Math" panose="02040503050406030204" pitchFamily="18" charset="0"/>
                      </a:rPr>
                      <m:t>𝜏</m:t>
                    </m:r>
                  </m:oMath>
                </a14:m>
                <a:r>
                  <a:rPr lang="en-GB" b="0" dirty="0">
                    <a:ea typeface="Cambria Math" panose="02040503050406030204" pitchFamily="18" charset="0"/>
                  </a:rPr>
                  <a:t> is a precision parameter)</a:t>
                </a:r>
              </a:p>
              <a:p>
                <a:r>
                  <a:rPr lang="en-GB" dirty="0"/>
                  <a:t>The quadratic form can be expressed as </a:t>
                </a:r>
                <a14:m>
                  <m:oMath xmlns:m="http://schemas.openxmlformats.org/officeDocument/2006/math">
                    <m:nary>
                      <m:naryPr>
                        <m:chr m:val="∑"/>
                        <m:limLoc m:val="subSup"/>
                        <m:ctrlPr>
                          <a:rPr lang="en-GB" i="1">
                            <a:latin typeface="Cambria Math" panose="02040503050406030204" pitchFamily="18" charset="0"/>
                            <a:ea typeface="Cambria Math" panose="02040503050406030204" pitchFamily="18" charset="0"/>
                          </a:rPr>
                        </m:ctrlPr>
                      </m:naryPr>
                      <m:sub>
                        <m:r>
                          <m:rPr>
                            <m:brk m:alnAt="25"/>
                          </m:rPr>
                          <a:rPr lang="en-GB" i="1">
                            <a:latin typeface="Cambria Math" panose="02040503050406030204" pitchFamily="18" charset="0"/>
                            <a:ea typeface="Cambria Math" panose="02040503050406030204" pitchFamily="18" charset="0"/>
                          </a:rPr>
                          <m:t>𝑡</m:t>
                        </m:r>
                        <m:r>
                          <m:rPr>
                            <m:brk m:alnAt="25"/>
                          </m:rPr>
                          <a:rPr lang="en-GB" i="1">
                            <a:latin typeface="Cambria Math" panose="02040503050406030204" pitchFamily="18" charset="0"/>
                            <a:ea typeface="Cambria Math" panose="02040503050406030204" pitchFamily="18" charset="0"/>
                          </a:rPr>
                          <m:t>=</m:t>
                        </m:r>
                        <m:r>
                          <m:rPr>
                            <m:brk m:alnAt="25"/>
                          </m:rPr>
                          <a:rPr lang="en-GB" i="1">
                            <a:latin typeface="Cambria Math" panose="02040503050406030204" pitchFamily="18" charset="0"/>
                            <a:ea typeface="Cambria Math" panose="02040503050406030204" pitchFamily="18" charset="0"/>
                          </a:rPr>
                          <m:t>2</m:t>
                        </m:r>
                      </m:sub>
                      <m:sup>
                        <m:r>
                          <a:rPr lang="en-GB" i="1">
                            <a:latin typeface="Cambria Math" panose="02040503050406030204" pitchFamily="18" charset="0"/>
                            <a:ea typeface="Cambria Math" panose="02040503050406030204" pitchFamily="18" charset="0"/>
                          </a:rPr>
                          <m:t>𝑇</m:t>
                        </m:r>
                      </m:sup>
                      <m:e>
                        <m:sSup>
                          <m:sSupPr>
                            <m:ctrlPr>
                              <a:rPr lang="en-GB" i="1">
                                <a:latin typeface="Cambria Math" panose="02040503050406030204" pitchFamily="18" charset="0"/>
                                <a:ea typeface="Cambria Math" panose="02040503050406030204" pitchFamily="18" charset="0"/>
                              </a:rPr>
                            </m:ctrlPr>
                          </m:sSupPr>
                          <m:e>
                            <m:d>
                              <m:dPr>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𝛾</m:t>
                                    </m:r>
                                  </m:e>
                                  <m:sub>
                                    <m:r>
                                      <a:rPr lang="en-GB" i="1">
                                        <a:latin typeface="Cambria Math" panose="02040503050406030204" pitchFamily="18" charset="0"/>
                                        <a:ea typeface="Cambria Math" panose="02040503050406030204" pitchFamily="18" charset="0"/>
                                      </a:rPr>
                                      <m:t>𝑡</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𝛾</m:t>
                                    </m:r>
                                  </m:e>
                                  <m:sub>
                                    <m:r>
                                      <a:rPr lang="en-GB" i="1">
                                        <a:latin typeface="Cambria Math" panose="02040503050406030204" pitchFamily="18" charset="0"/>
                                        <a:ea typeface="Cambria Math" panose="02040503050406030204" pitchFamily="18" charset="0"/>
                                      </a:rPr>
                                      <m:t>𝑡</m:t>
                                    </m:r>
                                    <m:r>
                                      <a:rPr lang="en-GB" i="1">
                                        <a:latin typeface="Cambria Math" panose="02040503050406030204" pitchFamily="18" charset="0"/>
                                        <a:ea typeface="Cambria Math" panose="02040503050406030204" pitchFamily="18" charset="0"/>
                                      </a:rPr>
                                      <m:t>−1</m:t>
                                    </m:r>
                                  </m:sub>
                                </m:sSub>
                              </m:e>
                            </m:d>
                          </m:e>
                          <m:sup>
                            <m:r>
                              <a:rPr lang="en-GB" i="1">
                                <a:latin typeface="Cambria Math" panose="02040503050406030204" pitchFamily="18" charset="0"/>
                                <a:ea typeface="Cambria Math" panose="02040503050406030204" pitchFamily="18" charset="0"/>
                              </a:rPr>
                              <m:t>2</m:t>
                            </m:r>
                          </m:sup>
                        </m:sSup>
                      </m:e>
                    </m:nary>
                    <m:r>
                      <a:rPr lang="en-GB" b="0" i="1" smtClean="0">
                        <a:latin typeface="Cambria Math" panose="02040503050406030204" pitchFamily="18" charset="0"/>
                        <a:ea typeface="Cambria Math" panose="02040503050406030204" pitchFamily="18" charset="0"/>
                      </a:rPr>
                      <m:t>=</m:t>
                    </m:r>
                    <m:sSup>
                      <m:sSupPr>
                        <m:ctrlPr>
                          <a:rPr lang="en-GB" b="1" i="1" smtClean="0">
                            <a:latin typeface="Cambria Math" panose="02040503050406030204" pitchFamily="18" charset="0"/>
                            <a:ea typeface="Cambria Math" panose="02040503050406030204" pitchFamily="18" charset="0"/>
                          </a:rPr>
                        </m:ctrlPr>
                      </m:sSupPr>
                      <m:e>
                        <m:r>
                          <a:rPr lang="en-GB" b="1" i="1" smtClean="0">
                            <a:latin typeface="Cambria Math" panose="02040503050406030204" pitchFamily="18" charset="0"/>
                            <a:ea typeface="Cambria Math" panose="02040503050406030204" pitchFamily="18" charset="0"/>
                          </a:rPr>
                          <m:t>𝜸</m:t>
                        </m:r>
                      </m:e>
                      <m:sup>
                        <m:r>
                          <a:rPr lang="en-GB" b="0" i="1" smtClean="0">
                            <a:latin typeface="Cambria Math" panose="02040503050406030204" pitchFamily="18" charset="0"/>
                            <a:ea typeface="Cambria Math" panose="02040503050406030204" pitchFamily="18" charset="0"/>
                          </a:rPr>
                          <m:t>′</m:t>
                        </m:r>
                      </m:sup>
                    </m:sSup>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𝑅</m:t>
                        </m:r>
                      </m:e>
                      <m:sub>
                        <m:r>
                          <a:rPr lang="en-GB" b="0" i="1" smtClean="0">
                            <a:latin typeface="Cambria Math" panose="02040503050406030204" pitchFamily="18" charset="0"/>
                            <a:ea typeface="Cambria Math" panose="02040503050406030204" pitchFamily="18" charset="0"/>
                          </a:rPr>
                          <m:t>𝛾</m:t>
                        </m:r>
                      </m:sub>
                    </m:sSub>
                    <m:r>
                      <a:rPr lang="en-GB" b="1" i="1" smtClean="0">
                        <a:latin typeface="Cambria Math" panose="02040503050406030204" pitchFamily="18" charset="0"/>
                        <a:ea typeface="Cambria Math" panose="02040503050406030204" pitchFamily="18" charset="0"/>
                      </a:rPr>
                      <m:t>𝜸</m:t>
                    </m:r>
                  </m:oMath>
                </a14:m>
                <a:r>
                  <a:rPr lang="en-GB" dirty="0"/>
                  <a:t>, where the structure matrix </a:t>
                </a:r>
                <a14:m>
                  <m:oMath xmlns:m="http://schemas.openxmlformats.org/officeDocument/2006/math">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𝑅</m:t>
                        </m:r>
                      </m:e>
                      <m:sub>
                        <m:r>
                          <a:rPr lang="en-GB" sz="1200" b="0" i="1" smtClean="0">
                            <a:latin typeface="Cambria Math" panose="02040503050406030204" pitchFamily="18" charset="0"/>
                          </a:rPr>
                          <m:t>𝛾</m:t>
                        </m:r>
                      </m:sub>
                    </m:sSub>
                    <m:r>
                      <a:rPr lang="en-GB" sz="1200" b="1" i="0" smtClean="0">
                        <a:latin typeface="Cambria Math" panose="02040503050406030204" pitchFamily="18" charset="0"/>
                      </a:rPr>
                      <m:t>=</m:t>
                    </m:r>
                    <m:sSub>
                      <m:sSubPr>
                        <m:ctrlPr>
                          <a:rPr lang="en-GB" sz="1200" b="1" i="1" smtClean="0">
                            <a:latin typeface="Cambria Math" panose="02040503050406030204" pitchFamily="18" charset="0"/>
                          </a:rPr>
                        </m:ctrlPr>
                      </m:sSubPr>
                      <m:e>
                        <m:d>
                          <m:dPr>
                            <m:ctrlPr>
                              <a:rPr lang="en-GB" sz="1200" b="1" i="1" smtClean="0">
                                <a:latin typeface="Cambria Math" panose="02040503050406030204" pitchFamily="18" charset="0"/>
                              </a:rPr>
                            </m:ctrlPr>
                          </m:dPr>
                          <m:e>
                            <m:m>
                              <m:mPr>
                                <m:mcs>
                                  <m:mc>
                                    <m:mcPr>
                                      <m:count m:val="5"/>
                                      <m:mcJc m:val="center"/>
                                    </m:mcPr>
                                  </m:mc>
                                </m:mcs>
                                <m:ctrlPr>
                                  <a:rPr lang="en-GB" sz="1200" b="1" i="1" smtClean="0">
                                    <a:latin typeface="Cambria Math" panose="02040503050406030204" pitchFamily="18" charset="0"/>
                                  </a:rPr>
                                </m:ctrlPr>
                              </m:mPr>
                              <m:mr>
                                <m:e>
                                  <m:r>
                                    <m:rPr>
                                      <m:brk m:alnAt="7"/>
                                    </m:rPr>
                                    <a:rPr lang="en-GB" sz="1200" b="0" i="1" smtClean="0">
                                      <a:latin typeface="Cambria Math" panose="02040503050406030204" pitchFamily="18" charset="0"/>
                                    </a:rPr>
                                    <m:t>1</m:t>
                                  </m:r>
                                </m:e>
                                <m:e>
                                  <m:r>
                                    <a:rPr lang="en-GB" sz="1200" b="0" i="1" smtClean="0">
                                      <a:latin typeface="Cambria Math" panose="02040503050406030204" pitchFamily="18" charset="0"/>
                                    </a:rPr>
                                    <m:t>−1</m:t>
                                  </m:r>
                                </m:e>
                                <m:e>
                                  <m:r>
                                    <a:rPr lang="en-GB" sz="1200" b="0" i="1" smtClean="0">
                                      <a:latin typeface="Cambria Math" panose="02040503050406030204" pitchFamily="18" charset="0"/>
                                    </a:rPr>
                                    <m:t>0</m:t>
                                  </m:r>
                                </m:e>
                                <m:e>
                                  <m:r>
                                    <a:rPr lang="en-GB" sz="1200" b="0" i="1" smtClean="0">
                                      <a:latin typeface="Cambria Math" panose="02040503050406030204" pitchFamily="18" charset="0"/>
                                    </a:rPr>
                                    <m:t>…</m:t>
                                  </m:r>
                                </m:e>
                                <m:e>
                                  <m:r>
                                    <a:rPr lang="en-GB" sz="1200" b="0" i="1" smtClean="0">
                                      <a:latin typeface="Cambria Math" panose="02040503050406030204" pitchFamily="18" charset="0"/>
                                    </a:rPr>
                                    <m:t>0</m:t>
                                  </m:r>
                                </m:e>
                              </m:mr>
                              <m:mr>
                                <m:e>
                                  <m:r>
                                    <a:rPr lang="en-GB" sz="1200" b="0" i="1" smtClean="0">
                                      <a:latin typeface="Cambria Math" panose="02040503050406030204" pitchFamily="18" charset="0"/>
                                    </a:rPr>
                                    <m:t>−1</m:t>
                                  </m:r>
                                </m:e>
                                <m:e>
                                  <m:r>
                                    <a:rPr lang="en-GB" sz="1200" b="0" i="1" smtClean="0">
                                      <a:latin typeface="Cambria Math" panose="02040503050406030204" pitchFamily="18" charset="0"/>
                                    </a:rPr>
                                    <m:t>2</m:t>
                                  </m:r>
                                </m:e>
                                <m:e>
                                  <m:r>
                                    <a:rPr lang="en-GB" sz="1200" b="0" i="1" smtClean="0">
                                      <a:latin typeface="Cambria Math" panose="02040503050406030204" pitchFamily="18" charset="0"/>
                                    </a:rPr>
                                    <m:t>−1</m:t>
                                  </m:r>
                                </m:e>
                                <m:e/>
                                <m:e/>
                              </m:mr>
                              <m:mr>
                                <m:e>
                                  <m:r>
                                    <a:rPr lang="en-GB" sz="1200" b="0" i="1" smtClean="0">
                                      <a:latin typeface="Cambria Math" panose="02040503050406030204" pitchFamily="18" charset="0"/>
                                    </a:rPr>
                                    <m:t>0</m:t>
                                  </m:r>
                                </m:e>
                                <m:e>
                                  <m:r>
                                    <a:rPr lang="en-GB" sz="1200" b="0" i="1" smtClean="0">
                                      <a:latin typeface="Cambria Math" panose="02040503050406030204" pitchFamily="18" charset="0"/>
                                    </a:rPr>
                                    <m:t>−1</m:t>
                                  </m:r>
                                </m:e>
                                <m:e>
                                  <m:r>
                                    <a:rPr lang="en-GB" sz="1200" b="0" i="1" smtClean="0">
                                      <a:latin typeface="Cambria Math" panose="02040503050406030204" pitchFamily="18" charset="0"/>
                                    </a:rPr>
                                    <m:t>2</m:t>
                                  </m:r>
                                </m:e>
                                <m:e>
                                  <m:r>
                                    <a:rPr lang="en-GB" sz="1200" b="0" i="1" smtClean="0">
                                      <a:latin typeface="Cambria Math" panose="02040503050406030204" pitchFamily="18" charset="0"/>
                                    </a:rPr>
                                    <m:t>−1</m:t>
                                  </m:r>
                                </m:e>
                                <m:e/>
                              </m:mr>
                              <m:mr>
                                <m:e>
                                  <m:r>
                                    <a:rPr lang="en-GB" sz="1200" b="0" i="1" smtClean="0">
                                      <a:latin typeface="Cambria Math" panose="02040503050406030204" pitchFamily="18" charset="0"/>
                                    </a:rPr>
                                    <m:t>⋮</m:t>
                                  </m:r>
                                </m:e>
                                <m:e>
                                  <m:r>
                                    <a:rPr lang="en-GB" sz="1200" i="1">
                                      <a:latin typeface="Cambria Math" panose="02040503050406030204" pitchFamily="18" charset="0"/>
                                    </a:rPr>
                                    <m:t>⋱</m:t>
                                  </m:r>
                                </m:e>
                                <m:e>
                                  <m:r>
                                    <a:rPr lang="en-GB" sz="1200" b="0" i="1" smtClean="0">
                                      <a:latin typeface="Cambria Math" panose="02040503050406030204" pitchFamily="18" charset="0"/>
                                    </a:rPr>
                                    <m:t>⋱</m:t>
                                  </m:r>
                                </m:e>
                                <m:e>
                                  <m:r>
                                    <a:rPr lang="en-GB" sz="1200" b="0" i="1" smtClean="0">
                                      <a:latin typeface="Cambria Math" panose="02040503050406030204" pitchFamily="18" charset="0"/>
                                    </a:rPr>
                                    <m:t>⋱</m:t>
                                  </m:r>
                                </m:e>
                                <m:e>
                                  <m:r>
                                    <a:rPr lang="en-GB" sz="1200" b="0" i="1" smtClean="0">
                                      <a:latin typeface="Cambria Math" panose="02040503050406030204" pitchFamily="18" charset="0"/>
                                    </a:rPr>
                                    <m:t>⋮</m:t>
                                  </m:r>
                                </m:e>
                              </m:mr>
                              <m:mr>
                                <m:e/>
                                <m:e/>
                                <m:e>
                                  <m:r>
                                    <a:rPr lang="en-GB" sz="1200" b="0" i="1" smtClean="0">
                                      <a:latin typeface="Cambria Math" panose="02040503050406030204" pitchFamily="18" charset="0"/>
                                    </a:rPr>
                                    <m:t>−1</m:t>
                                  </m:r>
                                </m:e>
                                <m:e>
                                  <m:r>
                                    <a:rPr lang="en-GB" sz="1200" b="0" i="1" smtClean="0">
                                      <a:latin typeface="Cambria Math" panose="02040503050406030204" pitchFamily="18" charset="0"/>
                                    </a:rPr>
                                    <m:t>2</m:t>
                                  </m:r>
                                </m:e>
                                <m:e>
                                  <m:r>
                                    <a:rPr lang="en-GB" sz="1200" b="0" i="1" smtClean="0">
                                      <a:latin typeface="Cambria Math" panose="02040503050406030204" pitchFamily="18" charset="0"/>
                                    </a:rPr>
                                    <m:t>−1</m:t>
                                  </m:r>
                                </m:e>
                              </m:mr>
                              <m:mr>
                                <m:e>
                                  <m:r>
                                    <a:rPr lang="en-GB" sz="1200" b="0" i="1" smtClean="0">
                                      <a:latin typeface="Cambria Math" panose="02040503050406030204" pitchFamily="18" charset="0"/>
                                    </a:rPr>
                                    <m:t>0</m:t>
                                  </m:r>
                                </m:e>
                                <m:e/>
                                <m:e/>
                                <m:e>
                                  <m:r>
                                    <a:rPr lang="en-GB" sz="1200" b="0" i="1" smtClean="0">
                                      <a:latin typeface="Cambria Math" panose="02040503050406030204" pitchFamily="18" charset="0"/>
                                    </a:rPr>
                                    <m:t>−1</m:t>
                                  </m:r>
                                </m:e>
                                <m:e>
                                  <m:r>
                                    <a:rPr lang="en-GB" sz="1200" b="0" i="1" smtClean="0">
                                      <a:latin typeface="Cambria Math" panose="02040503050406030204" pitchFamily="18" charset="0"/>
                                    </a:rPr>
                                    <m:t>1</m:t>
                                  </m:r>
                                </m:e>
                              </m:mr>
                            </m:m>
                          </m:e>
                        </m:d>
                      </m:e>
                      <m:sub>
                        <m:r>
                          <a:rPr lang="en-GB" sz="1200" b="0" i="1" smtClean="0">
                            <a:latin typeface="Cambria Math" panose="02040503050406030204" pitchFamily="18" charset="0"/>
                          </a:rPr>
                          <m:t>𝑇</m:t>
                        </m:r>
                        <m:r>
                          <a:rPr lang="en-GB" sz="1200" b="0" i="1" smtClean="0">
                            <a:latin typeface="Cambria Math" panose="02040503050406030204" pitchFamily="18" charset="0"/>
                          </a:rPr>
                          <m:t>×</m:t>
                        </m:r>
                        <m:r>
                          <a:rPr lang="en-GB" sz="1200" b="0" i="1" smtClean="0">
                            <a:latin typeface="Cambria Math" panose="02040503050406030204" pitchFamily="18" charset="0"/>
                          </a:rPr>
                          <m:t>𝑇</m:t>
                        </m:r>
                      </m:sub>
                    </m:sSub>
                  </m:oMath>
                </a14:m>
                <a:endParaRPr lang="en-GB" sz="1200" dirty="0"/>
              </a:p>
            </p:txBody>
          </p:sp>
        </mc:Choice>
        <mc:Fallback xmlns="">
          <p:sp>
            <p:nvSpPr>
              <p:cNvPr id="4" name="TextBox 3">
                <a:extLst>
                  <a:ext uri="{FF2B5EF4-FFF2-40B4-BE49-F238E27FC236}">
                    <a16:creationId xmlns:a16="http://schemas.microsoft.com/office/drawing/2014/main" id="{28BE594C-1897-FB3C-7FF0-176CD9BEC967}"/>
                  </a:ext>
                </a:extLst>
              </p:cNvPr>
              <p:cNvSpPr txBox="1">
                <a:spLocks noRot="1" noChangeAspect="1" noMove="1" noResize="1" noEditPoints="1" noAdjustHandles="1" noChangeArrowheads="1" noChangeShapeType="1" noTextEdit="1"/>
              </p:cNvSpPr>
              <p:nvPr/>
            </p:nvSpPr>
            <p:spPr>
              <a:xfrm>
                <a:off x="108155" y="5026998"/>
                <a:ext cx="11975690" cy="1606530"/>
              </a:xfrm>
              <a:prstGeom prst="rect">
                <a:avLst/>
              </a:prstGeom>
              <a:blipFill>
                <a:blip r:embed="rId3"/>
                <a:stretch>
                  <a:fillRect l="-45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itle 1">
                <a:extLst>
                  <a:ext uri="{FF2B5EF4-FFF2-40B4-BE49-F238E27FC236}">
                    <a16:creationId xmlns:a16="http://schemas.microsoft.com/office/drawing/2014/main" id="{046B9F8F-FE9F-E9BC-3909-17F338AD4C8F}"/>
                  </a:ext>
                </a:extLst>
              </p:cNvPr>
              <p:cNvSpPr>
                <a:spLocks noGrp="1"/>
              </p:cNvSpPr>
              <p:nvPr>
                <p:ph type="title"/>
              </p:nvPr>
            </p:nvSpPr>
            <p:spPr>
              <a:xfrm>
                <a:off x="296196" y="102265"/>
                <a:ext cx="10931013" cy="578772"/>
              </a:xfrm>
            </p:spPr>
            <p:txBody>
              <a:bodyPr>
                <a:normAutofit fontScale="90000"/>
              </a:bodyPr>
              <a:lstStyle/>
              <a:p>
                <a:r>
                  <a:rPr lang="en-GB" b="1" dirty="0">
                    <a:solidFill>
                      <a:schemeClr val="bg1"/>
                    </a:solidFill>
                    <a:latin typeface="+mn-lt"/>
                  </a:rPr>
                  <a:t>Modelling </a:t>
                </a:r>
                <a14:m>
                  <m:oMath xmlns:m="http://schemas.openxmlformats.org/officeDocument/2006/math">
                    <m:sSub>
                      <m:sSubPr>
                        <m:ctrlPr>
                          <a:rPr lang="en-GB" b="0" i="1">
                            <a:solidFill>
                              <a:schemeClr val="bg1"/>
                            </a:solidFill>
                            <a:latin typeface="Cambria Math" panose="02040503050406030204" pitchFamily="18" charset="0"/>
                          </a:rPr>
                        </m:ctrlPr>
                      </m:sSubPr>
                      <m:e>
                        <m:r>
                          <a:rPr lang="en-GB" b="0" i="1">
                            <a:solidFill>
                              <a:schemeClr val="bg1"/>
                            </a:solidFill>
                            <a:latin typeface="Cambria Math" panose="02040503050406030204" pitchFamily="18" charset="0"/>
                          </a:rPr>
                          <m:t>𝜙</m:t>
                        </m:r>
                      </m:e>
                      <m:sub>
                        <m:r>
                          <a:rPr lang="en-GB" b="0" i="1">
                            <a:solidFill>
                              <a:schemeClr val="bg1"/>
                            </a:solidFill>
                            <a:latin typeface="Cambria Math" panose="02040503050406030204" pitchFamily="18" charset="0"/>
                          </a:rPr>
                          <m:t>𝑖𝑡</m:t>
                        </m:r>
                      </m:sub>
                    </m:sSub>
                  </m:oMath>
                </a14:m>
                <a:r>
                  <a:rPr lang="en-GB" b="1" dirty="0">
                    <a:solidFill>
                      <a:schemeClr val="bg1"/>
                    </a:solidFill>
                    <a:latin typeface="+mn-lt"/>
                  </a:rPr>
                  <a:t> - space-time interaction models </a:t>
                </a:r>
              </a:p>
            </p:txBody>
          </p:sp>
        </mc:Choice>
        <mc:Fallback xmlns="">
          <p:sp>
            <p:nvSpPr>
              <p:cNvPr id="7" name="Title 1">
                <a:extLst>
                  <a:ext uri="{FF2B5EF4-FFF2-40B4-BE49-F238E27FC236}">
                    <a16:creationId xmlns:a16="http://schemas.microsoft.com/office/drawing/2014/main" id="{046B9F8F-FE9F-E9BC-3909-17F338AD4C8F}"/>
                  </a:ext>
                </a:extLst>
              </p:cNvPr>
              <p:cNvSpPr>
                <a:spLocks noGrp="1" noRot="1" noChangeAspect="1" noMove="1" noResize="1" noEditPoints="1" noAdjustHandles="1" noChangeArrowheads="1" noChangeShapeType="1" noTextEdit="1"/>
              </p:cNvSpPr>
              <p:nvPr>
                <p:ph type="title"/>
              </p:nvPr>
            </p:nvSpPr>
            <p:spPr>
              <a:xfrm>
                <a:off x="296196" y="102265"/>
                <a:ext cx="10931013" cy="578772"/>
              </a:xfrm>
              <a:blipFill>
                <a:blip r:embed="rId4"/>
                <a:stretch>
                  <a:fillRect l="-2008" t="-33684" r="-669" b="-51579"/>
                </a:stretch>
              </a:blipFill>
            </p:spPr>
            <p:txBody>
              <a:bodyPr/>
              <a:lstStyle/>
              <a:p>
                <a:r>
                  <a:rPr lang="en-GB">
                    <a:noFill/>
                  </a:rPr>
                  <a:t> </a:t>
                </a:r>
              </a:p>
            </p:txBody>
          </p:sp>
        </mc:Fallback>
      </mc:AlternateContent>
    </p:spTree>
    <p:extLst>
      <p:ext uri="{BB962C8B-B14F-4D97-AF65-F5344CB8AC3E}">
        <p14:creationId xmlns:p14="http://schemas.microsoft.com/office/powerpoint/2010/main" val="19902750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958FD3-8B1D-094F-DA29-9A869242C947}"/>
                  </a:ext>
                </a:extLst>
              </p:cNvPr>
              <p:cNvSpPr>
                <a:spLocks noGrp="1"/>
              </p:cNvSpPr>
              <p:nvPr>
                <p:ph idx="1"/>
              </p:nvPr>
            </p:nvSpPr>
            <p:spPr/>
            <p:txBody>
              <a:bodyPr/>
              <a:lstStyle/>
              <a:p>
                <a:r>
                  <a:rPr lang="en-GB" dirty="0"/>
                  <a:t>Type III interaction: Structured spatial effect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𝑢</m:t>
                        </m:r>
                      </m:e>
                      <m:sub>
                        <m:r>
                          <a:rPr lang="en-GB" i="1">
                            <a:latin typeface="Cambria Math" panose="02040503050406030204" pitchFamily="18" charset="0"/>
                          </a:rPr>
                          <m:t>𝑖</m:t>
                        </m:r>
                      </m:sub>
                    </m:sSub>
                  </m:oMath>
                </a14:m>
                <a:r>
                  <a:rPr lang="en-GB" dirty="0"/>
                  <a:t> and unstructured temporal effect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i="1">
                            <a:latin typeface="Cambria Math" panose="02040503050406030204" pitchFamily="18" charset="0"/>
                          </a:rPr>
                          <m:t>𝑡</m:t>
                        </m:r>
                      </m:sub>
                    </m:sSub>
                  </m:oMath>
                </a14:m>
                <a:r>
                  <a:rPr lang="en-GB" dirty="0"/>
                  <a:t> interact, such that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𝑹</m:t>
                        </m:r>
                      </m:e>
                      <m:sub>
                        <m:r>
                          <a:rPr lang="en-GB" i="1">
                            <a:latin typeface="Cambria Math" panose="02040503050406030204" pitchFamily="18" charset="0"/>
                          </a:rPr>
                          <m:t>𝛿</m:t>
                        </m:r>
                      </m:sub>
                    </m:sSub>
                    <m:r>
                      <a:rPr lang="en-GB">
                        <a:latin typeface="Cambria Math" panose="02040503050406030204" pitchFamily="18" charset="0"/>
                      </a:rPr>
                      <m:t>=</m:t>
                    </m:r>
                    <m:sSub>
                      <m:sSubPr>
                        <m:ctrlPr>
                          <a:rPr lang="en-GB" b="1" i="1">
                            <a:latin typeface="Cambria Math" panose="02040503050406030204" pitchFamily="18" charset="0"/>
                          </a:rPr>
                        </m:ctrlPr>
                      </m:sSubPr>
                      <m:e>
                        <m:r>
                          <a:rPr lang="en-GB" b="1" i="1">
                            <a:latin typeface="Cambria Math" panose="02040503050406030204" pitchFamily="18" charset="0"/>
                          </a:rPr>
                          <m:t>𝑹</m:t>
                        </m:r>
                      </m:e>
                      <m:sub>
                        <m:r>
                          <a:rPr lang="en-GB" b="0" i="1" smtClean="0">
                            <a:latin typeface="Cambria Math" panose="02040503050406030204" pitchFamily="18" charset="0"/>
                          </a:rPr>
                          <m:t>𝛼</m:t>
                        </m:r>
                      </m:sub>
                    </m:sSub>
                    <m:r>
                      <a:rPr lang="en-GB" b="1" i="1">
                        <a:latin typeface="Cambria Math" panose="02040503050406030204" pitchFamily="18" charset="0"/>
                        <a:ea typeface="Cambria Math" panose="02040503050406030204" pitchFamily="18" charset="0"/>
                      </a:rPr>
                      <m:t>⊗</m:t>
                    </m:r>
                    <m:sSub>
                      <m:sSubPr>
                        <m:ctrlPr>
                          <a:rPr lang="en-GB" b="1" i="1">
                            <a:latin typeface="Cambria Math" panose="02040503050406030204" pitchFamily="18" charset="0"/>
                            <a:ea typeface="Cambria Math" panose="02040503050406030204" pitchFamily="18" charset="0"/>
                          </a:rPr>
                        </m:ctrlPr>
                      </m:sSubPr>
                      <m:e>
                        <m:r>
                          <a:rPr lang="en-GB" b="1" i="1">
                            <a:latin typeface="Cambria Math" panose="02040503050406030204" pitchFamily="18" charset="0"/>
                            <a:ea typeface="Cambria Math" panose="02040503050406030204" pitchFamily="18" charset="0"/>
                          </a:rPr>
                          <m:t>𝑹</m:t>
                        </m:r>
                      </m:e>
                      <m:sub>
                        <m:r>
                          <a:rPr lang="en-GB" b="0" i="1" smtClean="0">
                            <a:latin typeface="Cambria Math" panose="02040503050406030204" pitchFamily="18" charset="0"/>
                            <a:ea typeface="Cambria Math" panose="02040503050406030204" pitchFamily="18" charset="0"/>
                          </a:rPr>
                          <m:t>𝑢</m:t>
                        </m:r>
                      </m:sub>
                    </m:sSub>
                  </m:oMath>
                </a14:m>
                <a:r>
                  <a:rPr lang="en-GB" dirty="0"/>
                  <a:t>.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𝑹</m:t>
                        </m:r>
                      </m:e>
                      <m:sub>
                        <m:r>
                          <a:rPr lang="en-GB" b="0" i="1" smtClean="0">
                            <a:latin typeface="Cambria Math" panose="02040503050406030204" pitchFamily="18" charset="0"/>
                          </a:rPr>
                          <m:t>𝛼</m:t>
                        </m:r>
                      </m:sub>
                    </m:sSub>
                    <m:r>
                      <a:rPr lang="en-GB" b="1" i="1">
                        <a:latin typeface="Cambria Math" panose="02040503050406030204" pitchFamily="18" charset="0"/>
                      </a:rPr>
                      <m:t>=</m:t>
                    </m:r>
                    <m:r>
                      <a:rPr lang="en-GB" i="1">
                        <a:latin typeface="Cambria Math" panose="02040503050406030204" pitchFamily="18" charset="0"/>
                      </a:rPr>
                      <m:t>𝐼</m:t>
                    </m:r>
                  </m:oMath>
                </a14:m>
                <a:r>
                  <a:rPr lang="en-GB" dirty="0"/>
                  <a:t> and </a:t>
                </a:r>
                <a14:m>
                  <m:oMath xmlns:m="http://schemas.openxmlformats.org/officeDocument/2006/math">
                    <m:sSub>
                      <m:sSubPr>
                        <m:ctrlPr>
                          <a:rPr lang="en-GB" b="1" i="1">
                            <a:latin typeface="Cambria Math" panose="02040503050406030204" pitchFamily="18" charset="0"/>
                            <a:ea typeface="Cambria Math" panose="02040503050406030204" pitchFamily="18" charset="0"/>
                          </a:rPr>
                        </m:ctrlPr>
                      </m:sSubPr>
                      <m:e>
                        <m:r>
                          <a:rPr lang="en-GB" b="1" i="1">
                            <a:latin typeface="Cambria Math" panose="02040503050406030204" pitchFamily="18" charset="0"/>
                            <a:ea typeface="Cambria Math" panose="02040503050406030204" pitchFamily="18" charset="0"/>
                          </a:rPr>
                          <m:t>𝑹</m:t>
                        </m:r>
                      </m:e>
                      <m:sub>
                        <m:r>
                          <a:rPr lang="en-GB" b="0" i="1" smtClean="0">
                            <a:latin typeface="Cambria Math" panose="02040503050406030204" pitchFamily="18" charset="0"/>
                            <a:ea typeface="Cambria Math" panose="02040503050406030204" pitchFamily="18" charset="0"/>
                          </a:rPr>
                          <m:t>𝑢</m:t>
                        </m:r>
                      </m:sub>
                    </m:sSub>
                  </m:oMath>
                </a14:m>
                <a:r>
                  <a:rPr lang="en-GB" dirty="0"/>
                  <a:t> has a neighbourhood structure specified through a CAR model.</a:t>
                </a:r>
              </a:p>
              <a:p>
                <a:endParaRPr lang="en-GB" dirty="0"/>
              </a:p>
              <a:p>
                <a:pPr marL="0" indent="0">
                  <a:buNone/>
                </a:pPr>
                <a:r>
                  <a:rPr lang="en-GB" dirty="0"/>
                  <a:t>Interpretation: The parameters for the </a:t>
                </a:r>
                <a14:m>
                  <m:oMath xmlns:m="http://schemas.openxmlformats.org/officeDocument/2006/math">
                    <m:r>
                      <a:rPr lang="en-GB" b="0" i="1" smtClean="0">
                        <a:latin typeface="Cambria Math" panose="02040503050406030204" pitchFamily="18" charset="0"/>
                      </a:rPr>
                      <m:t>𝑡</m:t>
                    </m:r>
                  </m:oMath>
                </a14:m>
                <a:r>
                  <a:rPr lang="en-GB" dirty="0" err="1"/>
                  <a:t>th</a:t>
                </a:r>
                <a:r>
                  <a:rPr lang="en-GB" dirty="0"/>
                  <a:t> time point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𝛿</m:t>
                        </m:r>
                      </m:e>
                      <m:sub>
                        <m:r>
                          <a:rPr lang="en-GB" b="0" i="1" smtClean="0">
                            <a:latin typeface="Cambria Math" panose="02040503050406030204" pitchFamily="18" charset="0"/>
                          </a:rPr>
                          <m:t>1</m:t>
                        </m:r>
                        <m:r>
                          <a:rPr lang="en-GB" b="0" i="1" smtClean="0">
                            <a:latin typeface="Cambria Math" panose="02040503050406030204" pitchFamily="18" charset="0"/>
                          </a:rPr>
                          <m:t>𝑡</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𝛿</m:t>
                        </m:r>
                      </m:e>
                      <m:sub>
                        <m:r>
                          <a:rPr lang="en-GB" b="0" i="1" smtClean="0">
                            <a:latin typeface="Cambria Math" panose="02040503050406030204" pitchFamily="18" charset="0"/>
                          </a:rPr>
                          <m:t>𝑛𝑡</m:t>
                        </m:r>
                      </m:sub>
                    </m:sSub>
                  </m:oMath>
                </a14:m>
                <a:r>
                  <a:rPr lang="en-GB" dirty="0"/>
                  <a:t> have a spatial structure, which is independent from those of other time points.</a:t>
                </a:r>
              </a:p>
              <a:p>
                <a:endParaRPr lang="en-GB" dirty="0"/>
              </a:p>
            </p:txBody>
          </p:sp>
        </mc:Choice>
        <mc:Fallback xmlns="">
          <p:sp>
            <p:nvSpPr>
              <p:cNvPr id="3" name="Content Placeholder 2">
                <a:extLst>
                  <a:ext uri="{FF2B5EF4-FFF2-40B4-BE49-F238E27FC236}">
                    <a16:creationId xmlns:a16="http://schemas.microsoft.com/office/drawing/2014/main" id="{3F958FD3-8B1D-094F-DA29-9A869242C947}"/>
                  </a:ext>
                </a:extLst>
              </p:cNvPr>
              <p:cNvSpPr>
                <a:spLocks noGrp="1" noRot="1" noChangeAspect="1" noMove="1" noResize="1" noEditPoints="1" noAdjustHandles="1" noChangeArrowheads="1" noChangeShapeType="1" noTextEdit="1"/>
              </p:cNvSpPr>
              <p:nvPr>
                <p:ph idx="1"/>
              </p:nvPr>
            </p:nvSpPr>
            <p:spPr>
              <a:blipFill>
                <a:blip r:embed="rId3"/>
                <a:stretch>
                  <a:fillRect l="-1217" t="-2381" r="-144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itle 1">
                <a:extLst>
                  <a:ext uri="{FF2B5EF4-FFF2-40B4-BE49-F238E27FC236}">
                    <a16:creationId xmlns:a16="http://schemas.microsoft.com/office/drawing/2014/main" id="{0C324301-7CBC-454B-C1EA-8CEE85A7373A}"/>
                  </a:ext>
                </a:extLst>
              </p:cNvPr>
              <p:cNvSpPr>
                <a:spLocks noGrp="1"/>
              </p:cNvSpPr>
              <p:nvPr>
                <p:ph type="title"/>
              </p:nvPr>
            </p:nvSpPr>
            <p:spPr>
              <a:xfrm>
                <a:off x="296196" y="102265"/>
                <a:ext cx="10931013" cy="578772"/>
              </a:xfrm>
            </p:spPr>
            <p:txBody>
              <a:bodyPr>
                <a:normAutofit fontScale="90000"/>
              </a:bodyPr>
              <a:lstStyle/>
              <a:p>
                <a:r>
                  <a:rPr lang="en-GB" b="1" dirty="0">
                    <a:solidFill>
                      <a:schemeClr val="bg1"/>
                    </a:solidFill>
                    <a:latin typeface="+mn-lt"/>
                  </a:rPr>
                  <a:t>Modelling </a:t>
                </a:r>
                <a14:m>
                  <m:oMath xmlns:m="http://schemas.openxmlformats.org/officeDocument/2006/math">
                    <m:sSub>
                      <m:sSubPr>
                        <m:ctrlPr>
                          <a:rPr lang="en-GB" b="0" i="1">
                            <a:solidFill>
                              <a:schemeClr val="bg1"/>
                            </a:solidFill>
                            <a:latin typeface="Cambria Math" panose="02040503050406030204" pitchFamily="18" charset="0"/>
                          </a:rPr>
                        </m:ctrlPr>
                      </m:sSubPr>
                      <m:e>
                        <m:r>
                          <a:rPr lang="en-GB" b="0" i="1">
                            <a:solidFill>
                              <a:schemeClr val="bg1"/>
                            </a:solidFill>
                            <a:latin typeface="Cambria Math" panose="02040503050406030204" pitchFamily="18" charset="0"/>
                          </a:rPr>
                          <m:t>𝜙</m:t>
                        </m:r>
                      </m:e>
                      <m:sub>
                        <m:r>
                          <a:rPr lang="en-GB" b="0" i="1">
                            <a:solidFill>
                              <a:schemeClr val="bg1"/>
                            </a:solidFill>
                            <a:latin typeface="Cambria Math" panose="02040503050406030204" pitchFamily="18" charset="0"/>
                          </a:rPr>
                          <m:t>𝑖𝑡</m:t>
                        </m:r>
                      </m:sub>
                    </m:sSub>
                  </m:oMath>
                </a14:m>
                <a:r>
                  <a:rPr lang="en-GB" b="1" dirty="0">
                    <a:solidFill>
                      <a:schemeClr val="bg1"/>
                    </a:solidFill>
                    <a:latin typeface="+mn-lt"/>
                  </a:rPr>
                  <a:t> - space-time interaction models </a:t>
                </a:r>
              </a:p>
            </p:txBody>
          </p:sp>
        </mc:Choice>
        <mc:Fallback xmlns="">
          <p:sp>
            <p:nvSpPr>
              <p:cNvPr id="6" name="Title 1">
                <a:extLst>
                  <a:ext uri="{FF2B5EF4-FFF2-40B4-BE49-F238E27FC236}">
                    <a16:creationId xmlns:a16="http://schemas.microsoft.com/office/drawing/2014/main" id="{0C324301-7CBC-454B-C1EA-8CEE85A7373A}"/>
                  </a:ext>
                </a:extLst>
              </p:cNvPr>
              <p:cNvSpPr>
                <a:spLocks noGrp="1" noRot="1" noChangeAspect="1" noMove="1" noResize="1" noEditPoints="1" noAdjustHandles="1" noChangeArrowheads="1" noChangeShapeType="1" noTextEdit="1"/>
              </p:cNvSpPr>
              <p:nvPr>
                <p:ph type="title"/>
              </p:nvPr>
            </p:nvSpPr>
            <p:spPr>
              <a:xfrm>
                <a:off x="296196" y="102265"/>
                <a:ext cx="10931013" cy="578772"/>
              </a:xfrm>
              <a:blipFill>
                <a:blip r:embed="rId4"/>
                <a:stretch>
                  <a:fillRect l="-2008" t="-33684" r="-669" b="-51579"/>
                </a:stretch>
              </a:blipFill>
            </p:spPr>
            <p:txBody>
              <a:bodyPr/>
              <a:lstStyle/>
              <a:p>
                <a:r>
                  <a:rPr lang="en-GB">
                    <a:noFill/>
                  </a:rPr>
                  <a:t> </a:t>
                </a:r>
              </a:p>
            </p:txBody>
          </p:sp>
        </mc:Fallback>
      </mc:AlternateContent>
    </p:spTree>
    <p:extLst>
      <p:ext uri="{BB962C8B-B14F-4D97-AF65-F5344CB8AC3E}">
        <p14:creationId xmlns:p14="http://schemas.microsoft.com/office/powerpoint/2010/main" val="10430299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ECD51D4D-4B6C-D8E1-4ABF-1F630DD6AC47}"/>
                  </a:ext>
                </a:extLst>
              </p:cNvPr>
              <p:cNvSpPr>
                <a:spLocks noGrp="1"/>
              </p:cNvSpPr>
              <p:nvPr>
                <p:ph idx="1"/>
              </p:nvPr>
            </p:nvSpPr>
            <p:spPr>
              <a:xfrm>
                <a:off x="631724" y="1668309"/>
                <a:ext cx="10515600" cy="4351338"/>
              </a:xfrm>
            </p:spPr>
            <p:txBody>
              <a:bodyPr/>
              <a:lstStyle/>
              <a:p>
                <a:r>
                  <a:rPr lang="en-GB" dirty="0"/>
                  <a:t>Type IV interaction: Structured spatial effect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𝑢</m:t>
                        </m:r>
                      </m:e>
                      <m:sub>
                        <m:r>
                          <a:rPr lang="en-GB" i="1">
                            <a:latin typeface="Cambria Math" panose="02040503050406030204" pitchFamily="18" charset="0"/>
                          </a:rPr>
                          <m:t>𝑖</m:t>
                        </m:r>
                      </m:sub>
                    </m:sSub>
                  </m:oMath>
                </a14:m>
                <a:r>
                  <a:rPr lang="en-GB" dirty="0"/>
                  <a:t> and structured temporal effect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𝛾</m:t>
                        </m:r>
                      </m:e>
                      <m:sub>
                        <m:r>
                          <a:rPr lang="en-GB" i="1">
                            <a:latin typeface="Cambria Math" panose="02040503050406030204" pitchFamily="18" charset="0"/>
                          </a:rPr>
                          <m:t>𝑡</m:t>
                        </m:r>
                      </m:sub>
                    </m:sSub>
                  </m:oMath>
                </a14:m>
                <a:r>
                  <a:rPr lang="en-GB" dirty="0"/>
                  <a:t> interact, such that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𝑹</m:t>
                        </m:r>
                      </m:e>
                      <m:sub>
                        <m:r>
                          <a:rPr lang="en-GB" i="1">
                            <a:latin typeface="Cambria Math" panose="02040503050406030204" pitchFamily="18" charset="0"/>
                          </a:rPr>
                          <m:t>𝛿</m:t>
                        </m:r>
                      </m:sub>
                    </m:sSub>
                    <m:r>
                      <a:rPr lang="en-GB">
                        <a:latin typeface="Cambria Math" panose="02040503050406030204" pitchFamily="18" charset="0"/>
                      </a:rPr>
                      <m:t>=</m:t>
                    </m:r>
                    <m:sSub>
                      <m:sSubPr>
                        <m:ctrlPr>
                          <a:rPr lang="en-GB" b="1" i="1">
                            <a:latin typeface="Cambria Math" panose="02040503050406030204" pitchFamily="18" charset="0"/>
                          </a:rPr>
                        </m:ctrlPr>
                      </m:sSubPr>
                      <m:e>
                        <m:r>
                          <a:rPr lang="en-GB" b="1" i="1">
                            <a:latin typeface="Cambria Math" panose="02040503050406030204" pitchFamily="18" charset="0"/>
                          </a:rPr>
                          <m:t>𝑹</m:t>
                        </m:r>
                      </m:e>
                      <m:sub>
                        <m:r>
                          <a:rPr lang="en-GB" b="0" i="1" smtClean="0">
                            <a:latin typeface="Cambria Math" panose="02040503050406030204" pitchFamily="18" charset="0"/>
                          </a:rPr>
                          <m:t>𝑢</m:t>
                        </m:r>
                      </m:sub>
                    </m:sSub>
                    <m:r>
                      <a:rPr lang="en-GB" b="1" i="1">
                        <a:latin typeface="Cambria Math" panose="02040503050406030204" pitchFamily="18" charset="0"/>
                        <a:ea typeface="Cambria Math" panose="02040503050406030204" pitchFamily="18" charset="0"/>
                      </a:rPr>
                      <m:t>⊗</m:t>
                    </m:r>
                    <m:sSub>
                      <m:sSubPr>
                        <m:ctrlPr>
                          <a:rPr lang="en-GB" b="1" i="1">
                            <a:latin typeface="Cambria Math" panose="02040503050406030204" pitchFamily="18" charset="0"/>
                            <a:ea typeface="Cambria Math" panose="02040503050406030204" pitchFamily="18" charset="0"/>
                          </a:rPr>
                        </m:ctrlPr>
                      </m:sSubPr>
                      <m:e>
                        <m:r>
                          <a:rPr lang="en-GB" b="1" i="1">
                            <a:latin typeface="Cambria Math" panose="02040503050406030204" pitchFamily="18" charset="0"/>
                            <a:ea typeface="Cambria Math" panose="02040503050406030204" pitchFamily="18" charset="0"/>
                          </a:rPr>
                          <m:t>𝑹</m:t>
                        </m:r>
                      </m:e>
                      <m:sub>
                        <m:r>
                          <a:rPr lang="en-GB" b="0" i="1" smtClean="0">
                            <a:latin typeface="Cambria Math" panose="02040503050406030204" pitchFamily="18" charset="0"/>
                            <a:ea typeface="Cambria Math" panose="02040503050406030204" pitchFamily="18" charset="0"/>
                          </a:rPr>
                          <m:t>𝛾</m:t>
                        </m:r>
                      </m:sub>
                    </m:sSub>
                  </m:oMath>
                </a14:m>
                <a:r>
                  <a:rPr lang="en-GB" dirty="0"/>
                  <a:t>. </a:t>
                </a:r>
                <a14:m>
                  <m:oMath xmlns:m="http://schemas.openxmlformats.org/officeDocument/2006/math">
                    <m:sSub>
                      <m:sSubPr>
                        <m:ctrlPr>
                          <a:rPr lang="en-GB" b="1" i="1">
                            <a:latin typeface="Cambria Math" panose="02040503050406030204" pitchFamily="18" charset="0"/>
                            <a:ea typeface="Cambria Math" panose="02040503050406030204" pitchFamily="18" charset="0"/>
                          </a:rPr>
                        </m:ctrlPr>
                      </m:sSubPr>
                      <m:e>
                        <m:r>
                          <a:rPr lang="en-GB" b="1" i="1">
                            <a:latin typeface="Cambria Math" panose="02040503050406030204" pitchFamily="18" charset="0"/>
                            <a:ea typeface="Cambria Math" panose="02040503050406030204" pitchFamily="18" charset="0"/>
                          </a:rPr>
                          <m:t>𝑹</m:t>
                        </m:r>
                      </m:e>
                      <m:sub>
                        <m:r>
                          <a:rPr lang="en-GB" i="1">
                            <a:latin typeface="Cambria Math" panose="02040503050406030204" pitchFamily="18" charset="0"/>
                            <a:ea typeface="Cambria Math" panose="02040503050406030204" pitchFamily="18" charset="0"/>
                          </a:rPr>
                          <m:t>𝛾</m:t>
                        </m:r>
                      </m:sub>
                    </m:sSub>
                  </m:oMath>
                </a14:m>
                <a:r>
                  <a:rPr lang="en-GB" dirty="0"/>
                  <a:t> has a neighbourhood structure specified through an RW(1), an RW(2) or an AR(1); and </a:t>
                </a:r>
                <a14:m>
                  <m:oMath xmlns:m="http://schemas.openxmlformats.org/officeDocument/2006/math">
                    <m:sSub>
                      <m:sSubPr>
                        <m:ctrlPr>
                          <a:rPr lang="en-GB" b="1" i="1">
                            <a:latin typeface="Cambria Math" panose="02040503050406030204" pitchFamily="18" charset="0"/>
                            <a:ea typeface="Cambria Math" panose="02040503050406030204" pitchFamily="18" charset="0"/>
                          </a:rPr>
                        </m:ctrlPr>
                      </m:sSubPr>
                      <m:e>
                        <m:r>
                          <a:rPr lang="en-GB" b="1" i="1">
                            <a:latin typeface="Cambria Math" panose="02040503050406030204" pitchFamily="18" charset="0"/>
                            <a:ea typeface="Cambria Math" panose="02040503050406030204" pitchFamily="18" charset="0"/>
                          </a:rPr>
                          <m:t>𝑹</m:t>
                        </m:r>
                      </m:e>
                      <m:sub>
                        <m:r>
                          <a:rPr lang="en-GB" b="0" i="1" smtClean="0">
                            <a:latin typeface="Cambria Math" panose="02040503050406030204" pitchFamily="18" charset="0"/>
                            <a:ea typeface="Cambria Math" panose="02040503050406030204" pitchFamily="18" charset="0"/>
                          </a:rPr>
                          <m:t>𝑢</m:t>
                        </m:r>
                      </m:sub>
                    </m:sSub>
                  </m:oMath>
                </a14:m>
                <a:r>
                  <a:rPr lang="en-GB" dirty="0"/>
                  <a:t> has a neighbourhood structure specified through a CAR model.</a:t>
                </a:r>
              </a:p>
              <a:p>
                <a:endParaRPr lang="en-GB" dirty="0"/>
              </a:p>
              <a:p>
                <a:pPr marL="0" indent="0">
                  <a:buNone/>
                </a:pPr>
                <a:r>
                  <a:rPr lang="en-GB" dirty="0"/>
                  <a:t>Interpretation: The parameters for the </a:t>
                </a:r>
                <a14:m>
                  <m:oMath xmlns:m="http://schemas.openxmlformats.org/officeDocument/2006/math">
                    <m:r>
                      <a:rPr lang="en-GB" b="0" i="1" smtClean="0">
                        <a:latin typeface="Cambria Math" panose="02040503050406030204" pitchFamily="18" charset="0"/>
                      </a:rPr>
                      <m:t>𝑡</m:t>
                    </m:r>
                  </m:oMath>
                </a14:m>
                <a:r>
                  <a:rPr lang="en-GB" dirty="0" err="1"/>
                  <a:t>th</a:t>
                </a:r>
                <a:r>
                  <a:rPr lang="en-GB" dirty="0"/>
                  <a:t> time point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𝛿</m:t>
                        </m:r>
                      </m:e>
                      <m:sub>
                        <m:r>
                          <a:rPr lang="en-GB" b="0" i="1" smtClean="0">
                            <a:latin typeface="Cambria Math" panose="02040503050406030204" pitchFamily="18" charset="0"/>
                          </a:rPr>
                          <m:t>1</m:t>
                        </m:r>
                        <m:r>
                          <a:rPr lang="en-GB" b="0" i="1" smtClean="0">
                            <a:latin typeface="Cambria Math" panose="02040503050406030204" pitchFamily="18" charset="0"/>
                          </a:rPr>
                          <m:t>𝑡</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𝛿</m:t>
                        </m:r>
                      </m:e>
                      <m:sub>
                        <m:r>
                          <a:rPr lang="en-GB" b="0" i="1" smtClean="0">
                            <a:latin typeface="Cambria Math" panose="02040503050406030204" pitchFamily="18" charset="0"/>
                          </a:rPr>
                          <m:t>𝑛𝑡</m:t>
                        </m:r>
                      </m:sub>
                    </m:sSub>
                  </m:oMath>
                </a14:m>
                <a:r>
                  <a:rPr lang="en-GB" dirty="0"/>
                  <a:t> have a spatial structure, which depends on those of other time points (and vice versa).</a:t>
                </a:r>
              </a:p>
              <a:p>
                <a:endParaRPr lang="en-GB" dirty="0"/>
              </a:p>
            </p:txBody>
          </p:sp>
        </mc:Choice>
        <mc:Fallback xmlns="">
          <p:sp>
            <p:nvSpPr>
              <p:cNvPr id="4" name="Content Placeholder 2">
                <a:extLst>
                  <a:ext uri="{FF2B5EF4-FFF2-40B4-BE49-F238E27FC236}">
                    <a16:creationId xmlns:a16="http://schemas.microsoft.com/office/drawing/2014/main" id="{ECD51D4D-4B6C-D8E1-4ABF-1F630DD6AC47}"/>
                  </a:ext>
                </a:extLst>
              </p:cNvPr>
              <p:cNvSpPr>
                <a:spLocks noGrp="1" noRot="1" noChangeAspect="1" noMove="1" noResize="1" noEditPoints="1" noAdjustHandles="1" noChangeArrowheads="1" noChangeShapeType="1" noTextEdit="1"/>
              </p:cNvSpPr>
              <p:nvPr>
                <p:ph idx="1"/>
              </p:nvPr>
            </p:nvSpPr>
            <p:spPr>
              <a:xfrm>
                <a:off x="631724" y="1668309"/>
                <a:ext cx="10515600" cy="4351338"/>
              </a:xfrm>
              <a:blipFill>
                <a:blip r:embed="rId2"/>
                <a:stretch>
                  <a:fillRect l="-1217" t="-2525" r="-156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itle 1">
                <a:extLst>
                  <a:ext uri="{FF2B5EF4-FFF2-40B4-BE49-F238E27FC236}">
                    <a16:creationId xmlns:a16="http://schemas.microsoft.com/office/drawing/2014/main" id="{C2CE117F-D18D-687D-A0BD-A1587F5654CC}"/>
                  </a:ext>
                </a:extLst>
              </p:cNvPr>
              <p:cNvSpPr>
                <a:spLocks noGrp="1"/>
              </p:cNvSpPr>
              <p:nvPr>
                <p:ph type="title"/>
              </p:nvPr>
            </p:nvSpPr>
            <p:spPr>
              <a:xfrm>
                <a:off x="296196" y="102265"/>
                <a:ext cx="10931013" cy="578772"/>
              </a:xfrm>
            </p:spPr>
            <p:txBody>
              <a:bodyPr>
                <a:normAutofit fontScale="90000"/>
              </a:bodyPr>
              <a:lstStyle/>
              <a:p>
                <a:r>
                  <a:rPr lang="en-GB" b="1" dirty="0">
                    <a:solidFill>
                      <a:schemeClr val="bg1"/>
                    </a:solidFill>
                    <a:latin typeface="+mn-lt"/>
                  </a:rPr>
                  <a:t>Modelling </a:t>
                </a:r>
                <a14:m>
                  <m:oMath xmlns:m="http://schemas.openxmlformats.org/officeDocument/2006/math">
                    <m:sSub>
                      <m:sSubPr>
                        <m:ctrlPr>
                          <a:rPr lang="en-GB" b="0" i="1">
                            <a:solidFill>
                              <a:schemeClr val="bg1"/>
                            </a:solidFill>
                            <a:latin typeface="Cambria Math" panose="02040503050406030204" pitchFamily="18" charset="0"/>
                          </a:rPr>
                        </m:ctrlPr>
                      </m:sSubPr>
                      <m:e>
                        <m:r>
                          <a:rPr lang="en-GB" b="0" i="1">
                            <a:solidFill>
                              <a:schemeClr val="bg1"/>
                            </a:solidFill>
                            <a:latin typeface="Cambria Math" panose="02040503050406030204" pitchFamily="18" charset="0"/>
                          </a:rPr>
                          <m:t>𝜙</m:t>
                        </m:r>
                      </m:e>
                      <m:sub>
                        <m:r>
                          <a:rPr lang="en-GB" b="0" i="1">
                            <a:solidFill>
                              <a:schemeClr val="bg1"/>
                            </a:solidFill>
                            <a:latin typeface="Cambria Math" panose="02040503050406030204" pitchFamily="18" charset="0"/>
                          </a:rPr>
                          <m:t>𝑖𝑡</m:t>
                        </m:r>
                      </m:sub>
                    </m:sSub>
                  </m:oMath>
                </a14:m>
                <a:r>
                  <a:rPr lang="en-GB" b="1" dirty="0">
                    <a:solidFill>
                      <a:schemeClr val="bg1"/>
                    </a:solidFill>
                    <a:latin typeface="+mn-lt"/>
                  </a:rPr>
                  <a:t> - space-time interaction models </a:t>
                </a:r>
              </a:p>
            </p:txBody>
          </p:sp>
        </mc:Choice>
        <mc:Fallback xmlns="">
          <p:sp>
            <p:nvSpPr>
              <p:cNvPr id="6" name="Title 1">
                <a:extLst>
                  <a:ext uri="{FF2B5EF4-FFF2-40B4-BE49-F238E27FC236}">
                    <a16:creationId xmlns:a16="http://schemas.microsoft.com/office/drawing/2014/main" id="{C2CE117F-D18D-687D-A0BD-A1587F5654CC}"/>
                  </a:ext>
                </a:extLst>
              </p:cNvPr>
              <p:cNvSpPr>
                <a:spLocks noGrp="1" noRot="1" noChangeAspect="1" noMove="1" noResize="1" noEditPoints="1" noAdjustHandles="1" noChangeArrowheads="1" noChangeShapeType="1" noTextEdit="1"/>
              </p:cNvSpPr>
              <p:nvPr>
                <p:ph type="title"/>
              </p:nvPr>
            </p:nvSpPr>
            <p:spPr>
              <a:xfrm>
                <a:off x="296196" y="102265"/>
                <a:ext cx="10931013" cy="578772"/>
              </a:xfrm>
              <a:blipFill>
                <a:blip r:embed="rId3"/>
                <a:stretch>
                  <a:fillRect l="-2008" t="-33684" r="-669" b="-51579"/>
                </a:stretch>
              </a:blipFill>
            </p:spPr>
            <p:txBody>
              <a:bodyPr/>
              <a:lstStyle/>
              <a:p>
                <a:r>
                  <a:rPr lang="en-GB">
                    <a:noFill/>
                  </a:rPr>
                  <a:t> </a:t>
                </a:r>
              </a:p>
            </p:txBody>
          </p:sp>
        </mc:Fallback>
      </mc:AlternateContent>
    </p:spTree>
    <p:extLst>
      <p:ext uri="{BB962C8B-B14F-4D97-AF65-F5344CB8AC3E}">
        <p14:creationId xmlns:p14="http://schemas.microsoft.com/office/powerpoint/2010/main" val="2470168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9A9797-1D20-CB70-D319-E3953E8EA3D4}"/>
                  </a:ext>
                </a:extLst>
              </p:cNvPr>
              <p:cNvSpPr>
                <a:spLocks noGrp="1"/>
              </p:cNvSpPr>
              <p:nvPr>
                <p:ph idx="1"/>
              </p:nvPr>
            </p:nvSpPr>
            <p:spPr/>
            <p:txBody>
              <a:bodyPr/>
              <a:lstStyle/>
              <a:p>
                <a:r>
                  <a:rPr lang="en-GB" dirty="0"/>
                  <a:t>Note that in practice, we can also model equation (10) as </a:t>
                </a:r>
              </a:p>
              <a:p>
                <a:endParaRPr lang="en-GB" dirty="0"/>
              </a:p>
              <a:p>
                <a:pPr marL="0" indent="0">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𝜙</m:t>
                        </m:r>
                      </m:e>
                      <m:sub>
                        <m:r>
                          <a:rPr lang="en-GB" i="1">
                            <a:latin typeface="Cambria Math" panose="02040503050406030204" pitchFamily="18" charset="0"/>
                          </a:rPr>
                          <m:t>𝑖𝑡</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𝑢</m:t>
                        </m:r>
                      </m:e>
                      <m:sub>
                        <m:r>
                          <a:rPr lang="en-GB" i="1">
                            <a:latin typeface="Cambria Math" panose="02040503050406030204" pitchFamily="18" charset="0"/>
                          </a:rPr>
                          <m:t>𝑖</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𝛾</m:t>
                        </m:r>
                      </m:e>
                      <m:sub>
                        <m:r>
                          <a:rPr lang="en-GB" i="1">
                            <a:latin typeface="Cambria Math" panose="02040503050406030204" pitchFamily="18" charset="0"/>
                          </a:rPr>
                          <m:t>𝑡</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𝛿</m:t>
                        </m:r>
                      </m:e>
                      <m:sub>
                        <m:r>
                          <a:rPr lang="en-GB" i="1">
                            <a:latin typeface="Cambria Math" panose="02040503050406030204" pitchFamily="18" charset="0"/>
                          </a:rPr>
                          <m:t>𝑖𝑡</m:t>
                        </m:r>
                      </m:sub>
                    </m:sSub>
                    <m:r>
                      <a:rPr lang="en-GB" b="0" i="1" smtClean="0">
                        <a:latin typeface="Cambria Math" panose="02040503050406030204" pitchFamily="18" charset="0"/>
                      </a:rPr>
                      <m:t>,</m:t>
                    </m:r>
                  </m:oMath>
                </a14:m>
                <a:r>
                  <a:rPr lang="en-GB" b="0" dirty="0"/>
                  <a:t>     (11)</a:t>
                </a:r>
              </a:p>
              <a:p>
                <a:endParaRPr lang="en-GB" dirty="0"/>
              </a:p>
              <a:p>
                <a:pPr marL="0" indent="0">
                  <a:buNone/>
                </a:pPr>
                <a:r>
                  <a:rPr lang="en-GB" dirty="0"/>
                  <a:t>where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𝑖</m:t>
                        </m:r>
                      </m:sub>
                    </m:sSub>
                  </m:oMath>
                </a14:m>
                <a:r>
                  <a:rPr lang="en-GB" dirty="0"/>
                  <a:t> is  modelled using a BYM2 or Leroux prior, </a:t>
                </a:r>
              </a:p>
              <a:p>
                <a:pPr marL="0" indent="0">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𝛾</m:t>
                        </m:r>
                      </m:e>
                      <m:sub>
                        <m:r>
                          <a:rPr lang="en-GB" i="1">
                            <a:latin typeface="Cambria Math" panose="02040503050406030204" pitchFamily="18" charset="0"/>
                          </a:rPr>
                          <m:t>𝑡</m:t>
                        </m:r>
                      </m:sub>
                    </m:sSub>
                  </m:oMath>
                </a14:m>
                <a:r>
                  <a:rPr lang="en-GB" dirty="0"/>
                  <a:t> is modelled using an AR(1) prior, and</a:t>
                </a:r>
              </a:p>
              <a:p>
                <a:pPr marL="0" indent="0">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𝛿</m:t>
                        </m:r>
                      </m:e>
                      <m:sub>
                        <m:r>
                          <a:rPr lang="en-GB" i="1">
                            <a:latin typeface="Cambria Math" panose="02040503050406030204" pitchFamily="18" charset="0"/>
                          </a:rPr>
                          <m:t>𝑖𝑡</m:t>
                        </m:r>
                      </m:sub>
                    </m:sSub>
                  </m:oMath>
                </a14:m>
                <a:r>
                  <a:rPr lang="en-GB" dirty="0"/>
                  <a:t> is modelled as a Type I, II, III or IV interaction</a:t>
                </a:r>
              </a:p>
            </p:txBody>
          </p:sp>
        </mc:Choice>
        <mc:Fallback xmlns="">
          <p:sp>
            <p:nvSpPr>
              <p:cNvPr id="3" name="Content Placeholder 2">
                <a:extLst>
                  <a:ext uri="{FF2B5EF4-FFF2-40B4-BE49-F238E27FC236}">
                    <a16:creationId xmlns:a16="http://schemas.microsoft.com/office/drawing/2014/main" id="{5E9A9797-1D20-CB70-D319-E3953E8EA3D4}"/>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itle 1">
                <a:extLst>
                  <a:ext uri="{FF2B5EF4-FFF2-40B4-BE49-F238E27FC236}">
                    <a16:creationId xmlns:a16="http://schemas.microsoft.com/office/drawing/2014/main" id="{72A89761-A5C7-B69F-6D98-63C1207C8D37}"/>
                  </a:ext>
                </a:extLst>
              </p:cNvPr>
              <p:cNvSpPr>
                <a:spLocks noGrp="1"/>
              </p:cNvSpPr>
              <p:nvPr>
                <p:ph type="title"/>
              </p:nvPr>
            </p:nvSpPr>
            <p:spPr>
              <a:xfrm>
                <a:off x="296196" y="102265"/>
                <a:ext cx="10931013" cy="578772"/>
              </a:xfrm>
            </p:spPr>
            <p:txBody>
              <a:bodyPr>
                <a:normAutofit fontScale="90000"/>
              </a:bodyPr>
              <a:lstStyle/>
              <a:p>
                <a:r>
                  <a:rPr lang="en-GB" b="1" dirty="0">
                    <a:solidFill>
                      <a:schemeClr val="bg1"/>
                    </a:solidFill>
                    <a:latin typeface="+mn-lt"/>
                  </a:rPr>
                  <a:t>Modelling </a:t>
                </a:r>
                <a14:m>
                  <m:oMath xmlns:m="http://schemas.openxmlformats.org/officeDocument/2006/math">
                    <m:sSub>
                      <m:sSubPr>
                        <m:ctrlPr>
                          <a:rPr lang="en-GB" b="0" i="1">
                            <a:solidFill>
                              <a:schemeClr val="bg1"/>
                            </a:solidFill>
                            <a:latin typeface="Cambria Math" panose="02040503050406030204" pitchFamily="18" charset="0"/>
                          </a:rPr>
                        </m:ctrlPr>
                      </m:sSubPr>
                      <m:e>
                        <m:r>
                          <a:rPr lang="en-GB" b="0" i="1">
                            <a:solidFill>
                              <a:schemeClr val="bg1"/>
                            </a:solidFill>
                            <a:latin typeface="Cambria Math" panose="02040503050406030204" pitchFamily="18" charset="0"/>
                          </a:rPr>
                          <m:t>𝜙</m:t>
                        </m:r>
                      </m:e>
                      <m:sub>
                        <m:r>
                          <a:rPr lang="en-GB" b="0" i="1">
                            <a:solidFill>
                              <a:schemeClr val="bg1"/>
                            </a:solidFill>
                            <a:latin typeface="Cambria Math" panose="02040503050406030204" pitchFamily="18" charset="0"/>
                          </a:rPr>
                          <m:t>𝑖𝑡</m:t>
                        </m:r>
                      </m:sub>
                    </m:sSub>
                  </m:oMath>
                </a14:m>
                <a:r>
                  <a:rPr lang="en-GB" b="1" dirty="0">
                    <a:solidFill>
                      <a:schemeClr val="bg1"/>
                    </a:solidFill>
                    <a:latin typeface="+mn-lt"/>
                  </a:rPr>
                  <a:t> - space-time interaction models </a:t>
                </a:r>
              </a:p>
            </p:txBody>
          </p:sp>
        </mc:Choice>
        <mc:Fallback xmlns="">
          <p:sp>
            <p:nvSpPr>
              <p:cNvPr id="6" name="Title 1">
                <a:extLst>
                  <a:ext uri="{FF2B5EF4-FFF2-40B4-BE49-F238E27FC236}">
                    <a16:creationId xmlns:a16="http://schemas.microsoft.com/office/drawing/2014/main" id="{72A89761-A5C7-B69F-6D98-63C1207C8D37}"/>
                  </a:ext>
                </a:extLst>
              </p:cNvPr>
              <p:cNvSpPr>
                <a:spLocks noGrp="1" noRot="1" noChangeAspect="1" noMove="1" noResize="1" noEditPoints="1" noAdjustHandles="1" noChangeArrowheads="1" noChangeShapeType="1" noTextEdit="1"/>
              </p:cNvSpPr>
              <p:nvPr>
                <p:ph type="title"/>
              </p:nvPr>
            </p:nvSpPr>
            <p:spPr>
              <a:xfrm>
                <a:off x="296196" y="102265"/>
                <a:ext cx="10931013" cy="578772"/>
              </a:xfrm>
              <a:blipFill>
                <a:blip r:embed="rId3"/>
                <a:stretch>
                  <a:fillRect l="-2008" t="-33684" r="-669" b="-51579"/>
                </a:stretch>
              </a:blipFill>
            </p:spPr>
            <p:txBody>
              <a:bodyPr/>
              <a:lstStyle/>
              <a:p>
                <a:r>
                  <a:rPr lang="en-GB">
                    <a:noFill/>
                  </a:rPr>
                  <a:t> </a:t>
                </a:r>
              </a:p>
            </p:txBody>
          </p:sp>
        </mc:Fallback>
      </mc:AlternateContent>
    </p:spTree>
    <p:extLst>
      <p:ext uri="{BB962C8B-B14F-4D97-AF65-F5344CB8AC3E}">
        <p14:creationId xmlns:p14="http://schemas.microsoft.com/office/powerpoint/2010/main" val="26079775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B9C8D-0191-56B6-1C6F-195B485B7D35}"/>
              </a:ext>
            </a:extLst>
          </p:cNvPr>
          <p:cNvSpPr>
            <a:spLocks noGrp="1"/>
          </p:cNvSpPr>
          <p:nvPr>
            <p:ph type="title"/>
          </p:nvPr>
        </p:nvSpPr>
        <p:spPr>
          <a:xfrm>
            <a:off x="277761" y="30725"/>
            <a:ext cx="10515600" cy="647598"/>
          </a:xfrm>
        </p:spPr>
        <p:txBody>
          <a:bodyPr>
            <a:normAutofit fontScale="90000"/>
          </a:bodyPr>
          <a:lstStyle/>
          <a:p>
            <a:r>
              <a:rPr lang="en-GB" b="1" dirty="0">
                <a:solidFill>
                  <a:schemeClr val="bg1"/>
                </a:solidFill>
              </a:rPr>
              <a:t>Exploratory data analysis for areal data</a:t>
            </a:r>
          </a:p>
        </p:txBody>
      </p:sp>
      <p:sp>
        <p:nvSpPr>
          <p:cNvPr id="3" name="Content Placeholder 2">
            <a:extLst>
              <a:ext uri="{FF2B5EF4-FFF2-40B4-BE49-F238E27FC236}">
                <a16:creationId xmlns:a16="http://schemas.microsoft.com/office/drawing/2014/main" id="{C04B2497-B9F7-3AF9-0895-974782CF2F22}"/>
              </a:ext>
            </a:extLst>
          </p:cNvPr>
          <p:cNvSpPr>
            <a:spLocks noGrp="1"/>
          </p:cNvSpPr>
          <p:nvPr>
            <p:ph idx="1"/>
          </p:nvPr>
        </p:nvSpPr>
        <p:spPr>
          <a:xfrm>
            <a:off x="838200" y="1543204"/>
            <a:ext cx="10515600" cy="4351338"/>
          </a:xfrm>
        </p:spPr>
        <p:txBody>
          <a:bodyPr>
            <a:normAutofit fontScale="92500" lnSpcReduction="10000"/>
          </a:bodyPr>
          <a:lstStyle/>
          <a:p>
            <a:r>
              <a:rPr lang="en-GB" dirty="0"/>
              <a:t>Before undertaking spatial (or spatiotemporal) analysis of areal data, if we are unsure about the presence of spatial (or spatiotemporal) autocorrelation in the data, we can test this in two ways:</a:t>
            </a:r>
          </a:p>
          <a:p>
            <a:pPr lvl="1"/>
            <a:r>
              <a:rPr lang="en-GB" dirty="0"/>
              <a:t>Fit a non-spatial GLM with an IID random effect for area, and then use the estimates of the random effect to test for the presence of spatial autocorrelation (for LMs, we can obtain the residuals directly)</a:t>
            </a:r>
          </a:p>
          <a:p>
            <a:pPr lvl="1"/>
            <a:r>
              <a:rPr lang="en-GB" dirty="0"/>
              <a:t>Apply relevant tests to the outcome variable to ascertain whether the data are spatially correlated (useful when covariates are not included in the analysis)</a:t>
            </a:r>
          </a:p>
          <a:p>
            <a:r>
              <a:rPr lang="en-GB" dirty="0"/>
              <a:t>These tests can also be applied to residuals from spatial/ spatiotemporal analyses as part of residual analysis</a:t>
            </a:r>
          </a:p>
          <a:p>
            <a:r>
              <a:rPr lang="en-GB" dirty="0"/>
              <a:t>We will now examine some tests that can reveal the presence of spatial autocorrelation, either in the data or the residuals from a model</a:t>
            </a:r>
          </a:p>
        </p:txBody>
      </p:sp>
    </p:spTree>
    <p:extLst>
      <p:ext uri="{BB962C8B-B14F-4D97-AF65-F5344CB8AC3E}">
        <p14:creationId xmlns:p14="http://schemas.microsoft.com/office/powerpoint/2010/main" val="10904045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BEC2B-D6DF-197E-CFF6-AA881CFE2147}"/>
              </a:ext>
            </a:extLst>
          </p:cNvPr>
          <p:cNvSpPr>
            <a:spLocks noGrp="1"/>
          </p:cNvSpPr>
          <p:nvPr>
            <p:ph type="title"/>
          </p:nvPr>
        </p:nvSpPr>
        <p:spPr>
          <a:xfrm>
            <a:off x="238433" y="178313"/>
            <a:ext cx="10515600" cy="441120"/>
          </a:xfrm>
        </p:spPr>
        <p:txBody>
          <a:bodyPr>
            <a:normAutofit fontScale="90000"/>
          </a:bodyPr>
          <a:lstStyle/>
          <a:p>
            <a:r>
              <a:rPr lang="en-GB" b="1" dirty="0">
                <a:solidFill>
                  <a:schemeClr val="bg1"/>
                </a:solidFill>
                <a:latin typeface="+mn-lt"/>
              </a:rPr>
              <a:t>Global Moran’s I</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B6C0240-7E82-4AA2-5EC1-10C692B11F86}"/>
                  </a:ext>
                </a:extLst>
              </p:cNvPr>
              <p:cNvSpPr>
                <a:spLocks noGrp="1"/>
              </p:cNvSpPr>
              <p:nvPr>
                <p:ph idx="1"/>
              </p:nvPr>
            </p:nvSpPr>
            <p:spPr>
              <a:xfrm>
                <a:off x="838200" y="1393006"/>
                <a:ext cx="10515600" cy="5391252"/>
              </a:xfrm>
            </p:spPr>
            <p:txBody>
              <a:bodyPr>
                <a:normAutofit fontScale="92500" lnSpcReduction="10000"/>
              </a:bodyPr>
              <a:lstStyle/>
              <a:p>
                <a:r>
                  <a:rPr lang="en-GB" dirty="0"/>
                  <a:t>Letting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𝑖</m:t>
                        </m:r>
                      </m:sub>
                    </m:sSub>
                  </m:oMath>
                </a14:m>
                <a:r>
                  <a:rPr lang="en-GB" dirty="0"/>
                  <a:t> </a:t>
                </a:r>
                <a:r>
                  <a:rPr lang="en-GB"/>
                  <a:t>denote</a:t>
                </a:r>
                <a:r>
                  <a:rPr lang="en-GB" dirty="0"/>
                  <a:t> the variable of interest (an observation or a model residual)</a:t>
                </a:r>
              </a:p>
              <a:p>
                <a:r>
                  <a:rPr lang="en-GB" dirty="0"/>
                  <a:t>The Moran’s I statistic uses the measure </a:t>
                </a:r>
                <a14:m>
                  <m:oMath xmlns:m="http://schemas.openxmlformats.org/officeDocument/2006/math">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𝑖</m:t>
                        </m:r>
                      </m:sub>
                    </m:sSub>
                    <m:r>
                      <a:rPr lang="en-GB" b="0" i="1" smtClean="0">
                        <a:latin typeface="Cambria Math" panose="02040503050406030204" pitchFamily="18" charset="0"/>
                      </a:rPr>
                      <m:t>−</m:t>
                    </m:r>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𝑍</m:t>
                        </m:r>
                      </m:e>
                    </m:acc>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𝑗</m:t>
                        </m:r>
                      </m:sub>
                    </m:sSub>
                    <m:r>
                      <a:rPr lang="en-GB" b="0" i="1" smtClean="0">
                        <a:latin typeface="Cambria Math" panose="02040503050406030204" pitchFamily="18" charset="0"/>
                      </a:rPr>
                      <m:t>−</m:t>
                    </m:r>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𝑍</m:t>
                        </m:r>
                      </m:e>
                    </m:acc>
                    <m:r>
                      <a:rPr lang="en-GB" b="0" i="1" smtClean="0">
                        <a:latin typeface="Cambria Math" panose="02040503050406030204" pitchFamily="18" charset="0"/>
                      </a:rPr>
                      <m:t>)</m:t>
                    </m:r>
                  </m:oMath>
                </a14:m>
                <a:r>
                  <a:rPr lang="en-GB" dirty="0"/>
                  <a:t> to determine the similarity between areas </a:t>
                </a:r>
                <a14:m>
                  <m:oMath xmlns:m="http://schemas.openxmlformats.org/officeDocument/2006/math">
                    <m:r>
                      <a:rPr lang="en-GB" b="0" i="1" smtClean="0">
                        <a:latin typeface="Cambria Math" panose="02040503050406030204" pitchFamily="18" charset="0"/>
                      </a:rPr>
                      <m:t>𝑖</m:t>
                    </m:r>
                  </m:oMath>
                </a14:m>
                <a:r>
                  <a:rPr lang="en-GB" dirty="0"/>
                  <a:t> and </a:t>
                </a:r>
                <a14:m>
                  <m:oMath xmlns:m="http://schemas.openxmlformats.org/officeDocument/2006/math">
                    <m:r>
                      <a:rPr lang="en-GB" b="0" i="1" smtClean="0">
                        <a:latin typeface="Cambria Math" panose="02040503050406030204" pitchFamily="18" charset="0"/>
                      </a:rPr>
                      <m:t>𝑗</m:t>
                    </m:r>
                  </m:oMath>
                </a14:m>
                <a:r>
                  <a:rPr lang="en-GB" dirty="0"/>
                  <a:t> and is given by</a:t>
                </a:r>
              </a:p>
              <a:p>
                <a:pPr marL="0" indent="0" algn="ctr">
                  <a:buNone/>
                </a:pPr>
                <a14:m>
                  <m:oMath xmlns:m="http://schemas.openxmlformats.org/officeDocument/2006/math">
                    <m:r>
                      <a:rPr lang="en-GB" b="0" i="1" smtClean="0">
                        <a:latin typeface="Cambria Math" panose="02040503050406030204" pitchFamily="18" charset="0"/>
                      </a:rPr>
                      <m:t>𝐼</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𝑛</m:t>
                        </m:r>
                      </m:num>
                      <m:den>
                        <m:nary>
                          <m:naryPr>
                            <m:chr m:val="∑"/>
                            <m:supHide m:val="on"/>
                            <m:ctrlPr>
                              <a:rPr lang="en-GB" b="0" i="1" smtClean="0">
                                <a:latin typeface="Cambria Math" panose="02040503050406030204" pitchFamily="18" charset="0"/>
                              </a:rPr>
                            </m:ctrlPr>
                          </m:naryPr>
                          <m:sub>
                            <m:r>
                              <m:rPr>
                                <m:brk m:alnAt="7"/>
                              </m:rPr>
                              <a:rPr lang="en-GB" b="0" i="1" smtClean="0">
                                <a:latin typeface="Cambria Math" panose="02040503050406030204" pitchFamily="18" charset="0"/>
                              </a:rPr>
                              <m:t>𝑖</m:t>
                            </m:r>
                            <m:r>
                              <m:rPr>
                                <m:brk m:alnAt="7"/>
                              </m:rPr>
                              <a:rPr lang="en-GB" b="0" i="1" smtClean="0">
                                <a:latin typeface="Cambria Math" panose="02040503050406030204" pitchFamily="18" charset="0"/>
                              </a:rPr>
                              <m:t>,</m:t>
                            </m:r>
                            <m:r>
                              <m:rPr>
                                <m:brk m:alnAt="7"/>
                              </m:rPr>
                              <a:rPr lang="en-GB" b="0" i="1" smtClean="0">
                                <a:latin typeface="Cambria Math" panose="02040503050406030204" pitchFamily="18" charset="0"/>
                              </a:rPr>
                              <m:t>𝑗</m:t>
                            </m:r>
                          </m:sub>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𝑖𝑗</m:t>
                                </m:r>
                              </m:sub>
                            </m:sSub>
                          </m:e>
                        </m:nary>
                      </m:den>
                    </m:f>
                    <m:r>
                      <a:rPr lang="en-GB" b="0" i="0" smtClean="0">
                        <a:latin typeface="Cambria Math" panose="02040503050406030204" pitchFamily="18" charset="0"/>
                      </a:rPr>
                      <m:t>.</m:t>
                    </m:r>
                    <m:f>
                      <m:fPr>
                        <m:ctrlPr>
                          <a:rPr lang="en-GB" b="0" i="1" smtClean="0">
                            <a:latin typeface="Cambria Math" panose="02040503050406030204" pitchFamily="18" charset="0"/>
                          </a:rPr>
                        </m:ctrlPr>
                      </m:fPr>
                      <m:num>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𝑖</m:t>
                            </m:r>
                            <m:r>
                              <m:rPr>
                                <m:brk m:alnAt="25"/>
                              </m:rPr>
                              <a:rPr lang="en-GB" b="0" i="1" smtClean="0">
                                <a:latin typeface="Cambria Math" panose="02040503050406030204" pitchFamily="18" charset="0"/>
                              </a:rPr>
                              <m:t>=</m:t>
                            </m:r>
                            <m:r>
                              <m:rPr>
                                <m:brk m:alnAt="25"/>
                              </m:rPr>
                              <a:rPr lang="en-GB" b="0" i="1" smtClean="0">
                                <a:latin typeface="Cambria Math" panose="02040503050406030204" pitchFamily="18" charset="0"/>
                              </a:rPr>
                              <m:t>1</m:t>
                            </m:r>
                          </m:sub>
                          <m:sup>
                            <m:r>
                              <a:rPr lang="en-GB" b="0" i="1" smtClean="0">
                                <a:latin typeface="Cambria Math" panose="02040503050406030204" pitchFamily="18" charset="0"/>
                              </a:rPr>
                              <m:t>𝑛</m:t>
                            </m:r>
                          </m:sup>
                          <m:e>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𝑗</m:t>
                                </m:r>
                                <m:r>
                                  <m:rPr>
                                    <m:brk m:alnAt="25"/>
                                  </m:rPr>
                                  <a:rPr lang="en-GB" b="0" i="1" smtClean="0">
                                    <a:latin typeface="Cambria Math" panose="02040503050406030204" pitchFamily="18" charset="0"/>
                                  </a:rPr>
                                  <m:t>=</m:t>
                                </m:r>
                                <m:r>
                                  <m:rPr>
                                    <m:brk m:alnAt="25"/>
                                  </m:rPr>
                                  <a:rPr lang="en-GB" b="0" i="1" smtClean="0">
                                    <a:latin typeface="Cambria Math" panose="02040503050406030204" pitchFamily="18" charset="0"/>
                                  </a:rPr>
                                  <m:t>1</m:t>
                                </m:r>
                              </m:sub>
                              <m:sup>
                                <m:r>
                                  <a:rPr lang="en-GB" b="0" i="1" smtClean="0">
                                    <a:latin typeface="Cambria Math" panose="02040503050406030204" pitchFamily="18" charset="0"/>
                                  </a:rPr>
                                  <m:t>𝑛</m:t>
                                </m:r>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𝑖𝑗</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𝑍</m:t>
                                    </m:r>
                                  </m:e>
                                  <m:sub>
                                    <m:r>
                                      <a:rPr lang="en-GB" i="1">
                                        <a:latin typeface="Cambria Math" panose="02040503050406030204" pitchFamily="18" charset="0"/>
                                      </a:rPr>
                                      <m:t>𝑖</m:t>
                                    </m:r>
                                  </m:sub>
                                </m:sSub>
                                <m:r>
                                  <a:rPr lang="en-GB" i="1">
                                    <a:latin typeface="Cambria Math" panose="02040503050406030204" pitchFamily="18" charset="0"/>
                                  </a:rPr>
                                  <m:t>−</m:t>
                                </m:r>
                                <m:acc>
                                  <m:accPr>
                                    <m:chr m:val="̅"/>
                                    <m:ctrlPr>
                                      <a:rPr lang="en-GB" i="1">
                                        <a:latin typeface="Cambria Math" panose="02040503050406030204" pitchFamily="18" charset="0"/>
                                      </a:rPr>
                                    </m:ctrlPr>
                                  </m:accPr>
                                  <m:e>
                                    <m:r>
                                      <a:rPr lang="en-GB" i="1">
                                        <a:latin typeface="Cambria Math" panose="02040503050406030204" pitchFamily="18" charset="0"/>
                                      </a:rPr>
                                      <m:t>𝑍</m:t>
                                    </m:r>
                                  </m:e>
                                </m:acc>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𝑍</m:t>
                                    </m:r>
                                  </m:e>
                                  <m:sub>
                                    <m:r>
                                      <a:rPr lang="en-GB" i="1">
                                        <a:latin typeface="Cambria Math" panose="02040503050406030204" pitchFamily="18" charset="0"/>
                                      </a:rPr>
                                      <m:t>𝑗</m:t>
                                    </m:r>
                                  </m:sub>
                                </m:sSub>
                                <m:r>
                                  <a:rPr lang="en-GB" i="1">
                                    <a:latin typeface="Cambria Math" panose="02040503050406030204" pitchFamily="18" charset="0"/>
                                  </a:rPr>
                                  <m:t>−</m:t>
                                </m:r>
                                <m:acc>
                                  <m:accPr>
                                    <m:chr m:val="̅"/>
                                    <m:ctrlPr>
                                      <a:rPr lang="en-GB" i="1">
                                        <a:latin typeface="Cambria Math" panose="02040503050406030204" pitchFamily="18" charset="0"/>
                                      </a:rPr>
                                    </m:ctrlPr>
                                  </m:accPr>
                                  <m:e>
                                    <m:r>
                                      <a:rPr lang="en-GB" i="1">
                                        <a:latin typeface="Cambria Math" panose="02040503050406030204" pitchFamily="18" charset="0"/>
                                      </a:rPr>
                                      <m:t>𝑍</m:t>
                                    </m:r>
                                  </m:e>
                                </m:acc>
                                <m:r>
                                  <a:rPr lang="en-GB" b="0" i="1" smtClean="0">
                                    <a:latin typeface="Cambria Math" panose="02040503050406030204" pitchFamily="18" charset="0"/>
                                  </a:rPr>
                                  <m:t>)</m:t>
                                </m:r>
                              </m:e>
                            </m:nary>
                          </m:e>
                        </m:nary>
                      </m:num>
                      <m:den>
                        <m:nary>
                          <m:naryPr>
                            <m:chr m:val="∑"/>
                            <m:limLoc m:val="subSup"/>
                            <m:ctrlPr>
                              <a:rPr lang="en-GB" b="0" i="1" smtClean="0">
                                <a:latin typeface="Cambria Math" panose="02040503050406030204" pitchFamily="18" charset="0"/>
                              </a:rPr>
                            </m:ctrlPr>
                          </m:naryPr>
                          <m:sub>
                            <m:r>
                              <m:rPr>
                                <m:brk m:alnAt="1"/>
                              </m:rPr>
                              <a:rPr lang="en-GB" b="0" i="1" smtClean="0">
                                <a:latin typeface="Cambria Math" panose="02040503050406030204" pitchFamily="18" charset="0"/>
                              </a:rPr>
                              <m:t>𝑖</m:t>
                            </m:r>
                            <m:r>
                              <m:rPr>
                                <m:brk m:alnAt="25"/>
                              </m:rPr>
                              <a:rPr lang="en-GB" i="1">
                                <a:latin typeface="Cambria Math" panose="02040503050406030204" pitchFamily="18" charset="0"/>
                              </a:rPr>
                              <m:t>=</m:t>
                            </m:r>
                            <m:r>
                              <m:rPr>
                                <m:brk m:alnAt="25"/>
                              </m:rPr>
                              <a:rPr lang="en-GB" i="1">
                                <a:latin typeface="Cambria Math" panose="02040503050406030204" pitchFamily="18" charset="0"/>
                              </a:rPr>
                              <m:t>1</m:t>
                            </m:r>
                          </m:sub>
                          <m:sup>
                            <m:r>
                              <a:rPr lang="en-GB" i="1">
                                <a:latin typeface="Cambria Math" panose="02040503050406030204" pitchFamily="18" charset="0"/>
                              </a:rPr>
                              <m:t>𝑛</m:t>
                            </m:r>
                          </m:sup>
                          <m:e>
                            <m:r>
                              <a:rPr lang="en-GB" i="1" smtClean="0">
                                <a:latin typeface="Cambria Math" panose="02040503050406030204" pitchFamily="18" charset="0"/>
                              </a:rPr>
                              <m:t> </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𝑍</m:t>
                                        </m:r>
                                      </m:e>
                                      <m:sub>
                                        <m:r>
                                          <a:rPr lang="en-GB" i="1">
                                            <a:latin typeface="Cambria Math" panose="02040503050406030204" pitchFamily="18" charset="0"/>
                                          </a:rPr>
                                          <m:t>𝑖</m:t>
                                        </m:r>
                                      </m:sub>
                                    </m:sSub>
                                    <m:r>
                                      <a:rPr lang="en-GB" i="1">
                                        <a:latin typeface="Cambria Math" panose="02040503050406030204" pitchFamily="18" charset="0"/>
                                      </a:rPr>
                                      <m:t>−</m:t>
                                    </m:r>
                                    <m:acc>
                                      <m:accPr>
                                        <m:chr m:val="̅"/>
                                        <m:ctrlPr>
                                          <a:rPr lang="en-GB" i="1">
                                            <a:latin typeface="Cambria Math" panose="02040503050406030204" pitchFamily="18" charset="0"/>
                                          </a:rPr>
                                        </m:ctrlPr>
                                      </m:accPr>
                                      <m:e>
                                        <m:r>
                                          <a:rPr lang="en-GB" i="1">
                                            <a:latin typeface="Cambria Math" panose="02040503050406030204" pitchFamily="18" charset="0"/>
                                          </a:rPr>
                                          <m:t>𝑍</m:t>
                                        </m:r>
                                      </m:e>
                                    </m:acc>
                                  </m:e>
                                </m:d>
                              </m:e>
                              <m:sup>
                                <m:r>
                                  <a:rPr lang="en-GB" b="0" i="1" smtClean="0">
                                    <a:latin typeface="Cambria Math" panose="02040503050406030204" pitchFamily="18" charset="0"/>
                                  </a:rPr>
                                  <m:t>2</m:t>
                                </m:r>
                              </m:sup>
                            </m:sSup>
                          </m:e>
                        </m:nary>
                      </m:den>
                    </m:f>
                  </m:oMath>
                </a14:m>
                <a:r>
                  <a:rPr lang="en-GB" dirty="0"/>
                  <a:t>.</a:t>
                </a:r>
              </a:p>
              <a:p>
                <a14:m>
                  <m:oMath xmlns:m="http://schemas.openxmlformats.org/officeDocument/2006/math">
                    <m:r>
                      <a:rPr lang="en-GB" b="0" i="1" smtClean="0">
                        <a:latin typeface="Cambria Math" panose="02040503050406030204" pitchFamily="18" charset="0"/>
                      </a:rPr>
                      <m:t>𝐼</m:t>
                    </m:r>
                  </m:oMath>
                </a14:m>
                <a:r>
                  <a:rPr lang="en-GB" dirty="0"/>
                  <a:t> approximately lies within the interval </a:t>
                </a:r>
                <a14:m>
                  <m:oMath xmlns:m="http://schemas.openxmlformats.org/officeDocument/2006/math">
                    <m:r>
                      <a:rPr lang="en-GB" b="0" i="1" smtClean="0">
                        <a:latin typeface="Cambria Math" panose="02040503050406030204" pitchFamily="18" charset="0"/>
                      </a:rPr>
                      <m:t>[−1,1]</m:t>
                    </m:r>
                  </m:oMath>
                </a14:m>
                <a:endParaRPr lang="en-GB" dirty="0"/>
              </a:p>
              <a:p>
                <a:r>
                  <a:rPr lang="en-GB" dirty="0"/>
                  <a:t>Interpretation: </a:t>
                </a:r>
                <a14:m>
                  <m:oMath xmlns:m="http://schemas.openxmlformats.org/officeDocument/2006/math">
                    <m:r>
                      <a:rPr lang="en-GB" b="0" i="1" smtClean="0">
                        <a:latin typeface="Cambria Math" panose="02040503050406030204" pitchFamily="18" charset="0"/>
                      </a:rPr>
                      <m:t>𝐼</m:t>
                    </m:r>
                    <m:r>
                      <a:rPr lang="en-GB" b="0" i="1" smtClean="0">
                        <a:latin typeface="Cambria Math" panose="02040503050406030204" pitchFamily="18" charset="0"/>
                      </a:rPr>
                      <m:t>&gt;</m:t>
                    </m:r>
                    <m:r>
                      <a:rPr lang="en-GB" b="0" i="1" smtClean="0">
                        <a:latin typeface="Cambria Math" panose="02040503050406030204" pitchFamily="18" charset="0"/>
                      </a:rPr>
                      <m:t>𝐸</m:t>
                    </m:r>
                    <m:d>
                      <m:dPr>
                        <m:ctrlPr>
                          <a:rPr lang="en-GB" b="0" i="1" smtClean="0">
                            <a:latin typeface="Cambria Math" panose="02040503050406030204" pitchFamily="18" charset="0"/>
                          </a:rPr>
                        </m:ctrlPr>
                      </m:dPr>
                      <m:e>
                        <m:r>
                          <a:rPr lang="en-GB" b="0" i="1" smtClean="0">
                            <a:latin typeface="Cambria Math" panose="02040503050406030204" pitchFamily="18" charset="0"/>
                          </a:rPr>
                          <m:t>𝐼</m:t>
                        </m:r>
                      </m:e>
                    </m:d>
                    <m:r>
                      <a:rPr lang="en-GB" b="0" i="1" smtClean="0">
                        <a:latin typeface="Cambria Math" panose="02040503050406030204" pitchFamily="18" charset="0"/>
                      </a:rPr>
                      <m:t>=−1/(</m:t>
                    </m:r>
                    <m:r>
                      <a:rPr lang="en-GB" b="0" i="1" smtClean="0">
                        <a:latin typeface="Cambria Math" panose="02040503050406030204" pitchFamily="18" charset="0"/>
                      </a:rPr>
                      <m:t>𝑛</m:t>
                    </m:r>
                    <m:r>
                      <a:rPr lang="en-GB" b="0" i="1" smtClean="0">
                        <a:latin typeface="Cambria Math" panose="02040503050406030204" pitchFamily="18" charset="0"/>
                      </a:rPr>
                      <m:t>−1)</m:t>
                    </m:r>
                  </m:oMath>
                </a14:m>
                <a:r>
                  <a:rPr lang="en-GB" dirty="0"/>
                  <a:t> </a:t>
                </a:r>
                <a14:m>
                  <m:oMath xmlns:m="http://schemas.openxmlformats.org/officeDocument/2006/math">
                    <m:r>
                      <a:rPr lang="en-GB" i="1" dirty="0" smtClean="0">
                        <a:latin typeface="Cambria Math" panose="02040503050406030204" pitchFamily="18" charset="0"/>
                        <a:ea typeface="Cambria Math" panose="02040503050406030204" pitchFamily="18" charset="0"/>
                      </a:rPr>
                      <m:t>⇒</m:t>
                    </m:r>
                  </m:oMath>
                </a14:m>
                <a:r>
                  <a:rPr lang="en-GB" dirty="0"/>
                  <a:t> positive autocorrelation</a:t>
                </a:r>
              </a:p>
              <a:p>
                <a:pPr marL="0" indent="0">
                  <a:buNone/>
                </a:pPr>
                <a14:m>
                  <m:oMath xmlns:m="http://schemas.openxmlformats.org/officeDocument/2006/math">
                    <m:r>
                      <a:rPr lang="en-GB" b="0" i="1" smtClean="0">
                        <a:latin typeface="Cambria Math" panose="02040503050406030204" pitchFamily="18" charset="0"/>
                      </a:rPr>
                      <m:t>𝐼</m:t>
                    </m:r>
                    <m:r>
                      <a:rPr lang="en-GB" b="0" i="1" smtClean="0">
                        <a:latin typeface="Cambria Math" panose="02040503050406030204" pitchFamily="18" charset="0"/>
                      </a:rPr>
                      <m:t>&lt;</m:t>
                    </m:r>
                    <m:r>
                      <a:rPr lang="en-GB" b="0" i="1" smtClean="0">
                        <a:latin typeface="Cambria Math" panose="02040503050406030204" pitchFamily="18" charset="0"/>
                      </a:rPr>
                      <m:t>𝐸</m:t>
                    </m:r>
                    <m:r>
                      <a:rPr lang="en-GB" b="0" i="1" smtClean="0">
                        <a:latin typeface="Cambria Math" panose="02040503050406030204" pitchFamily="18" charset="0"/>
                      </a:rPr>
                      <m:t>(</m:t>
                    </m:r>
                    <m:r>
                      <a:rPr lang="en-GB" b="0" i="1" smtClean="0">
                        <a:latin typeface="Cambria Math" panose="02040503050406030204" pitchFamily="18" charset="0"/>
                      </a:rPr>
                      <m:t>𝐼</m:t>
                    </m:r>
                    <m:r>
                      <a:rPr lang="en-GB" b="0" i="1" smtClean="0">
                        <a:latin typeface="Cambria Math" panose="02040503050406030204" pitchFamily="18" charset="0"/>
                      </a:rPr>
                      <m:t>)</m:t>
                    </m:r>
                  </m:oMath>
                </a14:m>
                <a:r>
                  <a:rPr lang="en-GB" dirty="0"/>
                  <a:t> </a:t>
                </a:r>
                <a14:m>
                  <m:oMath xmlns:m="http://schemas.openxmlformats.org/officeDocument/2006/math">
                    <m:r>
                      <a:rPr lang="en-GB" i="1" dirty="0">
                        <a:latin typeface="Cambria Math" panose="02040503050406030204" pitchFamily="18" charset="0"/>
                        <a:ea typeface="Cambria Math" panose="02040503050406030204" pitchFamily="18" charset="0"/>
                      </a:rPr>
                      <m:t>⇒</m:t>
                    </m:r>
                  </m:oMath>
                </a14:m>
                <a:r>
                  <a:rPr lang="en-GB" dirty="0"/>
                  <a:t> negative autocorrelation</a:t>
                </a:r>
              </a:p>
              <a:p>
                <a:pPr marL="0" indent="0">
                  <a:buNone/>
                </a:pPr>
                <a14:m>
                  <m:oMath xmlns:m="http://schemas.openxmlformats.org/officeDocument/2006/math">
                    <m:r>
                      <a:rPr lang="en-GB" b="0" i="1" smtClean="0">
                        <a:latin typeface="Cambria Math" panose="02040503050406030204" pitchFamily="18" charset="0"/>
                      </a:rPr>
                      <m:t>𝐼</m:t>
                    </m:r>
                    <m:r>
                      <a:rPr lang="en-GB" b="0" i="1" smtClean="0">
                        <a:latin typeface="Cambria Math" panose="02040503050406030204" pitchFamily="18" charset="0"/>
                      </a:rPr>
                      <m:t>≈</m:t>
                    </m:r>
                    <m:r>
                      <a:rPr lang="en-GB" b="0" i="1" smtClean="0">
                        <a:latin typeface="Cambria Math" panose="02040503050406030204" pitchFamily="18" charset="0"/>
                      </a:rPr>
                      <m:t>𝐸</m:t>
                    </m:r>
                    <m:d>
                      <m:dPr>
                        <m:ctrlPr>
                          <a:rPr lang="en-GB" b="0" i="1" smtClean="0">
                            <a:latin typeface="Cambria Math" panose="02040503050406030204" pitchFamily="18" charset="0"/>
                          </a:rPr>
                        </m:ctrlPr>
                      </m:dPr>
                      <m:e>
                        <m:r>
                          <a:rPr lang="en-GB" b="0" i="1" smtClean="0">
                            <a:latin typeface="Cambria Math" panose="02040503050406030204" pitchFamily="18" charset="0"/>
                          </a:rPr>
                          <m:t>𝐼</m:t>
                        </m:r>
                      </m:e>
                    </m:d>
                  </m:oMath>
                </a14:m>
                <a:r>
                  <a:rPr lang="en-GB" dirty="0">
                    <a:ea typeface="Cambria Math" panose="02040503050406030204" pitchFamily="18" charset="0"/>
                  </a:rPr>
                  <a:t> </a:t>
                </a:r>
                <a14:m>
                  <m:oMath xmlns:m="http://schemas.openxmlformats.org/officeDocument/2006/math">
                    <m:r>
                      <a:rPr lang="en-GB" i="1" dirty="0">
                        <a:latin typeface="Cambria Math" panose="02040503050406030204" pitchFamily="18" charset="0"/>
                        <a:ea typeface="Cambria Math" panose="02040503050406030204" pitchFamily="18" charset="0"/>
                      </a:rPr>
                      <m:t>⇒</m:t>
                    </m:r>
                  </m:oMath>
                </a14:m>
                <a:r>
                  <a:rPr lang="en-GB" dirty="0"/>
                  <a:t> spatial randomness</a:t>
                </a:r>
              </a:p>
              <a:p>
                <a:r>
                  <a:rPr lang="en-GB" dirty="0"/>
                  <a:t>Inference on </a:t>
                </a:r>
                <a14:m>
                  <m:oMath xmlns:m="http://schemas.openxmlformats.org/officeDocument/2006/math">
                    <m:r>
                      <a:rPr lang="en-GB" b="0" i="1" smtClean="0">
                        <a:latin typeface="Cambria Math" panose="02040503050406030204" pitchFamily="18" charset="0"/>
                      </a:rPr>
                      <m:t>𝐼</m:t>
                    </m:r>
                  </m:oMath>
                </a14:m>
                <a:r>
                  <a:rPr lang="en-GB" dirty="0"/>
                  <a:t> can be undertaken under a normality assumption or via a Monte Carlo permutation test (assuming a null hypothesis of no spatial autocorrelation)</a:t>
                </a:r>
              </a:p>
            </p:txBody>
          </p:sp>
        </mc:Choice>
        <mc:Fallback>
          <p:sp>
            <p:nvSpPr>
              <p:cNvPr id="3" name="Content Placeholder 2">
                <a:extLst>
                  <a:ext uri="{FF2B5EF4-FFF2-40B4-BE49-F238E27FC236}">
                    <a16:creationId xmlns:a16="http://schemas.microsoft.com/office/drawing/2014/main" id="{5B6C0240-7E82-4AA2-5EC1-10C692B11F86}"/>
                  </a:ext>
                </a:extLst>
              </p:cNvPr>
              <p:cNvSpPr>
                <a:spLocks noGrp="1" noRot="1" noChangeAspect="1" noMove="1" noResize="1" noEditPoints="1" noAdjustHandles="1" noChangeArrowheads="1" noChangeShapeType="1" noTextEdit="1"/>
              </p:cNvSpPr>
              <p:nvPr>
                <p:ph idx="1"/>
              </p:nvPr>
            </p:nvSpPr>
            <p:spPr>
              <a:xfrm>
                <a:off x="838200" y="1393006"/>
                <a:ext cx="10515600" cy="5391252"/>
              </a:xfrm>
              <a:blipFill>
                <a:blip r:embed="rId2"/>
                <a:stretch>
                  <a:fillRect l="-928" t="-2376" r="-116"/>
                </a:stretch>
              </a:blipFill>
            </p:spPr>
            <p:txBody>
              <a:bodyPr/>
              <a:lstStyle/>
              <a:p>
                <a:r>
                  <a:rPr lang="en-GB">
                    <a:noFill/>
                  </a:rPr>
                  <a:t> </a:t>
                </a:r>
              </a:p>
            </p:txBody>
          </p:sp>
        </mc:Fallback>
      </mc:AlternateContent>
    </p:spTree>
    <p:extLst>
      <p:ext uri="{BB962C8B-B14F-4D97-AF65-F5344CB8AC3E}">
        <p14:creationId xmlns:p14="http://schemas.microsoft.com/office/powerpoint/2010/main" val="4004945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5BC59-96FC-318C-A035-3F2778183A12}"/>
              </a:ext>
            </a:extLst>
          </p:cNvPr>
          <p:cNvSpPr>
            <a:spLocks noGrp="1"/>
          </p:cNvSpPr>
          <p:nvPr>
            <p:ph type="title"/>
          </p:nvPr>
        </p:nvSpPr>
        <p:spPr>
          <a:xfrm>
            <a:off x="277761" y="109486"/>
            <a:ext cx="10515600" cy="549275"/>
          </a:xfrm>
        </p:spPr>
        <p:txBody>
          <a:bodyPr>
            <a:normAutofit fontScale="90000"/>
          </a:bodyPr>
          <a:lstStyle/>
          <a:p>
            <a:r>
              <a:rPr lang="en-GB" b="1" dirty="0">
                <a:solidFill>
                  <a:schemeClr val="bg1"/>
                </a:solidFill>
                <a:latin typeface="+mn-lt"/>
              </a:rPr>
              <a:t>Geary’s 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0E1FB9-F606-3755-F646-EECD705BE8C4}"/>
                  </a:ext>
                </a:extLst>
              </p:cNvPr>
              <p:cNvSpPr>
                <a:spLocks noGrp="1"/>
              </p:cNvSpPr>
              <p:nvPr>
                <p:ph idx="1"/>
              </p:nvPr>
            </p:nvSpPr>
            <p:spPr>
              <a:xfrm>
                <a:off x="838200" y="1474378"/>
                <a:ext cx="10515600" cy="4351338"/>
              </a:xfrm>
            </p:spPr>
            <p:txBody>
              <a:bodyPr/>
              <a:lstStyle/>
              <a:p>
                <a:r>
                  <a:rPr lang="en-GB" dirty="0"/>
                  <a:t>Geary’s C uses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𝑗</m:t>
                                </m:r>
                              </m:sub>
                            </m:sSub>
                          </m:e>
                        </m:d>
                      </m:e>
                      <m:sup>
                        <m:r>
                          <a:rPr lang="en-GB" b="0" i="1" smtClean="0">
                            <a:latin typeface="Cambria Math" panose="02040503050406030204" pitchFamily="18" charset="0"/>
                          </a:rPr>
                          <m:t>2</m:t>
                        </m:r>
                      </m:sup>
                    </m:sSup>
                  </m:oMath>
                </a14:m>
                <a:r>
                  <a:rPr lang="en-GB" dirty="0"/>
                  <a:t> as a measure of (dis) similarity between areas </a:t>
                </a:r>
                <a14:m>
                  <m:oMath xmlns:m="http://schemas.openxmlformats.org/officeDocument/2006/math">
                    <m:r>
                      <a:rPr lang="en-GB" b="0" i="1" smtClean="0">
                        <a:latin typeface="Cambria Math" panose="02040503050406030204" pitchFamily="18" charset="0"/>
                      </a:rPr>
                      <m:t>𝑖</m:t>
                    </m:r>
                  </m:oMath>
                </a14:m>
                <a:r>
                  <a:rPr lang="en-GB" dirty="0"/>
                  <a:t> and </a:t>
                </a:r>
                <a14:m>
                  <m:oMath xmlns:m="http://schemas.openxmlformats.org/officeDocument/2006/math">
                    <m:r>
                      <a:rPr lang="en-GB" b="0" i="1" smtClean="0">
                        <a:latin typeface="Cambria Math" panose="02040503050406030204" pitchFamily="18" charset="0"/>
                      </a:rPr>
                      <m:t>𝑗</m:t>
                    </m:r>
                  </m:oMath>
                </a14:m>
                <a:r>
                  <a:rPr lang="en-GB" dirty="0"/>
                  <a:t> and is given by </a:t>
                </a:r>
              </a:p>
              <a:p>
                <a14:m>
                  <m:oMath xmlns:m="http://schemas.openxmlformats.org/officeDocument/2006/math">
                    <m:r>
                      <a:rPr lang="en-GB" b="0" i="1" smtClean="0">
                        <a:latin typeface="Cambria Math" panose="02040503050406030204" pitchFamily="18" charset="0"/>
                      </a:rPr>
                      <m:t>𝐶</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i="1">
                            <a:latin typeface="Cambria Math" panose="02040503050406030204" pitchFamily="18" charset="0"/>
                          </a:rPr>
                          <m:t>𝑛</m:t>
                        </m:r>
                        <m:r>
                          <a:rPr lang="en-GB" b="0" i="1" smtClean="0">
                            <a:latin typeface="Cambria Math" panose="02040503050406030204" pitchFamily="18" charset="0"/>
                          </a:rPr>
                          <m:t>−1)</m:t>
                        </m:r>
                      </m:num>
                      <m:den>
                        <m:r>
                          <a:rPr lang="en-GB" b="0" i="1" smtClean="0">
                            <a:latin typeface="Cambria Math" panose="02040503050406030204" pitchFamily="18" charset="0"/>
                          </a:rPr>
                          <m:t>2</m:t>
                        </m:r>
                        <m:nary>
                          <m:naryPr>
                            <m:chr m:val="∑"/>
                            <m:supHide m:val="on"/>
                            <m:ctrlPr>
                              <a:rPr lang="en-GB" i="1">
                                <a:latin typeface="Cambria Math" panose="02040503050406030204" pitchFamily="18" charset="0"/>
                              </a:rPr>
                            </m:ctrlPr>
                          </m:naryPr>
                          <m:sub>
                            <m:r>
                              <m:rPr>
                                <m:brk m:alnAt="7"/>
                              </m:rPr>
                              <a:rPr lang="en-GB" i="1">
                                <a:latin typeface="Cambria Math" panose="02040503050406030204" pitchFamily="18" charset="0"/>
                              </a:rPr>
                              <m:t>𝑖</m:t>
                            </m:r>
                            <m:r>
                              <m:rPr>
                                <m:brk m:alnAt="7"/>
                              </m:rPr>
                              <a:rPr lang="en-GB" i="1">
                                <a:latin typeface="Cambria Math" panose="02040503050406030204" pitchFamily="18" charset="0"/>
                              </a:rPr>
                              <m:t>,</m:t>
                            </m:r>
                            <m:r>
                              <m:rPr>
                                <m:brk m:alnAt="7"/>
                              </m:rPr>
                              <a:rPr lang="en-GB" i="1">
                                <a:latin typeface="Cambria Math" panose="02040503050406030204" pitchFamily="18" charset="0"/>
                              </a:rPr>
                              <m:t>𝑗</m:t>
                            </m:r>
                          </m:sub>
                          <m:sup/>
                          <m:e>
                            <m:sSub>
                              <m:sSubPr>
                                <m:ctrlPr>
                                  <a:rPr lang="en-GB" i="1">
                                    <a:latin typeface="Cambria Math" panose="02040503050406030204" pitchFamily="18" charset="0"/>
                                  </a:rPr>
                                </m:ctrlPr>
                              </m:sSubPr>
                              <m:e>
                                <m:r>
                                  <a:rPr lang="en-GB" i="1">
                                    <a:latin typeface="Cambria Math" panose="02040503050406030204" pitchFamily="18" charset="0"/>
                                  </a:rPr>
                                  <m:t>𝑤</m:t>
                                </m:r>
                              </m:e>
                              <m:sub>
                                <m:r>
                                  <a:rPr lang="en-GB" i="1">
                                    <a:latin typeface="Cambria Math" panose="02040503050406030204" pitchFamily="18" charset="0"/>
                                  </a:rPr>
                                  <m:t>𝑖𝑗</m:t>
                                </m:r>
                              </m:sub>
                            </m:sSub>
                          </m:e>
                        </m:nary>
                      </m:den>
                    </m:f>
                    <m:r>
                      <a:rPr lang="en-GB">
                        <a:latin typeface="Cambria Math" panose="02040503050406030204" pitchFamily="18" charset="0"/>
                      </a:rPr>
                      <m:t>.</m:t>
                    </m:r>
                    <m:f>
                      <m:fPr>
                        <m:ctrlPr>
                          <a:rPr lang="en-GB" i="1">
                            <a:latin typeface="Cambria Math" panose="02040503050406030204" pitchFamily="18" charset="0"/>
                          </a:rPr>
                        </m:ctrlPr>
                      </m:fPr>
                      <m:num>
                        <m:nary>
                          <m:naryPr>
                            <m:chr m:val="∑"/>
                            <m:limLoc m:val="subSup"/>
                            <m:ctrlPr>
                              <a:rPr lang="en-GB" i="1">
                                <a:latin typeface="Cambria Math" panose="02040503050406030204" pitchFamily="18" charset="0"/>
                              </a:rPr>
                            </m:ctrlPr>
                          </m:naryPr>
                          <m:sub>
                            <m:r>
                              <m:rPr>
                                <m:brk m:alnAt="25"/>
                              </m:rPr>
                              <a:rPr lang="en-GB" i="1">
                                <a:latin typeface="Cambria Math" panose="02040503050406030204" pitchFamily="18" charset="0"/>
                              </a:rPr>
                              <m:t>𝑖</m:t>
                            </m:r>
                            <m:r>
                              <m:rPr>
                                <m:brk m:alnAt="25"/>
                              </m:rPr>
                              <a:rPr lang="en-GB" i="1">
                                <a:latin typeface="Cambria Math" panose="02040503050406030204" pitchFamily="18" charset="0"/>
                              </a:rPr>
                              <m:t>=</m:t>
                            </m:r>
                            <m:r>
                              <m:rPr>
                                <m:brk m:alnAt="25"/>
                              </m:rPr>
                              <a:rPr lang="en-GB" i="1">
                                <a:latin typeface="Cambria Math" panose="02040503050406030204" pitchFamily="18" charset="0"/>
                              </a:rPr>
                              <m:t>1</m:t>
                            </m:r>
                          </m:sub>
                          <m:sup>
                            <m:r>
                              <a:rPr lang="en-GB" i="1">
                                <a:latin typeface="Cambria Math" panose="02040503050406030204" pitchFamily="18" charset="0"/>
                              </a:rPr>
                              <m:t>𝑛</m:t>
                            </m:r>
                          </m:sup>
                          <m:e>
                            <m:nary>
                              <m:naryPr>
                                <m:chr m:val="∑"/>
                                <m:limLoc m:val="subSup"/>
                                <m:ctrlPr>
                                  <a:rPr lang="en-GB" i="1">
                                    <a:latin typeface="Cambria Math" panose="02040503050406030204" pitchFamily="18" charset="0"/>
                                  </a:rPr>
                                </m:ctrlPr>
                              </m:naryPr>
                              <m:sub>
                                <m:r>
                                  <m:rPr>
                                    <m:brk m:alnAt="25"/>
                                  </m:rPr>
                                  <a:rPr lang="en-GB" i="1">
                                    <a:latin typeface="Cambria Math" panose="02040503050406030204" pitchFamily="18" charset="0"/>
                                  </a:rPr>
                                  <m:t>𝑗</m:t>
                                </m:r>
                                <m:r>
                                  <m:rPr>
                                    <m:brk m:alnAt="25"/>
                                  </m:rPr>
                                  <a:rPr lang="en-GB" i="1">
                                    <a:latin typeface="Cambria Math" panose="02040503050406030204" pitchFamily="18" charset="0"/>
                                  </a:rPr>
                                  <m:t>=</m:t>
                                </m:r>
                                <m:r>
                                  <m:rPr>
                                    <m:brk m:alnAt="25"/>
                                  </m:rPr>
                                  <a:rPr lang="en-GB" i="1">
                                    <a:latin typeface="Cambria Math" panose="02040503050406030204" pitchFamily="18" charset="0"/>
                                  </a:rPr>
                                  <m:t>1</m:t>
                                </m:r>
                              </m:sub>
                              <m:sup>
                                <m:r>
                                  <a:rPr lang="en-GB" i="1">
                                    <a:latin typeface="Cambria Math" panose="02040503050406030204" pitchFamily="18" charset="0"/>
                                  </a:rPr>
                                  <m:t>𝑛</m:t>
                                </m:r>
                              </m:sup>
                              <m:e>
                                <m:sSub>
                                  <m:sSubPr>
                                    <m:ctrlPr>
                                      <a:rPr lang="en-GB" i="1">
                                        <a:latin typeface="Cambria Math" panose="02040503050406030204" pitchFamily="18" charset="0"/>
                                      </a:rPr>
                                    </m:ctrlPr>
                                  </m:sSubPr>
                                  <m:e>
                                    <m:r>
                                      <a:rPr lang="en-GB" i="1">
                                        <a:latin typeface="Cambria Math" panose="02040503050406030204" pitchFamily="18" charset="0"/>
                                      </a:rPr>
                                      <m:t>𝑤</m:t>
                                    </m:r>
                                  </m:e>
                                  <m:sub>
                                    <m:r>
                                      <a:rPr lang="en-GB" i="1">
                                        <a:latin typeface="Cambria Math" panose="02040503050406030204" pitchFamily="18" charset="0"/>
                                      </a:rPr>
                                      <m:t>𝑖𝑗</m:t>
                                    </m:r>
                                  </m:sub>
                                </m:sSub>
                                <m:sSup>
                                  <m:sSupPr>
                                    <m:ctrlPr>
                                      <a:rPr lang="en-GB" i="1">
                                        <a:latin typeface="Cambria Math" panose="02040503050406030204" pitchFamily="18" charset="0"/>
                                      </a:rPr>
                                    </m:ctrlPr>
                                  </m:sSupPr>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𝑍</m:t>
                                            </m:r>
                                          </m:e>
                                          <m:sub>
                                            <m:r>
                                              <a:rPr lang="en-GB" i="1">
                                                <a:latin typeface="Cambria Math" panose="02040503050406030204" pitchFamily="18" charset="0"/>
                                              </a:rPr>
                                              <m:t>𝑖</m:t>
                                            </m:r>
                                          </m:sub>
                                        </m:sSub>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𝑗</m:t>
                                            </m:r>
                                          </m:sub>
                                        </m:sSub>
                                      </m:e>
                                    </m:d>
                                  </m:e>
                                  <m:sup>
                                    <m:r>
                                      <a:rPr lang="en-GB" b="0" i="1" smtClean="0">
                                        <a:latin typeface="Cambria Math" panose="02040503050406030204" pitchFamily="18" charset="0"/>
                                      </a:rPr>
                                      <m:t>2</m:t>
                                    </m:r>
                                  </m:sup>
                                </m:sSup>
                              </m:e>
                            </m:nary>
                          </m:e>
                        </m:nary>
                      </m:num>
                      <m:den>
                        <m:nary>
                          <m:naryPr>
                            <m:chr m:val="∑"/>
                            <m:limLoc m:val="subSup"/>
                            <m:ctrlPr>
                              <a:rPr lang="en-GB" i="1">
                                <a:latin typeface="Cambria Math" panose="02040503050406030204" pitchFamily="18" charset="0"/>
                              </a:rPr>
                            </m:ctrlPr>
                          </m:naryPr>
                          <m:sub>
                            <m:r>
                              <m:rPr>
                                <m:brk m:alnAt="1"/>
                              </m:rPr>
                              <a:rPr lang="en-GB" i="1">
                                <a:latin typeface="Cambria Math" panose="02040503050406030204" pitchFamily="18" charset="0"/>
                              </a:rPr>
                              <m:t>𝑖</m:t>
                            </m:r>
                            <m:r>
                              <m:rPr>
                                <m:brk m:alnAt="25"/>
                              </m:rPr>
                              <a:rPr lang="en-GB" i="1">
                                <a:latin typeface="Cambria Math" panose="02040503050406030204" pitchFamily="18" charset="0"/>
                              </a:rPr>
                              <m:t>=</m:t>
                            </m:r>
                            <m:r>
                              <m:rPr>
                                <m:brk m:alnAt="25"/>
                              </m:rPr>
                              <a:rPr lang="en-GB" i="1">
                                <a:latin typeface="Cambria Math" panose="02040503050406030204" pitchFamily="18" charset="0"/>
                              </a:rPr>
                              <m:t>1</m:t>
                            </m:r>
                          </m:sub>
                          <m:sup>
                            <m:r>
                              <a:rPr lang="en-GB" i="1">
                                <a:latin typeface="Cambria Math" panose="02040503050406030204" pitchFamily="18" charset="0"/>
                              </a:rPr>
                              <m:t>𝑛</m:t>
                            </m:r>
                          </m:sup>
                          <m:e>
                            <m:r>
                              <a:rPr lang="en-GB" i="1">
                                <a:latin typeface="Cambria Math" panose="02040503050406030204" pitchFamily="18" charset="0"/>
                              </a:rPr>
                              <m:t> </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𝑍</m:t>
                                        </m:r>
                                      </m:e>
                                      <m:sub>
                                        <m:r>
                                          <a:rPr lang="en-GB" i="1">
                                            <a:latin typeface="Cambria Math" panose="02040503050406030204" pitchFamily="18" charset="0"/>
                                          </a:rPr>
                                          <m:t>𝑖</m:t>
                                        </m:r>
                                      </m:sub>
                                    </m:sSub>
                                    <m:r>
                                      <a:rPr lang="en-GB" i="1">
                                        <a:latin typeface="Cambria Math" panose="02040503050406030204" pitchFamily="18" charset="0"/>
                                      </a:rPr>
                                      <m:t>−</m:t>
                                    </m:r>
                                    <m:acc>
                                      <m:accPr>
                                        <m:chr m:val="̅"/>
                                        <m:ctrlPr>
                                          <a:rPr lang="en-GB" i="1">
                                            <a:latin typeface="Cambria Math" panose="02040503050406030204" pitchFamily="18" charset="0"/>
                                          </a:rPr>
                                        </m:ctrlPr>
                                      </m:accPr>
                                      <m:e>
                                        <m:r>
                                          <a:rPr lang="en-GB" i="1">
                                            <a:latin typeface="Cambria Math" panose="02040503050406030204" pitchFamily="18" charset="0"/>
                                          </a:rPr>
                                          <m:t>𝑍</m:t>
                                        </m:r>
                                      </m:e>
                                    </m:acc>
                                  </m:e>
                                </m:d>
                              </m:e>
                              <m:sup>
                                <m:r>
                                  <a:rPr lang="en-GB" i="1">
                                    <a:latin typeface="Cambria Math" panose="02040503050406030204" pitchFamily="18" charset="0"/>
                                  </a:rPr>
                                  <m:t>2</m:t>
                                </m:r>
                              </m:sup>
                            </m:sSup>
                          </m:e>
                        </m:nary>
                      </m:den>
                    </m:f>
                    <m:r>
                      <m:rPr>
                        <m:nor/>
                      </m:rPr>
                      <a:rPr lang="en-GB" i="0" dirty="0"/>
                      <m:t>.</m:t>
                    </m:r>
                  </m:oMath>
                </a14:m>
                <a:endParaRPr lang="en-GB" dirty="0"/>
              </a:p>
              <a:p>
                <a14:m>
                  <m:oMath xmlns:m="http://schemas.openxmlformats.org/officeDocument/2006/math">
                    <m:r>
                      <a:rPr lang="en-GB" b="0" i="1" smtClean="0">
                        <a:latin typeface="Cambria Math" panose="02040503050406030204" pitchFamily="18" charset="0"/>
                      </a:rPr>
                      <m:t>𝐶</m:t>
                    </m:r>
                  </m:oMath>
                </a14:m>
                <a:r>
                  <a:rPr lang="en-GB" dirty="0"/>
                  <a:t> typically lies in the interval </a:t>
                </a:r>
                <a14:m>
                  <m:oMath xmlns:m="http://schemas.openxmlformats.org/officeDocument/2006/math">
                    <m:r>
                      <a:rPr lang="en-GB" b="0" i="1" smtClean="0">
                        <a:latin typeface="Cambria Math" panose="02040503050406030204" pitchFamily="18" charset="0"/>
                      </a:rPr>
                      <m:t>0</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𝐶</m:t>
                    </m:r>
                    <m:r>
                      <a:rPr lang="en-GB" b="0" i="1" smtClean="0">
                        <a:latin typeface="Cambria Math" panose="02040503050406030204" pitchFamily="18" charset="0"/>
                        <a:ea typeface="Cambria Math" panose="02040503050406030204" pitchFamily="18" charset="0"/>
                      </a:rPr>
                      <m:t>≤2</m:t>
                    </m:r>
                  </m:oMath>
                </a14:m>
                <a:r>
                  <a:rPr lang="en-GB" dirty="0"/>
                  <a:t> (assuming non-negative spatial weights)</a:t>
                </a:r>
              </a:p>
              <a:p>
                <a:r>
                  <a:rPr lang="en-GB" dirty="0"/>
                  <a:t>Interpretation: </a:t>
                </a:r>
                <a14:m>
                  <m:oMath xmlns:m="http://schemas.openxmlformats.org/officeDocument/2006/math">
                    <m:r>
                      <a:rPr lang="en-GB" b="0" i="1" smtClean="0">
                        <a:latin typeface="Cambria Math" panose="02040503050406030204" pitchFamily="18" charset="0"/>
                      </a:rPr>
                      <m:t>𝐸</m:t>
                    </m:r>
                    <m:d>
                      <m:dPr>
                        <m:ctrlPr>
                          <a:rPr lang="en-GB" b="0" i="1" smtClean="0">
                            <a:latin typeface="Cambria Math" panose="02040503050406030204" pitchFamily="18" charset="0"/>
                          </a:rPr>
                        </m:ctrlPr>
                      </m:dPr>
                      <m:e>
                        <m:r>
                          <a:rPr lang="en-GB" b="0" i="1" smtClean="0">
                            <a:latin typeface="Cambria Math" panose="02040503050406030204" pitchFamily="18" charset="0"/>
                          </a:rPr>
                          <m:t>𝐶</m:t>
                        </m:r>
                      </m:e>
                    </m:d>
                    <m:r>
                      <a:rPr lang="en-GB" b="0" i="1" smtClean="0">
                        <a:latin typeface="Cambria Math" panose="02040503050406030204" pitchFamily="18" charset="0"/>
                      </a:rPr>
                      <m:t>=1</m:t>
                    </m:r>
                  </m:oMath>
                </a14:m>
                <a:r>
                  <a:rPr lang="en-GB" dirty="0"/>
                  <a:t> under no spatial association. </a:t>
                </a:r>
                <a14:m>
                  <m:oMath xmlns:m="http://schemas.openxmlformats.org/officeDocument/2006/math">
                    <m:r>
                      <a:rPr lang="en-GB" b="0" i="1" smtClean="0">
                        <a:latin typeface="Cambria Math" panose="02040503050406030204" pitchFamily="18" charset="0"/>
                      </a:rPr>
                      <m:t>𝐶</m:t>
                    </m:r>
                    <m:r>
                      <a:rPr lang="en-GB" b="0" i="1" smtClean="0">
                        <a:latin typeface="Cambria Math" panose="02040503050406030204" pitchFamily="18" charset="0"/>
                      </a:rPr>
                      <m:t>&lt;1</m:t>
                    </m:r>
                  </m:oMath>
                </a14:m>
                <a:r>
                  <a:rPr lang="en-GB" dirty="0">
                    <a:ea typeface="Cambria Math" panose="02040503050406030204" pitchFamily="18" charset="0"/>
                  </a:rPr>
                  <a:t> </a:t>
                </a:r>
                <a14:m>
                  <m:oMath xmlns:m="http://schemas.openxmlformats.org/officeDocument/2006/math">
                    <m:r>
                      <a:rPr lang="en-GB" i="1" dirty="0">
                        <a:latin typeface="Cambria Math" panose="02040503050406030204" pitchFamily="18" charset="0"/>
                        <a:ea typeface="Cambria Math" panose="02040503050406030204" pitchFamily="18" charset="0"/>
                      </a:rPr>
                      <m:t>⇒</m:t>
                    </m:r>
                  </m:oMath>
                </a14:m>
                <a:r>
                  <a:rPr lang="en-GB" dirty="0"/>
                  <a:t> positive spatial autocorrelation; </a:t>
                </a:r>
                <a14:m>
                  <m:oMath xmlns:m="http://schemas.openxmlformats.org/officeDocument/2006/math">
                    <m:r>
                      <a:rPr lang="en-GB" i="1">
                        <a:latin typeface="Cambria Math" panose="02040503050406030204" pitchFamily="18" charset="0"/>
                      </a:rPr>
                      <m:t>𝐶</m:t>
                    </m:r>
                    <m:r>
                      <a:rPr lang="en-GB" b="0" i="1" smtClean="0">
                        <a:latin typeface="Cambria Math" panose="02040503050406030204" pitchFamily="18" charset="0"/>
                      </a:rPr>
                      <m:t>&lt;</m:t>
                    </m:r>
                    <m:r>
                      <a:rPr lang="en-GB" i="1">
                        <a:latin typeface="Cambria Math" panose="02040503050406030204" pitchFamily="18" charset="0"/>
                      </a:rPr>
                      <m:t>1</m:t>
                    </m:r>
                  </m:oMath>
                </a14:m>
                <a:r>
                  <a:rPr lang="en-GB" dirty="0">
                    <a:ea typeface="Cambria Math" panose="02040503050406030204" pitchFamily="18" charset="0"/>
                  </a:rPr>
                  <a:t> </a:t>
                </a:r>
                <a14:m>
                  <m:oMath xmlns:m="http://schemas.openxmlformats.org/officeDocument/2006/math">
                    <m:r>
                      <a:rPr lang="en-GB" i="1" dirty="0">
                        <a:latin typeface="Cambria Math" panose="02040503050406030204" pitchFamily="18" charset="0"/>
                        <a:ea typeface="Cambria Math" panose="02040503050406030204" pitchFamily="18" charset="0"/>
                      </a:rPr>
                      <m:t>⇒</m:t>
                    </m:r>
                  </m:oMath>
                </a14:m>
                <a:r>
                  <a:rPr lang="en-GB" dirty="0"/>
                  <a:t> negative spatial autocorrelation and</a:t>
                </a:r>
                <a14:m>
                  <m:oMath xmlns:m="http://schemas.openxmlformats.org/officeDocument/2006/math">
                    <m:r>
                      <a:rPr lang="en-GB" b="0" i="0" smtClean="0">
                        <a:latin typeface="Cambria Math" panose="02040503050406030204" pitchFamily="18" charset="0"/>
                      </a:rPr>
                      <m:t> </m:t>
                    </m:r>
                    <m:r>
                      <a:rPr lang="en-GB" i="1">
                        <a:latin typeface="Cambria Math" panose="02040503050406030204" pitchFamily="18" charset="0"/>
                      </a:rPr>
                      <m:t>𝐶</m:t>
                    </m:r>
                    <m:r>
                      <a:rPr lang="en-GB" b="0" i="1" smtClean="0">
                        <a:latin typeface="Cambria Math" panose="02040503050406030204" pitchFamily="18" charset="0"/>
                      </a:rPr>
                      <m:t>=</m:t>
                    </m:r>
                    <m:r>
                      <a:rPr lang="en-GB" i="1">
                        <a:latin typeface="Cambria Math" panose="02040503050406030204" pitchFamily="18" charset="0"/>
                      </a:rPr>
                      <m:t>1</m:t>
                    </m:r>
                  </m:oMath>
                </a14:m>
                <a:r>
                  <a:rPr lang="en-GB" dirty="0">
                    <a:ea typeface="Cambria Math" panose="02040503050406030204" pitchFamily="18" charset="0"/>
                  </a:rPr>
                  <a:t> </a:t>
                </a:r>
                <a14:m>
                  <m:oMath xmlns:m="http://schemas.openxmlformats.org/officeDocument/2006/math">
                    <m:r>
                      <a:rPr lang="en-GB" i="1" dirty="0">
                        <a:latin typeface="Cambria Math" panose="02040503050406030204" pitchFamily="18" charset="0"/>
                        <a:ea typeface="Cambria Math" panose="02040503050406030204" pitchFamily="18" charset="0"/>
                      </a:rPr>
                      <m:t>⇒</m:t>
                    </m:r>
                  </m:oMath>
                </a14:m>
                <a:r>
                  <a:rPr lang="en-GB" dirty="0"/>
                  <a:t> spatial randomness</a:t>
                </a:r>
              </a:p>
            </p:txBody>
          </p:sp>
        </mc:Choice>
        <mc:Fallback xmlns="">
          <p:sp>
            <p:nvSpPr>
              <p:cNvPr id="3" name="Content Placeholder 2">
                <a:extLst>
                  <a:ext uri="{FF2B5EF4-FFF2-40B4-BE49-F238E27FC236}">
                    <a16:creationId xmlns:a16="http://schemas.microsoft.com/office/drawing/2014/main" id="{360E1FB9-F606-3755-F646-EECD705BE8C4}"/>
                  </a:ext>
                </a:extLst>
              </p:cNvPr>
              <p:cNvSpPr>
                <a:spLocks noGrp="1" noRot="1" noChangeAspect="1" noMove="1" noResize="1" noEditPoints="1" noAdjustHandles="1" noChangeArrowheads="1" noChangeShapeType="1" noTextEdit="1"/>
              </p:cNvSpPr>
              <p:nvPr>
                <p:ph idx="1"/>
              </p:nvPr>
            </p:nvSpPr>
            <p:spPr>
              <a:xfrm>
                <a:off x="838200" y="1474378"/>
                <a:ext cx="10515600" cy="4351338"/>
              </a:xfrm>
              <a:blipFill>
                <a:blip r:embed="rId2"/>
                <a:stretch>
                  <a:fillRect l="-1043" r="-986"/>
                </a:stretch>
              </a:blipFill>
            </p:spPr>
            <p:txBody>
              <a:bodyPr/>
              <a:lstStyle/>
              <a:p>
                <a:r>
                  <a:rPr lang="en-GB">
                    <a:noFill/>
                  </a:rPr>
                  <a:t> </a:t>
                </a:r>
              </a:p>
            </p:txBody>
          </p:sp>
        </mc:Fallback>
      </mc:AlternateContent>
    </p:spTree>
    <p:extLst>
      <p:ext uri="{BB962C8B-B14F-4D97-AF65-F5344CB8AC3E}">
        <p14:creationId xmlns:p14="http://schemas.microsoft.com/office/powerpoint/2010/main" val="32809193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5DF93-E011-E084-FE7B-7285525C5593}"/>
              </a:ext>
            </a:extLst>
          </p:cNvPr>
          <p:cNvSpPr>
            <a:spLocks noGrp="1"/>
          </p:cNvSpPr>
          <p:nvPr>
            <p:ph type="title"/>
          </p:nvPr>
        </p:nvSpPr>
        <p:spPr>
          <a:xfrm>
            <a:off x="267929" y="0"/>
            <a:ext cx="10990006" cy="686927"/>
          </a:xfrm>
        </p:spPr>
        <p:txBody>
          <a:bodyPr>
            <a:normAutofit fontScale="90000"/>
          </a:bodyPr>
          <a:lstStyle/>
          <a:p>
            <a:r>
              <a:rPr lang="en-GB" b="1" dirty="0">
                <a:solidFill>
                  <a:schemeClr val="bg1"/>
                </a:solidFill>
                <a:latin typeface="+mn-lt"/>
              </a:rPr>
              <a:t>Local indicators of spatial association (LISA)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E2CEC7-8871-FA54-A90B-A9DF4E77C9B2}"/>
                  </a:ext>
                </a:extLst>
              </p:cNvPr>
              <p:cNvSpPr>
                <a:spLocks noGrp="1"/>
              </p:cNvSpPr>
              <p:nvPr>
                <p:ph idx="1"/>
              </p:nvPr>
            </p:nvSpPr>
            <p:spPr>
              <a:xfrm>
                <a:off x="838200" y="1432334"/>
                <a:ext cx="10515600" cy="4351338"/>
              </a:xfrm>
            </p:spPr>
            <p:txBody>
              <a:bodyPr>
                <a:normAutofit fontScale="92500" lnSpcReduction="10000"/>
              </a:bodyPr>
              <a:lstStyle/>
              <a:p>
                <a:r>
                  <a:rPr lang="en-GB" dirty="0"/>
                  <a:t>Local Moran’s I – decomposes global Moran’s I into a per-unit contribution:</a:t>
                </a:r>
              </a:p>
              <a:p>
                <a:pPr marL="0" indent="0" algn="ctr">
                  <a:buNone/>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𝐼</m:t>
                        </m:r>
                      </m:e>
                      <m:sub>
                        <m:r>
                          <a:rPr lang="en-GB" b="0" i="1" smtClean="0">
                            <a:latin typeface="Cambria Math" panose="02040503050406030204" pitchFamily="18" charset="0"/>
                          </a:rPr>
                          <m:t>𝑖</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𝑍</m:t>
                            </m:r>
                          </m:e>
                          <m:sub>
                            <m:r>
                              <a:rPr lang="en-GB" i="1">
                                <a:latin typeface="Cambria Math" panose="02040503050406030204" pitchFamily="18" charset="0"/>
                              </a:rPr>
                              <m:t>𝑖</m:t>
                            </m:r>
                          </m:sub>
                        </m:sSub>
                        <m:r>
                          <a:rPr lang="en-GB" i="1">
                            <a:latin typeface="Cambria Math" panose="02040503050406030204" pitchFamily="18" charset="0"/>
                          </a:rPr>
                          <m:t>−</m:t>
                        </m:r>
                        <m:acc>
                          <m:accPr>
                            <m:chr m:val="̅"/>
                            <m:ctrlPr>
                              <a:rPr lang="en-GB" i="1">
                                <a:latin typeface="Cambria Math" panose="02040503050406030204" pitchFamily="18" charset="0"/>
                              </a:rPr>
                            </m:ctrlPr>
                          </m:accPr>
                          <m:e>
                            <m:r>
                              <a:rPr lang="en-GB" i="1">
                                <a:latin typeface="Cambria Math" panose="02040503050406030204" pitchFamily="18" charset="0"/>
                              </a:rPr>
                              <m:t>𝑍</m:t>
                            </m:r>
                          </m:e>
                        </m:acc>
                        <m:r>
                          <a:rPr lang="en-GB" b="0" i="1" smtClean="0">
                            <a:latin typeface="Cambria Math" panose="02040503050406030204" pitchFamily="18" charset="0"/>
                          </a:rPr>
                          <m:t>)</m:t>
                        </m:r>
                      </m:num>
                      <m:den>
                        <m:r>
                          <a:rPr lang="en-GB" b="0" i="1" smtClean="0">
                            <a:latin typeface="Cambria Math" panose="02040503050406030204" pitchFamily="18" charset="0"/>
                          </a:rPr>
                          <m:t>𝑚</m:t>
                        </m:r>
                      </m:den>
                    </m:f>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𝑗</m:t>
                        </m:r>
                        <m:r>
                          <m:rPr>
                            <m:brk m:alnAt="25"/>
                          </m:rPr>
                          <a:rPr lang="en-GB" b="0" i="1" smtClean="0">
                            <a:latin typeface="Cambria Math" panose="02040503050406030204" pitchFamily="18" charset="0"/>
                          </a:rPr>
                          <m:t>=</m:t>
                        </m:r>
                        <m:r>
                          <m:rPr>
                            <m:brk m:alnAt="25"/>
                          </m:rPr>
                          <a:rPr lang="en-GB" b="0" i="1" smtClean="0">
                            <a:latin typeface="Cambria Math" panose="02040503050406030204" pitchFamily="18" charset="0"/>
                          </a:rPr>
                          <m:t>1</m:t>
                        </m:r>
                      </m:sub>
                      <m:sup>
                        <m:r>
                          <a:rPr lang="en-GB" b="0" i="1" smtClean="0">
                            <a:latin typeface="Cambria Math" panose="02040503050406030204" pitchFamily="18" charset="0"/>
                          </a:rPr>
                          <m:t>𝑛</m:t>
                        </m:r>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𝑖𝑗</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𝑍</m:t>
                            </m:r>
                          </m:e>
                          <m:sub>
                            <m:r>
                              <a:rPr lang="en-GB" b="0" i="1" smtClean="0">
                                <a:latin typeface="Cambria Math" panose="02040503050406030204" pitchFamily="18" charset="0"/>
                              </a:rPr>
                              <m:t>𝑗</m:t>
                            </m:r>
                          </m:sub>
                        </m:sSub>
                        <m:r>
                          <a:rPr lang="en-GB" i="1">
                            <a:latin typeface="Cambria Math" panose="02040503050406030204" pitchFamily="18" charset="0"/>
                          </a:rPr>
                          <m:t>−</m:t>
                        </m:r>
                        <m:acc>
                          <m:accPr>
                            <m:chr m:val="̅"/>
                            <m:ctrlPr>
                              <a:rPr lang="en-GB" i="1">
                                <a:latin typeface="Cambria Math" panose="02040503050406030204" pitchFamily="18" charset="0"/>
                              </a:rPr>
                            </m:ctrlPr>
                          </m:accPr>
                          <m:e>
                            <m:r>
                              <a:rPr lang="en-GB" i="1">
                                <a:latin typeface="Cambria Math" panose="02040503050406030204" pitchFamily="18" charset="0"/>
                              </a:rPr>
                              <m:t>𝑍</m:t>
                            </m:r>
                          </m:e>
                        </m:acc>
                        <m:r>
                          <a:rPr lang="en-GB" b="0" i="1" smtClean="0">
                            <a:latin typeface="Cambria Math" panose="02040503050406030204" pitchFamily="18" charset="0"/>
                          </a:rPr>
                          <m:t>)</m:t>
                        </m:r>
                      </m:e>
                    </m:nary>
                  </m:oMath>
                </a14:m>
                <a:r>
                  <a:rPr lang="en-GB" dirty="0"/>
                  <a:t>, </a:t>
                </a:r>
              </a:p>
              <a:p>
                <a:pPr marL="0" indent="0">
                  <a:buNone/>
                </a:pPr>
                <a:r>
                  <a:rPr lang="en-GB" dirty="0"/>
                  <a:t>w</a:t>
                </a:r>
                <a:r>
                  <a:rPr lang="en-GB" b="0" dirty="0"/>
                  <a:t>here </a:t>
                </a:r>
                <a14:m>
                  <m:oMath xmlns:m="http://schemas.openxmlformats.org/officeDocument/2006/math">
                    <m:r>
                      <a:rPr lang="en-GB" b="0" i="1" smtClean="0">
                        <a:latin typeface="Cambria Math" panose="02040503050406030204" pitchFamily="18" charset="0"/>
                      </a:rPr>
                      <m:t>𝑚</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𝑛</m:t>
                        </m:r>
                      </m:den>
                    </m:f>
                  </m:oMath>
                </a14:m>
                <a:r>
                  <a:rPr lang="en-GB" dirty="0"/>
                  <a:t> </a:t>
                </a:r>
                <a14:m>
                  <m:oMath xmlns:m="http://schemas.openxmlformats.org/officeDocument/2006/math">
                    <m:nary>
                      <m:naryPr>
                        <m:chr m:val="∑"/>
                        <m:limLoc m:val="subSup"/>
                        <m:ctrlPr>
                          <a:rPr lang="en-GB" b="0" i="1" smtClean="0">
                            <a:latin typeface="Cambria Math" panose="02040503050406030204" pitchFamily="18" charset="0"/>
                          </a:rPr>
                        </m:ctrlPr>
                      </m:naryPr>
                      <m:sub>
                        <m:r>
                          <m:rPr>
                            <m:brk m:alnAt="1"/>
                          </m:rPr>
                          <a:rPr lang="en-GB" b="0" i="1" smtClean="0">
                            <a:latin typeface="Cambria Math" panose="02040503050406030204" pitchFamily="18" charset="0"/>
                          </a:rPr>
                          <m:t>𝑖</m:t>
                        </m:r>
                        <m:r>
                          <m:rPr>
                            <m:brk m:alnAt="25"/>
                          </m:rPr>
                          <a:rPr lang="en-GB" i="1">
                            <a:latin typeface="Cambria Math" panose="02040503050406030204" pitchFamily="18" charset="0"/>
                          </a:rPr>
                          <m:t>=</m:t>
                        </m:r>
                        <m:r>
                          <m:rPr>
                            <m:brk m:alnAt="25"/>
                          </m:rPr>
                          <a:rPr lang="en-GB" i="1">
                            <a:latin typeface="Cambria Math" panose="02040503050406030204" pitchFamily="18" charset="0"/>
                          </a:rPr>
                          <m:t>1</m:t>
                        </m:r>
                      </m:sub>
                      <m:sup>
                        <m:r>
                          <a:rPr lang="en-GB" i="1">
                            <a:latin typeface="Cambria Math" panose="02040503050406030204" pitchFamily="18" charset="0"/>
                          </a:rPr>
                          <m:t>𝑛</m:t>
                        </m:r>
                      </m:sup>
                      <m:e>
                        <m:r>
                          <a:rPr lang="en-GB" i="1" smtClean="0">
                            <a:latin typeface="Cambria Math" panose="02040503050406030204" pitchFamily="18" charset="0"/>
                          </a:rPr>
                          <m:t> </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𝑍</m:t>
                                    </m:r>
                                  </m:e>
                                  <m:sub>
                                    <m:r>
                                      <a:rPr lang="en-GB" b="0" i="1" smtClean="0">
                                        <a:latin typeface="Cambria Math" panose="02040503050406030204" pitchFamily="18" charset="0"/>
                                      </a:rPr>
                                      <m:t>𝑖</m:t>
                                    </m:r>
                                  </m:sub>
                                </m:sSub>
                                <m:r>
                                  <a:rPr lang="en-GB" i="1">
                                    <a:latin typeface="Cambria Math" panose="02040503050406030204" pitchFamily="18" charset="0"/>
                                  </a:rPr>
                                  <m:t>−</m:t>
                                </m:r>
                                <m:acc>
                                  <m:accPr>
                                    <m:chr m:val="̅"/>
                                    <m:ctrlPr>
                                      <a:rPr lang="en-GB" i="1">
                                        <a:latin typeface="Cambria Math" panose="02040503050406030204" pitchFamily="18" charset="0"/>
                                      </a:rPr>
                                    </m:ctrlPr>
                                  </m:accPr>
                                  <m:e>
                                    <m:r>
                                      <a:rPr lang="en-GB" i="1">
                                        <a:latin typeface="Cambria Math" panose="02040503050406030204" pitchFamily="18" charset="0"/>
                                      </a:rPr>
                                      <m:t>𝑍</m:t>
                                    </m:r>
                                  </m:e>
                                </m:acc>
                              </m:e>
                            </m:d>
                          </m:e>
                          <m:sup>
                            <m:r>
                              <a:rPr lang="en-GB" b="0" i="1" smtClean="0">
                                <a:latin typeface="Cambria Math" panose="02040503050406030204" pitchFamily="18" charset="0"/>
                              </a:rPr>
                              <m:t>2</m:t>
                            </m:r>
                          </m:sup>
                        </m:sSup>
                      </m:e>
                    </m:nary>
                    <m:r>
                      <a:rPr lang="en-GB" b="0" i="0" smtClean="0">
                        <a:latin typeface="Cambria Math" panose="02040503050406030204" pitchFamily="18" charset="0"/>
                      </a:rPr>
                      <m:t> </m:t>
                    </m:r>
                  </m:oMath>
                </a14:m>
                <a:r>
                  <a:rPr lang="en-GB" dirty="0"/>
                  <a:t> and </a:t>
                </a:r>
                <a14:m>
                  <m:oMath xmlns:m="http://schemas.openxmlformats.org/officeDocument/2006/math">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𝑖</m:t>
                        </m:r>
                        <m:r>
                          <m:rPr>
                            <m:brk m:alnAt="25"/>
                          </m:rPr>
                          <a:rPr lang="en-GB" b="0" i="1" smtClean="0">
                            <a:latin typeface="Cambria Math" panose="02040503050406030204" pitchFamily="18" charset="0"/>
                          </a:rPr>
                          <m:t>=</m:t>
                        </m:r>
                        <m:r>
                          <m:rPr>
                            <m:brk m:alnAt="25"/>
                          </m:rPr>
                          <a:rPr lang="en-GB" b="0" i="1" smtClean="0">
                            <a:latin typeface="Cambria Math" panose="02040503050406030204" pitchFamily="18" charset="0"/>
                          </a:rPr>
                          <m:t>1</m:t>
                        </m:r>
                      </m:sub>
                      <m:sup>
                        <m:r>
                          <a:rPr lang="en-GB" b="0" i="1" smtClean="0">
                            <a:latin typeface="Cambria Math" panose="02040503050406030204" pitchFamily="18" charset="0"/>
                          </a:rPr>
                          <m:t>𝑛</m:t>
                        </m:r>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𝐼</m:t>
                            </m:r>
                          </m:e>
                          <m:sub>
                            <m:r>
                              <a:rPr lang="en-GB" b="0" i="1" smtClean="0">
                                <a:latin typeface="Cambria Math" panose="02040503050406030204" pitchFamily="18" charset="0"/>
                              </a:rPr>
                              <m:t>𝑖</m:t>
                            </m:r>
                          </m:sub>
                        </m:sSub>
                      </m:e>
                    </m:nary>
                    <m:r>
                      <a:rPr lang="en-GB" b="0" i="1" smtClean="0">
                        <a:latin typeface="Cambria Math" panose="02040503050406030204" pitchFamily="18" charset="0"/>
                      </a:rPr>
                      <m:t>=</m:t>
                    </m:r>
                    <m:nary>
                      <m:naryPr>
                        <m:chr m:val="∑"/>
                        <m:supHide m:val="on"/>
                        <m:ctrlPr>
                          <a:rPr lang="en-GB" i="1">
                            <a:latin typeface="Cambria Math" panose="02040503050406030204" pitchFamily="18" charset="0"/>
                          </a:rPr>
                        </m:ctrlPr>
                      </m:naryPr>
                      <m:sub>
                        <m:r>
                          <m:rPr>
                            <m:brk m:alnAt="7"/>
                          </m:rPr>
                          <a:rPr lang="en-GB" i="1">
                            <a:latin typeface="Cambria Math" panose="02040503050406030204" pitchFamily="18" charset="0"/>
                          </a:rPr>
                          <m:t>𝑖</m:t>
                        </m:r>
                        <m:r>
                          <m:rPr>
                            <m:brk m:alnAt="7"/>
                          </m:rPr>
                          <a:rPr lang="en-GB" i="1">
                            <a:latin typeface="Cambria Math" panose="02040503050406030204" pitchFamily="18" charset="0"/>
                          </a:rPr>
                          <m:t>,</m:t>
                        </m:r>
                        <m:r>
                          <m:rPr>
                            <m:brk m:alnAt="7"/>
                          </m:rPr>
                          <a:rPr lang="en-GB" i="1">
                            <a:latin typeface="Cambria Math" panose="02040503050406030204" pitchFamily="18" charset="0"/>
                          </a:rPr>
                          <m:t>𝑗</m:t>
                        </m:r>
                      </m:sub>
                      <m:sup/>
                      <m:e>
                        <m:sSub>
                          <m:sSubPr>
                            <m:ctrlPr>
                              <a:rPr lang="en-GB" i="1">
                                <a:latin typeface="Cambria Math" panose="02040503050406030204" pitchFamily="18" charset="0"/>
                              </a:rPr>
                            </m:ctrlPr>
                          </m:sSubPr>
                          <m:e>
                            <m:r>
                              <a:rPr lang="en-GB" i="1">
                                <a:latin typeface="Cambria Math" panose="02040503050406030204" pitchFamily="18" charset="0"/>
                              </a:rPr>
                              <m:t>𝑤</m:t>
                            </m:r>
                          </m:e>
                          <m:sub>
                            <m:r>
                              <a:rPr lang="en-GB" i="1">
                                <a:latin typeface="Cambria Math" panose="02040503050406030204" pitchFamily="18" charset="0"/>
                              </a:rPr>
                              <m:t>𝑖𝑗</m:t>
                            </m:r>
                          </m:sub>
                        </m:sSub>
                      </m:e>
                    </m:nary>
                    <m:r>
                      <a:rPr lang="en-GB" b="0" i="1" smtClean="0">
                        <a:latin typeface="Cambria Math" panose="02040503050406030204" pitchFamily="18" charset="0"/>
                      </a:rPr>
                      <m:t>.</m:t>
                    </m:r>
                    <m:r>
                      <a:rPr lang="en-GB" b="0" i="1" smtClean="0">
                        <a:latin typeface="Cambria Math" panose="02040503050406030204" pitchFamily="18" charset="0"/>
                      </a:rPr>
                      <m:t>𝐼</m:t>
                    </m:r>
                  </m:oMath>
                </a14:m>
                <a:endParaRPr lang="en-GB" dirty="0"/>
              </a:p>
              <a:p>
                <a:r>
                  <a:rPr lang="en-GB" dirty="0"/>
                  <a:t>Interpretation:</a:t>
                </a:r>
                <a:r>
                  <a:rPr lang="en-GB" sz="2600" dirty="0"/>
                  <a:t> </a:t>
                </a:r>
                <a14:m>
                  <m:oMath xmlns:m="http://schemas.openxmlformats.org/officeDocument/2006/math">
                    <m:sSub>
                      <m:sSubPr>
                        <m:ctrlPr>
                          <a:rPr lang="en-GB" sz="2600" b="0" i="1" smtClean="0">
                            <a:latin typeface="Cambria Math" panose="02040503050406030204" pitchFamily="18" charset="0"/>
                          </a:rPr>
                        </m:ctrlPr>
                      </m:sSubPr>
                      <m:e>
                        <m:r>
                          <a:rPr lang="en-GB" sz="2600" b="0" i="1" smtClean="0">
                            <a:latin typeface="Cambria Math" panose="02040503050406030204" pitchFamily="18" charset="0"/>
                          </a:rPr>
                          <m:t>𝐼</m:t>
                        </m:r>
                      </m:e>
                      <m:sub>
                        <m:r>
                          <a:rPr lang="en-GB" sz="2600" b="0" i="1" smtClean="0">
                            <a:latin typeface="Cambria Math" panose="02040503050406030204" pitchFamily="18" charset="0"/>
                          </a:rPr>
                          <m:t>𝑖</m:t>
                        </m:r>
                      </m:sub>
                    </m:sSub>
                  </m:oMath>
                </a14:m>
                <a:r>
                  <a:rPr lang="en-GB" sz="2600" dirty="0"/>
                  <a:t> is large and positive when area </a:t>
                </a:r>
                <a14:m>
                  <m:oMath xmlns:m="http://schemas.openxmlformats.org/officeDocument/2006/math">
                    <m:r>
                      <a:rPr lang="en-GB" sz="2600" b="0" i="1" smtClean="0">
                        <a:latin typeface="Cambria Math" panose="02040503050406030204" pitchFamily="18" charset="0"/>
                      </a:rPr>
                      <m:t>𝑖</m:t>
                    </m:r>
                  </m:oMath>
                </a14:m>
                <a:r>
                  <a:rPr lang="en-GB" sz="2600" dirty="0"/>
                  <a:t> and its neighbours are both above (or both below) the mean - a local </a:t>
                </a:r>
                <a:r>
                  <a:rPr lang="en-GB" sz="2600" b="1" dirty="0"/>
                  <a:t>cluster</a:t>
                </a:r>
                <a:r>
                  <a:rPr lang="en-GB" sz="2600" dirty="0"/>
                  <a:t> (High-High or Low-Low); </a:t>
                </a:r>
                <a14:m>
                  <m:oMath xmlns:m="http://schemas.openxmlformats.org/officeDocument/2006/math">
                    <m:sSub>
                      <m:sSubPr>
                        <m:ctrlPr>
                          <a:rPr lang="en-GB" sz="2600" i="1">
                            <a:latin typeface="Cambria Math" panose="02040503050406030204" pitchFamily="18" charset="0"/>
                          </a:rPr>
                        </m:ctrlPr>
                      </m:sSubPr>
                      <m:e>
                        <m:r>
                          <a:rPr lang="en-GB" sz="2600" i="1">
                            <a:latin typeface="Cambria Math" panose="02040503050406030204" pitchFamily="18" charset="0"/>
                          </a:rPr>
                          <m:t>𝐼</m:t>
                        </m:r>
                      </m:e>
                      <m:sub>
                        <m:r>
                          <a:rPr lang="en-GB" sz="2600" i="1">
                            <a:latin typeface="Cambria Math" panose="02040503050406030204" pitchFamily="18" charset="0"/>
                          </a:rPr>
                          <m:t>𝑖</m:t>
                        </m:r>
                      </m:sub>
                    </m:sSub>
                  </m:oMath>
                </a14:m>
                <a:r>
                  <a:rPr lang="en-GB" sz="2600" dirty="0"/>
                  <a:t> is large and negative when </a:t>
                </a:r>
                <a14:m>
                  <m:oMath xmlns:m="http://schemas.openxmlformats.org/officeDocument/2006/math">
                    <m:r>
                      <a:rPr lang="en-GB" sz="2600" b="0" i="1" smtClean="0">
                        <a:latin typeface="Cambria Math" panose="02040503050406030204" pitchFamily="18" charset="0"/>
                      </a:rPr>
                      <m:t>𝑖</m:t>
                    </m:r>
                  </m:oMath>
                </a14:m>
                <a:r>
                  <a:rPr lang="en-GB" sz="2600" dirty="0"/>
                  <a:t> differs sharply from its neighbours - a local </a:t>
                </a:r>
                <a:r>
                  <a:rPr lang="en-GB" sz="2600" b="1" dirty="0"/>
                  <a:t>outlier</a:t>
                </a:r>
                <a:r>
                  <a:rPr lang="en-GB" sz="2600" dirty="0"/>
                  <a:t> (High-Low or Low-High)</a:t>
                </a:r>
              </a:p>
              <a:p>
                <a:pPr marL="0" indent="0">
                  <a:buNone/>
                </a:pPr>
                <a:endParaRPr lang="en-GB" sz="2400" dirty="0"/>
              </a:p>
              <a:p>
                <a:pPr marL="0" indent="0">
                  <a:buNone/>
                </a:pPr>
                <a:r>
                  <a:rPr lang="en-GB" sz="2600" dirty="0"/>
                  <a:t>NB: A local Geary’s C </a:t>
                </a:r>
                <a14:m>
                  <m:oMath xmlns:m="http://schemas.openxmlformats.org/officeDocument/2006/math">
                    <m:d>
                      <m:dPr>
                        <m:ctrlPr>
                          <a:rPr lang="en-GB" sz="2600" b="0" i="1" smtClean="0">
                            <a:latin typeface="Cambria Math" panose="02040503050406030204" pitchFamily="18" charset="0"/>
                          </a:rPr>
                        </m:ctrlPr>
                      </m:dPr>
                      <m:e>
                        <m:sSub>
                          <m:sSubPr>
                            <m:ctrlPr>
                              <a:rPr lang="en-GB" sz="2600" b="0" i="1" smtClean="0">
                                <a:latin typeface="Cambria Math" panose="02040503050406030204" pitchFamily="18" charset="0"/>
                              </a:rPr>
                            </m:ctrlPr>
                          </m:sSubPr>
                          <m:e>
                            <m:r>
                              <a:rPr lang="en-GB" sz="2600" b="0" i="1" smtClean="0">
                                <a:latin typeface="Cambria Math" panose="02040503050406030204" pitchFamily="18" charset="0"/>
                              </a:rPr>
                              <m:t>𝐶</m:t>
                            </m:r>
                          </m:e>
                          <m:sub>
                            <m:r>
                              <a:rPr lang="en-GB" sz="2600" b="0" i="1" smtClean="0">
                                <a:latin typeface="Cambria Math" panose="02040503050406030204" pitchFamily="18" charset="0"/>
                              </a:rPr>
                              <m:t>𝑖</m:t>
                            </m:r>
                          </m:sub>
                        </m:sSub>
                        <m:r>
                          <a:rPr lang="en-GB" sz="2600" b="0" i="1" smtClean="0">
                            <a:latin typeface="Cambria Math" panose="02040503050406030204" pitchFamily="18" charset="0"/>
                          </a:rPr>
                          <m:t>=</m:t>
                        </m:r>
                        <m:nary>
                          <m:naryPr>
                            <m:chr m:val="∑"/>
                            <m:limLoc m:val="subSup"/>
                            <m:ctrlPr>
                              <a:rPr lang="en-GB" sz="2600" i="1">
                                <a:latin typeface="Cambria Math" panose="02040503050406030204" pitchFamily="18" charset="0"/>
                              </a:rPr>
                            </m:ctrlPr>
                          </m:naryPr>
                          <m:sub>
                            <m:r>
                              <m:rPr>
                                <m:brk m:alnAt="25"/>
                              </m:rPr>
                              <a:rPr lang="en-GB" sz="2600" i="1">
                                <a:latin typeface="Cambria Math" panose="02040503050406030204" pitchFamily="18" charset="0"/>
                              </a:rPr>
                              <m:t>𝑗</m:t>
                            </m:r>
                            <m:r>
                              <m:rPr>
                                <m:brk m:alnAt="25"/>
                              </m:rPr>
                              <a:rPr lang="en-GB" sz="2600" i="1">
                                <a:latin typeface="Cambria Math" panose="02040503050406030204" pitchFamily="18" charset="0"/>
                              </a:rPr>
                              <m:t>=</m:t>
                            </m:r>
                            <m:r>
                              <m:rPr>
                                <m:brk m:alnAt="25"/>
                              </m:rPr>
                              <a:rPr lang="en-GB" sz="2600" i="1">
                                <a:latin typeface="Cambria Math" panose="02040503050406030204" pitchFamily="18" charset="0"/>
                              </a:rPr>
                              <m:t>1</m:t>
                            </m:r>
                          </m:sub>
                          <m:sup>
                            <m:r>
                              <a:rPr lang="en-GB" sz="2600" i="1">
                                <a:latin typeface="Cambria Math" panose="02040503050406030204" pitchFamily="18" charset="0"/>
                              </a:rPr>
                              <m:t>𝑛</m:t>
                            </m:r>
                          </m:sup>
                          <m:e>
                            <m:sSub>
                              <m:sSubPr>
                                <m:ctrlPr>
                                  <a:rPr lang="en-GB" sz="2600" i="1">
                                    <a:latin typeface="Cambria Math" panose="02040503050406030204" pitchFamily="18" charset="0"/>
                                  </a:rPr>
                                </m:ctrlPr>
                              </m:sSubPr>
                              <m:e>
                                <m:r>
                                  <a:rPr lang="en-GB" sz="2600" i="1">
                                    <a:latin typeface="Cambria Math" panose="02040503050406030204" pitchFamily="18" charset="0"/>
                                  </a:rPr>
                                  <m:t>𝑤</m:t>
                                </m:r>
                              </m:e>
                              <m:sub>
                                <m:r>
                                  <a:rPr lang="en-GB" sz="2600" i="1">
                                    <a:latin typeface="Cambria Math" panose="02040503050406030204" pitchFamily="18" charset="0"/>
                                  </a:rPr>
                                  <m:t>𝑖𝑗</m:t>
                                </m:r>
                              </m:sub>
                            </m:sSub>
                            <m:sSup>
                              <m:sSupPr>
                                <m:ctrlPr>
                                  <a:rPr lang="en-GB" sz="2600" i="1">
                                    <a:latin typeface="Cambria Math" panose="02040503050406030204" pitchFamily="18" charset="0"/>
                                  </a:rPr>
                                </m:ctrlPr>
                              </m:sSupPr>
                              <m:e>
                                <m:d>
                                  <m:dPr>
                                    <m:ctrlPr>
                                      <a:rPr lang="en-GB" sz="2600" i="1">
                                        <a:latin typeface="Cambria Math" panose="02040503050406030204" pitchFamily="18" charset="0"/>
                                      </a:rPr>
                                    </m:ctrlPr>
                                  </m:dPr>
                                  <m:e>
                                    <m:sSub>
                                      <m:sSubPr>
                                        <m:ctrlPr>
                                          <a:rPr lang="en-GB" sz="2600" i="1">
                                            <a:latin typeface="Cambria Math" panose="02040503050406030204" pitchFamily="18" charset="0"/>
                                          </a:rPr>
                                        </m:ctrlPr>
                                      </m:sSubPr>
                                      <m:e>
                                        <m:r>
                                          <a:rPr lang="en-GB" sz="2600" i="1">
                                            <a:latin typeface="Cambria Math" panose="02040503050406030204" pitchFamily="18" charset="0"/>
                                          </a:rPr>
                                          <m:t>𝑍</m:t>
                                        </m:r>
                                      </m:e>
                                      <m:sub>
                                        <m:r>
                                          <a:rPr lang="en-GB" sz="2600" i="1">
                                            <a:latin typeface="Cambria Math" panose="02040503050406030204" pitchFamily="18" charset="0"/>
                                          </a:rPr>
                                          <m:t>𝑖</m:t>
                                        </m:r>
                                      </m:sub>
                                    </m:sSub>
                                    <m:r>
                                      <a:rPr lang="en-GB" sz="2600" i="1">
                                        <a:latin typeface="Cambria Math" panose="02040503050406030204" pitchFamily="18" charset="0"/>
                                      </a:rPr>
                                      <m:t>−</m:t>
                                    </m:r>
                                    <m:sSub>
                                      <m:sSubPr>
                                        <m:ctrlPr>
                                          <a:rPr lang="en-GB" sz="2600" i="1">
                                            <a:latin typeface="Cambria Math" panose="02040503050406030204" pitchFamily="18" charset="0"/>
                                          </a:rPr>
                                        </m:ctrlPr>
                                      </m:sSubPr>
                                      <m:e>
                                        <m:r>
                                          <a:rPr lang="en-GB" sz="2600" i="1">
                                            <a:latin typeface="Cambria Math" panose="02040503050406030204" pitchFamily="18" charset="0"/>
                                          </a:rPr>
                                          <m:t>𝑍</m:t>
                                        </m:r>
                                      </m:e>
                                      <m:sub>
                                        <m:r>
                                          <a:rPr lang="en-GB" sz="2600" i="1">
                                            <a:latin typeface="Cambria Math" panose="02040503050406030204" pitchFamily="18" charset="0"/>
                                          </a:rPr>
                                          <m:t>𝑗</m:t>
                                        </m:r>
                                      </m:sub>
                                    </m:sSub>
                                  </m:e>
                                </m:d>
                              </m:e>
                              <m:sup>
                                <m:r>
                                  <a:rPr lang="en-GB" sz="2600" i="1">
                                    <a:latin typeface="Cambria Math" panose="02040503050406030204" pitchFamily="18" charset="0"/>
                                  </a:rPr>
                                  <m:t>2</m:t>
                                </m:r>
                              </m:sup>
                            </m:sSup>
                          </m:e>
                        </m:nary>
                      </m:e>
                    </m:d>
                  </m:oMath>
                </a14:m>
                <a:r>
                  <a:rPr lang="en-GB" sz="2600" dirty="0"/>
                  <a:t> also exists and is a valid LISA</a:t>
                </a:r>
              </a:p>
            </p:txBody>
          </p:sp>
        </mc:Choice>
        <mc:Fallback xmlns="">
          <p:sp>
            <p:nvSpPr>
              <p:cNvPr id="3" name="Content Placeholder 2">
                <a:extLst>
                  <a:ext uri="{FF2B5EF4-FFF2-40B4-BE49-F238E27FC236}">
                    <a16:creationId xmlns:a16="http://schemas.microsoft.com/office/drawing/2014/main" id="{9CE2CEC7-8871-FA54-A90B-A9DF4E77C9B2}"/>
                  </a:ext>
                </a:extLst>
              </p:cNvPr>
              <p:cNvSpPr>
                <a:spLocks noGrp="1" noRot="1" noChangeAspect="1" noMove="1" noResize="1" noEditPoints="1" noAdjustHandles="1" noChangeArrowheads="1" noChangeShapeType="1" noTextEdit="1"/>
              </p:cNvSpPr>
              <p:nvPr>
                <p:ph idx="1"/>
              </p:nvPr>
            </p:nvSpPr>
            <p:spPr>
              <a:xfrm>
                <a:off x="838200" y="1432334"/>
                <a:ext cx="10515600" cy="4351338"/>
              </a:xfrm>
              <a:blipFill>
                <a:blip r:embed="rId2"/>
                <a:stretch>
                  <a:fillRect l="-1043" t="-2801"/>
                </a:stretch>
              </a:blipFill>
            </p:spPr>
            <p:txBody>
              <a:bodyPr/>
              <a:lstStyle/>
              <a:p>
                <a:r>
                  <a:rPr lang="en-GB">
                    <a:noFill/>
                  </a:rPr>
                  <a:t> </a:t>
                </a:r>
              </a:p>
            </p:txBody>
          </p:sp>
        </mc:Fallback>
      </mc:AlternateContent>
    </p:spTree>
    <p:extLst>
      <p:ext uri="{BB962C8B-B14F-4D97-AF65-F5344CB8AC3E}">
        <p14:creationId xmlns:p14="http://schemas.microsoft.com/office/powerpoint/2010/main" val="1620756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20912-C3CF-F8D4-A76F-D393C3951D8F}"/>
              </a:ext>
            </a:extLst>
          </p:cNvPr>
          <p:cNvSpPr>
            <a:spLocks noGrp="1"/>
          </p:cNvSpPr>
          <p:nvPr>
            <p:ph type="title"/>
          </p:nvPr>
        </p:nvSpPr>
        <p:spPr>
          <a:xfrm>
            <a:off x="287594" y="-47164"/>
            <a:ext cx="10515600" cy="824578"/>
          </a:xfrm>
        </p:spPr>
        <p:txBody>
          <a:bodyPr/>
          <a:lstStyle/>
          <a:p>
            <a:r>
              <a:rPr lang="en-GB" b="1" dirty="0">
                <a:solidFill>
                  <a:schemeClr val="bg1"/>
                </a:solidFill>
              </a:rPr>
              <a:t>Spatiotemporal Moran’s 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082B37-8CE4-F929-F171-99098D5AF07E}"/>
                  </a:ext>
                </a:extLst>
              </p:cNvPr>
              <p:cNvSpPr>
                <a:spLocks noGrp="1"/>
              </p:cNvSpPr>
              <p:nvPr>
                <p:ph idx="1"/>
              </p:nvPr>
            </p:nvSpPr>
            <p:spPr/>
            <p:txBody>
              <a:bodyPr>
                <a:normAutofit fontScale="92500" lnSpcReduction="20000"/>
              </a:bodyPr>
              <a:lstStyle/>
              <a:p>
                <a:r>
                  <a:rPr lang="en-GB" dirty="0"/>
                  <a:t>Spatiotemporal Moran’s I</a:t>
                </a:r>
              </a:p>
              <a:p>
                <a:pPr marL="0" indent="0" algn="ctr">
                  <a:buNone/>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𝐼</m:t>
                          </m:r>
                        </m:e>
                        <m:sub>
                          <m:r>
                            <a:rPr lang="en-GB" b="0" i="1" smtClean="0">
                              <a:latin typeface="Cambria Math" panose="02040503050406030204" pitchFamily="18" charset="0"/>
                            </a:rPr>
                            <m:t>𝑆𝑇</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𝑇𝑛</m:t>
                          </m:r>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𝑡</m:t>
                              </m:r>
                              <m:r>
                                <m:rPr>
                                  <m:brk m:alnAt="25"/>
                                </m:rPr>
                                <a:rPr lang="en-GB" b="0" i="1" smtClean="0">
                                  <a:latin typeface="Cambria Math" panose="02040503050406030204" pitchFamily="18" charset="0"/>
                                </a:rPr>
                                <m:t>=</m:t>
                              </m:r>
                              <m:r>
                                <m:rPr>
                                  <m:brk m:alnAt="25"/>
                                </m:rPr>
                                <a:rPr lang="en-GB" b="0" i="1" smtClean="0">
                                  <a:latin typeface="Cambria Math" panose="02040503050406030204" pitchFamily="18" charset="0"/>
                                </a:rPr>
                                <m:t>1</m:t>
                              </m:r>
                            </m:sub>
                            <m:sup>
                              <m:r>
                                <a:rPr lang="en-GB" b="0" i="1" smtClean="0">
                                  <a:latin typeface="Cambria Math" panose="02040503050406030204" pitchFamily="18" charset="0"/>
                                </a:rPr>
                                <m:t>𝑇</m:t>
                              </m:r>
                            </m:sup>
                            <m:e>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𝑖</m:t>
                                  </m:r>
                                  <m:r>
                                    <m:rPr>
                                      <m:brk m:alnAt="23"/>
                                    </m:rPr>
                                    <a:rPr lang="en-GB" b="0" i="1" smtClean="0">
                                      <a:latin typeface="Cambria Math" panose="02040503050406030204" pitchFamily="18" charset="0"/>
                                    </a:rPr>
                                    <m:t>=</m:t>
                                  </m:r>
                                  <m:r>
                                    <m:rPr>
                                      <m:brk m:alnAt="23"/>
                                    </m:rPr>
                                    <a:rPr lang="en-GB" b="0" i="1" smtClean="0">
                                      <a:latin typeface="Cambria Math" panose="02040503050406030204" pitchFamily="18" charset="0"/>
                                    </a:rPr>
                                    <m:t>1</m:t>
                                  </m:r>
                                </m:sub>
                                <m:sup>
                                  <m:r>
                                    <a:rPr lang="en-GB" b="0" i="1" smtClean="0">
                                      <a:latin typeface="Cambria Math" panose="02040503050406030204" pitchFamily="18" charset="0"/>
                                    </a:rPr>
                                    <m:t>𝑛</m:t>
                                  </m:r>
                                </m:sup>
                                <m:e>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𝑙</m:t>
                                      </m:r>
                                      <m:r>
                                        <m:rPr>
                                          <m:brk m:alnAt="25"/>
                                        </m:rPr>
                                        <a:rPr lang="en-GB" b="0" i="1" smtClean="0">
                                          <a:latin typeface="Cambria Math" panose="02040503050406030204" pitchFamily="18" charset="0"/>
                                        </a:rPr>
                                        <m:t>=</m:t>
                                      </m:r>
                                      <m:r>
                                        <m:rPr>
                                          <m:brk m:alnAt="25"/>
                                        </m:rPr>
                                        <a:rPr lang="en-GB" b="0" i="1" smtClean="0">
                                          <a:latin typeface="Cambria Math" panose="02040503050406030204" pitchFamily="18" charset="0"/>
                                        </a:rPr>
                                        <m:t>1</m:t>
                                      </m:r>
                                    </m:sub>
                                    <m:sup>
                                      <m:r>
                                        <a:rPr lang="en-GB" b="0" i="1" smtClean="0">
                                          <a:latin typeface="Cambria Math" panose="02040503050406030204" pitchFamily="18" charset="0"/>
                                        </a:rPr>
                                        <m:t>𝑇</m:t>
                                      </m:r>
                                    </m:sup>
                                    <m:e>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𝑘</m:t>
                                          </m:r>
                                          <m:r>
                                            <m:rPr>
                                              <m:brk m:alnAt="25"/>
                                            </m:rPr>
                                            <a:rPr lang="en-GB" b="0" i="1" smtClean="0">
                                              <a:latin typeface="Cambria Math" panose="02040503050406030204" pitchFamily="18" charset="0"/>
                                            </a:rPr>
                                            <m:t>=</m:t>
                                          </m:r>
                                          <m:r>
                                            <m:rPr>
                                              <m:brk m:alnAt="25"/>
                                            </m:rPr>
                                            <a:rPr lang="en-GB" b="0" i="1" smtClean="0">
                                              <a:latin typeface="Cambria Math" panose="02040503050406030204" pitchFamily="18" charset="0"/>
                                            </a:rPr>
                                            <m:t>1</m:t>
                                          </m:r>
                                        </m:sub>
                                        <m:sup>
                                          <m:r>
                                            <a:rPr lang="en-GB" b="0" i="1" smtClean="0">
                                              <a:latin typeface="Cambria Math" panose="02040503050406030204" pitchFamily="18" charset="0"/>
                                            </a:rPr>
                                            <m:t>𝑛</m:t>
                                          </m:r>
                                        </m:sup>
                                        <m:e>
                                          <m:sSub>
                                            <m:sSubPr>
                                              <m:ctrlPr>
                                                <a:rPr lang="en-GB" b="0" i="1" smtClean="0">
                                                  <a:latin typeface="Cambria Math" panose="02040503050406030204" pitchFamily="18" charset="0"/>
                                                </a:rPr>
                                              </m:ctrlPr>
                                            </m:sSubPr>
                                            <m:e>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𝑊</m:t>
                                                  </m:r>
                                                </m:e>
                                              </m:acc>
                                            </m:e>
                                            <m:sub>
                                              <m:r>
                                                <a:rPr lang="en-GB" b="0" i="1" smtClean="0">
                                                  <a:latin typeface="Cambria Math" panose="02040503050406030204" pitchFamily="18" charset="0"/>
                                                </a:rPr>
                                                <m:t>(</m:t>
                                              </m:r>
                                              <m:r>
                                                <a:rPr lang="en-GB" b="0" i="1" smtClean="0">
                                                  <a:latin typeface="Cambria Math" panose="02040503050406030204" pitchFamily="18" charset="0"/>
                                                </a:rPr>
                                                <m:t>𝑡𝑖</m:t>
                                              </m:r>
                                              <m:r>
                                                <a:rPr lang="en-GB" b="0" i="1" smtClean="0">
                                                  <a:latin typeface="Cambria Math" panose="02040503050406030204" pitchFamily="18" charset="0"/>
                                                </a:rPr>
                                                <m:t>,</m:t>
                                              </m:r>
                                              <m:r>
                                                <a:rPr lang="en-GB" b="0" i="1" smtClean="0">
                                                  <a:latin typeface="Cambria Math" panose="02040503050406030204" pitchFamily="18" charset="0"/>
                                                </a:rPr>
                                                <m:t>𝑙𝑘</m:t>
                                              </m:r>
                                              <m:r>
                                                <a:rPr lang="en-GB" b="0" i="1" smtClean="0">
                                                  <a:latin typeface="Cambria Math" panose="02040503050406030204" pitchFamily="18" charset="0"/>
                                                </a:rPr>
                                                <m:t>)</m:t>
                                              </m:r>
                                            </m:sub>
                                          </m:sSub>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𝑡𝑖</m:t>
                                                  </m:r>
                                                </m:sub>
                                              </m:sSub>
                                              <m:r>
                                                <a:rPr lang="en-GB" b="0" i="1" smtClean="0">
                                                  <a:latin typeface="Cambria Math" panose="02040503050406030204" pitchFamily="18" charset="0"/>
                                                </a:rPr>
                                                <m:t>−</m:t>
                                              </m:r>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𝑍</m:t>
                                                  </m:r>
                                                </m:e>
                                              </m:acc>
                                            </m:e>
                                          </m:d>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𝑍</m:t>
                                                  </m:r>
                                                </m:e>
                                                <m:sub>
                                                  <m:r>
                                                    <a:rPr lang="en-GB" b="0" i="1" smtClean="0">
                                                      <a:latin typeface="Cambria Math" panose="02040503050406030204" pitchFamily="18" charset="0"/>
                                                    </a:rPr>
                                                    <m:t>𝑙𝑘</m:t>
                                                  </m:r>
                                                </m:sub>
                                              </m:sSub>
                                              <m:r>
                                                <a:rPr lang="en-GB" i="1">
                                                  <a:latin typeface="Cambria Math" panose="02040503050406030204" pitchFamily="18" charset="0"/>
                                                </a:rPr>
                                                <m:t>−</m:t>
                                              </m:r>
                                              <m:acc>
                                                <m:accPr>
                                                  <m:chr m:val="̅"/>
                                                  <m:ctrlPr>
                                                    <a:rPr lang="en-GB" i="1">
                                                      <a:latin typeface="Cambria Math" panose="02040503050406030204" pitchFamily="18" charset="0"/>
                                                    </a:rPr>
                                                  </m:ctrlPr>
                                                </m:accPr>
                                                <m:e>
                                                  <m:r>
                                                    <a:rPr lang="en-GB" i="1">
                                                      <a:latin typeface="Cambria Math" panose="02040503050406030204" pitchFamily="18" charset="0"/>
                                                    </a:rPr>
                                                    <m:t>𝑍</m:t>
                                                  </m:r>
                                                </m:e>
                                              </m:acc>
                                            </m:e>
                                          </m:d>
                                        </m:e>
                                      </m:nary>
                                    </m:e>
                                  </m:nary>
                                </m:e>
                              </m:nary>
                            </m:e>
                          </m:nary>
                        </m:num>
                        <m:den>
                          <m:nary>
                            <m:naryPr>
                              <m:chr m:val="∑"/>
                              <m:limLoc m:val="subSup"/>
                              <m:ctrlPr>
                                <a:rPr lang="en-GB" i="1">
                                  <a:latin typeface="Cambria Math" panose="02040503050406030204" pitchFamily="18" charset="0"/>
                                </a:rPr>
                              </m:ctrlPr>
                            </m:naryPr>
                            <m:sub>
                              <m:r>
                                <m:rPr>
                                  <m:brk m:alnAt="25"/>
                                </m:rPr>
                                <a:rPr lang="en-GB" i="1">
                                  <a:latin typeface="Cambria Math" panose="02040503050406030204" pitchFamily="18" charset="0"/>
                                </a:rPr>
                                <m:t>𝑡</m:t>
                              </m:r>
                              <m:r>
                                <m:rPr>
                                  <m:brk m:alnAt="25"/>
                                </m:rPr>
                                <a:rPr lang="en-GB" i="1">
                                  <a:latin typeface="Cambria Math" panose="02040503050406030204" pitchFamily="18" charset="0"/>
                                </a:rPr>
                                <m:t>=</m:t>
                              </m:r>
                              <m:r>
                                <m:rPr>
                                  <m:brk m:alnAt="25"/>
                                </m:rPr>
                                <a:rPr lang="en-GB" i="1">
                                  <a:latin typeface="Cambria Math" panose="02040503050406030204" pitchFamily="18" charset="0"/>
                                </a:rPr>
                                <m:t>1</m:t>
                              </m:r>
                            </m:sub>
                            <m:sup>
                              <m:r>
                                <a:rPr lang="en-GB" i="1">
                                  <a:latin typeface="Cambria Math" panose="02040503050406030204" pitchFamily="18" charset="0"/>
                                </a:rPr>
                                <m:t>𝑇</m:t>
                              </m:r>
                            </m:sup>
                            <m:e>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𝑖</m:t>
                                  </m:r>
                                  <m:r>
                                    <m:rPr>
                                      <m:brk m:alnAt="23"/>
                                    </m:rPr>
                                    <a:rPr lang="en-GB" i="1">
                                      <a:latin typeface="Cambria Math" panose="02040503050406030204" pitchFamily="18" charset="0"/>
                                    </a:rPr>
                                    <m:t>=</m:t>
                                  </m:r>
                                  <m:r>
                                    <m:rPr>
                                      <m:brk m:alnAt="23"/>
                                    </m:rPr>
                                    <a:rPr lang="en-GB" i="1">
                                      <a:latin typeface="Cambria Math" panose="02040503050406030204" pitchFamily="18" charset="0"/>
                                    </a:rPr>
                                    <m:t>1</m:t>
                                  </m:r>
                                </m:sub>
                                <m:sup>
                                  <m:r>
                                    <a:rPr lang="en-GB" i="1">
                                      <a:latin typeface="Cambria Math" panose="02040503050406030204" pitchFamily="18" charset="0"/>
                                    </a:rPr>
                                    <m:t>𝑛</m:t>
                                  </m:r>
                                </m:sup>
                                <m:e>
                                  <m:nary>
                                    <m:naryPr>
                                      <m:chr m:val="∑"/>
                                      <m:limLoc m:val="subSup"/>
                                      <m:ctrlPr>
                                        <a:rPr lang="en-GB" i="1">
                                          <a:latin typeface="Cambria Math" panose="02040503050406030204" pitchFamily="18" charset="0"/>
                                        </a:rPr>
                                      </m:ctrlPr>
                                    </m:naryPr>
                                    <m:sub>
                                      <m:r>
                                        <m:rPr>
                                          <m:brk m:alnAt="25"/>
                                        </m:rPr>
                                        <a:rPr lang="en-GB" i="1">
                                          <a:latin typeface="Cambria Math" panose="02040503050406030204" pitchFamily="18" charset="0"/>
                                        </a:rPr>
                                        <m:t>𝑙</m:t>
                                      </m:r>
                                      <m:r>
                                        <m:rPr>
                                          <m:brk m:alnAt="25"/>
                                        </m:rPr>
                                        <a:rPr lang="en-GB" i="1">
                                          <a:latin typeface="Cambria Math" panose="02040503050406030204" pitchFamily="18" charset="0"/>
                                        </a:rPr>
                                        <m:t>=</m:t>
                                      </m:r>
                                      <m:r>
                                        <m:rPr>
                                          <m:brk m:alnAt="25"/>
                                        </m:rPr>
                                        <a:rPr lang="en-GB" i="1">
                                          <a:latin typeface="Cambria Math" panose="02040503050406030204" pitchFamily="18" charset="0"/>
                                        </a:rPr>
                                        <m:t>1</m:t>
                                      </m:r>
                                    </m:sub>
                                    <m:sup>
                                      <m:r>
                                        <a:rPr lang="en-GB" i="1">
                                          <a:latin typeface="Cambria Math" panose="02040503050406030204" pitchFamily="18" charset="0"/>
                                        </a:rPr>
                                        <m:t>𝑇</m:t>
                                      </m:r>
                                    </m:sup>
                                    <m:e>
                                      <m:nary>
                                        <m:naryPr>
                                          <m:chr m:val="∑"/>
                                          <m:limLoc m:val="subSup"/>
                                          <m:ctrlPr>
                                            <a:rPr lang="en-GB" i="1">
                                              <a:latin typeface="Cambria Math" panose="02040503050406030204" pitchFamily="18" charset="0"/>
                                            </a:rPr>
                                          </m:ctrlPr>
                                        </m:naryPr>
                                        <m:sub>
                                          <m:r>
                                            <m:rPr>
                                              <m:brk m:alnAt="25"/>
                                            </m:rPr>
                                            <a:rPr lang="en-GB" i="1">
                                              <a:latin typeface="Cambria Math" panose="02040503050406030204" pitchFamily="18" charset="0"/>
                                            </a:rPr>
                                            <m:t>𝑘</m:t>
                                          </m:r>
                                          <m:r>
                                            <m:rPr>
                                              <m:brk m:alnAt="25"/>
                                            </m:rPr>
                                            <a:rPr lang="en-GB" i="1">
                                              <a:latin typeface="Cambria Math" panose="02040503050406030204" pitchFamily="18" charset="0"/>
                                            </a:rPr>
                                            <m:t>=</m:t>
                                          </m:r>
                                          <m:r>
                                            <m:rPr>
                                              <m:brk m:alnAt="25"/>
                                            </m:rPr>
                                            <a:rPr lang="en-GB" i="1">
                                              <a:latin typeface="Cambria Math" panose="02040503050406030204" pitchFamily="18" charset="0"/>
                                            </a:rPr>
                                            <m:t>1</m:t>
                                          </m:r>
                                        </m:sub>
                                        <m:sup>
                                          <m:r>
                                            <a:rPr lang="en-GB" i="1">
                                              <a:latin typeface="Cambria Math" panose="02040503050406030204" pitchFamily="18" charset="0"/>
                                            </a:rPr>
                                            <m:t>𝑛</m:t>
                                          </m:r>
                                        </m:sup>
                                        <m:e>
                                          <m:sSub>
                                            <m:sSubPr>
                                              <m:ctrlPr>
                                                <a:rPr lang="en-GB" i="1">
                                                  <a:latin typeface="Cambria Math" panose="02040503050406030204" pitchFamily="18" charset="0"/>
                                                </a:rPr>
                                              </m:ctrlPr>
                                            </m:sSubPr>
                                            <m:e>
                                              <m:acc>
                                                <m:accPr>
                                                  <m:chr m:val="̃"/>
                                                  <m:ctrlPr>
                                                    <a:rPr lang="en-GB" i="1">
                                                      <a:latin typeface="Cambria Math" panose="02040503050406030204" pitchFamily="18" charset="0"/>
                                                    </a:rPr>
                                                  </m:ctrlPr>
                                                </m:accPr>
                                                <m:e>
                                                  <m:r>
                                                    <a:rPr lang="en-GB" i="1">
                                                      <a:latin typeface="Cambria Math" panose="02040503050406030204" pitchFamily="18" charset="0"/>
                                                    </a:rPr>
                                                    <m:t>𝑊</m:t>
                                                  </m:r>
                                                </m:e>
                                              </m:acc>
                                            </m:e>
                                            <m:sub>
                                              <m:r>
                                                <a:rPr lang="en-GB" i="1">
                                                  <a:latin typeface="Cambria Math" panose="02040503050406030204" pitchFamily="18" charset="0"/>
                                                </a:rPr>
                                                <m:t>(</m:t>
                                              </m:r>
                                              <m:r>
                                                <a:rPr lang="en-GB" i="1">
                                                  <a:latin typeface="Cambria Math" panose="02040503050406030204" pitchFamily="18" charset="0"/>
                                                </a:rPr>
                                                <m:t>𝑡𝑖</m:t>
                                              </m:r>
                                              <m:r>
                                                <a:rPr lang="en-GB" i="1">
                                                  <a:latin typeface="Cambria Math" panose="02040503050406030204" pitchFamily="18" charset="0"/>
                                                </a:rPr>
                                                <m:t>,</m:t>
                                              </m:r>
                                              <m:r>
                                                <a:rPr lang="en-GB" i="1">
                                                  <a:latin typeface="Cambria Math" panose="02040503050406030204" pitchFamily="18" charset="0"/>
                                                </a:rPr>
                                                <m:t>𝑙𝑘</m:t>
                                              </m:r>
                                              <m:r>
                                                <a:rPr lang="en-GB" i="1">
                                                  <a:latin typeface="Cambria Math" panose="02040503050406030204" pitchFamily="18" charset="0"/>
                                                </a:rPr>
                                                <m:t>)</m:t>
                                              </m:r>
                                            </m:sub>
                                          </m:sSub>
                                          <m:sSup>
                                            <m:sSupPr>
                                              <m:ctrlPr>
                                                <a:rPr lang="en-GB" b="0" i="1" smtClean="0">
                                                  <a:latin typeface="Cambria Math" panose="02040503050406030204" pitchFamily="18" charset="0"/>
                                                </a:rPr>
                                              </m:ctrlPr>
                                            </m:sSupPr>
                                            <m:e>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𝑡</m:t>
                                                  </m:r>
                                                  <m:r>
                                                    <m:rPr>
                                                      <m:brk m:alnAt="25"/>
                                                    </m:rPr>
                                                    <a:rPr lang="en-GB" b="0" i="1" smtClean="0">
                                                      <a:latin typeface="Cambria Math" panose="02040503050406030204" pitchFamily="18" charset="0"/>
                                                    </a:rPr>
                                                    <m:t>=</m:t>
                                                  </m:r>
                                                  <m:r>
                                                    <m:rPr>
                                                      <m:brk m:alnAt="25"/>
                                                    </m:rPr>
                                                    <a:rPr lang="en-GB" b="0" i="1" smtClean="0">
                                                      <a:latin typeface="Cambria Math" panose="02040503050406030204" pitchFamily="18" charset="0"/>
                                                    </a:rPr>
                                                    <m:t>1</m:t>
                                                  </m:r>
                                                </m:sub>
                                                <m:sup>
                                                  <m:r>
                                                    <a:rPr lang="en-GB" b="0" i="1" smtClean="0">
                                                      <a:latin typeface="Cambria Math" panose="02040503050406030204" pitchFamily="18" charset="0"/>
                                                    </a:rPr>
                                                    <m:t>𝑇</m:t>
                                                  </m:r>
                                                </m:sup>
                                                <m:e>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𝑖</m:t>
                                                      </m:r>
                                                      <m:r>
                                                        <m:rPr>
                                                          <m:brk m:alnAt="25"/>
                                                        </m:rPr>
                                                        <a:rPr lang="en-GB" b="0" i="1" smtClean="0">
                                                          <a:latin typeface="Cambria Math" panose="02040503050406030204" pitchFamily="18" charset="0"/>
                                                        </a:rPr>
                                                        <m:t>=</m:t>
                                                      </m:r>
                                                      <m:r>
                                                        <m:rPr>
                                                          <m:brk m:alnAt="25"/>
                                                        </m:rPr>
                                                        <a:rPr lang="en-GB" b="0" i="1" smtClean="0">
                                                          <a:latin typeface="Cambria Math" panose="02040503050406030204" pitchFamily="18" charset="0"/>
                                                        </a:rPr>
                                                        <m:t>1</m:t>
                                                      </m:r>
                                                    </m:sub>
                                                    <m:sup>
                                                      <m:r>
                                                        <a:rPr lang="en-GB" b="0" i="1" smtClean="0">
                                                          <a:latin typeface="Cambria Math" panose="02040503050406030204" pitchFamily="18" charset="0"/>
                                                        </a:rPr>
                                                        <m:t>𝑛</m:t>
                                                      </m:r>
                                                    </m:sup>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𝑍</m:t>
                                                              </m:r>
                                                            </m:e>
                                                            <m:sub>
                                                              <m:r>
                                                                <a:rPr lang="en-GB" i="1">
                                                                  <a:latin typeface="Cambria Math" panose="02040503050406030204" pitchFamily="18" charset="0"/>
                                                                </a:rPr>
                                                                <m:t>𝑡𝑖</m:t>
                                                              </m:r>
                                                            </m:sub>
                                                          </m:sSub>
                                                          <m:r>
                                                            <a:rPr lang="en-GB" i="1">
                                                              <a:latin typeface="Cambria Math" panose="02040503050406030204" pitchFamily="18" charset="0"/>
                                                            </a:rPr>
                                                            <m:t>−</m:t>
                                                          </m:r>
                                                          <m:acc>
                                                            <m:accPr>
                                                              <m:chr m:val="̅"/>
                                                              <m:ctrlPr>
                                                                <a:rPr lang="en-GB" i="1">
                                                                  <a:latin typeface="Cambria Math" panose="02040503050406030204" pitchFamily="18" charset="0"/>
                                                                </a:rPr>
                                                              </m:ctrlPr>
                                                            </m:accPr>
                                                            <m:e>
                                                              <m:r>
                                                                <a:rPr lang="en-GB" i="1">
                                                                  <a:latin typeface="Cambria Math" panose="02040503050406030204" pitchFamily="18" charset="0"/>
                                                                </a:rPr>
                                                                <m:t>𝑍</m:t>
                                                              </m:r>
                                                            </m:e>
                                                          </m:acc>
                                                        </m:e>
                                                      </m:d>
                                                    </m:e>
                                                  </m:nary>
                                                </m:e>
                                              </m:nary>
                                            </m:e>
                                            <m:sup>
                                              <m:r>
                                                <a:rPr lang="en-GB" b="0" i="1" smtClean="0">
                                                  <a:latin typeface="Cambria Math" panose="02040503050406030204" pitchFamily="18" charset="0"/>
                                                </a:rPr>
                                                <m:t>2</m:t>
                                              </m:r>
                                            </m:sup>
                                          </m:sSup>
                                        </m:e>
                                      </m:nary>
                                    </m:e>
                                  </m:nary>
                                </m:e>
                              </m:nary>
                            </m:e>
                          </m:nary>
                        </m:den>
                      </m:f>
                    </m:oMath>
                  </m:oMathPara>
                </a14:m>
                <a:endParaRPr lang="en-GB" dirty="0"/>
              </a:p>
              <a:p>
                <a:pPr marL="0" indent="0">
                  <a:buNone/>
                </a:pPr>
                <a:r>
                  <a:rPr lang="en-GB" dirty="0"/>
                  <a:t>where is a spatial weight matrix defined by </a:t>
                </a:r>
              </a:p>
              <a:p>
                <a:pPr marL="0" indent="0">
                  <a:buNone/>
                </a:pPr>
                <a14:m>
                  <m:oMathPara xmlns:m="http://schemas.openxmlformats.org/officeDocument/2006/math">
                    <m:oMath>
                      <m:sSub>
                        <m:sSubPr>
                          <m:ctrlPr>
                            <a:rPr lang="en-GB" i="1">
                              <a:latin typeface="Cambria Math" panose="02040503050406030204" pitchFamily="18" charset="0"/>
                            </a:rPr>
                          </m:ctrlPr>
                        </m:sSubPr>
                        <m:e>
                          <m:acc>
                            <m:accPr>
                              <m:chr m:val="̃"/>
                              <m:ctrlPr>
                                <a:rPr lang="en-GB" i="1">
                                  <a:latin typeface="Cambria Math" panose="02040503050406030204" pitchFamily="18" charset="0"/>
                                </a:rPr>
                              </m:ctrlPr>
                            </m:accPr>
                            <m:e>
                              <m:r>
                                <a:rPr lang="en-GB" i="1">
                                  <a:latin typeface="Cambria Math" panose="02040503050406030204" pitchFamily="18" charset="0"/>
                                </a:rPr>
                                <m:t>𝑊</m:t>
                              </m:r>
                            </m:e>
                          </m:acc>
                        </m:e>
                        <m:sub>
                          <m:r>
                            <a:rPr lang="en-GB" i="1">
                              <a:latin typeface="Cambria Math" panose="02040503050406030204" pitchFamily="18" charset="0"/>
                            </a:rPr>
                            <m:t>(</m:t>
                          </m:r>
                          <m:r>
                            <a:rPr lang="en-GB" i="1">
                              <a:latin typeface="Cambria Math" panose="02040503050406030204" pitchFamily="18" charset="0"/>
                            </a:rPr>
                            <m:t>𝑡𝑖</m:t>
                          </m:r>
                          <m:r>
                            <a:rPr lang="en-GB" i="1">
                              <a:latin typeface="Cambria Math" panose="02040503050406030204" pitchFamily="18" charset="0"/>
                            </a:rPr>
                            <m:t>,</m:t>
                          </m:r>
                          <m:r>
                            <a:rPr lang="en-GB" i="1">
                              <a:latin typeface="Cambria Math" panose="02040503050406030204" pitchFamily="18" charset="0"/>
                            </a:rPr>
                            <m:t>𝑙𝑘</m:t>
                          </m:r>
                          <m:r>
                            <a:rPr lang="en-GB" i="1">
                              <a:latin typeface="Cambria Math" panose="02040503050406030204" pitchFamily="18" charset="0"/>
                            </a:rPr>
                            <m:t>)</m:t>
                          </m:r>
                        </m:sub>
                      </m:sSub>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eqArr>
                            <m:eqArrPr>
                              <m:ctrlPr>
                                <a:rPr lang="en-GB" b="0" i="1" smtClean="0">
                                  <a:latin typeface="Cambria Math" panose="02040503050406030204" pitchFamily="18" charset="0"/>
                                </a:rPr>
                              </m:ctrlPr>
                            </m:eqArr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𝑖𝑘</m:t>
                                  </m:r>
                                </m:sub>
                              </m:sSub>
                              <m:r>
                                <a:rPr lang="en-GB" b="0" i="1" smtClean="0">
                                  <a:latin typeface="Cambria Math" panose="02040503050406030204" pitchFamily="18" charset="0"/>
                                </a:rPr>
                                <m:t>, </m:t>
                              </m:r>
                              <m:r>
                                <m:rPr>
                                  <m:sty m:val="p"/>
                                </m:rPr>
                                <a:rPr lang="en-GB" b="0" i="0" smtClean="0">
                                  <a:latin typeface="Cambria Math" panose="02040503050406030204" pitchFamily="18" charset="0"/>
                                </a:rPr>
                                <m:t>if</m:t>
                              </m:r>
                              <m:r>
                                <a:rPr lang="en-GB" b="0" i="1" smtClean="0">
                                  <a:latin typeface="Cambria Math" panose="02040503050406030204" pitchFamily="18" charset="0"/>
                                </a:rPr>
                                <m:t> </m:t>
                              </m:r>
                              <m:r>
                                <a:rPr lang="en-GB" b="0" i="1" smtClean="0">
                                  <a:latin typeface="Cambria Math" panose="02040503050406030204" pitchFamily="18" charset="0"/>
                                </a:rPr>
                                <m:t>𝑡</m:t>
                              </m:r>
                              <m:r>
                                <a:rPr lang="en-GB" b="0" i="1" smtClean="0">
                                  <a:latin typeface="Cambria Math" panose="02040503050406030204" pitchFamily="18" charset="0"/>
                                </a:rPr>
                                <m:t>=</m:t>
                              </m:r>
                              <m:r>
                                <a:rPr lang="en-GB" b="0" i="1" smtClean="0">
                                  <a:latin typeface="Cambria Math" panose="02040503050406030204" pitchFamily="18" charset="0"/>
                                </a:rPr>
                                <m:t>𝑙</m:t>
                              </m:r>
                              <m:r>
                                <a:rPr lang="en-GB" b="0" i="1" smtClean="0">
                                  <a:latin typeface="Cambria Math" panose="02040503050406030204" pitchFamily="18" charset="0"/>
                                </a:rPr>
                                <m:t>,</m:t>
                              </m:r>
                            </m:e>
                            <m:e>
                              <m:r>
                                <a:rPr lang="en-GB" b="0" i="1" smtClean="0">
                                  <a:latin typeface="Cambria Math" panose="02040503050406030204" pitchFamily="18" charset="0"/>
                                </a:rPr>
                                <m:t>1, </m:t>
                              </m:r>
                              <m:r>
                                <m:rPr>
                                  <m:sty m:val="p"/>
                                </m:rPr>
                                <a:rPr lang="en-GB" b="0" i="0" smtClean="0">
                                  <a:latin typeface="Cambria Math" panose="02040503050406030204" pitchFamily="18" charset="0"/>
                                </a:rPr>
                                <m:t>if</m:t>
                              </m:r>
                              <m:r>
                                <a:rPr lang="en-GB" b="0" i="1" smtClean="0">
                                  <a:latin typeface="Cambria Math" panose="02040503050406030204" pitchFamily="18" charset="0"/>
                                </a:rPr>
                                <m:t> </m:t>
                              </m:r>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𝑘</m:t>
                              </m:r>
                              <m:r>
                                <a:rPr lang="en-GB" b="0" i="1" smtClean="0">
                                  <a:latin typeface="Cambria Math" panose="02040503050406030204" pitchFamily="18" charset="0"/>
                                </a:rPr>
                                <m:t> </m:t>
                              </m:r>
                              <m:r>
                                <m:rPr>
                                  <m:sty m:val="p"/>
                                </m:rPr>
                                <a:rPr lang="en-GB" b="0" i="0" smtClean="0">
                                  <a:latin typeface="Cambria Math" panose="02040503050406030204" pitchFamily="18" charset="0"/>
                                </a:rPr>
                                <m:t>and</m:t>
                              </m:r>
                              <m:r>
                                <a:rPr lang="en-GB" b="0" i="1" smtClean="0">
                                  <a:latin typeface="Cambria Math" panose="02040503050406030204" pitchFamily="18" charset="0"/>
                                </a:rPr>
                                <m:t> </m:t>
                              </m:r>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𝑡</m:t>
                                  </m:r>
                                  <m:r>
                                    <a:rPr lang="en-GB" b="0" i="1" smtClean="0">
                                      <a:latin typeface="Cambria Math" panose="02040503050406030204" pitchFamily="18" charset="0"/>
                                    </a:rPr>
                                    <m:t>−</m:t>
                                  </m:r>
                                  <m:r>
                                    <a:rPr lang="en-GB" b="0" i="1" smtClean="0">
                                      <a:latin typeface="Cambria Math" panose="02040503050406030204" pitchFamily="18" charset="0"/>
                                    </a:rPr>
                                    <m:t>𝑙</m:t>
                                  </m:r>
                                </m:e>
                              </m:d>
                              <m:r>
                                <a:rPr lang="en-GB" b="0" i="1" smtClean="0">
                                  <a:latin typeface="Cambria Math" panose="02040503050406030204" pitchFamily="18" charset="0"/>
                                </a:rPr>
                                <m:t>=1,</m:t>
                              </m:r>
                            </m:e>
                            <m:e>
                              <m:r>
                                <a:rPr lang="en-GB" b="0" i="1" smtClean="0">
                                  <a:latin typeface="Cambria Math" panose="02040503050406030204" pitchFamily="18" charset="0"/>
                                </a:rPr>
                                <m:t>0, </m:t>
                              </m:r>
                              <m:r>
                                <m:rPr>
                                  <m:sty m:val="p"/>
                                </m:rPr>
                                <a:rPr lang="en-GB" b="0" i="0" smtClean="0">
                                  <a:latin typeface="Cambria Math" panose="02040503050406030204" pitchFamily="18" charset="0"/>
                                </a:rPr>
                                <m:t>otherwise</m:t>
                              </m:r>
                              <m:r>
                                <a:rPr lang="en-GB" b="0" i="1" smtClean="0">
                                  <a:latin typeface="Cambria Math" panose="02040503050406030204" pitchFamily="18" charset="0"/>
                                </a:rPr>
                                <m:t>.</m:t>
                              </m:r>
                            </m:e>
                          </m:eqArr>
                        </m:e>
                      </m:d>
                    </m:oMath>
                  </m:oMathPara>
                </a14:m>
                <a:endParaRPr lang="en-GB" dirty="0"/>
              </a:p>
              <a:p>
                <a:r>
                  <a:rPr lang="en-GB" dirty="0"/>
                  <a:t>Similar to Moran’s I, </a:t>
                </a:r>
                <a14:m>
                  <m:oMath xmlns:m="http://schemas.openxmlformats.org/officeDocument/2006/math">
                    <m:r>
                      <a:rPr lang="en-GB" i="1">
                        <a:latin typeface="Cambria Math" panose="02040503050406030204" pitchFamily="18" charset="0"/>
                      </a:rPr>
                      <m:t>𝐸</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𝑆𝑇</m:t>
                            </m:r>
                          </m:sub>
                        </m:sSub>
                      </m:e>
                    </m:d>
                    <m:r>
                      <a:rPr lang="en-GB" i="1">
                        <a:latin typeface="Cambria Math" panose="02040503050406030204" pitchFamily="18" charset="0"/>
                      </a:rPr>
                      <m:t>=−1/(</m:t>
                    </m:r>
                    <m:r>
                      <a:rPr lang="en-GB" i="1">
                        <a:latin typeface="Cambria Math" panose="02040503050406030204" pitchFamily="18" charset="0"/>
                      </a:rPr>
                      <m:t>𝑛𝑇</m:t>
                    </m:r>
                    <m:r>
                      <a:rPr lang="en-GB" i="1">
                        <a:latin typeface="Cambria Math" panose="02040503050406030204" pitchFamily="18" charset="0"/>
                      </a:rPr>
                      <m:t>−1)</m:t>
                    </m:r>
                  </m:oMath>
                </a14:m>
                <a:r>
                  <a:rPr lang="en-GB" dirty="0"/>
                  <a:t> under a null hypothesis of no dependence.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𝐼</m:t>
                        </m:r>
                      </m:e>
                      <m:sub>
                        <m:r>
                          <a:rPr lang="en-GB" b="0" i="1" smtClean="0">
                            <a:latin typeface="Cambria Math" panose="02040503050406030204" pitchFamily="18" charset="0"/>
                          </a:rPr>
                          <m:t>𝑆𝑇</m:t>
                        </m:r>
                      </m:sub>
                    </m:sSub>
                  </m:oMath>
                </a14:m>
                <a:r>
                  <a:rPr lang="en-GB" dirty="0"/>
                  <a:t> values close to 0 </a:t>
                </a:r>
                <a14:m>
                  <m:oMath xmlns:m="http://schemas.openxmlformats.org/officeDocument/2006/math">
                    <m:r>
                      <a:rPr lang="en-GB" i="1" smtClean="0">
                        <a:latin typeface="Cambria Math" panose="02040503050406030204" pitchFamily="18" charset="0"/>
                        <a:ea typeface="Cambria Math" panose="02040503050406030204" pitchFamily="18" charset="0"/>
                      </a:rPr>
                      <m:t>⇒</m:t>
                    </m:r>
                  </m:oMath>
                </a14:m>
                <a:r>
                  <a:rPr lang="en-GB" dirty="0"/>
                  <a:t> spatiotemporal independence and </a:t>
                </a:r>
                <a:r>
                  <a:rPr lang="en-GB" dirty="0" err="1"/>
                  <a:t>and</a:t>
                </a:r>
                <a:r>
                  <a:rPr lang="en-GB" dirty="0"/>
                  <a:t> those close to 1 </a:t>
                </a:r>
                <a14:m>
                  <m:oMath xmlns:m="http://schemas.openxmlformats.org/officeDocument/2006/math">
                    <m:r>
                      <a:rPr lang="en-GB" i="1">
                        <a:latin typeface="Cambria Math" panose="02040503050406030204" pitchFamily="18" charset="0"/>
                        <a:ea typeface="Cambria Math" panose="02040503050406030204" pitchFamily="18" charset="0"/>
                      </a:rPr>
                      <m:t>⇒</m:t>
                    </m:r>
                  </m:oMath>
                </a14:m>
                <a:r>
                  <a:rPr lang="en-GB" dirty="0"/>
                  <a:t> spatiotemporal dependence. </a:t>
                </a:r>
              </a:p>
              <a:p>
                <a:r>
                  <a:rPr lang="en-GB" dirty="0"/>
                  <a:t>A local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𝑆𝑇</m:t>
                        </m:r>
                      </m:sub>
                    </m:sSub>
                  </m:oMath>
                </a14:m>
                <a:r>
                  <a:rPr lang="en-GB" dirty="0"/>
                  <a:t> also exists!</a:t>
                </a:r>
              </a:p>
            </p:txBody>
          </p:sp>
        </mc:Choice>
        <mc:Fallback xmlns="">
          <p:sp>
            <p:nvSpPr>
              <p:cNvPr id="3" name="Content Placeholder 2">
                <a:extLst>
                  <a:ext uri="{FF2B5EF4-FFF2-40B4-BE49-F238E27FC236}">
                    <a16:creationId xmlns:a16="http://schemas.microsoft.com/office/drawing/2014/main" id="{A5082B37-8CE4-F929-F171-99098D5AF07E}"/>
                  </a:ext>
                </a:extLst>
              </p:cNvPr>
              <p:cNvSpPr>
                <a:spLocks noGrp="1" noRot="1" noChangeAspect="1" noMove="1" noResize="1" noEditPoints="1" noAdjustHandles="1" noChangeArrowheads="1" noChangeShapeType="1" noTextEdit="1"/>
              </p:cNvSpPr>
              <p:nvPr>
                <p:ph idx="1"/>
              </p:nvPr>
            </p:nvSpPr>
            <p:spPr>
              <a:blipFill>
                <a:blip r:embed="rId2"/>
                <a:stretch>
                  <a:fillRect l="-1043" t="-3501" b="-700"/>
                </a:stretch>
              </a:blipFill>
            </p:spPr>
            <p:txBody>
              <a:bodyPr/>
              <a:lstStyle/>
              <a:p>
                <a:r>
                  <a:rPr lang="en-GB">
                    <a:noFill/>
                  </a:rPr>
                  <a:t> </a:t>
                </a:r>
              </a:p>
            </p:txBody>
          </p:sp>
        </mc:Fallback>
      </mc:AlternateContent>
      <p:cxnSp>
        <p:nvCxnSpPr>
          <p:cNvPr id="5" name="Straight Arrow Connector 4">
            <a:extLst>
              <a:ext uri="{FF2B5EF4-FFF2-40B4-BE49-F238E27FC236}">
                <a16:creationId xmlns:a16="http://schemas.microsoft.com/office/drawing/2014/main" id="{B432549E-34EA-D627-724E-1A41178D1620}"/>
              </a:ext>
            </a:extLst>
          </p:cNvPr>
          <p:cNvCxnSpPr/>
          <p:nvPr/>
        </p:nvCxnSpPr>
        <p:spPr>
          <a:xfrm flipV="1">
            <a:off x="6096000" y="963561"/>
            <a:ext cx="2654710" cy="16124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CBEF18F8-4ED1-F558-8ADA-D6265E4202A8}"/>
              </a:ext>
            </a:extLst>
          </p:cNvPr>
          <p:cNvSpPr txBox="1"/>
          <p:nvPr/>
        </p:nvSpPr>
        <p:spPr>
          <a:xfrm>
            <a:off x="8760542" y="365125"/>
            <a:ext cx="2497393" cy="646331"/>
          </a:xfrm>
          <a:prstGeom prst="rect">
            <a:avLst/>
          </a:prstGeom>
          <a:noFill/>
        </p:spPr>
        <p:txBody>
          <a:bodyPr wrap="square" rtlCol="0">
            <a:spAutoFit/>
          </a:bodyPr>
          <a:lstStyle/>
          <a:p>
            <a:r>
              <a:rPr lang="en-GB" dirty="0"/>
              <a:t>Matrix notation can be better</a:t>
            </a:r>
          </a:p>
        </p:txBody>
      </p:sp>
    </p:spTree>
    <p:extLst>
      <p:ext uri="{BB962C8B-B14F-4D97-AF65-F5344CB8AC3E}">
        <p14:creationId xmlns:p14="http://schemas.microsoft.com/office/powerpoint/2010/main" val="29099164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128A8AD-DF18-85B3-0626-A0CF4CE9E324}"/>
              </a:ext>
            </a:extLst>
          </p:cNvPr>
          <p:cNvSpPr>
            <a:spLocks noGrp="1"/>
          </p:cNvSpPr>
          <p:nvPr>
            <p:ph type="title"/>
          </p:nvPr>
        </p:nvSpPr>
        <p:spPr>
          <a:xfrm>
            <a:off x="294968" y="99655"/>
            <a:ext cx="6007509" cy="736088"/>
          </a:xfrm>
        </p:spPr>
        <p:txBody>
          <a:bodyPr/>
          <a:lstStyle/>
          <a:p>
            <a:r>
              <a:rPr lang="en-GB" b="1" dirty="0">
                <a:solidFill>
                  <a:schemeClr val="bg1"/>
                </a:solidFill>
                <a:latin typeface="+mn-lt"/>
              </a:rPr>
              <a:t>Example output maps</a:t>
            </a:r>
          </a:p>
        </p:txBody>
      </p:sp>
      <p:pic>
        <p:nvPicPr>
          <p:cNvPr id="5" name="Picture 4">
            <a:extLst>
              <a:ext uri="{FF2B5EF4-FFF2-40B4-BE49-F238E27FC236}">
                <a16:creationId xmlns:a16="http://schemas.microsoft.com/office/drawing/2014/main" id="{FED5AB39-6EDE-EEFB-8457-CC9308FEAC44}"/>
              </a:ext>
            </a:extLst>
          </p:cNvPr>
          <p:cNvPicPr>
            <a:picLocks noChangeAspect="1"/>
          </p:cNvPicPr>
          <p:nvPr/>
        </p:nvPicPr>
        <p:blipFill>
          <a:blip r:embed="rId2"/>
          <a:stretch>
            <a:fillRect/>
          </a:stretch>
        </p:blipFill>
        <p:spPr>
          <a:xfrm>
            <a:off x="1044678" y="1022556"/>
            <a:ext cx="4382728" cy="5609136"/>
          </a:xfrm>
          <a:prstGeom prst="rect">
            <a:avLst/>
          </a:prstGeom>
        </p:spPr>
      </p:pic>
      <p:pic>
        <p:nvPicPr>
          <p:cNvPr id="7" name="Picture 6">
            <a:extLst>
              <a:ext uri="{FF2B5EF4-FFF2-40B4-BE49-F238E27FC236}">
                <a16:creationId xmlns:a16="http://schemas.microsoft.com/office/drawing/2014/main" id="{0522B63E-AFCE-F7EF-D4D2-4C76B536AF6A}"/>
              </a:ext>
            </a:extLst>
          </p:cNvPr>
          <p:cNvPicPr>
            <a:picLocks noChangeAspect="1"/>
          </p:cNvPicPr>
          <p:nvPr/>
        </p:nvPicPr>
        <p:blipFill>
          <a:blip r:embed="rId3"/>
          <a:stretch>
            <a:fillRect/>
          </a:stretch>
        </p:blipFill>
        <p:spPr>
          <a:xfrm>
            <a:off x="6604576" y="1012725"/>
            <a:ext cx="2571622" cy="5665054"/>
          </a:xfrm>
          <a:prstGeom prst="rect">
            <a:avLst/>
          </a:prstGeom>
        </p:spPr>
      </p:pic>
      <p:sp>
        <p:nvSpPr>
          <p:cNvPr id="8" name="TextBox 7">
            <a:extLst>
              <a:ext uri="{FF2B5EF4-FFF2-40B4-BE49-F238E27FC236}">
                <a16:creationId xmlns:a16="http://schemas.microsoft.com/office/drawing/2014/main" id="{12FB427C-5F9A-9515-57BA-AB776D8569AE}"/>
              </a:ext>
            </a:extLst>
          </p:cNvPr>
          <p:cNvSpPr txBox="1"/>
          <p:nvPr/>
        </p:nvSpPr>
        <p:spPr>
          <a:xfrm>
            <a:off x="294968" y="1022556"/>
            <a:ext cx="875071" cy="369332"/>
          </a:xfrm>
          <a:prstGeom prst="rect">
            <a:avLst/>
          </a:prstGeom>
          <a:noFill/>
        </p:spPr>
        <p:txBody>
          <a:bodyPr wrap="square" rtlCol="0">
            <a:spAutoFit/>
          </a:bodyPr>
          <a:lstStyle/>
          <a:p>
            <a:r>
              <a:rPr lang="en-GB" dirty="0"/>
              <a:t>MCV1</a:t>
            </a:r>
          </a:p>
        </p:txBody>
      </p:sp>
      <p:sp>
        <p:nvSpPr>
          <p:cNvPr id="10" name="TextBox 9">
            <a:extLst>
              <a:ext uri="{FF2B5EF4-FFF2-40B4-BE49-F238E27FC236}">
                <a16:creationId xmlns:a16="http://schemas.microsoft.com/office/drawing/2014/main" id="{1E66DCEE-B8C5-B11E-6768-284B2D7605B0}"/>
              </a:ext>
            </a:extLst>
          </p:cNvPr>
          <p:cNvSpPr txBox="1"/>
          <p:nvPr/>
        </p:nvSpPr>
        <p:spPr>
          <a:xfrm>
            <a:off x="5729505" y="1012725"/>
            <a:ext cx="875071" cy="369332"/>
          </a:xfrm>
          <a:prstGeom prst="rect">
            <a:avLst/>
          </a:prstGeom>
          <a:noFill/>
        </p:spPr>
        <p:txBody>
          <a:bodyPr wrap="square" rtlCol="0">
            <a:spAutoFit/>
          </a:bodyPr>
          <a:lstStyle/>
          <a:p>
            <a:r>
              <a:rPr lang="en-GB" dirty="0"/>
              <a:t>DTP3</a:t>
            </a:r>
          </a:p>
        </p:txBody>
      </p:sp>
      <p:sp>
        <p:nvSpPr>
          <p:cNvPr id="11" name="TextBox 10">
            <a:extLst>
              <a:ext uri="{FF2B5EF4-FFF2-40B4-BE49-F238E27FC236}">
                <a16:creationId xmlns:a16="http://schemas.microsoft.com/office/drawing/2014/main" id="{E20DC5C6-E066-7114-A9A2-F55D3D234D12}"/>
              </a:ext>
            </a:extLst>
          </p:cNvPr>
          <p:cNvSpPr txBox="1"/>
          <p:nvPr/>
        </p:nvSpPr>
        <p:spPr>
          <a:xfrm>
            <a:off x="9104672" y="5766189"/>
            <a:ext cx="2892898" cy="923330"/>
          </a:xfrm>
          <a:prstGeom prst="rect">
            <a:avLst/>
          </a:prstGeom>
          <a:noFill/>
        </p:spPr>
        <p:txBody>
          <a:bodyPr wrap="square" rtlCol="0">
            <a:spAutoFit/>
          </a:bodyPr>
          <a:lstStyle/>
          <a:p>
            <a:r>
              <a:rPr lang="en-GB" dirty="0"/>
              <a:t>Source: https://onlinelibrary.wiley.com/doi/10.1002/sim.8897</a:t>
            </a:r>
          </a:p>
        </p:txBody>
      </p:sp>
    </p:spTree>
    <p:extLst>
      <p:ext uri="{BB962C8B-B14F-4D97-AF65-F5344CB8AC3E}">
        <p14:creationId xmlns:p14="http://schemas.microsoft.com/office/powerpoint/2010/main" val="1017041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map&#10;&#10;AI-generated content may be incorrect.">
            <a:extLst>
              <a:ext uri="{FF2B5EF4-FFF2-40B4-BE49-F238E27FC236}">
                <a16:creationId xmlns:a16="http://schemas.microsoft.com/office/drawing/2014/main" id="{D751E361-6955-960C-F2AF-A5B0D2BD15D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698" b="6342"/>
          <a:stretch>
            <a:fillRect/>
          </a:stretch>
        </p:blipFill>
        <p:spPr bwMode="auto">
          <a:xfrm>
            <a:off x="884905" y="1003098"/>
            <a:ext cx="6508954" cy="5724995"/>
          </a:xfrm>
          <a:prstGeom prst="rect">
            <a:avLst/>
          </a:prstGeom>
          <a:noFill/>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D5D777FA-35E5-9510-160B-DE4BEA5E4828}"/>
              </a:ext>
            </a:extLst>
          </p:cNvPr>
          <p:cNvSpPr>
            <a:spLocks noGrp="1"/>
          </p:cNvSpPr>
          <p:nvPr>
            <p:ph type="title"/>
          </p:nvPr>
        </p:nvSpPr>
        <p:spPr>
          <a:xfrm>
            <a:off x="294968" y="99655"/>
            <a:ext cx="6007509" cy="736088"/>
          </a:xfrm>
        </p:spPr>
        <p:txBody>
          <a:bodyPr/>
          <a:lstStyle/>
          <a:p>
            <a:r>
              <a:rPr lang="en-GB" b="1" dirty="0">
                <a:solidFill>
                  <a:schemeClr val="bg1"/>
                </a:solidFill>
                <a:latin typeface="+mn-lt"/>
              </a:rPr>
              <a:t>Example output maps</a:t>
            </a:r>
          </a:p>
        </p:txBody>
      </p:sp>
      <p:sp>
        <p:nvSpPr>
          <p:cNvPr id="7" name="TextBox 6">
            <a:extLst>
              <a:ext uri="{FF2B5EF4-FFF2-40B4-BE49-F238E27FC236}">
                <a16:creationId xmlns:a16="http://schemas.microsoft.com/office/drawing/2014/main" id="{6467375C-88C0-B65E-0803-2A9C6618FC58}"/>
              </a:ext>
            </a:extLst>
          </p:cNvPr>
          <p:cNvSpPr txBox="1"/>
          <p:nvPr/>
        </p:nvSpPr>
        <p:spPr>
          <a:xfrm>
            <a:off x="6990735" y="5697366"/>
            <a:ext cx="4916129" cy="923330"/>
          </a:xfrm>
          <a:prstGeom prst="rect">
            <a:avLst/>
          </a:prstGeom>
          <a:noFill/>
        </p:spPr>
        <p:txBody>
          <a:bodyPr wrap="square" rtlCol="0">
            <a:spAutoFit/>
          </a:bodyPr>
          <a:lstStyle/>
          <a:p>
            <a:r>
              <a:rPr lang="en-GB" dirty="0"/>
              <a:t>Source: https://www.medrxiv.org/content/10.64898/2026.01.19.26344414v1</a:t>
            </a:r>
          </a:p>
        </p:txBody>
      </p:sp>
    </p:spTree>
    <p:extLst>
      <p:ext uri="{BB962C8B-B14F-4D97-AF65-F5344CB8AC3E}">
        <p14:creationId xmlns:p14="http://schemas.microsoft.com/office/powerpoint/2010/main" val="36329000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ig. 1">
            <a:extLst>
              <a:ext uri="{FF2B5EF4-FFF2-40B4-BE49-F238E27FC236}">
                <a16:creationId xmlns:a16="http://schemas.microsoft.com/office/drawing/2014/main" id="{E419EA37-1567-6887-86B4-ABBD6DDBC705}"/>
              </a:ext>
            </a:extLst>
          </p:cNvPr>
          <p:cNvPicPr>
            <a:picLocks noChangeAspect="1"/>
          </p:cNvPicPr>
          <p:nvPr/>
        </p:nvPicPr>
        <p:blipFill>
          <a:blip r:embed="rId2"/>
          <a:stretch>
            <a:fillRect/>
          </a:stretch>
        </p:blipFill>
        <p:spPr>
          <a:xfrm>
            <a:off x="294968" y="1679445"/>
            <a:ext cx="5899421" cy="4166140"/>
          </a:xfrm>
          <a:prstGeom prst="rect">
            <a:avLst/>
          </a:prstGeom>
        </p:spPr>
      </p:pic>
      <p:sp>
        <p:nvSpPr>
          <p:cNvPr id="5" name="TextBox 4">
            <a:extLst>
              <a:ext uri="{FF2B5EF4-FFF2-40B4-BE49-F238E27FC236}">
                <a16:creationId xmlns:a16="http://schemas.microsoft.com/office/drawing/2014/main" id="{7D78E9B0-F196-975A-4600-11372FE1881E}"/>
              </a:ext>
            </a:extLst>
          </p:cNvPr>
          <p:cNvSpPr txBox="1"/>
          <p:nvPr/>
        </p:nvSpPr>
        <p:spPr>
          <a:xfrm>
            <a:off x="1127658" y="5994449"/>
            <a:ext cx="2871019" cy="369332"/>
          </a:xfrm>
          <a:prstGeom prst="rect">
            <a:avLst/>
          </a:prstGeom>
          <a:noFill/>
        </p:spPr>
        <p:txBody>
          <a:bodyPr wrap="square" rtlCol="0">
            <a:spAutoFit/>
          </a:bodyPr>
          <a:lstStyle/>
          <a:p>
            <a:r>
              <a:rPr lang="en-GB" dirty="0"/>
              <a:t>Ohio lung cancer mortality</a:t>
            </a:r>
          </a:p>
        </p:txBody>
      </p:sp>
      <p:pic>
        <p:nvPicPr>
          <p:cNvPr id="6" name="Picture 5" descr="Fig. 3">
            <a:extLst>
              <a:ext uri="{FF2B5EF4-FFF2-40B4-BE49-F238E27FC236}">
                <a16:creationId xmlns:a16="http://schemas.microsoft.com/office/drawing/2014/main" id="{EE992071-DD7D-A5DD-48DA-3D953ACAB0C4}"/>
              </a:ext>
            </a:extLst>
          </p:cNvPr>
          <p:cNvPicPr>
            <a:picLocks noChangeAspect="1"/>
          </p:cNvPicPr>
          <p:nvPr/>
        </p:nvPicPr>
        <p:blipFill>
          <a:blip r:embed="rId3"/>
          <a:stretch>
            <a:fillRect/>
          </a:stretch>
        </p:blipFill>
        <p:spPr>
          <a:xfrm>
            <a:off x="6508198" y="1709364"/>
            <a:ext cx="4921803" cy="4268466"/>
          </a:xfrm>
          <a:prstGeom prst="rect">
            <a:avLst/>
          </a:prstGeom>
        </p:spPr>
      </p:pic>
      <p:sp>
        <p:nvSpPr>
          <p:cNvPr id="8" name="TextBox 7">
            <a:extLst>
              <a:ext uri="{FF2B5EF4-FFF2-40B4-BE49-F238E27FC236}">
                <a16:creationId xmlns:a16="http://schemas.microsoft.com/office/drawing/2014/main" id="{95008CD9-1CAB-D952-6DA2-D531F77AEC97}"/>
              </a:ext>
            </a:extLst>
          </p:cNvPr>
          <p:cNvSpPr txBox="1"/>
          <p:nvPr/>
        </p:nvSpPr>
        <p:spPr>
          <a:xfrm>
            <a:off x="7199078" y="6043793"/>
            <a:ext cx="3090381" cy="369332"/>
          </a:xfrm>
          <a:prstGeom prst="rect">
            <a:avLst/>
          </a:prstGeom>
          <a:noFill/>
        </p:spPr>
        <p:txBody>
          <a:bodyPr wrap="square" rtlCol="0">
            <a:spAutoFit/>
          </a:bodyPr>
          <a:lstStyle/>
          <a:p>
            <a:r>
              <a:rPr lang="en-GB" dirty="0"/>
              <a:t>Georgia low birth weight data</a:t>
            </a:r>
          </a:p>
        </p:txBody>
      </p:sp>
      <p:sp>
        <p:nvSpPr>
          <p:cNvPr id="2" name="Title 1">
            <a:extLst>
              <a:ext uri="{FF2B5EF4-FFF2-40B4-BE49-F238E27FC236}">
                <a16:creationId xmlns:a16="http://schemas.microsoft.com/office/drawing/2014/main" id="{463D0AD3-A289-F754-8B27-0082B82DC7A0}"/>
              </a:ext>
            </a:extLst>
          </p:cNvPr>
          <p:cNvSpPr>
            <a:spLocks noGrp="1"/>
          </p:cNvSpPr>
          <p:nvPr>
            <p:ph type="title"/>
          </p:nvPr>
        </p:nvSpPr>
        <p:spPr>
          <a:xfrm>
            <a:off x="294968" y="99655"/>
            <a:ext cx="6007509" cy="736088"/>
          </a:xfrm>
        </p:spPr>
        <p:txBody>
          <a:bodyPr/>
          <a:lstStyle/>
          <a:p>
            <a:r>
              <a:rPr lang="en-GB" b="1" dirty="0">
                <a:solidFill>
                  <a:schemeClr val="bg1"/>
                </a:solidFill>
                <a:latin typeface="+mn-lt"/>
              </a:rPr>
              <a:t>Example output maps</a:t>
            </a:r>
          </a:p>
        </p:txBody>
      </p:sp>
    </p:spTree>
    <p:extLst>
      <p:ext uri="{BB962C8B-B14F-4D97-AF65-F5344CB8AC3E}">
        <p14:creationId xmlns:p14="http://schemas.microsoft.com/office/powerpoint/2010/main" val="37274506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691E7-CD94-E285-6AAA-9AFA73CDD28B}"/>
              </a:ext>
            </a:extLst>
          </p:cNvPr>
          <p:cNvSpPr>
            <a:spLocks noGrp="1"/>
          </p:cNvSpPr>
          <p:nvPr>
            <p:ph type="title"/>
          </p:nvPr>
        </p:nvSpPr>
        <p:spPr>
          <a:xfrm>
            <a:off x="326923" y="0"/>
            <a:ext cx="10515600" cy="726256"/>
          </a:xfrm>
        </p:spPr>
        <p:txBody>
          <a:bodyPr/>
          <a:lstStyle/>
          <a:p>
            <a:r>
              <a:rPr lang="en-GB" b="1" dirty="0">
                <a:solidFill>
                  <a:schemeClr val="bg1"/>
                </a:solidFill>
              </a:rPr>
              <a:t>Exercise 3</a:t>
            </a:r>
          </a:p>
        </p:txBody>
      </p:sp>
      <p:sp>
        <p:nvSpPr>
          <p:cNvPr id="3" name="Content Placeholder 2">
            <a:extLst>
              <a:ext uri="{FF2B5EF4-FFF2-40B4-BE49-F238E27FC236}">
                <a16:creationId xmlns:a16="http://schemas.microsoft.com/office/drawing/2014/main" id="{95C8BA86-FB48-2A18-980D-8481EE570841}"/>
              </a:ext>
            </a:extLst>
          </p:cNvPr>
          <p:cNvSpPr>
            <a:spLocks noGrp="1"/>
          </p:cNvSpPr>
          <p:nvPr>
            <p:ph idx="1"/>
          </p:nvPr>
        </p:nvSpPr>
        <p:spPr>
          <a:xfrm>
            <a:off x="513736" y="1393006"/>
            <a:ext cx="10515600" cy="4840645"/>
          </a:xfrm>
        </p:spPr>
        <p:txBody>
          <a:bodyPr>
            <a:normAutofit lnSpcReduction="10000"/>
          </a:bodyPr>
          <a:lstStyle/>
          <a:p>
            <a:r>
              <a:rPr lang="en-GB" sz="2400" dirty="0"/>
              <a:t>In this exercise, you will practice spatial areal data analysis. The data for the exercise are available in the </a:t>
            </a:r>
            <a:r>
              <a:rPr lang="en-GB" sz="2400" dirty="0" err="1"/>
              <a:t>SpatialEpi</a:t>
            </a:r>
            <a:r>
              <a:rPr lang="en-GB" sz="2400" dirty="0"/>
              <a:t> package in R. You will need to load all the required packages before you run the code. </a:t>
            </a:r>
          </a:p>
          <a:p>
            <a:endParaRPr lang="en-GB" sz="2400" dirty="0"/>
          </a:p>
          <a:p>
            <a:r>
              <a:rPr lang="en-GB" sz="2400" dirty="0"/>
              <a:t>The Scottish lip cancer data contains information on male lip cancer cases recorded across 56 Scottish counties during 1975–1980, together with expected cases, geographical boundaries and the proportion of the workforce employed in agriculture, fishing and forestry. The data provide a classic example for demonstrating spatial variation in disease risk and Bayesian areal disease-mapping models. </a:t>
            </a:r>
          </a:p>
          <a:p>
            <a:endParaRPr lang="en-GB" sz="2400" dirty="0"/>
          </a:p>
          <a:p>
            <a:r>
              <a:rPr lang="en-GB" sz="2400" dirty="0"/>
              <a:t>You will also practice producing interactive visualizations using the outputs generated from your analysis.</a:t>
            </a:r>
          </a:p>
        </p:txBody>
      </p:sp>
    </p:spTree>
    <p:extLst>
      <p:ext uri="{BB962C8B-B14F-4D97-AF65-F5344CB8AC3E}">
        <p14:creationId xmlns:p14="http://schemas.microsoft.com/office/powerpoint/2010/main" val="14403630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70F63-652E-9E45-62CF-A8700613ACD0}"/>
              </a:ext>
            </a:extLst>
          </p:cNvPr>
          <p:cNvSpPr>
            <a:spLocks noGrp="1"/>
          </p:cNvSpPr>
          <p:nvPr>
            <p:ph type="title"/>
          </p:nvPr>
        </p:nvSpPr>
        <p:spPr>
          <a:xfrm>
            <a:off x="307258" y="0"/>
            <a:ext cx="3645310" cy="686927"/>
          </a:xfrm>
        </p:spPr>
        <p:txBody>
          <a:bodyPr>
            <a:normAutofit fontScale="90000"/>
          </a:bodyPr>
          <a:lstStyle/>
          <a:p>
            <a:r>
              <a:rPr lang="en-GB" b="1" dirty="0">
                <a:solidFill>
                  <a:schemeClr val="bg1"/>
                </a:solidFill>
                <a:latin typeface="+mn-lt"/>
              </a:rPr>
              <a:t>Exercise 4</a:t>
            </a:r>
          </a:p>
        </p:txBody>
      </p:sp>
      <p:sp>
        <p:nvSpPr>
          <p:cNvPr id="3" name="Content Placeholder 2">
            <a:extLst>
              <a:ext uri="{FF2B5EF4-FFF2-40B4-BE49-F238E27FC236}">
                <a16:creationId xmlns:a16="http://schemas.microsoft.com/office/drawing/2014/main" id="{7F88A5CF-D0D2-23D6-FAAB-0CC76682CA2E}"/>
              </a:ext>
            </a:extLst>
          </p:cNvPr>
          <p:cNvSpPr>
            <a:spLocks noGrp="1"/>
          </p:cNvSpPr>
          <p:nvPr>
            <p:ph idx="1"/>
          </p:nvPr>
        </p:nvSpPr>
        <p:spPr>
          <a:xfrm>
            <a:off x="838200" y="1393006"/>
            <a:ext cx="10515600" cy="4351338"/>
          </a:xfrm>
        </p:spPr>
        <p:txBody>
          <a:bodyPr/>
          <a:lstStyle/>
          <a:p>
            <a:r>
              <a:rPr lang="en-GB" dirty="0"/>
              <a:t>In this exercise, you will practice spatiotemporal areal data analysis.</a:t>
            </a:r>
          </a:p>
          <a:p>
            <a:r>
              <a:rPr lang="en-GB" dirty="0"/>
              <a:t>The data for the analysis relates to lung cancer deaths in 𝑛=88 counties of Ohio, USA, for the years 1968 to 1988. This dataset was originally </a:t>
            </a:r>
            <a:r>
              <a:rPr lang="en-GB" dirty="0" err="1"/>
              <a:t>analyzed</a:t>
            </a:r>
            <a:r>
              <a:rPr lang="en-GB" dirty="0"/>
              <a:t> by </a:t>
            </a:r>
            <a:r>
              <a:rPr lang="en-GB" dirty="0">
                <a:hlinkClick r:id="rId2"/>
              </a:rPr>
              <a:t>Devine (1992)</a:t>
            </a:r>
            <a:r>
              <a:rPr lang="en-GB" dirty="0"/>
              <a:t> but has since been analysed by many other authors. The version used here was obtained from </a:t>
            </a:r>
            <a:r>
              <a:rPr lang="en-GB" dirty="0" err="1">
                <a:hlinkClick r:id="rId3"/>
              </a:rPr>
              <a:t>Blangiardo</a:t>
            </a:r>
            <a:r>
              <a:rPr lang="en-GB" dirty="0">
                <a:hlinkClick r:id="rId3"/>
              </a:rPr>
              <a:t> and </a:t>
            </a:r>
            <a:r>
              <a:rPr lang="en-GB" dirty="0" err="1">
                <a:hlinkClick r:id="rId3"/>
              </a:rPr>
              <a:t>Cameletti</a:t>
            </a:r>
            <a:r>
              <a:rPr lang="en-GB" dirty="0">
                <a:hlinkClick r:id="rId3"/>
              </a:rPr>
              <a:t> (2015)</a:t>
            </a:r>
            <a:r>
              <a:rPr lang="en-GB" dirty="0"/>
              <a:t>.</a:t>
            </a:r>
          </a:p>
          <a:p>
            <a:r>
              <a:rPr lang="en-GB" dirty="0"/>
              <a:t>Here, you will learn how to use R-INLA to fit the spatiotemporal models discussed in this session.</a:t>
            </a:r>
          </a:p>
        </p:txBody>
      </p:sp>
    </p:spTree>
    <p:extLst>
      <p:ext uri="{BB962C8B-B14F-4D97-AF65-F5344CB8AC3E}">
        <p14:creationId xmlns:p14="http://schemas.microsoft.com/office/powerpoint/2010/main" val="20921480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C5CA8-2981-3AA6-285D-74AEF599FC37}"/>
              </a:ext>
            </a:extLst>
          </p:cNvPr>
          <p:cNvSpPr>
            <a:spLocks noGrp="1"/>
          </p:cNvSpPr>
          <p:nvPr>
            <p:ph type="title"/>
          </p:nvPr>
        </p:nvSpPr>
        <p:spPr>
          <a:xfrm>
            <a:off x="297426" y="0"/>
            <a:ext cx="10515600" cy="706591"/>
          </a:xfrm>
        </p:spPr>
        <p:txBody>
          <a:bodyPr>
            <a:normAutofit/>
          </a:bodyPr>
          <a:lstStyle/>
          <a:p>
            <a:r>
              <a:rPr lang="en-GB" sz="4000" b="1" dirty="0">
                <a:solidFill>
                  <a:schemeClr val="bg1"/>
                </a:solidFill>
                <a:latin typeface="+mn-lt"/>
              </a:rPr>
              <a:t>References</a:t>
            </a:r>
          </a:p>
        </p:txBody>
      </p:sp>
      <p:sp>
        <p:nvSpPr>
          <p:cNvPr id="4" name="Content Placeholder 2">
            <a:extLst>
              <a:ext uri="{FF2B5EF4-FFF2-40B4-BE49-F238E27FC236}">
                <a16:creationId xmlns:a16="http://schemas.microsoft.com/office/drawing/2014/main" id="{6AD74CFA-AA45-E80D-D750-CDEE3F7B50A3}"/>
              </a:ext>
            </a:extLst>
          </p:cNvPr>
          <p:cNvSpPr>
            <a:spLocks noGrp="1"/>
          </p:cNvSpPr>
          <p:nvPr>
            <p:ph idx="1"/>
          </p:nvPr>
        </p:nvSpPr>
        <p:spPr>
          <a:xfrm>
            <a:off x="838200" y="1392852"/>
            <a:ext cx="10515600" cy="5027613"/>
          </a:xfrm>
        </p:spPr>
        <p:txBody>
          <a:bodyPr>
            <a:normAutofit fontScale="85000" lnSpcReduction="10000"/>
          </a:bodyPr>
          <a:lstStyle/>
          <a:p>
            <a:r>
              <a:rPr lang="en-GB" dirty="0"/>
              <a:t>Banerjee, S., Gelfand, A. E., &amp; Carlin, B. P. (2025). </a:t>
            </a:r>
            <a:r>
              <a:rPr lang="en-GB" i="1" dirty="0"/>
              <a:t>Hierarchical </a:t>
            </a:r>
            <a:r>
              <a:rPr lang="en-GB" i="1" dirty="0" err="1"/>
              <a:t>modeling</a:t>
            </a:r>
            <a:r>
              <a:rPr lang="en-GB" i="1" dirty="0"/>
              <a:t> and analysis for spatial data</a:t>
            </a:r>
            <a:r>
              <a:rPr lang="en-GB" dirty="0"/>
              <a:t> (3rd ed.). Chapman and Hall/CRC.</a:t>
            </a:r>
          </a:p>
          <a:p>
            <a:r>
              <a:rPr lang="en-GB" dirty="0" err="1"/>
              <a:t>Blangiardo</a:t>
            </a:r>
            <a:r>
              <a:rPr lang="en-GB" dirty="0"/>
              <a:t>, M., &amp; </a:t>
            </a:r>
            <a:r>
              <a:rPr lang="en-GB" dirty="0" err="1"/>
              <a:t>Cameletti</a:t>
            </a:r>
            <a:r>
              <a:rPr lang="en-GB" dirty="0"/>
              <a:t>, M. (2015). Spatial and </a:t>
            </a:r>
            <a:r>
              <a:rPr lang="en-GB" dirty="0" err="1"/>
              <a:t>spatio</a:t>
            </a:r>
            <a:r>
              <a:rPr lang="en-GB" dirty="0"/>
              <a:t>-temporal Bayesian models in R-INLA, John Wiley &amp; Sons </a:t>
            </a:r>
          </a:p>
          <a:p>
            <a:r>
              <a:rPr lang="en-GB" dirty="0"/>
              <a:t>Devine O.J. Empirical Bayes and constrained empirical Bayes methods for estimating incidence rates in spatially aligned areas. Unpublished Ph.D. thesis, Department of Biostatistics, Emory University1992</a:t>
            </a:r>
          </a:p>
          <a:p>
            <a:r>
              <a:rPr lang="en-GB" dirty="0"/>
              <a:t>Sahu, S. K. (2022). </a:t>
            </a:r>
            <a:r>
              <a:rPr lang="en-GB" i="1" dirty="0"/>
              <a:t>Bayesian modelling of </a:t>
            </a:r>
            <a:r>
              <a:rPr lang="en-GB" i="1" dirty="0" err="1"/>
              <a:t>spatio</a:t>
            </a:r>
            <a:r>
              <a:rPr lang="en-GB" i="1" dirty="0"/>
              <a:t>-temporal data with R</a:t>
            </a:r>
            <a:r>
              <a:rPr lang="en-GB" dirty="0"/>
              <a:t>. Chapman and Hall/CRC.</a:t>
            </a:r>
          </a:p>
          <a:p>
            <a:r>
              <a:rPr lang="en-GB" dirty="0" err="1"/>
              <a:t>Schabenberger</a:t>
            </a:r>
            <a:r>
              <a:rPr lang="en-GB" dirty="0"/>
              <a:t>, O., &amp; </a:t>
            </a:r>
            <a:r>
              <a:rPr lang="en-GB" dirty="0" err="1"/>
              <a:t>Gotway</a:t>
            </a:r>
            <a:r>
              <a:rPr lang="en-GB" dirty="0"/>
              <a:t>, C. A. (2005). </a:t>
            </a:r>
            <a:r>
              <a:rPr lang="en-GB" i="1" dirty="0"/>
              <a:t>Statistical methods for spatial data analysis</a:t>
            </a:r>
            <a:r>
              <a:rPr lang="en-GB" dirty="0"/>
              <a:t>. Chapman &amp; Hall/CRC.</a:t>
            </a:r>
          </a:p>
          <a:p>
            <a:r>
              <a:rPr lang="en-GB" dirty="0"/>
              <a:t>Zuur, A. F., </a:t>
            </a:r>
            <a:r>
              <a:rPr lang="en-GB" dirty="0" err="1"/>
              <a:t>Ieno</a:t>
            </a:r>
            <a:r>
              <a:rPr lang="en-GB" dirty="0"/>
              <a:t>, E. N., &amp; Saveliev, A. A. (2017). </a:t>
            </a:r>
            <a:r>
              <a:rPr lang="en-GB" i="1" dirty="0"/>
              <a:t>Beginner's Guide to Spatial, Temporal and Spatial-Temporal Ecological Data Analysis with R-INLA: Volume I: Using GLM and GLMM</a:t>
            </a:r>
            <a:r>
              <a:rPr lang="en-GB" dirty="0"/>
              <a:t>. Newburgh, UK: Highland Statistics Ltd.</a:t>
            </a:r>
          </a:p>
          <a:p>
            <a:endParaRPr lang="en-GB" dirty="0"/>
          </a:p>
        </p:txBody>
      </p:sp>
    </p:spTree>
    <p:extLst>
      <p:ext uri="{BB962C8B-B14F-4D97-AF65-F5344CB8AC3E}">
        <p14:creationId xmlns:p14="http://schemas.microsoft.com/office/powerpoint/2010/main" val="38728561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3576</TotalTime>
  <Words>3919</Words>
  <Application>Microsoft Office PowerPoint</Application>
  <PresentationFormat>Widescreen</PresentationFormat>
  <Paragraphs>292</Paragraphs>
  <Slides>42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Aptos</vt:lpstr>
      <vt:lpstr>Aptos Display</vt:lpstr>
      <vt:lpstr>Arial</vt:lpstr>
      <vt:lpstr>Cambria Math</vt:lpstr>
      <vt:lpstr>Merriweather</vt:lpstr>
      <vt:lpstr>Office Theme</vt:lpstr>
      <vt:lpstr>PowerPoint Presentation</vt:lpstr>
      <vt:lpstr>Learning objectives</vt:lpstr>
      <vt:lpstr>Introduction</vt:lpstr>
      <vt:lpstr>Introduction</vt:lpstr>
      <vt:lpstr>Defining spatial dependence with areal data</vt:lpstr>
      <vt:lpstr>Defining spatial dependence with areal data</vt:lpstr>
      <vt:lpstr>Defining spatial dependence with areal data</vt:lpstr>
      <vt:lpstr>Common probability distributions used for areal data</vt:lpstr>
      <vt:lpstr>Area data models – disease mapping</vt:lpstr>
      <vt:lpstr>Area data models – disease mapping</vt:lpstr>
      <vt:lpstr>Area data models – disease mapping</vt:lpstr>
      <vt:lpstr>Area data models – disease mapping</vt:lpstr>
      <vt:lpstr>Binomial likelihood</vt:lpstr>
      <vt:lpstr>Conditional autoregressive models </vt:lpstr>
      <vt:lpstr>Conditional autoregressive models </vt:lpstr>
      <vt:lpstr>From CAR to a Gaussian Markov random field and INLA</vt:lpstr>
      <vt:lpstr>From CAR to a Gaussian Markov random field and INLA</vt:lpstr>
      <vt:lpstr>Other CAR models used in practice</vt:lpstr>
      <vt:lpstr>Other CAR models used in practice</vt:lpstr>
      <vt:lpstr>Other CAR models used in practice</vt:lpstr>
      <vt:lpstr>Other CAR models used in practice</vt:lpstr>
      <vt:lpstr>Choosing priors for the parameters</vt:lpstr>
      <vt:lpstr>Choosing priors for the parameters</vt:lpstr>
      <vt:lpstr>Spatiotemporal CAR model</vt:lpstr>
      <vt:lpstr>Modelling ϕ_it </vt:lpstr>
      <vt:lpstr>Modelling ϕ_it </vt:lpstr>
      <vt:lpstr>Modelling ϕ_it - space-time interaction models </vt:lpstr>
      <vt:lpstr>Modelling ϕ_it - space-time interaction models </vt:lpstr>
      <vt:lpstr>Modelling ϕ_it - space-time interaction models </vt:lpstr>
      <vt:lpstr>Modelling ϕ_it - space-time interaction models </vt:lpstr>
      <vt:lpstr>Modelling ϕ_it - space-time interaction models </vt:lpstr>
      <vt:lpstr>Exploratory data analysis for areal data</vt:lpstr>
      <vt:lpstr>Global Moran’s I</vt:lpstr>
      <vt:lpstr>Geary’s C</vt:lpstr>
      <vt:lpstr>Local indicators of spatial association (LISA)</vt:lpstr>
      <vt:lpstr>Spatiotemporal Moran’s I</vt:lpstr>
      <vt:lpstr>Example output maps</vt:lpstr>
      <vt:lpstr>Example output maps</vt:lpstr>
      <vt:lpstr>Example output maps</vt:lpstr>
      <vt:lpstr>Exercise 3</vt:lpstr>
      <vt:lpstr>Exercise 4</vt:lpstr>
      <vt:lpstr>References</vt:lpstr>
    </vt:vector>
  </TitlesOfParts>
  <Company>University of Southampton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Edson Utazi</dc:creator>
  <cp:lastModifiedBy>Edson Utazi</cp:lastModifiedBy>
  <cp:revision>2</cp:revision>
  <dcterms:created xsi:type="dcterms:W3CDTF">2026-09-24T09:37:23Z</dcterms:created>
  <dcterms:modified xsi:type="dcterms:W3CDTF">2026-10-12T06:06:06Z</dcterms:modified>
</cp:coreProperties>
</file>