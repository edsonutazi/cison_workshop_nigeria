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40.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321" r:id="rId2"/>
    <p:sldId id="266" r:id="rId3"/>
    <p:sldId id="281" r:id="rId4"/>
    <p:sldId id="284" r:id="rId5"/>
    <p:sldId id="285" r:id="rId6"/>
    <p:sldId id="286" r:id="rId7"/>
    <p:sldId id="289" r:id="rId8"/>
    <p:sldId id="290" r:id="rId9"/>
    <p:sldId id="287" r:id="rId10"/>
    <p:sldId id="291" r:id="rId11"/>
    <p:sldId id="292" r:id="rId12"/>
    <p:sldId id="294" r:id="rId13"/>
    <p:sldId id="293" r:id="rId14"/>
    <p:sldId id="295" r:id="rId15"/>
    <p:sldId id="296" r:id="rId16"/>
    <p:sldId id="300" r:id="rId17"/>
    <p:sldId id="297" r:id="rId18"/>
    <p:sldId id="301" r:id="rId19"/>
    <p:sldId id="302" r:id="rId20"/>
    <p:sldId id="303" r:id="rId21"/>
    <p:sldId id="304" r:id="rId22"/>
    <p:sldId id="312" r:id="rId23"/>
    <p:sldId id="305" r:id="rId24"/>
    <p:sldId id="307" r:id="rId25"/>
    <p:sldId id="313" r:id="rId26"/>
    <p:sldId id="310" r:id="rId27"/>
    <p:sldId id="316" r:id="rId28"/>
    <p:sldId id="311" r:id="rId29"/>
    <p:sldId id="314" r:id="rId30"/>
    <p:sldId id="315" r:id="rId31"/>
    <p:sldId id="306" r:id="rId32"/>
    <p:sldId id="265" r:id="rId33"/>
    <p:sldId id="260" r:id="rId34"/>
    <p:sldId id="322" r:id="rId35"/>
    <p:sldId id="26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002868-3D0E-44EB-B289-527755DF131D}" v="49" dt="2026-10-09T08:55:44.2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81179" autoAdjust="0"/>
  </p:normalViewPr>
  <p:slideViewPr>
    <p:cSldViewPr snapToGrid="0">
      <p:cViewPr>
        <p:scale>
          <a:sx n="80" d="100"/>
          <a:sy n="80" d="100"/>
        </p:scale>
        <p:origin x="648"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son Utazi" userId="bcb3a38a-3ad0-4389-89a4-f1f4b25807d3" providerId="ADAL" clId="{6E6BB287-36A5-4019-B86C-EECBD7B9E602}"/>
    <pc:docChg chg="undo custSel addSld delSld modSld sldOrd modMainMaster">
      <pc:chgData name="Edson Utazi" userId="bcb3a38a-3ad0-4389-89a4-f1f4b25807d3" providerId="ADAL" clId="{6E6BB287-36A5-4019-B86C-EECBD7B9E602}" dt="2026-10-09T08:55:48.094" v="2863" actId="1076"/>
      <pc:docMkLst>
        <pc:docMk/>
      </pc:docMkLst>
      <pc:sldChg chg="modSp del mod">
        <pc:chgData name="Edson Utazi" userId="bcb3a38a-3ad0-4389-89a4-f1f4b25807d3" providerId="ADAL" clId="{6E6BB287-36A5-4019-B86C-EECBD7B9E602}" dt="2026-10-09T07:32:17.010" v="1672" actId="2696"/>
        <pc:sldMkLst>
          <pc:docMk/>
          <pc:sldMk cId="2719750326" sldId="257"/>
        </pc:sldMkLst>
        <pc:spChg chg="mod">
          <ac:chgData name="Edson Utazi" userId="bcb3a38a-3ad0-4389-89a4-f1f4b25807d3" providerId="ADAL" clId="{6E6BB287-36A5-4019-B86C-EECBD7B9E602}" dt="2026-10-09T07:31:38.608" v="1669" actId="20577"/>
          <ac:spMkLst>
            <pc:docMk/>
            <pc:sldMk cId="2719750326" sldId="257"/>
            <ac:spMk id="3" creationId="{00000000-0000-0000-0000-000000000000}"/>
          </ac:spMkLst>
        </pc:spChg>
      </pc:sldChg>
      <pc:sldChg chg="addSp modSp mod ord">
        <pc:chgData name="Edson Utazi" userId="bcb3a38a-3ad0-4389-89a4-f1f4b25807d3" providerId="ADAL" clId="{6E6BB287-36A5-4019-B86C-EECBD7B9E602}" dt="2026-10-09T08:47:31.821" v="2187" actId="1076"/>
        <pc:sldMkLst>
          <pc:docMk/>
          <pc:sldMk cId="3771156888" sldId="260"/>
        </pc:sldMkLst>
        <pc:spChg chg="mod">
          <ac:chgData name="Edson Utazi" userId="bcb3a38a-3ad0-4389-89a4-f1f4b25807d3" providerId="ADAL" clId="{6E6BB287-36A5-4019-B86C-EECBD7B9E602}" dt="2026-10-09T08:47:30.368" v="2186" actId="1076"/>
          <ac:spMkLst>
            <pc:docMk/>
            <pc:sldMk cId="3771156888" sldId="260"/>
            <ac:spMk id="2" creationId="{00000000-0000-0000-0000-000000000000}"/>
          </ac:spMkLst>
        </pc:spChg>
        <pc:picChg chg="add mod">
          <ac:chgData name="Edson Utazi" userId="bcb3a38a-3ad0-4389-89a4-f1f4b25807d3" providerId="ADAL" clId="{6E6BB287-36A5-4019-B86C-EECBD7B9E602}" dt="2026-10-09T08:47:31.821" v="2187" actId="1076"/>
          <ac:picMkLst>
            <pc:docMk/>
            <pc:sldMk cId="3771156888" sldId="260"/>
            <ac:picMk id="3" creationId="{0CD796D4-C783-3451-AB0F-737CC6D43A72}"/>
          </ac:picMkLst>
        </pc:picChg>
        <pc:picChg chg="mod">
          <ac:chgData name="Edson Utazi" userId="bcb3a38a-3ad0-4389-89a4-f1f4b25807d3" providerId="ADAL" clId="{6E6BB287-36A5-4019-B86C-EECBD7B9E602}" dt="2026-10-09T08:46:31.116" v="2163" actId="1076"/>
          <ac:picMkLst>
            <pc:docMk/>
            <pc:sldMk cId="3771156888" sldId="260"/>
            <ac:picMk id="1026" creationId="{00000000-0000-0000-0000-000000000000}"/>
          </ac:picMkLst>
        </pc:picChg>
      </pc:sldChg>
      <pc:sldChg chg="modSp mod">
        <pc:chgData name="Edson Utazi" userId="bcb3a38a-3ad0-4389-89a4-f1f4b25807d3" providerId="ADAL" clId="{6E6BB287-36A5-4019-B86C-EECBD7B9E602}" dt="2026-10-09T08:55:48.094" v="2863" actId="1076"/>
        <pc:sldMkLst>
          <pc:docMk/>
          <pc:sldMk cId="2047381270" sldId="261"/>
        </pc:sldMkLst>
        <pc:spChg chg="mod">
          <ac:chgData name="Edson Utazi" userId="bcb3a38a-3ad0-4389-89a4-f1f4b25807d3" providerId="ADAL" clId="{6E6BB287-36A5-4019-B86C-EECBD7B9E602}" dt="2026-10-09T08:53:14.298" v="2708" actId="2711"/>
          <ac:spMkLst>
            <pc:docMk/>
            <pc:sldMk cId="2047381270" sldId="261"/>
            <ac:spMk id="2" creationId="{00000000-0000-0000-0000-000000000000}"/>
          </ac:spMkLst>
        </pc:spChg>
        <pc:spChg chg="mod">
          <ac:chgData name="Edson Utazi" userId="bcb3a38a-3ad0-4389-89a4-f1f4b25807d3" providerId="ADAL" clId="{6E6BB287-36A5-4019-B86C-EECBD7B9E602}" dt="2026-10-09T08:55:48.094" v="2863" actId="1076"/>
          <ac:spMkLst>
            <pc:docMk/>
            <pc:sldMk cId="2047381270" sldId="261"/>
            <ac:spMk id="3" creationId="{00000000-0000-0000-0000-000000000000}"/>
          </ac:spMkLst>
        </pc:spChg>
      </pc:sldChg>
      <pc:sldChg chg="modSp mod ord">
        <pc:chgData name="Edson Utazi" userId="bcb3a38a-3ad0-4389-89a4-f1f4b25807d3" providerId="ADAL" clId="{6E6BB287-36A5-4019-B86C-EECBD7B9E602}" dt="2026-10-09T08:52:59.666" v="2707"/>
        <pc:sldMkLst>
          <pc:docMk/>
          <pc:sldMk cId="3093278351" sldId="265"/>
        </pc:sldMkLst>
        <pc:spChg chg="mod">
          <ac:chgData name="Edson Utazi" userId="bcb3a38a-3ad0-4389-89a4-f1f4b25807d3" providerId="ADAL" clId="{6E6BB287-36A5-4019-B86C-EECBD7B9E602}" dt="2026-10-09T08:47:44.217" v="2189" actId="1076"/>
          <ac:spMkLst>
            <pc:docMk/>
            <pc:sldMk cId="3093278351" sldId="265"/>
            <ac:spMk id="2" creationId="{00000000-0000-0000-0000-000000000000}"/>
          </ac:spMkLst>
        </pc:spChg>
        <pc:spChg chg="mod">
          <ac:chgData name="Edson Utazi" userId="bcb3a38a-3ad0-4389-89a4-f1f4b25807d3" providerId="ADAL" clId="{6E6BB287-36A5-4019-B86C-EECBD7B9E602}" dt="2026-10-09T08:52:08.356" v="2703" actId="20577"/>
          <ac:spMkLst>
            <pc:docMk/>
            <pc:sldMk cId="3093278351" sldId="265"/>
            <ac:spMk id="3" creationId="{00000000-0000-0000-0000-000000000000}"/>
          </ac:spMkLst>
        </pc:spChg>
      </pc:sldChg>
      <pc:sldChg chg="modSp mod">
        <pc:chgData name="Edson Utazi" userId="bcb3a38a-3ad0-4389-89a4-f1f4b25807d3" providerId="ADAL" clId="{6E6BB287-36A5-4019-B86C-EECBD7B9E602}" dt="2026-10-09T07:35:48.290" v="1708" actId="1076"/>
        <pc:sldMkLst>
          <pc:docMk/>
          <pc:sldMk cId="1939827695" sldId="266"/>
        </pc:sldMkLst>
        <pc:spChg chg="mod">
          <ac:chgData name="Edson Utazi" userId="bcb3a38a-3ad0-4389-89a4-f1f4b25807d3" providerId="ADAL" clId="{6E6BB287-36A5-4019-B86C-EECBD7B9E602}" dt="2026-10-08T16:44:34.012" v="860" actId="2711"/>
          <ac:spMkLst>
            <pc:docMk/>
            <pc:sldMk cId="1939827695" sldId="266"/>
            <ac:spMk id="2" creationId="{00000000-0000-0000-0000-000000000000}"/>
          </ac:spMkLst>
        </pc:spChg>
        <pc:spChg chg="mod">
          <ac:chgData name="Edson Utazi" userId="bcb3a38a-3ad0-4389-89a4-f1f4b25807d3" providerId="ADAL" clId="{6E6BB287-36A5-4019-B86C-EECBD7B9E602}" dt="2026-10-09T07:35:48.290" v="1708" actId="1076"/>
          <ac:spMkLst>
            <pc:docMk/>
            <pc:sldMk cId="1939827695" sldId="266"/>
            <ac:spMk id="3" creationId="{00000000-0000-0000-0000-000000000000}"/>
          </ac:spMkLst>
        </pc:spChg>
      </pc:sldChg>
      <pc:sldChg chg="del">
        <pc:chgData name="Edson Utazi" userId="bcb3a38a-3ad0-4389-89a4-f1f4b25807d3" providerId="ADAL" clId="{6E6BB287-36A5-4019-B86C-EECBD7B9E602}" dt="2026-10-09T07:32:25.405" v="1673" actId="2696"/>
        <pc:sldMkLst>
          <pc:docMk/>
          <pc:sldMk cId="2214690627" sldId="267"/>
        </pc:sldMkLst>
      </pc:sldChg>
      <pc:sldChg chg="modSp mod ord">
        <pc:chgData name="Edson Utazi" userId="bcb3a38a-3ad0-4389-89a4-f1f4b25807d3" providerId="ADAL" clId="{6E6BB287-36A5-4019-B86C-EECBD7B9E602}" dt="2026-10-09T07:39:54.309" v="1714" actId="20577"/>
        <pc:sldMkLst>
          <pc:docMk/>
          <pc:sldMk cId="2719009366" sldId="281"/>
        </pc:sldMkLst>
        <pc:spChg chg="mod">
          <ac:chgData name="Edson Utazi" userId="bcb3a38a-3ad0-4389-89a4-f1f4b25807d3" providerId="ADAL" clId="{6E6BB287-36A5-4019-B86C-EECBD7B9E602}" dt="2026-10-09T07:36:25.244" v="1712" actId="27636"/>
          <ac:spMkLst>
            <pc:docMk/>
            <pc:sldMk cId="2719009366" sldId="281"/>
            <ac:spMk id="3" creationId="{00000000-0000-0000-0000-000000000000}"/>
          </ac:spMkLst>
        </pc:spChg>
        <pc:spChg chg="mod">
          <ac:chgData name="Edson Utazi" userId="bcb3a38a-3ad0-4389-89a4-f1f4b25807d3" providerId="ADAL" clId="{6E6BB287-36A5-4019-B86C-EECBD7B9E602}" dt="2026-10-09T07:36:35.779" v="1713" actId="1076"/>
          <ac:spMkLst>
            <pc:docMk/>
            <pc:sldMk cId="2719009366" sldId="281"/>
            <ac:spMk id="7" creationId="{00000000-0000-0000-0000-000000000000}"/>
          </ac:spMkLst>
        </pc:spChg>
        <pc:spChg chg="mod">
          <ac:chgData name="Edson Utazi" userId="bcb3a38a-3ad0-4389-89a4-f1f4b25807d3" providerId="ADAL" clId="{6E6BB287-36A5-4019-B86C-EECBD7B9E602}" dt="2026-10-09T07:39:54.309" v="1714" actId="20577"/>
          <ac:spMkLst>
            <pc:docMk/>
            <pc:sldMk cId="2719009366" sldId="281"/>
            <ac:spMk id="8" creationId="{00000000-0000-0000-0000-000000000000}"/>
          </ac:spMkLst>
        </pc:spChg>
        <pc:cxnChg chg="mod">
          <ac:chgData name="Edson Utazi" userId="bcb3a38a-3ad0-4389-89a4-f1f4b25807d3" providerId="ADAL" clId="{6E6BB287-36A5-4019-B86C-EECBD7B9E602}" dt="2026-10-09T07:36:35.779" v="1713" actId="1076"/>
          <ac:cxnSpMkLst>
            <pc:docMk/>
            <pc:sldMk cId="2719009366" sldId="281"/>
            <ac:cxnSpMk id="6" creationId="{00000000-0000-0000-0000-000000000000}"/>
          </ac:cxnSpMkLst>
        </pc:cxnChg>
      </pc:sldChg>
      <pc:sldChg chg="modSp mod">
        <pc:chgData name="Edson Utazi" userId="bcb3a38a-3ad0-4389-89a4-f1f4b25807d3" providerId="ADAL" clId="{6E6BB287-36A5-4019-B86C-EECBD7B9E602}" dt="2026-10-09T07:40:05.775" v="1715" actId="2711"/>
        <pc:sldMkLst>
          <pc:docMk/>
          <pc:sldMk cId="4169663102" sldId="284"/>
        </pc:sldMkLst>
        <pc:spChg chg="mod">
          <ac:chgData name="Edson Utazi" userId="bcb3a38a-3ad0-4389-89a4-f1f4b25807d3" providerId="ADAL" clId="{6E6BB287-36A5-4019-B86C-EECBD7B9E602}" dt="2026-10-09T07:32:47.046" v="1689" actId="20577"/>
          <ac:spMkLst>
            <pc:docMk/>
            <pc:sldMk cId="4169663102" sldId="284"/>
            <ac:spMk id="2" creationId="{00000000-0000-0000-0000-000000000000}"/>
          </ac:spMkLst>
        </pc:spChg>
        <pc:spChg chg="mod">
          <ac:chgData name="Edson Utazi" userId="bcb3a38a-3ad0-4389-89a4-f1f4b25807d3" providerId="ADAL" clId="{6E6BB287-36A5-4019-B86C-EECBD7B9E602}" dt="2026-10-09T07:40:05.775" v="1715" actId="2711"/>
          <ac:spMkLst>
            <pc:docMk/>
            <pc:sldMk cId="4169663102" sldId="284"/>
            <ac:spMk id="3" creationId="{00000000-0000-0000-0000-000000000000}"/>
          </ac:spMkLst>
        </pc:spChg>
      </pc:sldChg>
      <pc:sldChg chg="modSp mod">
        <pc:chgData name="Edson Utazi" userId="bcb3a38a-3ad0-4389-89a4-f1f4b25807d3" providerId="ADAL" clId="{6E6BB287-36A5-4019-B86C-EECBD7B9E602}" dt="2026-10-09T07:43:12.378" v="1732" actId="20577"/>
        <pc:sldMkLst>
          <pc:docMk/>
          <pc:sldMk cId="3118610772" sldId="285"/>
        </pc:sldMkLst>
        <pc:spChg chg="mod">
          <ac:chgData name="Edson Utazi" userId="bcb3a38a-3ad0-4389-89a4-f1f4b25807d3" providerId="ADAL" clId="{6E6BB287-36A5-4019-B86C-EECBD7B9E602}" dt="2026-10-09T07:40:20.867" v="1716" actId="2711"/>
          <ac:spMkLst>
            <pc:docMk/>
            <pc:sldMk cId="3118610772" sldId="285"/>
            <ac:spMk id="2" creationId="{00000000-0000-0000-0000-000000000000}"/>
          </ac:spMkLst>
        </pc:spChg>
        <pc:spChg chg="mod">
          <ac:chgData name="Edson Utazi" userId="bcb3a38a-3ad0-4389-89a4-f1f4b25807d3" providerId="ADAL" clId="{6E6BB287-36A5-4019-B86C-EECBD7B9E602}" dt="2026-10-09T07:43:12.378" v="1732" actId="20577"/>
          <ac:spMkLst>
            <pc:docMk/>
            <pc:sldMk cId="3118610772" sldId="285"/>
            <ac:spMk id="3" creationId="{00000000-0000-0000-0000-000000000000}"/>
          </ac:spMkLst>
        </pc:spChg>
      </pc:sldChg>
      <pc:sldChg chg="modSp mod">
        <pc:chgData name="Edson Utazi" userId="bcb3a38a-3ad0-4389-89a4-f1f4b25807d3" providerId="ADAL" clId="{6E6BB287-36A5-4019-B86C-EECBD7B9E602}" dt="2026-10-09T07:42:28.122" v="1724" actId="14100"/>
        <pc:sldMkLst>
          <pc:docMk/>
          <pc:sldMk cId="3422046313" sldId="286"/>
        </pc:sldMkLst>
        <pc:spChg chg="mod">
          <ac:chgData name="Edson Utazi" userId="bcb3a38a-3ad0-4389-89a4-f1f4b25807d3" providerId="ADAL" clId="{6E6BB287-36A5-4019-B86C-EECBD7B9E602}" dt="2026-10-09T07:42:02.722" v="1719" actId="2711"/>
          <ac:spMkLst>
            <pc:docMk/>
            <pc:sldMk cId="3422046313" sldId="286"/>
            <ac:spMk id="2" creationId="{00000000-0000-0000-0000-000000000000}"/>
          </ac:spMkLst>
        </pc:spChg>
        <pc:spChg chg="mod">
          <ac:chgData name="Edson Utazi" userId="bcb3a38a-3ad0-4389-89a4-f1f4b25807d3" providerId="ADAL" clId="{6E6BB287-36A5-4019-B86C-EECBD7B9E602}" dt="2026-10-09T07:42:28.122" v="1724" actId="14100"/>
          <ac:spMkLst>
            <pc:docMk/>
            <pc:sldMk cId="3422046313" sldId="286"/>
            <ac:spMk id="3" creationId="{00000000-0000-0000-0000-000000000000}"/>
          </ac:spMkLst>
        </pc:spChg>
      </pc:sldChg>
      <pc:sldChg chg="modSp mod">
        <pc:chgData name="Edson Utazi" userId="bcb3a38a-3ad0-4389-89a4-f1f4b25807d3" providerId="ADAL" clId="{6E6BB287-36A5-4019-B86C-EECBD7B9E602}" dt="2026-10-09T07:51:38.917" v="1747" actId="1076"/>
        <pc:sldMkLst>
          <pc:docMk/>
          <pc:sldMk cId="1835422440" sldId="287"/>
        </pc:sldMkLst>
        <pc:spChg chg="mod">
          <ac:chgData name="Edson Utazi" userId="bcb3a38a-3ad0-4389-89a4-f1f4b25807d3" providerId="ADAL" clId="{6E6BB287-36A5-4019-B86C-EECBD7B9E602}" dt="2026-10-09T07:51:38.917" v="1747" actId="1076"/>
          <ac:spMkLst>
            <pc:docMk/>
            <pc:sldMk cId="1835422440" sldId="287"/>
            <ac:spMk id="3" creationId="{00000000-0000-0000-0000-000000000000}"/>
          </ac:spMkLst>
        </pc:spChg>
        <pc:spChg chg="mod">
          <ac:chgData name="Edson Utazi" userId="bcb3a38a-3ad0-4389-89a4-f1f4b25807d3" providerId="ADAL" clId="{6E6BB287-36A5-4019-B86C-EECBD7B9E602}" dt="2026-10-09T07:51:30.268" v="1745" actId="2711"/>
          <ac:spMkLst>
            <pc:docMk/>
            <pc:sldMk cId="1835422440" sldId="287"/>
            <ac:spMk id="5" creationId="{00000000-0000-0000-0000-000000000000}"/>
          </ac:spMkLst>
        </pc:spChg>
      </pc:sldChg>
      <pc:sldChg chg="modSp mod">
        <pc:chgData name="Edson Utazi" userId="bcb3a38a-3ad0-4389-89a4-f1f4b25807d3" providerId="ADAL" clId="{6E6BB287-36A5-4019-B86C-EECBD7B9E602}" dt="2026-10-09T07:44:33.863" v="1737" actId="1076"/>
        <pc:sldMkLst>
          <pc:docMk/>
          <pc:sldMk cId="2542488215" sldId="289"/>
        </pc:sldMkLst>
        <pc:spChg chg="mod">
          <ac:chgData name="Edson Utazi" userId="bcb3a38a-3ad0-4389-89a4-f1f4b25807d3" providerId="ADAL" clId="{6E6BB287-36A5-4019-B86C-EECBD7B9E602}" dt="2026-10-09T07:44:33.863" v="1737" actId="1076"/>
          <ac:spMkLst>
            <pc:docMk/>
            <pc:sldMk cId="2542488215" sldId="289"/>
            <ac:spMk id="3" creationId="{00000000-0000-0000-0000-000000000000}"/>
          </ac:spMkLst>
        </pc:spChg>
        <pc:spChg chg="mod">
          <ac:chgData name="Edson Utazi" userId="bcb3a38a-3ad0-4389-89a4-f1f4b25807d3" providerId="ADAL" clId="{6E6BB287-36A5-4019-B86C-EECBD7B9E602}" dt="2026-10-09T07:44:23.409" v="1734" actId="2711"/>
          <ac:spMkLst>
            <pc:docMk/>
            <pc:sldMk cId="2542488215" sldId="289"/>
            <ac:spMk id="5" creationId="{00000000-0000-0000-0000-000000000000}"/>
          </ac:spMkLst>
        </pc:spChg>
      </pc:sldChg>
      <pc:sldChg chg="modSp mod ord">
        <pc:chgData name="Edson Utazi" userId="bcb3a38a-3ad0-4389-89a4-f1f4b25807d3" providerId="ADAL" clId="{6E6BB287-36A5-4019-B86C-EECBD7B9E602}" dt="2026-10-09T07:50:59.559" v="1744"/>
        <pc:sldMkLst>
          <pc:docMk/>
          <pc:sldMk cId="1526790859" sldId="290"/>
        </pc:sldMkLst>
        <pc:spChg chg="mod">
          <ac:chgData name="Edson Utazi" userId="bcb3a38a-3ad0-4389-89a4-f1f4b25807d3" providerId="ADAL" clId="{6E6BB287-36A5-4019-B86C-EECBD7B9E602}" dt="2026-10-09T07:48:13.693" v="1742" actId="1076"/>
          <ac:spMkLst>
            <pc:docMk/>
            <pc:sldMk cId="1526790859" sldId="290"/>
            <ac:spMk id="3" creationId="{00000000-0000-0000-0000-000000000000}"/>
          </ac:spMkLst>
        </pc:spChg>
        <pc:spChg chg="mod">
          <ac:chgData name="Edson Utazi" userId="bcb3a38a-3ad0-4389-89a4-f1f4b25807d3" providerId="ADAL" clId="{6E6BB287-36A5-4019-B86C-EECBD7B9E602}" dt="2026-10-09T07:48:01.025" v="1740" actId="2711"/>
          <ac:spMkLst>
            <pc:docMk/>
            <pc:sldMk cId="1526790859" sldId="290"/>
            <ac:spMk id="5" creationId="{00000000-0000-0000-0000-000000000000}"/>
          </ac:spMkLst>
        </pc:spChg>
      </pc:sldChg>
      <pc:sldChg chg="modSp mod">
        <pc:chgData name="Edson Utazi" userId="bcb3a38a-3ad0-4389-89a4-f1f4b25807d3" providerId="ADAL" clId="{6E6BB287-36A5-4019-B86C-EECBD7B9E602}" dt="2026-10-09T07:58:24.330" v="1873" actId="20577"/>
        <pc:sldMkLst>
          <pc:docMk/>
          <pc:sldMk cId="1364256029" sldId="291"/>
        </pc:sldMkLst>
        <pc:spChg chg="mod">
          <ac:chgData name="Edson Utazi" userId="bcb3a38a-3ad0-4389-89a4-f1f4b25807d3" providerId="ADAL" clId="{6E6BB287-36A5-4019-B86C-EECBD7B9E602}" dt="2026-10-09T07:58:24.330" v="1873" actId="20577"/>
          <ac:spMkLst>
            <pc:docMk/>
            <pc:sldMk cId="1364256029" sldId="291"/>
            <ac:spMk id="3" creationId="{00000000-0000-0000-0000-000000000000}"/>
          </ac:spMkLst>
        </pc:spChg>
        <pc:spChg chg="mod">
          <ac:chgData name="Edson Utazi" userId="bcb3a38a-3ad0-4389-89a4-f1f4b25807d3" providerId="ADAL" clId="{6E6BB287-36A5-4019-B86C-EECBD7B9E602}" dt="2026-10-09T07:52:29.478" v="1749" actId="1076"/>
          <ac:spMkLst>
            <pc:docMk/>
            <pc:sldMk cId="1364256029" sldId="291"/>
            <ac:spMk id="5" creationId="{00000000-0000-0000-0000-000000000000}"/>
          </ac:spMkLst>
        </pc:spChg>
      </pc:sldChg>
      <pc:sldChg chg="modSp mod">
        <pc:chgData name="Edson Utazi" userId="bcb3a38a-3ad0-4389-89a4-f1f4b25807d3" providerId="ADAL" clId="{6E6BB287-36A5-4019-B86C-EECBD7B9E602}" dt="2026-10-09T08:07:52.175" v="1886" actId="1076"/>
        <pc:sldMkLst>
          <pc:docMk/>
          <pc:sldMk cId="3032573795" sldId="292"/>
        </pc:sldMkLst>
        <pc:spChg chg="mod">
          <ac:chgData name="Edson Utazi" userId="bcb3a38a-3ad0-4389-89a4-f1f4b25807d3" providerId="ADAL" clId="{6E6BB287-36A5-4019-B86C-EECBD7B9E602}" dt="2026-10-09T08:07:52.175" v="1886" actId="1076"/>
          <ac:spMkLst>
            <pc:docMk/>
            <pc:sldMk cId="3032573795" sldId="292"/>
            <ac:spMk id="2" creationId="{00000000-0000-0000-0000-000000000000}"/>
          </ac:spMkLst>
        </pc:spChg>
        <pc:spChg chg="mod">
          <ac:chgData name="Edson Utazi" userId="bcb3a38a-3ad0-4389-89a4-f1f4b25807d3" providerId="ADAL" clId="{6E6BB287-36A5-4019-B86C-EECBD7B9E602}" dt="2026-10-09T08:07:17.500" v="1885" actId="114"/>
          <ac:spMkLst>
            <pc:docMk/>
            <pc:sldMk cId="3032573795" sldId="292"/>
            <ac:spMk id="3" creationId="{00000000-0000-0000-0000-000000000000}"/>
          </ac:spMkLst>
        </pc:spChg>
        <pc:spChg chg="mod">
          <ac:chgData name="Edson Utazi" userId="bcb3a38a-3ad0-4389-89a4-f1f4b25807d3" providerId="ADAL" clId="{6E6BB287-36A5-4019-B86C-EECBD7B9E602}" dt="2026-09-23T12:55:39.736" v="207" actId="20577"/>
          <ac:spMkLst>
            <pc:docMk/>
            <pc:sldMk cId="3032573795" sldId="292"/>
            <ac:spMk id="9" creationId="{074B837C-3C78-16D2-9913-55CBFE64FB63}"/>
          </ac:spMkLst>
        </pc:spChg>
      </pc:sldChg>
      <pc:sldChg chg="modSp mod">
        <pc:chgData name="Edson Utazi" userId="bcb3a38a-3ad0-4389-89a4-f1f4b25807d3" providerId="ADAL" clId="{6E6BB287-36A5-4019-B86C-EECBD7B9E602}" dt="2026-10-09T08:09:47.547" v="1904" actId="2711"/>
        <pc:sldMkLst>
          <pc:docMk/>
          <pc:sldMk cId="705726538" sldId="293"/>
        </pc:sldMkLst>
        <pc:spChg chg="mod">
          <ac:chgData name="Edson Utazi" userId="bcb3a38a-3ad0-4389-89a4-f1f4b25807d3" providerId="ADAL" clId="{6E6BB287-36A5-4019-B86C-EECBD7B9E602}" dt="2026-10-09T08:09:47.547" v="1904" actId="2711"/>
          <ac:spMkLst>
            <pc:docMk/>
            <pc:sldMk cId="705726538" sldId="293"/>
            <ac:spMk id="3" creationId="{00000000-0000-0000-0000-000000000000}"/>
          </ac:spMkLst>
        </pc:spChg>
        <pc:spChg chg="mod">
          <ac:chgData name="Edson Utazi" userId="bcb3a38a-3ad0-4389-89a4-f1f4b25807d3" providerId="ADAL" clId="{6E6BB287-36A5-4019-B86C-EECBD7B9E602}" dt="2026-10-09T08:09:42.329" v="1903" actId="1076"/>
          <ac:spMkLst>
            <pc:docMk/>
            <pc:sldMk cId="705726538" sldId="293"/>
            <ac:spMk id="5" creationId="{00000000-0000-0000-0000-000000000000}"/>
          </ac:spMkLst>
        </pc:spChg>
      </pc:sldChg>
      <pc:sldChg chg="modSp mod">
        <pc:chgData name="Edson Utazi" userId="bcb3a38a-3ad0-4389-89a4-f1f4b25807d3" providerId="ADAL" clId="{6E6BB287-36A5-4019-B86C-EECBD7B9E602}" dt="2026-10-09T08:08:41.390" v="1898" actId="114"/>
        <pc:sldMkLst>
          <pc:docMk/>
          <pc:sldMk cId="3418948780" sldId="294"/>
        </pc:sldMkLst>
        <pc:spChg chg="mod">
          <ac:chgData name="Edson Utazi" userId="bcb3a38a-3ad0-4389-89a4-f1f4b25807d3" providerId="ADAL" clId="{6E6BB287-36A5-4019-B86C-EECBD7B9E602}" dt="2026-10-09T08:08:25.164" v="1893" actId="255"/>
          <ac:spMkLst>
            <pc:docMk/>
            <pc:sldMk cId="3418948780" sldId="294"/>
            <ac:spMk id="2" creationId="{00000000-0000-0000-0000-000000000000}"/>
          </ac:spMkLst>
        </pc:spChg>
        <pc:spChg chg="mod">
          <ac:chgData name="Edson Utazi" userId="bcb3a38a-3ad0-4389-89a4-f1f4b25807d3" providerId="ADAL" clId="{6E6BB287-36A5-4019-B86C-EECBD7B9E602}" dt="2026-10-09T08:08:41.390" v="1898" actId="114"/>
          <ac:spMkLst>
            <pc:docMk/>
            <pc:sldMk cId="3418948780" sldId="294"/>
            <ac:spMk id="3" creationId="{00000000-0000-0000-0000-000000000000}"/>
          </ac:spMkLst>
        </pc:spChg>
      </pc:sldChg>
      <pc:sldChg chg="modSp mod">
        <pc:chgData name="Edson Utazi" userId="bcb3a38a-3ad0-4389-89a4-f1f4b25807d3" providerId="ADAL" clId="{6E6BB287-36A5-4019-B86C-EECBD7B9E602}" dt="2026-10-09T08:11:25.021" v="1913" actId="1076"/>
        <pc:sldMkLst>
          <pc:docMk/>
          <pc:sldMk cId="3403134666" sldId="295"/>
        </pc:sldMkLst>
        <pc:spChg chg="mod">
          <ac:chgData name="Edson Utazi" userId="bcb3a38a-3ad0-4389-89a4-f1f4b25807d3" providerId="ADAL" clId="{6E6BB287-36A5-4019-B86C-EECBD7B9E602}" dt="2026-10-09T08:11:25.021" v="1913" actId="1076"/>
          <ac:spMkLst>
            <pc:docMk/>
            <pc:sldMk cId="3403134666" sldId="295"/>
            <ac:spMk id="2" creationId="{00000000-0000-0000-0000-000000000000}"/>
          </ac:spMkLst>
        </pc:spChg>
        <pc:spChg chg="mod">
          <ac:chgData name="Edson Utazi" userId="bcb3a38a-3ad0-4389-89a4-f1f4b25807d3" providerId="ADAL" clId="{6E6BB287-36A5-4019-B86C-EECBD7B9E602}" dt="2026-10-09T08:11:09.567" v="1912" actId="2711"/>
          <ac:spMkLst>
            <pc:docMk/>
            <pc:sldMk cId="3403134666" sldId="295"/>
            <ac:spMk id="3" creationId="{00000000-0000-0000-0000-000000000000}"/>
          </ac:spMkLst>
        </pc:spChg>
        <pc:spChg chg="mod">
          <ac:chgData name="Edson Utazi" userId="bcb3a38a-3ad0-4389-89a4-f1f4b25807d3" providerId="ADAL" clId="{6E6BB287-36A5-4019-B86C-EECBD7B9E602}" dt="2026-10-09T08:10:57.983" v="1909" actId="1076"/>
          <ac:spMkLst>
            <pc:docMk/>
            <pc:sldMk cId="3403134666" sldId="295"/>
            <ac:spMk id="6" creationId="{00000000-0000-0000-0000-000000000000}"/>
          </ac:spMkLst>
        </pc:spChg>
      </pc:sldChg>
      <pc:sldChg chg="modSp mod">
        <pc:chgData name="Edson Utazi" userId="bcb3a38a-3ad0-4389-89a4-f1f4b25807d3" providerId="ADAL" clId="{6E6BB287-36A5-4019-B86C-EECBD7B9E602}" dt="2026-10-09T08:11:53.353" v="1919" actId="2711"/>
        <pc:sldMkLst>
          <pc:docMk/>
          <pc:sldMk cId="105770221" sldId="296"/>
        </pc:sldMkLst>
        <pc:spChg chg="mod">
          <ac:chgData name="Edson Utazi" userId="bcb3a38a-3ad0-4389-89a4-f1f4b25807d3" providerId="ADAL" clId="{6E6BB287-36A5-4019-B86C-EECBD7B9E602}" dt="2026-10-09T08:11:46.867" v="1918" actId="1076"/>
          <ac:spMkLst>
            <pc:docMk/>
            <pc:sldMk cId="105770221" sldId="296"/>
            <ac:spMk id="2" creationId="{00000000-0000-0000-0000-000000000000}"/>
          </ac:spMkLst>
        </pc:spChg>
        <pc:spChg chg="mod">
          <ac:chgData name="Edson Utazi" userId="bcb3a38a-3ad0-4389-89a4-f1f4b25807d3" providerId="ADAL" clId="{6E6BB287-36A5-4019-B86C-EECBD7B9E602}" dt="2026-10-09T08:11:53.353" v="1919" actId="2711"/>
          <ac:spMkLst>
            <pc:docMk/>
            <pc:sldMk cId="105770221" sldId="296"/>
            <ac:spMk id="3" creationId="{00000000-0000-0000-0000-000000000000}"/>
          </ac:spMkLst>
        </pc:spChg>
      </pc:sldChg>
      <pc:sldChg chg="modSp mod">
        <pc:chgData name="Edson Utazi" userId="bcb3a38a-3ad0-4389-89a4-f1f4b25807d3" providerId="ADAL" clId="{6E6BB287-36A5-4019-B86C-EECBD7B9E602}" dt="2026-10-09T08:16:03.473" v="1928" actId="1076"/>
        <pc:sldMkLst>
          <pc:docMk/>
          <pc:sldMk cId="2708555460" sldId="297"/>
        </pc:sldMkLst>
        <pc:spChg chg="mod">
          <ac:chgData name="Edson Utazi" userId="bcb3a38a-3ad0-4389-89a4-f1f4b25807d3" providerId="ADAL" clId="{6E6BB287-36A5-4019-B86C-EECBD7B9E602}" dt="2026-10-09T08:15:53.485" v="1926" actId="1076"/>
          <ac:spMkLst>
            <pc:docMk/>
            <pc:sldMk cId="2708555460" sldId="297"/>
            <ac:spMk id="2" creationId="{00000000-0000-0000-0000-000000000000}"/>
          </ac:spMkLst>
        </pc:spChg>
        <pc:spChg chg="mod">
          <ac:chgData name="Edson Utazi" userId="bcb3a38a-3ad0-4389-89a4-f1f4b25807d3" providerId="ADAL" clId="{6E6BB287-36A5-4019-B86C-EECBD7B9E602}" dt="2026-10-09T08:16:03.473" v="1928" actId="1076"/>
          <ac:spMkLst>
            <pc:docMk/>
            <pc:sldMk cId="2708555460" sldId="297"/>
            <ac:spMk id="3" creationId="{00000000-0000-0000-0000-000000000000}"/>
          </ac:spMkLst>
        </pc:spChg>
      </pc:sldChg>
      <pc:sldChg chg="modSp mod">
        <pc:chgData name="Edson Utazi" userId="bcb3a38a-3ad0-4389-89a4-f1f4b25807d3" providerId="ADAL" clId="{6E6BB287-36A5-4019-B86C-EECBD7B9E602}" dt="2026-10-09T08:15:24.641" v="1924" actId="1076"/>
        <pc:sldMkLst>
          <pc:docMk/>
          <pc:sldMk cId="1309086513" sldId="300"/>
        </pc:sldMkLst>
        <pc:spChg chg="mod">
          <ac:chgData name="Edson Utazi" userId="bcb3a38a-3ad0-4389-89a4-f1f4b25807d3" providerId="ADAL" clId="{6E6BB287-36A5-4019-B86C-EECBD7B9E602}" dt="2026-10-09T08:15:24.641" v="1924" actId="1076"/>
          <ac:spMkLst>
            <pc:docMk/>
            <pc:sldMk cId="1309086513" sldId="300"/>
            <ac:spMk id="3" creationId="{00000000-0000-0000-0000-000000000000}"/>
          </ac:spMkLst>
        </pc:spChg>
        <pc:spChg chg="mod">
          <ac:chgData name="Edson Utazi" userId="bcb3a38a-3ad0-4389-89a4-f1f4b25807d3" providerId="ADAL" clId="{6E6BB287-36A5-4019-B86C-EECBD7B9E602}" dt="2026-10-09T08:15:16.429" v="1921" actId="1076"/>
          <ac:spMkLst>
            <pc:docMk/>
            <pc:sldMk cId="1309086513" sldId="300"/>
            <ac:spMk id="4" creationId="{00000000-0000-0000-0000-000000000000}"/>
          </ac:spMkLst>
        </pc:spChg>
      </pc:sldChg>
      <pc:sldChg chg="modSp mod">
        <pc:chgData name="Edson Utazi" userId="bcb3a38a-3ad0-4389-89a4-f1f4b25807d3" providerId="ADAL" clId="{6E6BB287-36A5-4019-B86C-EECBD7B9E602}" dt="2026-10-09T08:21:58.541" v="1969" actId="1076"/>
        <pc:sldMkLst>
          <pc:docMk/>
          <pc:sldMk cId="1497378320" sldId="301"/>
        </pc:sldMkLst>
        <pc:spChg chg="mod">
          <ac:chgData name="Edson Utazi" userId="bcb3a38a-3ad0-4389-89a4-f1f4b25807d3" providerId="ADAL" clId="{6E6BB287-36A5-4019-B86C-EECBD7B9E602}" dt="2026-10-09T08:19:00.274" v="1962" actId="1076"/>
          <ac:spMkLst>
            <pc:docMk/>
            <pc:sldMk cId="1497378320" sldId="301"/>
            <ac:spMk id="3" creationId="{00000000-0000-0000-0000-000000000000}"/>
          </ac:spMkLst>
        </pc:spChg>
        <pc:spChg chg="mod">
          <ac:chgData name="Edson Utazi" userId="bcb3a38a-3ad0-4389-89a4-f1f4b25807d3" providerId="ADAL" clId="{6E6BB287-36A5-4019-B86C-EECBD7B9E602}" dt="2026-10-09T08:21:58.541" v="1969" actId="1076"/>
          <ac:spMkLst>
            <pc:docMk/>
            <pc:sldMk cId="1497378320" sldId="301"/>
            <ac:spMk id="5" creationId="{00000000-0000-0000-0000-000000000000}"/>
          </ac:spMkLst>
        </pc:spChg>
      </pc:sldChg>
      <pc:sldChg chg="modSp mod">
        <pc:chgData name="Edson Utazi" userId="bcb3a38a-3ad0-4389-89a4-f1f4b25807d3" providerId="ADAL" clId="{6E6BB287-36A5-4019-B86C-EECBD7B9E602}" dt="2026-10-09T08:22:43.293" v="1984" actId="1076"/>
        <pc:sldMkLst>
          <pc:docMk/>
          <pc:sldMk cId="392639040" sldId="302"/>
        </pc:sldMkLst>
        <pc:spChg chg="mod">
          <ac:chgData name="Edson Utazi" userId="bcb3a38a-3ad0-4389-89a4-f1f4b25807d3" providerId="ADAL" clId="{6E6BB287-36A5-4019-B86C-EECBD7B9E602}" dt="2026-10-09T08:22:43.293" v="1984" actId="1076"/>
          <ac:spMkLst>
            <pc:docMk/>
            <pc:sldMk cId="392639040" sldId="302"/>
            <ac:spMk id="3" creationId="{00000000-0000-0000-0000-000000000000}"/>
          </ac:spMkLst>
        </pc:spChg>
        <pc:spChg chg="mod">
          <ac:chgData name="Edson Utazi" userId="bcb3a38a-3ad0-4389-89a4-f1f4b25807d3" providerId="ADAL" clId="{6E6BB287-36A5-4019-B86C-EECBD7B9E602}" dt="2026-10-09T08:22:22.556" v="1971" actId="1076"/>
          <ac:spMkLst>
            <pc:docMk/>
            <pc:sldMk cId="392639040" sldId="302"/>
            <ac:spMk id="5" creationId="{00000000-0000-0000-0000-000000000000}"/>
          </ac:spMkLst>
        </pc:spChg>
      </pc:sldChg>
      <pc:sldChg chg="modSp mod">
        <pc:chgData name="Edson Utazi" userId="bcb3a38a-3ad0-4389-89a4-f1f4b25807d3" providerId="ADAL" clId="{6E6BB287-36A5-4019-B86C-EECBD7B9E602}" dt="2026-10-09T08:26:05.573" v="1988" actId="1076"/>
        <pc:sldMkLst>
          <pc:docMk/>
          <pc:sldMk cId="2425064327" sldId="303"/>
        </pc:sldMkLst>
        <pc:spChg chg="mod">
          <ac:chgData name="Edson Utazi" userId="bcb3a38a-3ad0-4389-89a4-f1f4b25807d3" providerId="ADAL" clId="{6E6BB287-36A5-4019-B86C-EECBD7B9E602}" dt="2026-10-09T08:26:05.573" v="1988" actId="1076"/>
          <ac:spMkLst>
            <pc:docMk/>
            <pc:sldMk cId="2425064327" sldId="303"/>
            <ac:spMk id="3" creationId="{00000000-0000-0000-0000-000000000000}"/>
          </ac:spMkLst>
        </pc:spChg>
        <pc:spChg chg="mod">
          <ac:chgData name="Edson Utazi" userId="bcb3a38a-3ad0-4389-89a4-f1f4b25807d3" providerId="ADAL" clId="{6E6BB287-36A5-4019-B86C-EECBD7B9E602}" dt="2026-10-09T08:25:56.706" v="1986" actId="1076"/>
          <ac:spMkLst>
            <pc:docMk/>
            <pc:sldMk cId="2425064327" sldId="303"/>
            <ac:spMk id="5" creationId="{00000000-0000-0000-0000-000000000000}"/>
          </ac:spMkLst>
        </pc:spChg>
      </pc:sldChg>
      <pc:sldChg chg="modSp mod">
        <pc:chgData name="Edson Utazi" userId="bcb3a38a-3ad0-4389-89a4-f1f4b25807d3" providerId="ADAL" clId="{6E6BB287-36A5-4019-B86C-EECBD7B9E602}" dt="2026-10-09T08:26:41.586" v="1992" actId="1076"/>
        <pc:sldMkLst>
          <pc:docMk/>
          <pc:sldMk cId="3276533064" sldId="304"/>
        </pc:sldMkLst>
        <pc:spChg chg="mod">
          <ac:chgData name="Edson Utazi" userId="bcb3a38a-3ad0-4389-89a4-f1f4b25807d3" providerId="ADAL" clId="{6E6BB287-36A5-4019-B86C-EECBD7B9E602}" dt="2026-10-09T08:26:41.586" v="1992" actId="1076"/>
          <ac:spMkLst>
            <pc:docMk/>
            <pc:sldMk cId="3276533064" sldId="304"/>
            <ac:spMk id="3" creationId="{00000000-0000-0000-0000-000000000000}"/>
          </ac:spMkLst>
        </pc:spChg>
        <pc:spChg chg="mod">
          <ac:chgData name="Edson Utazi" userId="bcb3a38a-3ad0-4389-89a4-f1f4b25807d3" providerId="ADAL" clId="{6E6BB287-36A5-4019-B86C-EECBD7B9E602}" dt="2026-10-09T08:26:33.336" v="1990" actId="1076"/>
          <ac:spMkLst>
            <pc:docMk/>
            <pc:sldMk cId="3276533064" sldId="304"/>
            <ac:spMk id="5" creationId="{00000000-0000-0000-0000-000000000000}"/>
          </ac:spMkLst>
        </pc:spChg>
      </pc:sldChg>
      <pc:sldChg chg="modSp mod">
        <pc:chgData name="Edson Utazi" userId="bcb3a38a-3ad0-4389-89a4-f1f4b25807d3" providerId="ADAL" clId="{6E6BB287-36A5-4019-B86C-EECBD7B9E602}" dt="2026-10-09T08:29:55.201" v="2003" actId="14100"/>
        <pc:sldMkLst>
          <pc:docMk/>
          <pc:sldMk cId="2664391630" sldId="305"/>
        </pc:sldMkLst>
        <pc:spChg chg="mod">
          <ac:chgData name="Edson Utazi" userId="bcb3a38a-3ad0-4389-89a4-f1f4b25807d3" providerId="ADAL" clId="{6E6BB287-36A5-4019-B86C-EECBD7B9E602}" dt="2026-10-09T08:29:55.201" v="2003" actId="14100"/>
          <ac:spMkLst>
            <pc:docMk/>
            <pc:sldMk cId="2664391630" sldId="305"/>
            <ac:spMk id="3" creationId="{00000000-0000-0000-0000-000000000000}"/>
          </ac:spMkLst>
        </pc:spChg>
        <pc:spChg chg="mod">
          <ac:chgData name="Edson Utazi" userId="bcb3a38a-3ad0-4389-89a4-f1f4b25807d3" providerId="ADAL" clId="{6E6BB287-36A5-4019-B86C-EECBD7B9E602}" dt="2026-09-23T14:11:17.932" v="748" actId="20577"/>
          <ac:spMkLst>
            <pc:docMk/>
            <pc:sldMk cId="2664391630" sldId="305"/>
            <ac:spMk id="5" creationId="{00000000-0000-0000-0000-000000000000}"/>
          </ac:spMkLst>
        </pc:spChg>
        <pc:spChg chg="mod">
          <ac:chgData name="Edson Utazi" userId="bcb3a38a-3ad0-4389-89a4-f1f4b25807d3" providerId="ADAL" clId="{6E6BB287-36A5-4019-B86C-EECBD7B9E602}" dt="2026-10-09T08:29:47.902" v="2001" actId="1076"/>
          <ac:spMkLst>
            <pc:docMk/>
            <pc:sldMk cId="2664391630" sldId="305"/>
            <ac:spMk id="7" creationId="{00000000-0000-0000-0000-000000000000}"/>
          </ac:spMkLst>
        </pc:spChg>
        <pc:spChg chg="mod">
          <ac:chgData name="Edson Utazi" userId="bcb3a38a-3ad0-4389-89a4-f1f4b25807d3" providerId="ADAL" clId="{6E6BB287-36A5-4019-B86C-EECBD7B9E602}" dt="2026-10-09T08:29:29.865" v="1998" actId="1076"/>
          <ac:spMkLst>
            <pc:docMk/>
            <pc:sldMk cId="2664391630" sldId="305"/>
            <ac:spMk id="9" creationId="{00000000-0000-0000-0000-000000000000}"/>
          </ac:spMkLst>
        </pc:spChg>
        <pc:picChg chg="mod">
          <ac:chgData name="Edson Utazi" userId="bcb3a38a-3ad0-4389-89a4-f1f4b25807d3" providerId="ADAL" clId="{6E6BB287-36A5-4019-B86C-EECBD7B9E602}" dt="2026-09-23T14:11:33.597" v="749" actId="1076"/>
          <ac:picMkLst>
            <pc:docMk/>
            <pc:sldMk cId="2664391630" sldId="305"/>
            <ac:picMk id="8" creationId="{00000000-0000-0000-0000-000000000000}"/>
          </ac:picMkLst>
        </pc:picChg>
      </pc:sldChg>
      <pc:sldChg chg="modSp mod">
        <pc:chgData name="Edson Utazi" userId="bcb3a38a-3ad0-4389-89a4-f1f4b25807d3" providerId="ADAL" clId="{6E6BB287-36A5-4019-B86C-EECBD7B9E602}" dt="2026-10-09T08:46:21.370" v="2160" actId="1076"/>
        <pc:sldMkLst>
          <pc:docMk/>
          <pc:sldMk cId="230909254" sldId="306"/>
        </pc:sldMkLst>
        <pc:spChg chg="mod">
          <ac:chgData name="Edson Utazi" userId="bcb3a38a-3ad0-4389-89a4-f1f4b25807d3" providerId="ADAL" clId="{6E6BB287-36A5-4019-B86C-EECBD7B9E602}" dt="2026-10-09T08:46:05.499" v="2159" actId="1076"/>
          <ac:spMkLst>
            <pc:docMk/>
            <pc:sldMk cId="230909254" sldId="306"/>
            <ac:spMk id="2" creationId="{00000000-0000-0000-0000-000000000000}"/>
          </ac:spMkLst>
        </pc:spChg>
        <pc:spChg chg="mod">
          <ac:chgData name="Edson Utazi" userId="bcb3a38a-3ad0-4389-89a4-f1f4b25807d3" providerId="ADAL" clId="{6E6BB287-36A5-4019-B86C-EECBD7B9E602}" dt="2026-10-09T08:45:45.616" v="2152" actId="1076"/>
          <ac:spMkLst>
            <pc:docMk/>
            <pc:sldMk cId="230909254" sldId="306"/>
            <ac:spMk id="7" creationId="{00000000-0000-0000-0000-000000000000}"/>
          </ac:spMkLst>
        </pc:spChg>
        <pc:picChg chg="mod">
          <ac:chgData name="Edson Utazi" userId="bcb3a38a-3ad0-4389-89a4-f1f4b25807d3" providerId="ADAL" clId="{6E6BB287-36A5-4019-B86C-EECBD7B9E602}" dt="2026-10-09T08:46:21.370" v="2160" actId="1076"/>
          <ac:picMkLst>
            <pc:docMk/>
            <pc:sldMk cId="230909254" sldId="306"/>
            <ac:picMk id="5" creationId="{00000000-0000-0000-0000-000000000000}"/>
          </ac:picMkLst>
        </pc:picChg>
      </pc:sldChg>
      <pc:sldChg chg="modSp mod">
        <pc:chgData name="Edson Utazi" userId="bcb3a38a-3ad0-4389-89a4-f1f4b25807d3" providerId="ADAL" clId="{6E6BB287-36A5-4019-B86C-EECBD7B9E602}" dt="2026-10-09T08:33:36.024" v="2011" actId="1076"/>
        <pc:sldMkLst>
          <pc:docMk/>
          <pc:sldMk cId="1949786267" sldId="307"/>
        </pc:sldMkLst>
        <pc:spChg chg="mod">
          <ac:chgData name="Edson Utazi" userId="bcb3a38a-3ad0-4389-89a4-f1f4b25807d3" providerId="ADAL" clId="{6E6BB287-36A5-4019-B86C-EECBD7B9E602}" dt="2026-10-09T08:33:36.024" v="2011" actId="1076"/>
          <ac:spMkLst>
            <pc:docMk/>
            <pc:sldMk cId="1949786267" sldId="307"/>
            <ac:spMk id="4" creationId="{00000000-0000-0000-0000-000000000000}"/>
          </ac:spMkLst>
        </pc:spChg>
        <pc:spChg chg="mod">
          <ac:chgData name="Edson Utazi" userId="bcb3a38a-3ad0-4389-89a4-f1f4b25807d3" providerId="ADAL" clId="{6E6BB287-36A5-4019-B86C-EECBD7B9E602}" dt="2026-10-09T08:32:57.454" v="2005" actId="1076"/>
          <ac:spMkLst>
            <pc:docMk/>
            <pc:sldMk cId="1949786267" sldId="307"/>
            <ac:spMk id="6" creationId="{00000000-0000-0000-0000-000000000000}"/>
          </ac:spMkLst>
        </pc:spChg>
        <pc:picChg chg="mod">
          <ac:chgData name="Edson Utazi" userId="bcb3a38a-3ad0-4389-89a4-f1f4b25807d3" providerId="ADAL" clId="{6E6BB287-36A5-4019-B86C-EECBD7B9E602}" dt="2026-09-23T08:36:28.933" v="32" actId="1035"/>
          <ac:picMkLst>
            <pc:docMk/>
            <pc:sldMk cId="1949786267" sldId="307"/>
            <ac:picMk id="2" creationId="{00000000-0000-0000-0000-000000000000}"/>
          </ac:picMkLst>
        </pc:picChg>
        <pc:picChg chg="mod">
          <ac:chgData name="Edson Utazi" userId="bcb3a38a-3ad0-4389-89a4-f1f4b25807d3" providerId="ADAL" clId="{6E6BB287-36A5-4019-B86C-EECBD7B9E602}" dt="2026-09-23T08:36:28.933" v="32" actId="1035"/>
          <ac:picMkLst>
            <pc:docMk/>
            <pc:sldMk cId="1949786267" sldId="307"/>
            <ac:picMk id="7" creationId="{00000000-0000-0000-0000-000000000000}"/>
          </ac:picMkLst>
        </pc:picChg>
      </pc:sldChg>
      <pc:sldChg chg="modSp mod">
        <pc:chgData name="Edson Utazi" userId="bcb3a38a-3ad0-4389-89a4-f1f4b25807d3" providerId="ADAL" clId="{6E6BB287-36A5-4019-B86C-EECBD7B9E602}" dt="2026-10-09T08:42:21.704" v="2127" actId="27636"/>
        <pc:sldMkLst>
          <pc:docMk/>
          <pc:sldMk cId="1769372631" sldId="310"/>
        </pc:sldMkLst>
        <pc:spChg chg="mod">
          <ac:chgData name="Edson Utazi" userId="bcb3a38a-3ad0-4389-89a4-f1f4b25807d3" providerId="ADAL" clId="{6E6BB287-36A5-4019-B86C-EECBD7B9E602}" dt="2026-10-09T08:36:31.443" v="2020" actId="1076"/>
          <ac:spMkLst>
            <pc:docMk/>
            <pc:sldMk cId="1769372631" sldId="310"/>
            <ac:spMk id="2" creationId="{00000000-0000-0000-0000-000000000000}"/>
          </ac:spMkLst>
        </pc:spChg>
        <pc:spChg chg="mod">
          <ac:chgData name="Edson Utazi" userId="bcb3a38a-3ad0-4389-89a4-f1f4b25807d3" providerId="ADAL" clId="{6E6BB287-36A5-4019-B86C-EECBD7B9E602}" dt="2026-10-09T08:42:21.704" v="2127" actId="27636"/>
          <ac:spMkLst>
            <pc:docMk/>
            <pc:sldMk cId="1769372631" sldId="310"/>
            <ac:spMk id="3" creationId="{00000000-0000-0000-0000-000000000000}"/>
          </ac:spMkLst>
        </pc:spChg>
      </pc:sldChg>
      <pc:sldChg chg="modSp mod">
        <pc:chgData name="Edson Utazi" userId="bcb3a38a-3ad0-4389-89a4-f1f4b25807d3" providerId="ADAL" clId="{6E6BB287-36A5-4019-B86C-EECBD7B9E602}" dt="2026-10-09T08:44:32.121" v="2140" actId="1076"/>
        <pc:sldMkLst>
          <pc:docMk/>
          <pc:sldMk cId="136864364" sldId="311"/>
        </pc:sldMkLst>
        <pc:spChg chg="mod">
          <ac:chgData name="Edson Utazi" userId="bcb3a38a-3ad0-4389-89a4-f1f4b25807d3" providerId="ADAL" clId="{6E6BB287-36A5-4019-B86C-EECBD7B9E602}" dt="2026-10-09T08:44:25.039" v="2137" actId="1076"/>
          <ac:spMkLst>
            <pc:docMk/>
            <pc:sldMk cId="136864364" sldId="311"/>
            <ac:spMk id="3" creationId="{00000000-0000-0000-0000-000000000000}"/>
          </ac:spMkLst>
        </pc:spChg>
        <pc:spChg chg="mod">
          <ac:chgData name="Edson Utazi" userId="bcb3a38a-3ad0-4389-89a4-f1f4b25807d3" providerId="ADAL" clId="{6E6BB287-36A5-4019-B86C-EECBD7B9E602}" dt="2026-10-09T08:44:29.783" v="2139" actId="1076"/>
          <ac:spMkLst>
            <pc:docMk/>
            <pc:sldMk cId="136864364" sldId="311"/>
            <ac:spMk id="6" creationId="{00000000-0000-0000-0000-000000000000}"/>
          </ac:spMkLst>
        </pc:spChg>
        <pc:spChg chg="mod">
          <ac:chgData name="Edson Utazi" userId="bcb3a38a-3ad0-4389-89a4-f1f4b25807d3" providerId="ADAL" clId="{6E6BB287-36A5-4019-B86C-EECBD7B9E602}" dt="2026-10-09T08:44:18.020" v="2135" actId="1076"/>
          <ac:spMkLst>
            <pc:docMk/>
            <pc:sldMk cId="136864364" sldId="311"/>
            <ac:spMk id="7" creationId="{00000000-0000-0000-0000-000000000000}"/>
          </ac:spMkLst>
        </pc:spChg>
        <pc:picChg chg="mod">
          <ac:chgData name="Edson Utazi" userId="bcb3a38a-3ad0-4389-89a4-f1f4b25807d3" providerId="ADAL" clId="{6E6BB287-36A5-4019-B86C-EECBD7B9E602}" dt="2026-10-09T08:44:32.121" v="2140" actId="1076"/>
          <ac:picMkLst>
            <pc:docMk/>
            <pc:sldMk cId="136864364" sldId="311"/>
            <ac:picMk id="5" creationId="{00000000-0000-0000-0000-000000000000}"/>
          </ac:picMkLst>
        </pc:picChg>
      </pc:sldChg>
      <pc:sldChg chg="modSp mod">
        <pc:chgData name="Edson Utazi" userId="bcb3a38a-3ad0-4389-89a4-f1f4b25807d3" providerId="ADAL" clId="{6E6BB287-36A5-4019-B86C-EECBD7B9E602}" dt="2026-10-09T08:28:47.711" v="1996" actId="1076"/>
        <pc:sldMkLst>
          <pc:docMk/>
          <pc:sldMk cId="1801415014" sldId="312"/>
        </pc:sldMkLst>
        <pc:spChg chg="mod">
          <ac:chgData name="Edson Utazi" userId="bcb3a38a-3ad0-4389-89a4-f1f4b25807d3" providerId="ADAL" clId="{6E6BB287-36A5-4019-B86C-EECBD7B9E602}" dt="2026-10-09T08:28:47.711" v="1996" actId="1076"/>
          <ac:spMkLst>
            <pc:docMk/>
            <pc:sldMk cId="1801415014" sldId="312"/>
            <ac:spMk id="3" creationId="{00000000-0000-0000-0000-000000000000}"/>
          </ac:spMkLst>
        </pc:spChg>
        <pc:spChg chg="mod">
          <ac:chgData name="Edson Utazi" userId="bcb3a38a-3ad0-4389-89a4-f1f4b25807d3" providerId="ADAL" clId="{6E6BB287-36A5-4019-B86C-EECBD7B9E602}" dt="2026-10-09T08:28:40.819" v="1994" actId="1076"/>
          <ac:spMkLst>
            <pc:docMk/>
            <pc:sldMk cId="1801415014" sldId="312"/>
            <ac:spMk id="5" creationId="{00000000-0000-0000-0000-000000000000}"/>
          </ac:spMkLst>
        </pc:spChg>
      </pc:sldChg>
      <pc:sldChg chg="modSp mod">
        <pc:chgData name="Edson Utazi" userId="bcb3a38a-3ad0-4389-89a4-f1f4b25807d3" providerId="ADAL" clId="{6E6BB287-36A5-4019-B86C-EECBD7B9E602}" dt="2026-10-09T08:35:10.192" v="2018" actId="1076"/>
        <pc:sldMkLst>
          <pc:docMk/>
          <pc:sldMk cId="3937125152" sldId="313"/>
        </pc:sldMkLst>
        <pc:spChg chg="mod">
          <ac:chgData name="Edson Utazi" userId="bcb3a38a-3ad0-4389-89a4-f1f4b25807d3" providerId="ADAL" clId="{6E6BB287-36A5-4019-B86C-EECBD7B9E602}" dt="2026-10-09T08:34:51.539" v="2015" actId="1076"/>
          <ac:spMkLst>
            <pc:docMk/>
            <pc:sldMk cId="3937125152" sldId="313"/>
            <ac:spMk id="4" creationId="{00000000-0000-0000-0000-000000000000}"/>
          </ac:spMkLst>
        </pc:spChg>
        <pc:spChg chg="mod">
          <ac:chgData name="Edson Utazi" userId="bcb3a38a-3ad0-4389-89a4-f1f4b25807d3" providerId="ADAL" clId="{6E6BB287-36A5-4019-B86C-EECBD7B9E602}" dt="2026-10-09T08:35:10.192" v="2018" actId="1076"/>
          <ac:spMkLst>
            <pc:docMk/>
            <pc:sldMk cId="3937125152" sldId="313"/>
            <ac:spMk id="6" creationId="{00000000-0000-0000-0000-000000000000}"/>
          </ac:spMkLst>
        </pc:spChg>
        <pc:picChg chg="mod">
          <ac:chgData name="Edson Utazi" userId="bcb3a38a-3ad0-4389-89a4-f1f4b25807d3" providerId="ADAL" clId="{6E6BB287-36A5-4019-B86C-EECBD7B9E602}" dt="2026-09-23T08:57:47.462" v="108" actId="1076"/>
          <ac:picMkLst>
            <pc:docMk/>
            <pc:sldMk cId="3937125152" sldId="313"/>
            <ac:picMk id="5" creationId="{00000000-0000-0000-0000-000000000000}"/>
          </ac:picMkLst>
        </pc:picChg>
      </pc:sldChg>
      <pc:sldChg chg="modSp mod">
        <pc:chgData name="Edson Utazi" userId="bcb3a38a-3ad0-4389-89a4-f1f4b25807d3" providerId="ADAL" clId="{6E6BB287-36A5-4019-B86C-EECBD7B9E602}" dt="2026-10-09T08:45:09.396" v="2146" actId="255"/>
        <pc:sldMkLst>
          <pc:docMk/>
          <pc:sldMk cId="3542335487" sldId="314"/>
        </pc:sldMkLst>
        <pc:spChg chg="mod">
          <ac:chgData name="Edson Utazi" userId="bcb3a38a-3ad0-4389-89a4-f1f4b25807d3" providerId="ADAL" clId="{6E6BB287-36A5-4019-B86C-EECBD7B9E602}" dt="2026-10-09T08:44:42.439" v="2141" actId="2711"/>
          <ac:spMkLst>
            <pc:docMk/>
            <pc:sldMk cId="3542335487" sldId="314"/>
            <ac:spMk id="7" creationId="{00000000-0000-0000-0000-000000000000}"/>
          </ac:spMkLst>
        </pc:spChg>
        <pc:spChg chg="mod">
          <ac:chgData name="Edson Utazi" userId="bcb3a38a-3ad0-4389-89a4-f1f4b25807d3" providerId="ADAL" clId="{6E6BB287-36A5-4019-B86C-EECBD7B9E602}" dt="2026-10-09T08:45:09.396" v="2146" actId="255"/>
          <ac:spMkLst>
            <pc:docMk/>
            <pc:sldMk cId="3542335487" sldId="314"/>
            <ac:spMk id="8" creationId="{00000000-0000-0000-0000-000000000000}"/>
          </ac:spMkLst>
        </pc:spChg>
        <pc:picChg chg="mod">
          <ac:chgData name="Edson Utazi" userId="bcb3a38a-3ad0-4389-89a4-f1f4b25807d3" providerId="ADAL" clId="{6E6BB287-36A5-4019-B86C-EECBD7B9E602}" dt="2026-10-09T08:44:58.817" v="2145" actId="1076"/>
          <ac:picMkLst>
            <pc:docMk/>
            <pc:sldMk cId="3542335487" sldId="314"/>
            <ac:picMk id="5" creationId="{00000000-0000-0000-0000-000000000000}"/>
          </ac:picMkLst>
        </pc:picChg>
      </pc:sldChg>
      <pc:sldChg chg="modSp mod">
        <pc:chgData name="Edson Utazi" userId="bcb3a38a-3ad0-4389-89a4-f1f4b25807d3" providerId="ADAL" clId="{6E6BB287-36A5-4019-B86C-EECBD7B9E602}" dt="2026-10-09T08:45:32.924" v="2150" actId="14100"/>
        <pc:sldMkLst>
          <pc:docMk/>
          <pc:sldMk cId="963841668" sldId="315"/>
        </pc:sldMkLst>
        <pc:spChg chg="mod">
          <ac:chgData name="Edson Utazi" userId="bcb3a38a-3ad0-4389-89a4-f1f4b25807d3" providerId="ADAL" clId="{6E6BB287-36A5-4019-B86C-EECBD7B9E602}" dt="2026-10-09T08:45:32.924" v="2150" actId="14100"/>
          <ac:spMkLst>
            <pc:docMk/>
            <pc:sldMk cId="963841668" sldId="315"/>
            <ac:spMk id="2" creationId="{00000000-0000-0000-0000-000000000000}"/>
          </ac:spMkLst>
        </pc:spChg>
      </pc:sldChg>
      <pc:sldChg chg="modSp mod">
        <pc:chgData name="Edson Utazi" userId="bcb3a38a-3ad0-4389-89a4-f1f4b25807d3" providerId="ADAL" clId="{6E6BB287-36A5-4019-B86C-EECBD7B9E602}" dt="2026-10-09T08:42:53.584" v="2133" actId="1076"/>
        <pc:sldMkLst>
          <pc:docMk/>
          <pc:sldMk cId="1000534318" sldId="316"/>
        </pc:sldMkLst>
        <pc:spChg chg="mod">
          <ac:chgData name="Edson Utazi" userId="bcb3a38a-3ad0-4389-89a4-f1f4b25807d3" providerId="ADAL" clId="{6E6BB287-36A5-4019-B86C-EECBD7B9E602}" dt="2026-10-09T08:42:53.584" v="2133" actId="1076"/>
          <ac:spMkLst>
            <pc:docMk/>
            <pc:sldMk cId="1000534318" sldId="316"/>
            <ac:spMk id="3" creationId="{00000000-0000-0000-0000-000000000000}"/>
          </ac:spMkLst>
        </pc:spChg>
        <pc:spChg chg="mod">
          <ac:chgData name="Edson Utazi" userId="bcb3a38a-3ad0-4389-89a4-f1f4b25807d3" providerId="ADAL" clId="{6E6BB287-36A5-4019-B86C-EECBD7B9E602}" dt="2026-10-09T08:42:39.765" v="2131" actId="1076"/>
          <ac:spMkLst>
            <pc:docMk/>
            <pc:sldMk cId="1000534318" sldId="316"/>
            <ac:spMk id="4" creationId="{00000000-0000-0000-0000-000000000000}"/>
          </ac:spMkLst>
        </pc:spChg>
      </pc:sldChg>
      <pc:sldChg chg="addSp delSp modSp mod">
        <pc:chgData name="Edson Utazi" userId="bcb3a38a-3ad0-4389-89a4-f1f4b25807d3" providerId="ADAL" clId="{6E6BB287-36A5-4019-B86C-EECBD7B9E602}" dt="2026-10-08T16:43:19.216" v="853" actId="1076"/>
        <pc:sldMkLst>
          <pc:docMk/>
          <pc:sldMk cId="587861640" sldId="321"/>
        </pc:sldMkLst>
        <pc:spChg chg="add del mod">
          <ac:chgData name="Edson Utazi" userId="bcb3a38a-3ad0-4389-89a4-f1f4b25807d3" providerId="ADAL" clId="{6E6BB287-36A5-4019-B86C-EECBD7B9E602}" dt="2026-10-08T16:41:44.081" v="826" actId="478"/>
          <ac:spMkLst>
            <pc:docMk/>
            <pc:sldMk cId="587861640" sldId="321"/>
            <ac:spMk id="2" creationId="{22E41A25-BD97-6AB3-9989-10199ECD5360}"/>
          </ac:spMkLst>
        </pc:spChg>
        <pc:spChg chg="mod">
          <ac:chgData name="Edson Utazi" userId="bcb3a38a-3ad0-4389-89a4-f1f4b25807d3" providerId="ADAL" clId="{6E6BB287-36A5-4019-B86C-EECBD7B9E602}" dt="2026-10-08T16:43:19.216" v="853" actId="1076"/>
          <ac:spMkLst>
            <pc:docMk/>
            <pc:sldMk cId="587861640" sldId="321"/>
            <ac:spMk id="3" creationId="{00000000-0000-0000-0000-000000000000}"/>
          </ac:spMkLst>
        </pc:spChg>
        <pc:spChg chg="add mod">
          <ac:chgData name="Edson Utazi" userId="bcb3a38a-3ad0-4389-89a4-f1f4b25807d3" providerId="ADAL" clId="{6E6BB287-36A5-4019-B86C-EECBD7B9E602}" dt="2026-10-08T16:41:58.780" v="829"/>
          <ac:spMkLst>
            <pc:docMk/>
            <pc:sldMk cId="587861640" sldId="321"/>
            <ac:spMk id="6" creationId="{1F3066EF-B601-07B4-2C33-E66B9D7F3537}"/>
          </ac:spMkLst>
        </pc:spChg>
        <pc:spChg chg="mod">
          <ac:chgData name="Edson Utazi" userId="bcb3a38a-3ad0-4389-89a4-f1f4b25807d3" providerId="ADAL" clId="{6E6BB287-36A5-4019-B86C-EECBD7B9E602}" dt="2026-10-08T16:41:36.128" v="825" actId="1076"/>
          <ac:spMkLst>
            <pc:docMk/>
            <pc:sldMk cId="587861640" sldId="321"/>
            <ac:spMk id="142" creationId="{00000000-0000-0000-0000-000000000000}"/>
          </ac:spMkLst>
        </pc:spChg>
        <pc:spChg chg="del mod">
          <ac:chgData name="Edson Utazi" userId="bcb3a38a-3ad0-4389-89a4-f1f4b25807d3" providerId="ADAL" clId="{6E6BB287-36A5-4019-B86C-EECBD7B9E602}" dt="2026-10-08T16:41:52.991" v="828" actId="478"/>
          <ac:spMkLst>
            <pc:docMk/>
            <pc:sldMk cId="587861640" sldId="321"/>
            <ac:spMk id="144" creationId="{00000000-0000-0000-0000-000000000000}"/>
          </ac:spMkLst>
        </pc:spChg>
        <pc:picChg chg="del">
          <ac:chgData name="Edson Utazi" userId="bcb3a38a-3ad0-4389-89a4-f1f4b25807d3" providerId="ADAL" clId="{6E6BB287-36A5-4019-B86C-EECBD7B9E602}" dt="2026-10-08T16:42:53.748" v="847" actId="478"/>
          <ac:picMkLst>
            <pc:docMk/>
            <pc:sldMk cId="587861640" sldId="321"/>
            <ac:picMk id="4" creationId="{00000000-0000-0000-0000-000000000000}"/>
          </ac:picMkLst>
        </pc:picChg>
        <pc:picChg chg="add">
          <ac:chgData name="Edson Utazi" userId="bcb3a38a-3ad0-4389-89a4-f1f4b25807d3" providerId="ADAL" clId="{6E6BB287-36A5-4019-B86C-EECBD7B9E602}" dt="2026-10-08T16:42:42.451" v="844" actId="22"/>
          <ac:picMkLst>
            <pc:docMk/>
            <pc:sldMk cId="587861640" sldId="321"/>
            <ac:picMk id="8" creationId="{E5F3DA5B-39A7-A5A5-BBA1-8F35C3552399}"/>
          </ac:picMkLst>
        </pc:picChg>
        <pc:picChg chg="del">
          <ac:chgData name="Edson Utazi" userId="bcb3a38a-3ad0-4389-89a4-f1f4b25807d3" providerId="ADAL" clId="{6E6BB287-36A5-4019-B86C-EECBD7B9E602}" dt="2026-10-08T16:42:41.982" v="843" actId="478"/>
          <ac:picMkLst>
            <pc:docMk/>
            <pc:sldMk cId="587861640" sldId="321"/>
            <ac:picMk id="10" creationId="{00000000-0000-0000-0000-000000000000}"/>
          </ac:picMkLst>
        </pc:picChg>
        <pc:picChg chg="add mod">
          <ac:chgData name="Edson Utazi" userId="bcb3a38a-3ad0-4389-89a4-f1f4b25807d3" providerId="ADAL" clId="{6E6BB287-36A5-4019-B86C-EECBD7B9E602}" dt="2026-10-08T16:43:14.593" v="852" actId="1076"/>
          <ac:picMkLst>
            <pc:docMk/>
            <pc:sldMk cId="587861640" sldId="321"/>
            <ac:picMk id="11" creationId="{161D8255-E77E-E6A5-5C49-0DD9193D47B2}"/>
          </ac:picMkLst>
        </pc:picChg>
        <pc:picChg chg="add mod">
          <ac:chgData name="Edson Utazi" userId="bcb3a38a-3ad0-4389-89a4-f1f4b25807d3" providerId="ADAL" clId="{6E6BB287-36A5-4019-B86C-EECBD7B9E602}" dt="2026-10-08T16:43:09.745" v="850" actId="1076"/>
          <ac:picMkLst>
            <pc:docMk/>
            <pc:sldMk cId="587861640" sldId="321"/>
            <ac:picMk id="13" creationId="{30FB8309-0730-3A60-70FC-719AB053A0E8}"/>
          </ac:picMkLst>
        </pc:picChg>
        <pc:picChg chg="del">
          <ac:chgData name="Edson Utazi" userId="bcb3a38a-3ad0-4389-89a4-f1f4b25807d3" providerId="ADAL" clId="{6E6BB287-36A5-4019-B86C-EECBD7B9E602}" dt="2026-10-08T16:42:47.813" v="845" actId="478"/>
          <ac:picMkLst>
            <pc:docMk/>
            <pc:sldMk cId="587861640" sldId="321"/>
            <ac:picMk id="149" creationId="{00000000-0000-0000-0000-000000000000}"/>
          </ac:picMkLst>
        </pc:picChg>
        <pc:cxnChg chg="add mod">
          <ac:chgData name="Edson Utazi" userId="bcb3a38a-3ad0-4389-89a4-f1f4b25807d3" providerId="ADAL" clId="{6E6BB287-36A5-4019-B86C-EECBD7B9E602}" dt="2026-10-08T16:41:58.780" v="829"/>
          <ac:cxnSpMkLst>
            <pc:docMk/>
            <pc:sldMk cId="587861640" sldId="321"/>
            <ac:cxnSpMk id="5" creationId="{FDA9D3D2-41CB-1B35-5FE2-08BB1ECC1B1B}"/>
          </ac:cxnSpMkLst>
        </pc:cxnChg>
        <pc:cxnChg chg="del">
          <ac:chgData name="Edson Utazi" userId="bcb3a38a-3ad0-4389-89a4-f1f4b25807d3" providerId="ADAL" clId="{6E6BB287-36A5-4019-B86C-EECBD7B9E602}" dt="2026-10-08T16:41:51.017" v="827" actId="478"/>
          <ac:cxnSpMkLst>
            <pc:docMk/>
            <pc:sldMk cId="587861640" sldId="321"/>
            <ac:cxnSpMk id="143" creationId="{00000000-0000-0000-0000-000000000000}"/>
          </ac:cxnSpMkLst>
        </pc:cxnChg>
      </pc:sldChg>
      <pc:sldChg chg="modSp new mod ord">
        <pc:chgData name="Edson Utazi" userId="bcb3a38a-3ad0-4389-89a4-f1f4b25807d3" providerId="ADAL" clId="{6E6BB287-36A5-4019-B86C-EECBD7B9E602}" dt="2026-10-09T08:52:51.161" v="2705"/>
        <pc:sldMkLst>
          <pc:docMk/>
          <pc:sldMk cId="2853002482" sldId="322"/>
        </pc:sldMkLst>
        <pc:spChg chg="mod">
          <ac:chgData name="Edson Utazi" userId="bcb3a38a-3ad0-4389-89a4-f1f4b25807d3" providerId="ADAL" clId="{6E6BB287-36A5-4019-B86C-EECBD7B9E602}" dt="2026-10-09T08:18:18.264" v="1948" actId="207"/>
          <ac:spMkLst>
            <pc:docMk/>
            <pc:sldMk cId="2853002482" sldId="322"/>
            <ac:spMk id="2" creationId="{6F67A36B-196E-ABDF-B295-93DE186289E0}"/>
          </ac:spMkLst>
        </pc:spChg>
        <pc:spChg chg="mod">
          <ac:chgData name="Edson Utazi" userId="bcb3a38a-3ad0-4389-89a4-f1f4b25807d3" providerId="ADAL" clId="{6E6BB287-36A5-4019-B86C-EECBD7B9E602}" dt="2026-10-09T08:20:48.171" v="1967"/>
          <ac:spMkLst>
            <pc:docMk/>
            <pc:sldMk cId="2853002482" sldId="322"/>
            <ac:spMk id="3" creationId="{AD71F1AF-A8BD-38BE-2331-7D2349198299}"/>
          </ac:spMkLst>
        </pc:spChg>
      </pc:sldChg>
      <pc:sldMasterChg chg="addSp modSp mod">
        <pc:chgData name="Edson Utazi" userId="bcb3a38a-3ad0-4389-89a4-f1f4b25807d3" providerId="ADAL" clId="{6E6BB287-36A5-4019-B86C-EECBD7B9E602}" dt="2026-10-08T16:44:13.658" v="859" actId="14100"/>
        <pc:sldMasterMkLst>
          <pc:docMk/>
          <pc:sldMasterMk cId="2419390420" sldId="2147483648"/>
        </pc:sldMasterMkLst>
        <pc:spChg chg="mod">
          <ac:chgData name="Edson Utazi" userId="bcb3a38a-3ad0-4389-89a4-f1f4b25807d3" providerId="ADAL" clId="{6E6BB287-36A5-4019-B86C-EECBD7B9E602}" dt="2026-10-08T16:43:59.101" v="856" actId="14100"/>
          <ac:spMkLst>
            <pc:docMk/>
            <pc:sldMasterMk cId="2419390420" sldId="2147483648"/>
            <ac:spMk id="7" creationId="{00000000-0000-0000-0000-000000000000}"/>
          </ac:spMkLst>
        </pc:spChg>
        <pc:spChg chg="add mod">
          <ac:chgData name="Edson Utazi" userId="bcb3a38a-3ad0-4389-89a4-f1f4b25807d3" providerId="ADAL" clId="{6E6BB287-36A5-4019-B86C-EECBD7B9E602}" dt="2026-10-08T16:44:13.658" v="859" actId="14100"/>
          <ac:spMkLst>
            <pc:docMk/>
            <pc:sldMasterMk cId="2419390420" sldId="2147483648"/>
            <ac:spMk id="9" creationId="{053EE16F-E5B1-23FD-5CE9-0F199656031F}"/>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23571-5F2F-4146-9E82-0F7B410E984A}" type="datetimeFigureOut">
              <a:rPr lang="en-GB" smtClean="0"/>
              <a:t>08/10/2026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19E42-D07F-4C0F-A8CB-F928A4FFBA49}" type="slidenum">
              <a:rPr lang="en-GB" smtClean="0"/>
              <a:t>‹#›</a:t>
            </a:fld>
            <a:endParaRPr lang="en-GB"/>
          </a:p>
        </p:txBody>
      </p:sp>
    </p:spTree>
    <p:extLst>
      <p:ext uri="{BB962C8B-B14F-4D97-AF65-F5344CB8AC3E}">
        <p14:creationId xmlns:p14="http://schemas.microsoft.com/office/powerpoint/2010/main" val="445869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Shape 138"/>
          <p:cNvSpPr>
            <a:spLocks noGrp="1" noRot="1" noChangeAspect="1"/>
          </p:cNvSpPr>
          <p:nvPr>
            <p:ph type="sldImg" idx="2"/>
          </p:nvPr>
        </p:nvSpPr>
        <p:spPr>
          <a:xfrm>
            <a:off x="90488" y="744538"/>
            <a:ext cx="6616700" cy="3722687"/>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9" name="Shape 139"/>
          <p:cNvSpPr txBox="1">
            <a:spLocks noGrp="1"/>
          </p:cNvSpPr>
          <p:nvPr>
            <p:ph type="body" idx="1"/>
          </p:nvPr>
        </p:nvSpPr>
        <p:spPr>
          <a:xfrm>
            <a:off x="679768" y="4715153"/>
            <a:ext cx="5438140" cy="4466987"/>
          </a:xfrm>
          <a:prstGeom prst="rect">
            <a:avLst/>
          </a:prstGeom>
        </p:spPr>
        <p:txBody>
          <a:bodyPr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317458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2373E64-C9E2-441C-8BD5-3707FDEA1722}" type="datetimeFigureOut">
              <a:rPr lang="en-GB" smtClean="0"/>
              <a:t>08/10/2026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FA27CE-E768-40D0-81E7-0D23BEE952EB}" type="slidenum">
              <a:rPr lang="en-GB" smtClean="0"/>
              <a:t>‹#›</a:t>
            </a:fld>
            <a:endParaRPr lang="en-GB"/>
          </a:p>
        </p:txBody>
      </p:sp>
    </p:spTree>
    <p:extLst>
      <p:ext uri="{BB962C8B-B14F-4D97-AF65-F5344CB8AC3E}">
        <p14:creationId xmlns:p14="http://schemas.microsoft.com/office/powerpoint/2010/main" val="3218040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373E64-C9E2-441C-8BD5-3707FDEA1722}" type="datetimeFigureOut">
              <a:rPr lang="en-GB" smtClean="0"/>
              <a:t>08/10/2026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FA27CE-E768-40D0-81E7-0D23BEE952EB}" type="slidenum">
              <a:rPr lang="en-GB" smtClean="0"/>
              <a:t>‹#›</a:t>
            </a:fld>
            <a:endParaRPr lang="en-GB"/>
          </a:p>
        </p:txBody>
      </p:sp>
    </p:spTree>
    <p:extLst>
      <p:ext uri="{BB962C8B-B14F-4D97-AF65-F5344CB8AC3E}">
        <p14:creationId xmlns:p14="http://schemas.microsoft.com/office/powerpoint/2010/main" val="830132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2373E64-C9E2-441C-8BD5-3707FDEA1722}" type="datetimeFigureOut">
              <a:rPr lang="en-GB" smtClean="0"/>
              <a:t>08/10/2026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FA27CE-E768-40D0-81E7-0D23BEE952EB}" type="slidenum">
              <a:rPr lang="en-GB" smtClean="0"/>
              <a:t>‹#›</a:t>
            </a:fld>
            <a:endParaRPr lang="en-GB"/>
          </a:p>
        </p:txBody>
      </p:sp>
    </p:spTree>
    <p:extLst>
      <p:ext uri="{BB962C8B-B14F-4D97-AF65-F5344CB8AC3E}">
        <p14:creationId xmlns:p14="http://schemas.microsoft.com/office/powerpoint/2010/main" val="1334020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2373E64-C9E2-441C-8BD5-3707FDEA1722}" type="datetimeFigureOut">
              <a:rPr lang="en-GB" smtClean="0"/>
              <a:t>08/10/2026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FA27CE-E768-40D0-81E7-0D23BEE952EB}" type="slidenum">
              <a:rPr lang="en-GB" smtClean="0"/>
              <a:t>‹#›</a:t>
            </a:fld>
            <a:endParaRPr lang="en-GB"/>
          </a:p>
        </p:txBody>
      </p:sp>
    </p:spTree>
    <p:extLst>
      <p:ext uri="{BB962C8B-B14F-4D97-AF65-F5344CB8AC3E}">
        <p14:creationId xmlns:p14="http://schemas.microsoft.com/office/powerpoint/2010/main" val="341707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2373E64-C9E2-441C-8BD5-3707FDEA1722}" type="datetimeFigureOut">
              <a:rPr lang="en-GB" smtClean="0"/>
              <a:t>08/10/2026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FFA27CE-E768-40D0-81E7-0D23BEE952EB}" type="slidenum">
              <a:rPr lang="en-GB" smtClean="0"/>
              <a:t>‹#›</a:t>
            </a:fld>
            <a:endParaRPr lang="en-GB"/>
          </a:p>
        </p:txBody>
      </p:sp>
    </p:spTree>
    <p:extLst>
      <p:ext uri="{BB962C8B-B14F-4D97-AF65-F5344CB8AC3E}">
        <p14:creationId xmlns:p14="http://schemas.microsoft.com/office/powerpoint/2010/main" val="2798163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2373E64-C9E2-441C-8BD5-3707FDEA1722}" type="datetimeFigureOut">
              <a:rPr lang="en-GB" smtClean="0"/>
              <a:t>08/10/2026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FFA27CE-E768-40D0-81E7-0D23BEE952EB}" type="slidenum">
              <a:rPr lang="en-GB" smtClean="0"/>
              <a:t>‹#›</a:t>
            </a:fld>
            <a:endParaRPr lang="en-GB"/>
          </a:p>
        </p:txBody>
      </p:sp>
    </p:spTree>
    <p:extLst>
      <p:ext uri="{BB962C8B-B14F-4D97-AF65-F5344CB8AC3E}">
        <p14:creationId xmlns:p14="http://schemas.microsoft.com/office/powerpoint/2010/main" val="4206367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373E64-C9E2-441C-8BD5-3707FDEA1722}" type="datetimeFigureOut">
              <a:rPr lang="en-GB" smtClean="0"/>
              <a:t>08/10/2026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FFA27CE-E768-40D0-81E7-0D23BEE952EB}" type="slidenum">
              <a:rPr lang="en-GB" smtClean="0"/>
              <a:t>‹#›</a:t>
            </a:fld>
            <a:endParaRPr lang="en-GB"/>
          </a:p>
        </p:txBody>
      </p:sp>
    </p:spTree>
    <p:extLst>
      <p:ext uri="{BB962C8B-B14F-4D97-AF65-F5344CB8AC3E}">
        <p14:creationId xmlns:p14="http://schemas.microsoft.com/office/powerpoint/2010/main" val="4263870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2373E64-C9E2-441C-8BD5-3707FDEA1722}" type="datetimeFigureOut">
              <a:rPr lang="en-GB" smtClean="0"/>
              <a:t>08/10/2026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FA27CE-E768-40D0-81E7-0D23BEE952EB}" type="slidenum">
              <a:rPr lang="en-GB" smtClean="0"/>
              <a:t>‹#›</a:t>
            </a:fld>
            <a:endParaRPr lang="en-GB"/>
          </a:p>
        </p:txBody>
      </p:sp>
    </p:spTree>
    <p:extLst>
      <p:ext uri="{BB962C8B-B14F-4D97-AF65-F5344CB8AC3E}">
        <p14:creationId xmlns:p14="http://schemas.microsoft.com/office/powerpoint/2010/main" val="3179231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2373E64-C9E2-441C-8BD5-3707FDEA1722}" type="datetimeFigureOut">
              <a:rPr lang="en-GB" smtClean="0"/>
              <a:t>08/10/2026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FA27CE-E768-40D0-81E7-0D23BEE952EB}" type="slidenum">
              <a:rPr lang="en-GB" smtClean="0"/>
              <a:t>‹#›</a:t>
            </a:fld>
            <a:endParaRPr lang="en-GB"/>
          </a:p>
        </p:txBody>
      </p:sp>
    </p:spTree>
    <p:extLst>
      <p:ext uri="{BB962C8B-B14F-4D97-AF65-F5344CB8AC3E}">
        <p14:creationId xmlns:p14="http://schemas.microsoft.com/office/powerpoint/2010/main" val="564879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373E64-C9E2-441C-8BD5-3707FDEA1722}" type="datetimeFigureOut">
              <a:rPr lang="en-GB" smtClean="0"/>
              <a:t>08/10/2026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FA27CE-E768-40D0-81E7-0D23BEE952EB}" type="slidenum">
              <a:rPr lang="en-GB" smtClean="0"/>
              <a:t>‹#›</a:t>
            </a:fld>
            <a:endParaRPr lang="en-GB"/>
          </a:p>
        </p:txBody>
      </p:sp>
    </p:spTree>
    <p:extLst>
      <p:ext uri="{BB962C8B-B14F-4D97-AF65-F5344CB8AC3E}">
        <p14:creationId xmlns:p14="http://schemas.microsoft.com/office/powerpoint/2010/main" val="3959988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373E64-C9E2-441C-8BD5-3707FDEA1722}" type="datetimeFigureOut">
              <a:rPr lang="en-GB" smtClean="0"/>
              <a:t>08/10/2026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FA27CE-E768-40D0-81E7-0D23BEE952EB}" type="slidenum">
              <a:rPr lang="en-GB" smtClean="0"/>
              <a:t>‹#›</a:t>
            </a:fld>
            <a:endParaRPr lang="en-GB"/>
          </a:p>
        </p:txBody>
      </p:sp>
    </p:spTree>
    <p:extLst>
      <p:ext uri="{BB962C8B-B14F-4D97-AF65-F5344CB8AC3E}">
        <p14:creationId xmlns:p14="http://schemas.microsoft.com/office/powerpoint/2010/main" val="1394887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0" y="593367"/>
            <a:ext cx="11360800" cy="763600"/>
          </a:xfrm>
          <a:prstGeom prst="rect">
            <a:avLst/>
          </a:prstGeom>
        </p:spPr>
        <p:txBody>
          <a:bodyPr wrap="square" lIns="121897" tIns="121897" rIns="121897" bIns="121897"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dirty="0"/>
          </a:p>
        </p:txBody>
      </p:sp>
      <p:sp>
        <p:nvSpPr>
          <p:cNvPr id="18" name="Shape 18"/>
          <p:cNvSpPr txBox="1">
            <a:spLocks noGrp="1"/>
          </p:cNvSpPr>
          <p:nvPr>
            <p:ph type="body" idx="1"/>
          </p:nvPr>
        </p:nvSpPr>
        <p:spPr>
          <a:xfrm>
            <a:off x="415600" y="1536633"/>
            <a:ext cx="11360800" cy="4555200"/>
          </a:xfrm>
          <a:prstGeom prst="rect">
            <a:avLst/>
          </a:prstGeom>
        </p:spPr>
        <p:txBody>
          <a:bodyPr wrap="square" lIns="121897" tIns="121897" rIns="121897" bIns="121897"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9" name="Shape 19"/>
          <p:cNvSpPr txBox="1">
            <a:spLocks noGrp="1"/>
          </p:cNvSpPr>
          <p:nvPr>
            <p:ph type="sldNum" idx="12"/>
          </p:nvPr>
        </p:nvSpPr>
        <p:spPr>
          <a:xfrm>
            <a:off x="11296611" y="6217623"/>
            <a:ext cx="731600" cy="524800"/>
          </a:xfrm>
          <a:prstGeom prst="rect">
            <a:avLst/>
          </a:prstGeom>
        </p:spPr>
        <p:txBody>
          <a:bodyPr wrap="square" lIns="121897" tIns="121897" rIns="121897" bIns="121897" anchor="ctr" anchorCtr="0">
            <a:noAutofit/>
          </a:bodyPr>
          <a:lstStyle/>
          <a:p>
            <a:fld id="{00000000-1234-1234-1234-123412341234}" type="slidenum">
              <a:rPr lang="sv" smtClean="0"/>
              <a:pPr/>
              <a:t>‹#›</a:t>
            </a:fld>
            <a:endParaRPr lang="sv"/>
          </a:p>
        </p:txBody>
      </p:sp>
    </p:spTree>
    <p:extLst>
      <p:ext uri="{BB962C8B-B14F-4D97-AF65-F5344CB8AC3E}">
        <p14:creationId xmlns:p14="http://schemas.microsoft.com/office/powerpoint/2010/main" val="503016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373E64-C9E2-441C-8BD5-3707FDEA1722}" type="datetimeFigureOut">
              <a:rPr lang="en-GB" smtClean="0"/>
              <a:t>08/10/2026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FA27CE-E768-40D0-81E7-0D23BEE952EB}" type="slidenum">
              <a:rPr lang="en-GB" smtClean="0"/>
              <a:t>‹#›</a:t>
            </a:fld>
            <a:endParaRPr lang="en-GB"/>
          </a:p>
        </p:txBody>
      </p:sp>
      <p:sp>
        <p:nvSpPr>
          <p:cNvPr id="7" name="Rectangle 6"/>
          <p:cNvSpPr/>
          <p:nvPr userDrawn="1"/>
        </p:nvSpPr>
        <p:spPr>
          <a:xfrm>
            <a:off x="0" y="0"/>
            <a:ext cx="12192000" cy="783771"/>
          </a:xfrm>
          <a:prstGeom prst="rect">
            <a:avLst/>
          </a:prstGeom>
          <a:solidFill>
            <a:schemeClr val="accent1">
              <a:lumMod val="5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053EE16F-E5B1-23FD-5CE9-0F199656031F}"/>
              </a:ext>
            </a:extLst>
          </p:cNvPr>
          <p:cNvSpPr/>
          <p:nvPr userDrawn="1"/>
        </p:nvSpPr>
        <p:spPr>
          <a:xfrm>
            <a:off x="0" y="6792686"/>
            <a:ext cx="12192000" cy="92074"/>
          </a:xfrm>
          <a:prstGeom prst="rect">
            <a:avLst/>
          </a:prstGeom>
          <a:solidFill>
            <a:schemeClr val="accent1">
              <a:lumMod val="5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193904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dhsprogram.com/"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doi.org/10.2307/143141" TargetMode="External"/><Relationship Id="rId2" Type="http://schemas.openxmlformats.org/officeDocument/2006/relationships/hyperlink" Target="https://doi.org/10.1007/978-1-4615-7892-5"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Shape 141"/>
          <p:cNvPicPr preferRelativeResize="0"/>
          <p:nvPr/>
        </p:nvPicPr>
        <p:blipFill rotWithShape="1">
          <a:blip r:embed="rId3">
            <a:alphaModFix/>
          </a:blip>
          <a:srcRect t="16840"/>
          <a:stretch/>
        </p:blipFill>
        <p:spPr>
          <a:xfrm>
            <a:off x="0" y="0"/>
            <a:ext cx="12191992" cy="5519080"/>
          </a:xfrm>
          <a:prstGeom prst="rect">
            <a:avLst/>
          </a:prstGeom>
          <a:noFill/>
          <a:ln>
            <a:noFill/>
          </a:ln>
        </p:spPr>
      </p:pic>
      <p:sp>
        <p:nvSpPr>
          <p:cNvPr id="142" name="Shape 142"/>
          <p:cNvSpPr txBox="1"/>
          <p:nvPr/>
        </p:nvSpPr>
        <p:spPr>
          <a:xfrm>
            <a:off x="963097" y="931468"/>
            <a:ext cx="10231548" cy="993776"/>
          </a:xfrm>
          <a:prstGeom prst="rect">
            <a:avLst/>
          </a:prstGeom>
          <a:noFill/>
          <a:ln>
            <a:noFill/>
          </a:ln>
        </p:spPr>
        <p:txBody>
          <a:bodyPr wrap="square" lIns="121897" tIns="121897" rIns="121897" bIns="121897" anchor="t" anchorCtr="0">
            <a:noAutofit/>
          </a:bodyPr>
          <a:lstStyle/>
          <a:p>
            <a:pPr algn="ctr">
              <a:buClr>
                <a:schemeClr val="dk1"/>
              </a:buClr>
              <a:buSzPct val="34375"/>
            </a:pPr>
            <a:r>
              <a:rPr lang="en-GB" sz="4400" b="1" dirty="0">
                <a:solidFill>
                  <a:srgbClr val="FFFFFF"/>
                </a:solidFill>
                <a:latin typeface="Aptos" panose="020B0004020202020204" pitchFamily="34" charset="0"/>
                <a:ea typeface="Merriweather"/>
                <a:cs typeface="Arial" panose="020B0604020202020204" pitchFamily="34" charset="0"/>
                <a:sym typeface="Merriweather"/>
              </a:rPr>
              <a:t>Geostatistical data analysis 1</a:t>
            </a:r>
          </a:p>
        </p:txBody>
      </p:sp>
      <p:sp>
        <p:nvSpPr>
          <p:cNvPr id="3" name="TextBox 2"/>
          <p:cNvSpPr txBox="1"/>
          <p:nvPr/>
        </p:nvSpPr>
        <p:spPr>
          <a:xfrm>
            <a:off x="5219993" y="4823291"/>
            <a:ext cx="1752006" cy="400110"/>
          </a:xfrm>
          <a:prstGeom prst="rect">
            <a:avLst/>
          </a:prstGeom>
          <a:noFill/>
        </p:spPr>
        <p:txBody>
          <a:bodyPr wrap="square" rtlCol="0">
            <a:spAutoFit/>
          </a:bodyPr>
          <a:lstStyle/>
          <a:p>
            <a:r>
              <a:rPr lang="en-GB" sz="2000" b="1" dirty="0">
                <a:solidFill>
                  <a:schemeClr val="bg1"/>
                </a:solidFill>
                <a:latin typeface="Aptos" panose="020B0004020202020204" pitchFamily="34" charset="0"/>
              </a:rPr>
              <a:t>October 2026</a:t>
            </a:r>
          </a:p>
        </p:txBody>
      </p:sp>
      <p:cxnSp>
        <p:nvCxnSpPr>
          <p:cNvPr id="5" name="Shape 143">
            <a:extLst>
              <a:ext uri="{FF2B5EF4-FFF2-40B4-BE49-F238E27FC236}">
                <a16:creationId xmlns:a16="http://schemas.microsoft.com/office/drawing/2014/main" id="{FDA9D3D2-41CB-1B35-5FE2-08BB1ECC1B1B}"/>
              </a:ext>
            </a:extLst>
          </p:cNvPr>
          <p:cNvCxnSpPr>
            <a:cxnSpLocks/>
          </p:cNvCxnSpPr>
          <p:nvPr/>
        </p:nvCxnSpPr>
        <p:spPr>
          <a:xfrm>
            <a:off x="5062862" y="3254457"/>
            <a:ext cx="1995791" cy="0"/>
          </a:xfrm>
          <a:prstGeom prst="straightConnector1">
            <a:avLst/>
          </a:prstGeom>
          <a:noFill/>
          <a:ln w="38100" cap="flat" cmpd="sng">
            <a:solidFill>
              <a:srgbClr val="FFFFFF"/>
            </a:solidFill>
            <a:prstDash val="solid"/>
            <a:round/>
            <a:headEnd type="none" w="lg" len="lg"/>
            <a:tailEnd type="none" w="lg" len="lg"/>
          </a:ln>
        </p:spPr>
      </p:cxnSp>
      <p:sp>
        <p:nvSpPr>
          <p:cNvPr id="6" name="Shape 144">
            <a:extLst>
              <a:ext uri="{FF2B5EF4-FFF2-40B4-BE49-F238E27FC236}">
                <a16:creationId xmlns:a16="http://schemas.microsoft.com/office/drawing/2014/main" id="{1F3066EF-B601-07B4-2C33-E66B9D7F3537}"/>
              </a:ext>
            </a:extLst>
          </p:cNvPr>
          <p:cNvSpPr txBox="1"/>
          <p:nvPr/>
        </p:nvSpPr>
        <p:spPr>
          <a:xfrm>
            <a:off x="4826936" y="3262280"/>
            <a:ext cx="2503870" cy="624085"/>
          </a:xfrm>
          <a:prstGeom prst="rect">
            <a:avLst/>
          </a:prstGeom>
          <a:noFill/>
          <a:ln>
            <a:noFill/>
          </a:ln>
        </p:spPr>
        <p:txBody>
          <a:bodyPr wrap="square" lIns="121897" tIns="121897" rIns="121897" bIns="121897" anchor="t" anchorCtr="0">
            <a:noAutofit/>
          </a:bodyPr>
          <a:lstStyle/>
          <a:p>
            <a:pPr algn="ctr"/>
            <a:r>
              <a:rPr lang="en-US" sz="2400" b="1" dirty="0">
                <a:solidFill>
                  <a:srgbClr val="FFFFFF"/>
                </a:solidFill>
                <a:latin typeface="Arial"/>
                <a:ea typeface="Roboto"/>
                <a:cs typeface="Arial"/>
                <a:sym typeface="Roboto"/>
              </a:rPr>
              <a:t>C. Edson Utazi</a:t>
            </a:r>
            <a:endParaRPr lang="en-US" sz="2400" i="1" dirty="0">
              <a:solidFill>
                <a:srgbClr val="FFFFFF"/>
              </a:solidFill>
              <a:latin typeface="Arial"/>
              <a:ea typeface="Roboto"/>
              <a:cs typeface="Arial"/>
            </a:endParaRPr>
          </a:p>
        </p:txBody>
      </p:sp>
      <p:pic>
        <p:nvPicPr>
          <p:cNvPr id="8" name="object 3">
            <a:extLst>
              <a:ext uri="{FF2B5EF4-FFF2-40B4-BE49-F238E27FC236}">
                <a16:creationId xmlns:a16="http://schemas.microsoft.com/office/drawing/2014/main" id="{E5F3DA5B-39A7-A5A5-BBA1-8F35C3552399}"/>
              </a:ext>
            </a:extLst>
          </p:cNvPr>
          <p:cNvPicPr/>
          <p:nvPr/>
        </p:nvPicPr>
        <p:blipFill>
          <a:blip r:embed="rId4" cstate="print"/>
          <a:stretch>
            <a:fillRect/>
          </a:stretch>
        </p:blipFill>
        <p:spPr>
          <a:xfrm>
            <a:off x="655710" y="5821569"/>
            <a:ext cx="2047296" cy="505410"/>
          </a:xfrm>
          <a:prstGeom prst="rect">
            <a:avLst/>
          </a:prstGeom>
        </p:spPr>
      </p:pic>
      <p:pic>
        <p:nvPicPr>
          <p:cNvPr id="11" name="Picture 10" descr="CISON - Chartered Institute of Statisticians of Nigeria | Chartered Institute of Statisticians of Nigeria (CISON)">
            <a:extLst>
              <a:ext uri="{FF2B5EF4-FFF2-40B4-BE49-F238E27FC236}">
                <a16:creationId xmlns:a16="http://schemas.microsoft.com/office/drawing/2014/main" id="{161D8255-E77E-E6A5-5C49-0DD9193D47B2}"/>
              </a:ext>
            </a:extLst>
          </p:cNvPr>
          <p:cNvPicPr>
            <a:picLocks noChangeAspect="1"/>
          </p:cNvPicPr>
          <p:nvPr/>
        </p:nvPicPr>
        <p:blipFill>
          <a:blip r:embed="rId5"/>
          <a:stretch>
            <a:fillRect/>
          </a:stretch>
        </p:blipFill>
        <p:spPr>
          <a:xfrm>
            <a:off x="5688346" y="5739921"/>
            <a:ext cx="781049" cy="710627"/>
          </a:xfrm>
          <a:prstGeom prst="rect">
            <a:avLst/>
          </a:prstGeom>
        </p:spPr>
      </p:pic>
      <p:pic>
        <p:nvPicPr>
          <p:cNvPr id="13" name="Picture 12" descr="University of Southampton Vector Logo | Free Download - (.SVG + .PNG)  format - SeekVectorLogo.Com">
            <a:extLst>
              <a:ext uri="{FF2B5EF4-FFF2-40B4-BE49-F238E27FC236}">
                <a16:creationId xmlns:a16="http://schemas.microsoft.com/office/drawing/2014/main" id="{30FB8309-0730-3A60-70FC-719AB053A0E8}"/>
              </a:ext>
            </a:extLst>
          </p:cNvPr>
          <p:cNvPicPr>
            <a:picLocks noChangeAspect="1"/>
          </p:cNvPicPr>
          <p:nvPr/>
        </p:nvPicPr>
        <p:blipFill>
          <a:blip r:embed="rId6"/>
          <a:srcRect t="30908" b="31538"/>
          <a:stretch>
            <a:fillRect/>
          </a:stretch>
        </p:blipFill>
        <p:spPr>
          <a:xfrm>
            <a:off x="8778240" y="5740195"/>
            <a:ext cx="2858085" cy="596281"/>
          </a:xfrm>
          <a:prstGeom prst="rect">
            <a:avLst/>
          </a:prstGeom>
        </p:spPr>
      </p:pic>
    </p:spTree>
    <p:extLst>
      <p:ext uri="{BB962C8B-B14F-4D97-AF65-F5344CB8AC3E}">
        <p14:creationId xmlns:p14="http://schemas.microsoft.com/office/powerpoint/2010/main" val="587861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8994"/>
            <a:ext cx="7541029" cy="665653"/>
          </a:xfrm>
        </p:spPr>
        <p:txBody>
          <a:bodyPr>
            <a:normAutofit fontScale="90000"/>
          </a:bodyPr>
          <a:lstStyle/>
          <a:p>
            <a:r>
              <a:rPr lang="en-GB" b="1" dirty="0">
                <a:solidFill>
                  <a:schemeClr val="bg1"/>
                </a:solidFill>
                <a:latin typeface="Aptos" panose="020B0004020202020204" pitchFamily="34" charset="0"/>
              </a:rPr>
              <a:t>Learning objectives:</a:t>
            </a:r>
          </a:p>
        </p:txBody>
      </p:sp>
      <p:sp>
        <p:nvSpPr>
          <p:cNvPr id="3" name="Content Placeholder 2"/>
          <p:cNvSpPr>
            <a:spLocks noGrp="1"/>
          </p:cNvSpPr>
          <p:nvPr>
            <p:ph idx="1"/>
          </p:nvPr>
        </p:nvSpPr>
        <p:spPr>
          <a:xfrm>
            <a:off x="923925" y="1470658"/>
            <a:ext cx="9398923" cy="4568191"/>
          </a:xfrm>
        </p:spPr>
        <p:txBody>
          <a:bodyPr>
            <a:normAutofit fontScale="92500" lnSpcReduction="20000"/>
          </a:bodyPr>
          <a:lstStyle/>
          <a:p>
            <a:pPr marL="0" indent="0">
              <a:buNone/>
            </a:pPr>
            <a:r>
              <a:rPr lang="en-GB" dirty="0">
                <a:latin typeface="Aptos" panose="020B0004020202020204" pitchFamily="34" charset="0"/>
              </a:rPr>
              <a:t>By the end of this session, you will be able to:</a:t>
            </a:r>
          </a:p>
          <a:p>
            <a:pPr marL="0" indent="0">
              <a:buNone/>
            </a:pPr>
            <a:endParaRPr lang="en-GB" dirty="0">
              <a:latin typeface="Aptos" panose="020B0004020202020204" pitchFamily="34" charset="0"/>
            </a:endParaRPr>
          </a:p>
          <a:p>
            <a:r>
              <a:rPr lang="en-GB" dirty="0"/>
              <a:t>Define and explain key terminology and concepts used in geostatistical data analysis</a:t>
            </a:r>
          </a:p>
          <a:p>
            <a:endParaRPr lang="en-GB" dirty="0"/>
          </a:p>
          <a:p>
            <a:r>
              <a:rPr lang="en-GB" dirty="0"/>
              <a:t>Explain and differentiate variograms, </a:t>
            </a:r>
            <a:r>
              <a:rPr lang="en-GB" dirty="0" err="1"/>
              <a:t>semivariograms</a:t>
            </a:r>
            <a:r>
              <a:rPr lang="en-GB" dirty="0"/>
              <a:t>, and covariance functions, and describe their roles in characterising spatial dependence in geostatistical models.</a:t>
            </a:r>
          </a:p>
          <a:p>
            <a:endParaRPr lang="en-GB" dirty="0"/>
          </a:p>
          <a:p>
            <a:r>
              <a:rPr lang="en-GB" dirty="0"/>
              <a:t>Estimate and visualise empirical variograms using real-world spatial data in R, and interpret the resulting plots to assess spatial dependence.</a:t>
            </a:r>
            <a:endParaRPr lang="en-GB" dirty="0">
              <a:latin typeface="Aptos" panose="020B0004020202020204" pitchFamily="34" charset="0"/>
            </a:endParaRPr>
          </a:p>
        </p:txBody>
      </p:sp>
    </p:spTree>
    <p:extLst>
      <p:ext uri="{BB962C8B-B14F-4D97-AF65-F5344CB8AC3E}">
        <p14:creationId xmlns:p14="http://schemas.microsoft.com/office/powerpoint/2010/main" val="1939827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94387" y="1571832"/>
                <a:ext cx="7948353" cy="4749742"/>
              </a:xfrm>
            </p:spPr>
            <p:txBody>
              <a:bodyPr>
                <a:normAutofit fontScale="92500" lnSpcReduction="20000"/>
              </a:bodyPr>
              <a:lstStyle/>
              <a:p>
                <a:r>
                  <a:rPr lang="en-GB" dirty="0">
                    <a:latin typeface="Aptos" panose="020B0004020202020204" pitchFamily="34" charset="0"/>
                  </a:rPr>
                  <a:t>Each data point is described by a single non-random point in a map, e.g. longitude-latitude coordinates</a:t>
                </a:r>
              </a:p>
              <a:p>
                <a:endParaRPr lang="en-GB" dirty="0">
                  <a:latin typeface="Aptos" panose="020B0004020202020204" pitchFamily="34" charset="0"/>
                </a:endParaRPr>
              </a:p>
              <a:p>
                <a:r>
                  <a:rPr lang="en-GB" dirty="0">
                    <a:latin typeface="Aptos" panose="020B0004020202020204" pitchFamily="34" charset="0"/>
                  </a:rPr>
                  <a:t>Data varies continuously over a fixed region, say </a:t>
                </a:r>
                <a14:m>
                  <m:oMath xmlns:m="http://schemas.openxmlformats.org/officeDocument/2006/math">
                    <m:r>
                      <a:rPr lang="en-GB" b="0" i="1" smtClean="0">
                        <a:latin typeface="Cambria Math" panose="02040503050406030204" pitchFamily="18" charset="0"/>
                      </a:rPr>
                      <m:t>𝐷</m:t>
                    </m:r>
                    <m:r>
                      <a:rPr lang="en-GB" b="0" i="1" smtClean="0">
                        <a:latin typeface="Cambria Math" panose="02040503050406030204" pitchFamily="18" charset="0"/>
                      </a:rPr>
                      <m:t>.</m:t>
                    </m:r>
                  </m:oMath>
                </a14:m>
                <a:endParaRPr lang="en-GB" dirty="0">
                  <a:latin typeface="Aptos" panose="020B0004020202020204" pitchFamily="34" charset="0"/>
                </a:endParaRPr>
              </a:p>
              <a:p>
                <a:endParaRPr lang="en-GB" dirty="0">
                  <a:latin typeface="Aptos" panose="020B0004020202020204" pitchFamily="34" charset="0"/>
                </a:endParaRPr>
              </a:p>
              <a:p>
                <a:r>
                  <a:rPr lang="en-GB" dirty="0">
                    <a:latin typeface="Aptos" panose="020B0004020202020204" pitchFamily="34" charset="0"/>
                  </a:rPr>
                  <a:t>The set of points/locations can be survey clusters or fixed air quality monitory stations</a:t>
                </a:r>
              </a:p>
              <a:p>
                <a:endParaRPr lang="en-GB" dirty="0">
                  <a:latin typeface="Aptos" panose="020B0004020202020204" pitchFamily="34" charset="0"/>
                </a:endParaRPr>
              </a:p>
              <a:p>
                <a:r>
                  <a:rPr lang="en-GB" dirty="0" err="1">
                    <a:solidFill>
                      <a:schemeClr val="accent1">
                        <a:lumMod val="75000"/>
                      </a:schemeClr>
                    </a:solidFill>
                    <a:latin typeface="Aptos" panose="020B0004020202020204" pitchFamily="34" charset="0"/>
                  </a:rPr>
                  <a:t>Geostatistical</a:t>
                </a:r>
                <a:r>
                  <a:rPr lang="en-GB" dirty="0">
                    <a:solidFill>
                      <a:schemeClr val="accent1">
                        <a:lumMod val="75000"/>
                      </a:schemeClr>
                    </a:solidFill>
                    <a:latin typeface="Aptos" panose="020B0004020202020204" pitchFamily="34" charset="0"/>
                  </a:rPr>
                  <a:t> data </a:t>
                </a:r>
                <a:r>
                  <a:rPr lang="en-GB" dirty="0">
                    <a:latin typeface="Aptos" panose="020B0004020202020204" pitchFamily="34" charset="0"/>
                  </a:rPr>
                  <a:t>can be binary, discrete or continuous</a:t>
                </a:r>
              </a:p>
              <a:p>
                <a:endParaRPr lang="en-GB" dirty="0">
                  <a:latin typeface="Aptos" panose="020B0004020202020204" pitchFamily="34" charset="0"/>
                </a:endParaRPr>
              </a:p>
              <a:p>
                <a:r>
                  <a:rPr lang="en-GB" dirty="0">
                    <a:latin typeface="Aptos" panose="020B0004020202020204" pitchFamily="34" charset="0"/>
                  </a:rPr>
                  <a:t>Most common analysis objective is prediction</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94387" y="1571832"/>
                <a:ext cx="7948353" cy="4749742"/>
              </a:xfrm>
              <a:blipFill>
                <a:blip r:embed="rId2"/>
                <a:stretch>
                  <a:fillRect l="-1227" t="-3209" r="-767"/>
                </a:stretch>
              </a:blipFill>
            </p:spPr>
            <p:txBody>
              <a:bodyPr/>
              <a:lstStyle/>
              <a:p>
                <a:r>
                  <a:rPr lang="en-GB">
                    <a:noFill/>
                  </a:rPr>
                  <a:t> </a:t>
                </a:r>
              </a:p>
            </p:txBody>
          </p:sp>
        </mc:Fallback>
      </mc:AlternateContent>
      <p:cxnSp>
        <p:nvCxnSpPr>
          <p:cNvPr id="6" name="Straight Arrow Connector 5"/>
          <p:cNvCxnSpPr/>
          <p:nvPr/>
        </p:nvCxnSpPr>
        <p:spPr>
          <a:xfrm flipV="1">
            <a:off x="2898217" y="2497027"/>
            <a:ext cx="812800" cy="24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3711017" y="2253187"/>
            <a:ext cx="2954020" cy="3165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 attribute of the domain</a:t>
            </a:r>
          </a:p>
        </p:txBody>
      </p:sp>
      <p:sp>
        <p:nvSpPr>
          <p:cNvPr id="8" name="Title 1"/>
          <p:cNvSpPr>
            <a:spLocks noGrp="1"/>
          </p:cNvSpPr>
          <p:nvPr>
            <p:ph type="title"/>
          </p:nvPr>
        </p:nvSpPr>
        <p:spPr>
          <a:xfrm>
            <a:off x="304800" y="12042"/>
            <a:ext cx="10515600" cy="723842"/>
          </a:xfrm>
        </p:spPr>
        <p:txBody>
          <a:bodyPr>
            <a:normAutofit/>
          </a:bodyPr>
          <a:lstStyle/>
          <a:p>
            <a:r>
              <a:rPr lang="en-GB" sz="4000" b="1" dirty="0">
                <a:solidFill>
                  <a:schemeClr val="bg1"/>
                </a:solidFill>
                <a:latin typeface="Aptos" panose="020B0004020202020204" pitchFamily="34" charset="0"/>
              </a:rPr>
              <a:t>Recap – point-referenced data</a:t>
            </a:r>
          </a:p>
        </p:txBody>
      </p:sp>
      <p:pic>
        <p:nvPicPr>
          <p:cNvPr id="4" name="Picture 3">
            <a:extLst>
              <a:ext uri="{FF2B5EF4-FFF2-40B4-BE49-F238E27FC236}">
                <a16:creationId xmlns:a16="http://schemas.microsoft.com/office/drawing/2014/main" id="{D6236236-D0EC-6C9F-9320-C0E880FFEB4C}"/>
              </a:ext>
            </a:extLst>
          </p:cNvPr>
          <p:cNvPicPr>
            <a:picLocks noChangeAspect="1"/>
          </p:cNvPicPr>
          <p:nvPr/>
        </p:nvPicPr>
        <p:blipFill>
          <a:blip r:embed="rId3"/>
          <a:srcRect l="44721" r="-2766" b="359"/>
          <a:stretch>
            <a:fillRect/>
          </a:stretch>
        </p:blipFill>
        <p:spPr>
          <a:xfrm>
            <a:off x="8053967" y="4268799"/>
            <a:ext cx="3977725" cy="2473456"/>
          </a:xfrm>
          <a:prstGeom prst="rect">
            <a:avLst/>
          </a:prstGeom>
        </p:spPr>
      </p:pic>
      <p:pic>
        <p:nvPicPr>
          <p:cNvPr id="10" name="Picture 9">
            <a:extLst>
              <a:ext uri="{FF2B5EF4-FFF2-40B4-BE49-F238E27FC236}">
                <a16:creationId xmlns:a16="http://schemas.microsoft.com/office/drawing/2014/main" id="{20AD3A36-4BF9-7C98-1C72-010A17157557}"/>
              </a:ext>
            </a:extLst>
          </p:cNvPr>
          <p:cNvPicPr>
            <a:picLocks noChangeAspect="1"/>
          </p:cNvPicPr>
          <p:nvPr/>
        </p:nvPicPr>
        <p:blipFill>
          <a:blip r:embed="rId4"/>
          <a:stretch>
            <a:fillRect/>
          </a:stretch>
        </p:blipFill>
        <p:spPr>
          <a:xfrm>
            <a:off x="8053967" y="1461460"/>
            <a:ext cx="3417200" cy="2386658"/>
          </a:xfrm>
          <a:prstGeom prst="rect">
            <a:avLst/>
          </a:prstGeom>
        </p:spPr>
      </p:pic>
    </p:spTree>
    <p:extLst>
      <p:ext uri="{BB962C8B-B14F-4D97-AF65-F5344CB8AC3E}">
        <p14:creationId xmlns:p14="http://schemas.microsoft.com/office/powerpoint/2010/main" val="2719009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
            <a:ext cx="10666616" cy="972588"/>
          </a:xfrm>
        </p:spPr>
        <p:txBody>
          <a:bodyPr>
            <a:normAutofit/>
          </a:bodyPr>
          <a:lstStyle/>
          <a:p>
            <a:r>
              <a:rPr lang="en-GB" sz="3200" b="1" dirty="0">
                <a:solidFill>
                  <a:schemeClr val="bg1"/>
                </a:solidFill>
                <a:latin typeface="Merriweather"/>
              </a:rPr>
              <a:t>Elements of geostatistical modelling</a:t>
            </a:r>
          </a:p>
        </p:txBody>
      </p:sp>
      <p:sp>
        <p:nvSpPr>
          <p:cNvPr id="3" name="Content Placeholder 2"/>
          <p:cNvSpPr>
            <a:spLocks noGrp="1"/>
          </p:cNvSpPr>
          <p:nvPr>
            <p:ph idx="1"/>
          </p:nvPr>
        </p:nvSpPr>
        <p:spPr>
          <a:xfrm>
            <a:off x="913707" y="1592868"/>
            <a:ext cx="7906097" cy="4949248"/>
          </a:xfrm>
        </p:spPr>
        <p:txBody>
          <a:bodyPr>
            <a:normAutofit/>
          </a:bodyPr>
          <a:lstStyle/>
          <a:p>
            <a:r>
              <a:rPr lang="en-GB" dirty="0">
                <a:latin typeface="Aptos" panose="020B0004020202020204" pitchFamily="34" charset="0"/>
              </a:rPr>
              <a:t>Stochastic processes or random fields</a:t>
            </a:r>
          </a:p>
          <a:p>
            <a:endParaRPr lang="en-GB" dirty="0">
              <a:latin typeface="Aptos" panose="020B0004020202020204" pitchFamily="34" charset="0"/>
            </a:endParaRPr>
          </a:p>
          <a:p>
            <a:r>
              <a:rPr lang="en-GB" dirty="0">
                <a:latin typeface="Aptos" panose="020B0004020202020204" pitchFamily="34" charset="0"/>
              </a:rPr>
              <a:t>Stationarity</a:t>
            </a:r>
          </a:p>
          <a:p>
            <a:endParaRPr lang="en-GB" dirty="0">
              <a:latin typeface="Aptos" panose="020B0004020202020204" pitchFamily="34" charset="0"/>
            </a:endParaRPr>
          </a:p>
          <a:p>
            <a:r>
              <a:rPr lang="en-GB" dirty="0" err="1">
                <a:latin typeface="Aptos" panose="020B0004020202020204" pitchFamily="34" charset="0"/>
              </a:rPr>
              <a:t>Variogram</a:t>
            </a:r>
            <a:r>
              <a:rPr lang="en-GB" dirty="0">
                <a:latin typeface="Aptos" panose="020B0004020202020204" pitchFamily="34" charset="0"/>
              </a:rPr>
              <a:t> and </a:t>
            </a:r>
            <a:r>
              <a:rPr lang="en-GB" dirty="0" err="1">
                <a:latin typeface="Aptos" panose="020B0004020202020204" pitchFamily="34" charset="0"/>
              </a:rPr>
              <a:t>covariogram</a:t>
            </a:r>
            <a:endParaRPr lang="en-GB" dirty="0">
              <a:latin typeface="Aptos" panose="020B0004020202020204" pitchFamily="34" charset="0"/>
            </a:endParaRPr>
          </a:p>
          <a:p>
            <a:endParaRPr lang="en-GB" dirty="0">
              <a:latin typeface="Aptos" panose="020B0004020202020204" pitchFamily="34" charset="0"/>
            </a:endParaRPr>
          </a:p>
          <a:p>
            <a:r>
              <a:rPr lang="en-GB" dirty="0">
                <a:latin typeface="Aptos" panose="020B0004020202020204" pitchFamily="34" charset="0"/>
              </a:rPr>
              <a:t>Isotropy</a:t>
            </a:r>
          </a:p>
          <a:p>
            <a:endParaRPr lang="en-GB" dirty="0">
              <a:latin typeface="Aptos" panose="020B0004020202020204" pitchFamily="34" charset="0"/>
            </a:endParaRPr>
          </a:p>
          <a:p>
            <a:r>
              <a:rPr lang="en-GB" dirty="0" err="1">
                <a:latin typeface="Aptos" panose="020B0004020202020204" pitchFamily="34" charset="0"/>
              </a:rPr>
              <a:t>Matern</a:t>
            </a:r>
            <a:r>
              <a:rPr lang="en-GB" dirty="0">
                <a:latin typeface="Aptos" panose="020B0004020202020204" pitchFamily="34" charset="0"/>
              </a:rPr>
              <a:t> covariance function</a:t>
            </a:r>
          </a:p>
          <a:p>
            <a:endParaRPr lang="en-GB" dirty="0"/>
          </a:p>
        </p:txBody>
      </p:sp>
    </p:spTree>
    <p:extLst>
      <p:ext uri="{BB962C8B-B14F-4D97-AF65-F5344CB8AC3E}">
        <p14:creationId xmlns:p14="http://schemas.microsoft.com/office/powerpoint/2010/main" val="4169663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868"/>
            <a:ext cx="10515600" cy="765406"/>
          </a:xfrm>
        </p:spPr>
        <p:txBody>
          <a:bodyPr>
            <a:normAutofit/>
          </a:bodyPr>
          <a:lstStyle/>
          <a:p>
            <a:r>
              <a:rPr lang="en-GB" sz="4000" b="1" dirty="0">
                <a:solidFill>
                  <a:schemeClr val="bg1"/>
                </a:solidFill>
                <a:latin typeface="Aptos" panose="020B0004020202020204" pitchFamily="34" charset="0"/>
              </a:rPr>
              <a:t>Stochastic processes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276638"/>
                <a:ext cx="10515600" cy="5315007"/>
              </a:xfrm>
            </p:spPr>
            <p:txBody>
              <a:bodyPr>
                <a:normAutofit lnSpcReduction="10000"/>
              </a:bodyPr>
              <a:lstStyle/>
              <a:p>
                <a:r>
                  <a:rPr lang="en-GB" dirty="0">
                    <a:latin typeface="Aptos" panose="020B0004020202020204" pitchFamily="34" charset="0"/>
                  </a:rPr>
                  <a:t>A </a:t>
                </a:r>
                <a:r>
                  <a:rPr lang="en-GB" b="1" dirty="0">
                    <a:solidFill>
                      <a:schemeClr val="accent1">
                        <a:lumMod val="75000"/>
                      </a:schemeClr>
                    </a:solidFill>
                    <a:latin typeface="Aptos" panose="020B0004020202020204" pitchFamily="34" charset="0"/>
                  </a:rPr>
                  <a:t>stochastic process </a:t>
                </a:r>
                <a:r>
                  <a:rPr lang="en-GB" dirty="0">
                    <a:latin typeface="Aptos" panose="020B0004020202020204" pitchFamily="34" charset="0"/>
                  </a:rPr>
                  <a:t>is a collection of random variables indexed according to some metric defined on a continuous domain such as space, time or both.</a:t>
                </a:r>
              </a:p>
              <a:p>
                <a:endParaRPr lang="en-GB" dirty="0">
                  <a:latin typeface="Aptos" panose="020B0004020202020204" pitchFamily="34" charset="0"/>
                </a:endParaRPr>
              </a:p>
              <a:p>
                <a:r>
                  <a:rPr lang="en-GB" dirty="0">
                    <a:latin typeface="Aptos" panose="020B0004020202020204" pitchFamily="34" charset="0"/>
                  </a:rPr>
                  <a:t>Examples are:</a:t>
                </a:r>
              </a:p>
              <a:p>
                <a:pPr marL="457200" lvl="1" indent="0">
                  <a:buNone/>
                </a:pPr>
                <a:r>
                  <a:rPr lang="en-GB" dirty="0">
                    <a:latin typeface="Aptos" panose="020B0004020202020204" pitchFamily="34" charset="0"/>
                  </a:rPr>
                  <a:t> (i) a time series </a:t>
                </a:r>
                <a14:m>
                  <m:oMath xmlns:m="http://schemas.openxmlformats.org/officeDocument/2006/math">
                    <m:r>
                      <a:rPr lang="en-GB" b="0" i="1" smtClean="0">
                        <a:latin typeface="Cambria Math" panose="02040503050406030204" pitchFamily="18" charset="0"/>
                      </a:rPr>
                      <m:t>𝑍</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 0</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𝑇</m:t>
                    </m:r>
                  </m:oMath>
                </a14:m>
                <a:r>
                  <a:rPr lang="en-GB" dirty="0">
                    <a:latin typeface="Aptos" panose="020B0004020202020204" pitchFamily="34" charset="0"/>
                  </a:rPr>
                  <a:t>;</a:t>
                </a:r>
              </a:p>
              <a:p>
                <a:pPr marL="457200" lvl="1" indent="0">
                  <a:buNone/>
                </a:pPr>
                <a:r>
                  <a:rPr lang="en-GB" dirty="0">
                    <a:latin typeface="Aptos" panose="020B0004020202020204" pitchFamily="34" charset="0"/>
                  </a:rPr>
                  <a:t>(ii) a spatial process </a:t>
                </a:r>
                <a14:m>
                  <m:oMath xmlns:m="http://schemas.openxmlformats.org/officeDocument/2006/math">
                    <m:r>
                      <a:rPr lang="en-GB" b="0" i="1" smtClean="0">
                        <a:latin typeface="Cambria Math" panose="02040503050406030204" pitchFamily="18" charset="0"/>
                      </a:rPr>
                      <m:t>𝑍</m:t>
                    </m:r>
                    <m:d>
                      <m:dPr>
                        <m:ctrlPr>
                          <a:rPr lang="en-GB" b="1" i="1" smtClean="0">
                            <a:latin typeface="Cambria Math" panose="02040503050406030204" pitchFamily="18" charset="0"/>
                          </a:rPr>
                        </m:ctrlPr>
                      </m:dPr>
                      <m:e>
                        <m:r>
                          <a:rPr lang="en-GB" b="1" i="1" smtClean="0">
                            <a:latin typeface="Cambria Math" panose="02040503050406030204" pitchFamily="18" charset="0"/>
                          </a:rPr>
                          <m:t>𝒔</m:t>
                        </m:r>
                      </m:e>
                    </m:d>
                    <m:r>
                      <a:rPr lang="en-GB" b="0" i="1" smtClean="0">
                        <a:latin typeface="Cambria Math" panose="02040503050406030204" pitchFamily="18" charset="0"/>
                      </a:rPr>
                      <m:t>, </m:t>
                    </m:r>
                    <m:r>
                      <a:rPr lang="en-GB" b="1" i="1" smtClean="0">
                        <a:latin typeface="Cambria Math" panose="02040503050406030204" pitchFamily="18" charset="0"/>
                      </a:rPr>
                      <m:t>𝒔</m:t>
                    </m:r>
                    <m:r>
                      <a:rPr lang="en-GB" b="0" i="1" smtClean="0">
                        <a:latin typeface="Cambria Math" panose="02040503050406030204" pitchFamily="18" charset="0"/>
                      </a:rPr>
                      <m:t>⊂</m:t>
                    </m:r>
                    <m:r>
                      <a:rPr lang="en-GB" b="0" i="1" smtClean="0">
                        <a:latin typeface="Cambria Math" panose="02040503050406030204" pitchFamily="18" charset="0"/>
                      </a:rPr>
                      <m:t>𝐷</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𝑅</m:t>
                        </m:r>
                      </m:e>
                      <m:sup>
                        <m:r>
                          <a:rPr lang="en-GB" b="0" i="1" smtClean="0">
                            <a:latin typeface="Cambria Math" panose="02040503050406030204" pitchFamily="18" charset="0"/>
                          </a:rPr>
                          <m:t>𝑑</m:t>
                        </m:r>
                      </m:sup>
                    </m:sSup>
                  </m:oMath>
                </a14:m>
                <a:r>
                  <a:rPr lang="en-GB" dirty="0">
                    <a:latin typeface="Aptos" panose="020B0004020202020204" pitchFamily="34" charset="0"/>
                  </a:rPr>
                  <a:t>. Here, </a:t>
                </a:r>
                <a14:m>
                  <m:oMath xmlns:m="http://schemas.openxmlformats.org/officeDocument/2006/math">
                    <m:r>
                      <a:rPr lang="en-GB" b="1" i="1">
                        <a:latin typeface="Cambria Math" panose="02040503050406030204" pitchFamily="18" charset="0"/>
                      </a:rPr>
                      <m:t>𝒔</m:t>
                    </m:r>
                  </m:oMath>
                </a14:m>
                <a:r>
                  <a:rPr lang="en-GB" dirty="0">
                    <a:latin typeface="Aptos" panose="020B0004020202020204" pitchFamily="34" charset="0"/>
                  </a:rPr>
                  <a:t> denotes the spatial coordinates, e.g. latitude, longitude and elevation. </a:t>
                </a:r>
              </a:p>
              <a:p>
                <a:pPr marL="457200" lvl="1" indent="0">
                  <a:buNone/>
                </a:pPr>
                <a:endParaRPr lang="en-GB" dirty="0">
                  <a:latin typeface="Aptos" panose="020B0004020202020204" pitchFamily="34" charset="0"/>
                </a:endParaRPr>
              </a:p>
              <a:p>
                <a:r>
                  <a:rPr lang="en-GB" dirty="0">
                    <a:latin typeface="Aptos" panose="020B0004020202020204" pitchFamily="34" charset="0"/>
                  </a:rPr>
                  <a:t>If the dimension of the index set of a stochastic process </a:t>
                </a:r>
                <a14:m>
                  <m:oMath xmlns:m="http://schemas.openxmlformats.org/officeDocument/2006/math">
                    <m:r>
                      <a:rPr lang="en-GB" b="0" i="1" smtClean="0">
                        <a:latin typeface="Cambria Math" panose="02040503050406030204" pitchFamily="18" charset="0"/>
                      </a:rPr>
                      <m:t>𝑑</m:t>
                    </m:r>
                  </m:oMath>
                </a14:m>
                <a:r>
                  <a:rPr lang="en-GB" dirty="0">
                    <a:latin typeface="Aptos" panose="020B0004020202020204" pitchFamily="34" charset="0"/>
                  </a:rPr>
                  <a:t> is greater than one, it can be called a </a:t>
                </a:r>
                <a:r>
                  <a:rPr lang="en-GB" b="1" dirty="0">
                    <a:solidFill>
                      <a:schemeClr val="accent1">
                        <a:lumMod val="75000"/>
                      </a:schemeClr>
                    </a:solidFill>
                    <a:latin typeface="Aptos" panose="020B0004020202020204" pitchFamily="34" charset="0"/>
                  </a:rPr>
                  <a:t>random field</a:t>
                </a:r>
                <a:r>
                  <a:rPr lang="en-GB" dirty="0">
                    <a:latin typeface="Aptos" panose="020B0004020202020204" pitchFamily="34" charset="0"/>
                  </a:rPr>
                  <a:t>.</a:t>
                </a:r>
              </a:p>
              <a:p>
                <a:pPr marL="457200" lvl="1" indent="0">
                  <a:buNone/>
                </a:pPr>
                <a:endParaRPr lang="en-GB" dirty="0">
                  <a:latin typeface="Aptos" panose="020B0004020202020204" pitchFamily="34" charset="0"/>
                </a:endParaRPr>
              </a:p>
              <a:p>
                <a:pPr marL="0" indent="0">
                  <a:buNone/>
                </a:pPr>
                <a:r>
                  <a:rPr lang="en-GB" sz="2200" dirty="0">
                    <a:latin typeface="Aptos" panose="020B0004020202020204" pitchFamily="34" charset="0"/>
                  </a:rPr>
                  <a:t>NB: When time is discrete, e.g. daily data, </a:t>
                </a:r>
                <a14:m>
                  <m:oMath xmlns:m="http://schemas.openxmlformats.org/officeDocument/2006/math">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rPr>
                          <m:t>𝑍</m:t>
                        </m:r>
                      </m:e>
                      <m:sub>
                        <m:r>
                          <a:rPr lang="en-GB" sz="2200" b="0" i="1" smtClean="0">
                            <a:latin typeface="Cambria Math" panose="02040503050406030204" pitchFamily="18" charset="0"/>
                          </a:rPr>
                          <m:t>𝑡</m:t>
                        </m:r>
                      </m:sub>
                    </m:sSub>
                  </m:oMath>
                </a14:m>
                <a:r>
                  <a:rPr lang="en-GB" sz="2200" dirty="0">
                    <a:latin typeface="Aptos" panose="020B0004020202020204" pitchFamily="34" charset="0"/>
                  </a:rPr>
                  <a:t> can be used instead of </a:t>
                </a:r>
                <a14:m>
                  <m:oMath xmlns:m="http://schemas.openxmlformats.org/officeDocument/2006/math">
                    <m:r>
                      <m:rPr>
                        <m:sty m:val="p"/>
                      </m:rPr>
                      <a:rPr lang="en-GB" sz="2200" b="0" i="0" smtClean="0">
                        <a:latin typeface="Cambria Math" panose="02040503050406030204" pitchFamily="18" charset="0"/>
                      </a:rPr>
                      <m:t>Z</m:t>
                    </m:r>
                    <m:r>
                      <a:rPr lang="en-GB" sz="2200" b="0" i="1" smtClean="0">
                        <a:latin typeface="Cambria Math" panose="02040503050406030204" pitchFamily="18" charset="0"/>
                      </a:rPr>
                      <m:t>(</m:t>
                    </m:r>
                    <m:r>
                      <a:rPr lang="en-GB" sz="2200" b="0" i="1" smtClean="0">
                        <a:latin typeface="Cambria Math" panose="02040503050406030204" pitchFamily="18" charset="0"/>
                      </a:rPr>
                      <m:t>𝑡</m:t>
                    </m:r>
                    <m:r>
                      <a:rPr lang="en-GB" sz="2200" b="0" i="1" smtClean="0">
                        <a:latin typeface="Cambria Math" panose="02040503050406030204" pitchFamily="18" charset="0"/>
                      </a:rPr>
                      <m:t>)</m:t>
                    </m:r>
                  </m:oMath>
                </a14:m>
                <a:r>
                  <a:rPr lang="en-GB" sz="2200" dirty="0">
                    <a:latin typeface="Aptos" panose="020B0004020202020204" pitchFamily="34" charset="0"/>
                  </a:rPr>
                  <a:t>. </a:t>
                </a:r>
                <a14:m>
                  <m:oMath xmlns:m="http://schemas.openxmlformats.org/officeDocument/2006/math">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rPr>
                          <m:t>𝑍</m:t>
                        </m:r>
                      </m:e>
                      <m:sub>
                        <m:r>
                          <a:rPr lang="en-GB" sz="2200" i="1">
                            <a:latin typeface="Cambria Math" panose="02040503050406030204" pitchFamily="18" charset="0"/>
                          </a:rPr>
                          <m:t>𝑡</m:t>
                        </m:r>
                      </m:sub>
                    </m:sSub>
                  </m:oMath>
                </a14:m>
                <a:r>
                  <a:rPr lang="en-GB" sz="2200" dirty="0">
                    <a:latin typeface="Aptos" panose="020B0004020202020204" pitchFamily="34" charset="0"/>
                  </a:rPr>
                  <a:t> is then a time series measured in a discrete time domain.</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276638"/>
                <a:ext cx="10515600" cy="5315007"/>
              </a:xfrm>
              <a:blipFill>
                <a:blip r:embed="rId2"/>
                <a:stretch>
                  <a:fillRect l="-1043" t="-2523" r="-348" b="-1376"/>
                </a:stretch>
              </a:blipFill>
            </p:spPr>
            <p:txBody>
              <a:bodyPr/>
              <a:lstStyle/>
              <a:p>
                <a:r>
                  <a:rPr lang="en-GB">
                    <a:noFill/>
                  </a:rPr>
                  <a:t> </a:t>
                </a:r>
              </a:p>
            </p:txBody>
          </p:sp>
        </mc:Fallback>
      </mc:AlternateContent>
    </p:spTree>
    <p:extLst>
      <p:ext uri="{BB962C8B-B14F-4D97-AF65-F5344CB8AC3E}">
        <p14:creationId xmlns:p14="http://schemas.microsoft.com/office/powerpoint/2010/main" val="3118610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8605058" cy="881149"/>
          </a:xfrm>
        </p:spPr>
        <p:txBody>
          <a:bodyPr>
            <a:normAutofit/>
          </a:bodyPr>
          <a:lstStyle/>
          <a:p>
            <a:r>
              <a:rPr lang="en-GB" sz="4000" b="1" dirty="0">
                <a:solidFill>
                  <a:schemeClr val="bg1"/>
                </a:solidFill>
                <a:latin typeface="Aptos" panose="020B0004020202020204" pitchFamily="34" charset="0"/>
              </a:rPr>
              <a:t>Stationarity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29645" y="1422509"/>
                <a:ext cx="8025881" cy="5140215"/>
              </a:xfrm>
            </p:spPr>
            <p:txBody>
              <a:bodyPr>
                <a:noAutofit/>
              </a:bodyPr>
              <a:lstStyle/>
              <a:p>
                <a:r>
                  <a:rPr lang="en-GB" sz="2400" dirty="0">
                    <a:latin typeface="Aptos" panose="020B0004020202020204" pitchFamily="34" charset="0"/>
                  </a:rPr>
                  <a:t>A stochastic process is </a:t>
                </a:r>
                <a:r>
                  <a:rPr lang="en-GB" sz="2400" b="1" dirty="0">
                    <a:solidFill>
                      <a:schemeClr val="accent1">
                        <a:lumMod val="75000"/>
                      </a:schemeClr>
                    </a:solidFill>
                    <a:latin typeface="Aptos" panose="020B0004020202020204" pitchFamily="34" charset="0"/>
                  </a:rPr>
                  <a:t>mean stationary </a:t>
                </a:r>
                <a:r>
                  <a:rPr lang="en-GB" sz="2400" dirty="0">
                    <a:latin typeface="Aptos" panose="020B0004020202020204" pitchFamily="34" charset="0"/>
                  </a:rPr>
                  <a:t>if its mean is constant over the domain </a:t>
                </a:r>
                <a14:m>
                  <m:oMath xmlns:m="http://schemas.openxmlformats.org/officeDocument/2006/math">
                    <m:r>
                      <a:rPr lang="en-GB" sz="2400" b="0" i="1" smtClean="0">
                        <a:latin typeface="Cambria Math" panose="02040503050406030204" pitchFamily="18" charset="0"/>
                      </a:rPr>
                      <m:t>𝐷</m:t>
                    </m:r>
                  </m:oMath>
                </a14:m>
                <a:endParaRPr lang="en-GB" sz="2400" b="0" dirty="0">
                  <a:latin typeface="Aptos" panose="020B0004020202020204" pitchFamily="34" charset="0"/>
                </a:endParaRPr>
              </a:p>
              <a:p>
                <a:endParaRPr lang="en-GB" sz="2400" b="0" dirty="0">
                  <a:latin typeface="Aptos" panose="020B0004020202020204" pitchFamily="34" charset="0"/>
                </a:endParaRPr>
              </a:p>
              <a:p>
                <a:r>
                  <a:rPr lang="en-GB" sz="2400" dirty="0">
                    <a:latin typeface="Aptos" panose="020B0004020202020204" pitchFamily="34" charset="0"/>
                  </a:rPr>
                  <a:t>That is, </a:t>
                </a:r>
                <a14:m>
                  <m:oMath xmlns:m="http://schemas.openxmlformats.org/officeDocument/2006/math">
                    <m:r>
                      <a:rPr lang="en-GB" sz="2400" b="0" i="1" smtClean="0">
                        <a:latin typeface="Cambria Math" panose="02040503050406030204" pitchFamily="18" charset="0"/>
                      </a:rPr>
                      <m:t>𝜇</m:t>
                    </m:r>
                    <m:d>
                      <m:dPr>
                        <m:ctrlPr>
                          <a:rPr lang="en-GB" sz="2400" b="1" i="1" smtClean="0">
                            <a:latin typeface="Cambria Math" panose="02040503050406030204" pitchFamily="18" charset="0"/>
                          </a:rPr>
                        </m:ctrlPr>
                      </m:dPr>
                      <m:e>
                        <m:r>
                          <a:rPr lang="en-GB" sz="2400" b="1" i="1" smtClean="0">
                            <a:latin typeface="Cambria Math" panose="02040503050406030204" pitchFamily="18" charset="0"/>
                          </a:rPr>
                          <m:t>𝒔</m:t>
                        </m:r>
                      </m:e>
                    </m:d>
                    <m:r>
                      <a:rPr lang="en-GB" sz="2400" b="0" i="1" smtClean="0">
                        <a:latin typeface="Cambria Math" panose="02040503050406030204" pitchFamily="18" charset="0"/>
                      </a:rPr>
                      <m:t>=</m:t>
                    </m:r>
                    <m:r>
                      <a:rPr lang="en-GB" sz="2400" b="0" i="1" smtClean="0">
                        <a:latin typeface="Cambria Math" panose="02040503050406030204" pitchFamily="18" charset="0"/>
                      </a:rPr>
                      <m:t>𝐸</m:t>
                    </m:r>
                    <m:r>
                      <a:rPr lang="en-GB" sz="2400" b="0" i="1" smtClean="0">
                        <a:latin typeface="Cambria Math" panose="02040503050406030204" pitchFamily="18" charset="0"/>
                      </a:rPr>
                      <m:t>(</m:t>
                    </m:r>
                    <m:r>
                      <a:rPr lang="en-GB" sz="2400" b="0" i="1" smtClean="0">
                        <a:latin typeface="Cambria Math" panose="02040503050406030204" pitchFamily="18" charset="0"/>
                      </a:rPr>
                      <m:t>𝑍</m:t>
                    </m:r>
                    <m:d>
                      <m:dPr>
                        <m:ctrlPr>
                          <a:rPr lang="en-GB" sz="2400" b="1" i="1" smtClean="0">
                            <a:latin typeface="Cambria Math" panose="02040503050406030204" pitchFamily="18" charset="0"/>
                          </a:rPr>
                        </m:ctrlPr>
                      </m:dPr>
                      <m:e>
                        <m:r>
                          <a:rPr lang="en-GB" sz="2400" b="1" i="1" smtClean="0">
                            <a:latin typeface="Cambria Math" panose="02040503050406030204" pitchFamily="18" charset="0"/>
                          </a:rPr>
                          <m:t>𝒔</m:t>
                        </m:r>
                      </m:e>
                    </m:d>
                    <m:r>
                      <a:rPr lang="en-GB" sz="2400" b="0" i="1" smtClean="0">
                        <a:latin typeface="Cambria Math" panose="02040503050406030204" pitchFamily="18" charset="0"/>
                      </a:rPr>
                      <m:t>)</m:t>
                    </m:r>
                  </m:oMath>
                </a14:m>
                <a:r>
                  <a:rPr lang="en-GB" sz="2400" dirty="0">
                    <a:latin typeface="Aptos" panose="020B0004020202020204" pitchFamily="34" charset="0"/>
                  </a:rPr>
                  <a:t> does not change with varying values of </a:t>
                </a:r>
                <a14:m>
                  <m:oMath xmlns:m="http://schemas.openxmlformats.org/officeDocument/2006/math">
                    <m:r>
                      <a:rPr lang="en-GB" sz="2400" b="1" i="1" smtClean="0">
                        <a:latin typeface="Cambria Math" panose="02040503050406030204" pitchFamily="18" charset="0"/>
                      </a:rPr>
                      <m:t>𝒔</m:t>
                    </m:r>
                  </m:oMath>
                </a14:m>
                <a:endParaRPr lang="en-GB" sz="2400" b="1" dirty="0">
                  <a:latin typeface="Aptos" panose="020B0004020202020204" pitchFamily="34" charset="0"/>
                </a:endParaRPr>
              </a:p>
              <a:p>
                <a:endParaRPr lang="en-GB" sz="2400" b="1" dirty="0">
                  <a:latin typeface="Aptos" panose="020B0004020202020204" pitchFamily="34" charset="0"/>
                </a:endParaRPr>
              </a:p>
              <a:p>
                <a:r>
                  <a:rPr lang="en-GB" sz="2400" dirty="0">
                    <a:latin typeface="Aptos" panose="020B0004020202020204" pitchFamily="34" charset="0"/>
                  </a:rPr>
                  <a:t>Thus, for a realization of the process, </a:t>
                </a:r>
                <a14:m>
                  <m:oMath xmlns:m="http://schemas.openxmlformats.org/officeDocument/2006/math">
                    <m:r>
                      <a:rPr lang="en-GB" sz="2400" b="0" i="1" smtClean="0">
                        <a:latin typeface="Cambria Math" panose="02040503050406030204" pitchFamily="18" charset="0"/>
                      </a:rPr>
                      <m:t>𝑧</m:t>
                    </m:r>
                    <m:d>
                      <m:dPr>
                        <m:ctrlPr>
                          <a:rPr lang="en-GB" sz="2400" b="1" i="1" smtClean="0">
                            <a:latin typeface="Cambria Math" panose="02040503050406030204" pitchFamily="18" charset="0"/>
                          </a:rPr>
                        </m:ctrlPr>
                      </m:dPr>
                      <m:e>
                        <m:sSub>
                          <m:sSubPr>
                            <m:ctrlPr>
                              <a:rPr lang="en-GB" sz="2400" b="1" i="1" smtClean="0">
                                <a:latin typeface="Cambria Math" panose="02040503050406030204" pitchFamily="18" charset="0"/>
                              </a:rPr>
                            </m:ctrlPr>
                          </m:sSubPr>
                          <m:e>
                            <m:r>
                              <a:rPr lang="en-GB" sz="2400" b="1" i="1" smtClean="0">
                                <a:latin typeface="Cambria Math" panose="02040503050406030204" pitchFamily="18" charset="0"/>
                              </a:rPr>
                              <m:t>𝒔</m:t>
                            </m:r>
                          </m:e>
                          <m:sub>
                            <m:r>
                              <a:rPr lang="en-GB" sz="2400" b="0" i="1" smtClean="0">
                                <a:latin typeface="Cambria Math" panose="02040503050406030204" pitchFamily="18" charset="0"/>
                              </a:rPr>
                              <m:t>1</m:t>
                            </m:r>
                          </m:sub>
                        </m:sSub>
                      </m:e>
                    </m:d>
                    <m:r>
                      <a:rPr lang="en-GB" sz="2400" b="0" i="1" smtClean="0">
                        <a:latin typeface="Cambria Math" panose="02040503050406030204" pitchFamily="18" charset="0"/>
                      </a:rPr>
                      <m:t>,</m:t>
                    </m:r>
                    <m:r>
                      <a:rPr lang="en-GB" sz="2400" b="0" i="1" smtClean="0">
                        <a:latin typeface="Cambria Math" panose="02040503050406030204" pitchFamily="18" charset="0"/>
                      </a:rPr>
                      <m:t>𝑧</m:t>
                    </m:r>
                    <m:d>
                      <m:dPr>
                        <m:ctrlPr>
                          <a:rPr lang="en-GB" sz="2400" b="1" i="1" smtClean="0">
                            <a:latin typeface="Cambria Math" panose="02040503050406030204" pitchFamily="18" charset="0"/>
                          </a:rPr>
                        </m:ctrlPr>
                      </m:dPr>
                      <m:e>
                        <m:sSub>
                          <m:sSubPr>
                            <m:ctrlPr>
                              <a:rPr lang="en-GB" sz="2400" b="1" i="1" smtClean="0">
                                <a:latin typeface="Cambria Math" panose="02040503050406030204" pitchFamily="18" charset="0"/>
                              </a:rPr>
                            </m:ctrlPr>
                          </m:sSubPr>
                          <m:e>
                            <m:r>
                              <a:rPr lang="en-GB" sz="2400" b="1" i="1" smtClean="0">
                                <a:latin typeface="Cambria Math" panose="02040503050406030204" pitchFamily="18" charset="0"/>
                              </a:rPr>
                              <m:t>𝒔</m:t>
                            </m:r>
                          </m:e>
                          <m:sub>
                            <m:r>
                              <a:rPr lang="en-GB" sz="2400" b="0" i="1" smtClean="0">
                                <a:latin typeface="Cambria Math" panose="02040503050406030204" pitchFamily="18" charset="0"/>
                              </a:rPr>
                              <m:t>2</m:t>
                            </m:r>
                          </m:sub>
                        </m:sSub>
                      </m:e>
                    </m:d>
                    <m:r>
                      <a:rPr lang="en-GB" sz="2400" b="0" i="1" smtClean="0">
                        <a:latin typeface="Cambria Math" panose="02040503050406030204" pitchFamily="18" charset="0"/>
                      </a:rPr>
                      <m:t>,…,</m:t>
                    </m:r>
                    <m:r>
                      <a:rPr lang="en-GB" sz="2400" b="0" i="1" smtClean="0">
                        <a:latin typeface="Cambria Math" panose="02040503050406030204" pitchFamily="18" charset="0"/>
                      </a:rPr>
                      <m:t>𝑧</m:t>
                    </m:r>
                    <m:d>
                      <m:dPr>
                        <m:ctrlPr>
                          <a:rPr lang="en-GB" sz="2400" b="1" i="1" smtClean="0">
                            <a:latin typeface="Cambria Math" panose="02040503050406030204" pitchFamily="18" charset="0"/>
                          </a:rPr>
                        </m:ctrlPr>
                      </m:dPr>
                      <m:e>
                        <m:sSub>
                          <m:sSubPr>
                            <m:ctrlPr>
                              <a:rPr lang="en-GB" sz="2400" b="1" i="1" smtClean="0">
                                <a:latin typeface="Cambria Math" panose="02040503050406030204" pitchFamily="18" charset="0"/>
                              </a:rPr>
                            </m:ctrlPr>
                          </m:sSubPr>
                          <m:e>
                            <m:r>
                              <a:rPr lang="en-GB" sz="2400" b="1" i="1" smtClean="0">
                                <a:latin typeface="Cambria Math" panose="02040503050406030204" pitchFamily="18" charset="0"/>
                              </a:rPr>
                              <m:t>𝒔</m:t>
                            </m:r>
                          </m:e>
                          <m:sub>
                            <m:r>
                              <a:rPr lang="en-GB" sz="2400" b="0" i="1" smtClean="0">
                                <a:latin typeface="Cambria Math" panose="02040503050406030204" pitchFamily="18" charset="0"/>
                              </a:rPr>
                              <m:t>𝑛</m:t>
                            </m:r>
                          </m:sub>
                        </m:sSub>
                      </m:e>
                    </m:d>
                  </m:oMath>
                </a14:m>
                <a:r>
                  <a:rPr lang="en-GB" sz="2400" dirty="0">
                    <a:latin typeface="Aptos" panose="020B0004020202020204" pitchFamily="34" charset="0"/>
                  </a:rPr>
                  <a:t>, mean stationarity implies that </a:t>
                </a:r>
                <a14:m>
                  <m:oMath xmlns:m="http://schemas.openxmlformats.org/officeDocument/2006/math">
                    <m:r>
                      <a:rPr lang="en-GB" sz="2400" b="0" i="1" smtClean="0">
                        <a:latin typeface="Cambria Math" panose="02040503050406030204" pitchFamily="18" charset="0"/>
                      </a:rPr>
                      <m:t>𝜇</m:t>
                    </m:r>
                    <m:d>
                      <m:dPr>
                        <m:ctrlPr>
                          <a:rPr lang="en-GB" sz="2400" b="1" i="1" smtClean="0">
                            <a:latin typeface="Cambria Math" panose="02040503050406030204" pitchFamily="18" charset="0"/>
                          </a:rPr>
                        </m:ctrlPr>
                      </m:dPr>
                      <m:e>
                        <m:sSub>
                          <m:sSubPr>
                            <m:ctrlPr>
                              <a:rPr lang="en-GB" sz="2400" b="1" i="1" smtClean="0">
                                <a:latin typeface="Cambria Math" panose="02040503050406030204" pitchFamily="18" charset="0"/>
                              </a:rPr>
                            </m:ctrlPr>
                          </m:sSubPr>
                          <m:e>
                            <m:r>
                              <a:rPr lang="en-GB" sz="2400" b="1" i="1" smtClean="0">
                                <a:latin typeface="Cambria Math" panose="02040503050406030204" pitchFamily="18" charset="0"/>
                              </a:rPr>
                              <m:t>𝒔</m:t>
                            </m:r>
                          </m:e>
                          <m:sub>
                            <m:r>
                              <a:rPr lang="en-GB" sz="2400" b="0" i="1" smtClean="0">
                                <a:latin typeface="Cambria Math" panose="02040503050406030204" pitchFamily="18" charset="0"/>
                              </a:rPr>
                              <m:t>1</m:t>
                            </m:r>
                          </m:sub>
                        </m:sSub>
                      </m:e>
                    </m:d>
                    <m:r>
                      <a:rPr lang="en-GB" sz="2400" b="0" i="1" smtClean="0">
                        <a:latin typeface="Cambria Math" panose="02040503050406030204" pitchFamily="18" charset="0"/>
                      </a:rPr>
                      <m:t>=</m:t>
                    </m:r>
                    <m:r>
                      <a:rPr lang="en-GB" sz="2400" b="0" i="1" smtClean="0">
                        <a:latin typeface="Cambria Math" panose="02040503050406030204" pitchFamily="18" charset="0"/>
                      </a:rPr>
                      <m:t>𝜇</m:t>
                    </m:r>
                    <m:d>
                      <m:dPr>
                        <m:ctrlPr>
                          <a:rPr lang="en-GB" sz="2400" b="1" i="1" smtClean="0">
                            <a:latin typeface="Cambria Math" panose="02040503050406030204" pitchFamily="18" charset="0"/>
                          </a:rPr>
                        </m:ctrlPr>
                      </m:dPr>
                      <m:e>
                        <m:sSub>
                          <m:sSubPr>
                            <m:ctrlPr>
                              <a:rPr lang="en-GB" sz="2400" b="1" i="1" smtClean="0">
                                <a:latin typeface="Cambria Math" panose="02040503050406030204" pitchFamily="18" charset="0"/>
                              </a:rPr>
                            </m:ctrlPr>
                          </m:sSubPr>
                          <m:e>
                            <m:r>
                              <a:rPr lang="en-GB" sz="2400" b="1" i="1" smtClean="0">
                                <a:latin typeface="Cambria Math" panose="02040503050406030204" pitchFamily="18" charset="0"/>
                              </a:rPr>
                              <m:t>𝒔</m:t>
                            </m:r>
                          </m:e>
                          <m:sub>
                            <m:r>
                              <a:rPr lang="en-GB" sz="2400" b="0" i="1" smtClean="0">
                                <a:latin typeface="Cambria Math" panose="02040503050406030204" pitchFamily="18" charset="0"/>
                              </a:rPr>
                              <m:t>2</m:t>
                            </m:r>
                          </m:sub>
                        </m:sSub>
                      </m:e>
                    </m:d>
                    <m:r>
                      <a:rPr lang="en-GB" sz="2400" b="0" i="1" smtClean="0">
                        <a:latin typeface="Cambria Math" panose="02040503050406030204" pitchFamily="18" charset="0"/>
                      </a:rPr>
                      <m:t>=…=</m:t>
                    </m:r>
                    <m:r>
                      <a:rPr lang="en-GB" sz="2400" b="0" i="1" smtClean="0">
                        <a:latin typeface="Cambria Math" panose="02040503050406030204" pitchFamily="18" charset="0"/>
                      </a:rPr>
                      <m:t>𝜇</m:t>
                    </m:r>
                    <m:d>
                      <m:dPr>
                        <m:ctrlPr>
                          <a:rPr lang="en-GB" sz="2400" b="1" i="1" smtClean="0">
                            <a:latin typeface="Cambria Math" panose="02040503050406030204" pitchFamily="18" charset="0"/>
                          </a:rPr>
                        </m:ctrlPr>
                      </m:dPr>
                      <m:e>
                        <m:sSub>
                          <m:sSubPr>
                            <m:ctrlPr>
                              <a:rPr lang="en-GB" sz="2400" b="1" i="1" smtClean="0">
                                <a:latin typeface="Cambria Math" panose="02040503050406030204" pitchFamily="18" charset="0"/>
                              </a:rPr>
                            </m:ctrlPr>
                          </m:sSubPr>
                          <m:e>
                            <m:r>
                              <a:rPr lang="en-GB" sz="2400" b="1" i="1" smtClean="0">
                                <a:latin typeface="Cambria Math" panose="02040503050406030204" pitchFamily="18" charset="0"/>
                              </a:rPr>
                              <m:t>𝒔</m:t>
                            </m:r>
                          </m:e>
                          <m:sub>
                            <m:r>
                              <a:rPr lang="en-GB" sz="2400" b="0" i="1" smtClean="0">
                                <a:latin typeface="Cambria Math" panose="02040503050406030204" pitchFamily="18" charset="0"/>
                              </a:rPr>
                              <m:t>𝑛</m:t>
                            </m:r>
                          </m:sub>
                        </m:sSub>
                      </m:e>
                    </m:d>
                    <m:r>
                      <a:rPr lang="en-GB" sz="2400" b="0" i="1" smtClean="0">
                        <a:latin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𝜇</m:t>
                    </m:r>
                  </m:oMath>
                </a14:m>
                <a:endParaRPr lang="en-GB" sz="2400" dirty="0">
                  <a:latin typeface="Aptos" panose="020B0004020202020204" pitchFamily="34" charset="0"/>
                </a:endParaRPr>
              </a:p>
              <a:p>
                <a:endParaRPr lang="en-GB" sz="2400" dirty="0">
                  <a:latin typeface="Aptos" panose="020B0004020202020204" pitchFamily="34" charset="0"/>
                </a:endParaRPr>
              </a:p>
              <a:p>
                <a:r>
                  <a:rPr lang="en-GB" sz="2400" dirty="0">
                    <a:latin typeface="Aptos" panose="020B0004020202020204" pitchFamily="34" charset="0"/>
                  </a:rPr>
                  <a:t>A mean stationary process (a one-color map) is rarely of interest, since we are interested in investigating spatial variation</a:t>
                </a:r>
              </a:p>
              <a:p>
                <a:endParaRPr lang="en-GB" sz="2400" dirty="0">
                  <a:latin typeface="Aptos" panose="020B0004020202020204" pitchFamily="34" charset="0"/>
                </a:endParaRPr>
              </a:p>
              <a:p>
                <a:r>
                  <a:rPr lang="en-GB" sz="2400" dirty="0">
                    <a:latin typeface="Aptos" panose="020B0004020202020204" pitchFamily="34" charset="0"/>
                  </a:rPr>
                  <a:t>A zero-mean stationary process is often assumed for the underlying error distribution</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9645" y="1422509"/>
                <a:ext cx="8025881" cy="5140215"/>
              </a:xfrm>
              <a:blipFill>
                <a:blip r:embed="rId2"/>
                <a:stretch>
                  <a:fillRect l="-1064" t="-1540" b="-26659"/>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6572D74D-1326-1610-CF34-B25BBD56AEF1}"/>
              </a:ext>
            </a:extLst>
          </p:cNvPr>
          <p:cNvPicPr>
            <a:picLocks noChangeAspect="1"/>
          </p:cNvPicPr>
          <p:nvPr/>
        </p:nvPicPr>
        <p:blipFill>
          <a:blip r:embed="rId3"/>
          <a:srcRect l="8818" t="4467" r="54506" b="44427"/>
          <a:stretch>
            <a:fillRect/>
          </a:stretch>
        </p:blipFill>
        <p:spPr>
          <a:xfrm>
            <a:off x="8444714" y="1006031"/>
            <a:ext cx="3653980" cy="2767172"/>
          </a:xfrm>
          <a:prstGeom prst="rect">
            <a:avLst/>
          </a:prstGeom>
        </p:spPr>
      </p:pic>
      <p:pic>
        <p:nvPicPr>
          <p:cNvPr id="9" name="Picture 8">
            <a:extLst>
              <a:ext uri="{FF2B5EF4-FFF2-40B4-BE49-F238E27FC236}">
                <a16:creationId xmlns:a16="http://schemas.microsoft.com/office/drawing/2014/main" id="{E98AFADA-6602-A4D7-C174-7CA1157FE9DF}"/>
              </a:ext>
            </a:extLst>
          </p:cNvPr>
          <p:cNvPicPr>
            <a:picLocks noChangeAspect="1"/>
          </p:cNvPicPr>
          <p:nvPr/>
        </p:nvPicPr>
        <p:blipFill>
          <a:blip r:embed="rId3"/>
          <a:srcRect l="52984" t="2108" r="7661" b="45214"/>
          <a:stretch>
            <a:fillRect/>
          </a:stretch>
        </p:blipFill>
        <p:spPr>
          <a:xfrm>
            <a:off x="8444714" y="4121778"/>
            <a:ext cx="3517641" cy="2558940"/>
          </a:xfrm>
          <a:prstGeom prst="rect">
            <a:avLst/>
          </a:prstGeom>
        </p:spPr>
      </p:pic>
    </p:spTree>
    <p:extLst>
      <p:ext uri="{BB962C8B-B14F-4D97-AF65-F5344CB8AC3E}">
        <p14:creationId xmlns:p14="http://schemas.microsoft.com/office/powerpoint/2010/main" val="3422046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18288" y="1203718"/>
                <a:ext cx="7130142" cy="5425682"/>
              </a:xfrm>
            </p:spPr>
            <p:txBody>
              <a:bodyPr>
                <a:normAutofit fontScale="92500" lnSpcReduction="10000"/>
              </a:bodyPr>
              <a:lstStyle/>
              <a:p>
                <a:r>
                  <a:rPr lang="en-GB" dirty="0">
                    <a:latin typeface="Aptos" panose="020B0004020202020204" pitchFamily="34" charset="0"/>
                  </a:rPr>
                  <a:t>A stochastic process Z</a:t>
                </a:r>
                <a14:m>
                  <m:oMath xmlns:m="http://schemas.openxmlformats.org/officeDocument/2006/math">
                    <m:r>
                      <a:rPr lang="en-GB" b="0" i="1" smtClean="0">
                        <a:latin typeface="Cambria Math" panose="02040503050406030204" pitchFamily="18" charset="0"/>
                      </a:rPr>
                      <m:t>(</m:t>
                    </m:r>
                    <m:r>
                      <a:rPr lang="en-GB" b="1" i="1" smtClean="0">
                        <a:latin typeface="Cambria Math" panose="02040503050406030204" pitchFamily="18" charset="0"/>
                      </a:rPr>
                      <m:t>𝒔</m:t>
                    </m:r>
                    <m:r>
                      <a:rPr lang="en-GB" b="0" i="1" smtClean="0">
                        <a:latin typeface="Cambria Math" panose="02040503050406030204" pitchFamily="18" charset="0"/>
                      </a:rPr>
                      <m:t>)</m:t>
                    </m:r>
                  </m:oMath>
                </a14:m>
                <a:r>
                  <a:rPr lang="en-GB" dirty="0">
                    <a:latin typeface="Aptos" panose="020B0004020202020204" pitchFamily="34" charset="0"/>
                  </a:rPr>
                  <a:t> is said to be </a:t>
                </a:r>
                <a:r>
                  <a:rPr lang="en-GB" b="1" dirty="0">
                    <a:solidFill>
                      <a:schemeClr val="accent1">
                        <a:lumMod val="75000"/>
                      </a:schemeClr>
                    </a:solidFill>
                    <a:latin typeface="Aptos" panose="020B0004020202020204" pitchFamily="34" charset="0"/>
                  </a:rPr>
                  <a:t>covariance stationary</a:t>
                </a:r>
                <a:r>
                  <a:rPr lang="en-GB" dirty="0">
                    <a:solidFill>
                      <a:schemeClr val="accent1">
                        <a:lumMod val="75000"/>
                      </a:schemeClr>
                    </a:solidFill>
                    <a:latin typeface="Aptos" panose="020B0004020202020204" pitchFamily="34" charset="0"/>
                  </a:rPr>
                  <a:t> </a:t>
                </a:r>
                <a:r>
                  <a:rPr lang="en-GB" dirty="0">
                    <a:latin typeface="Aptos" panose="020B0004020202020204" pitchFamily="34" charset="0"/>
                  </a:rPr>
                  <a:t>if </a:t>
                </a:r>
                <a14:m>
                  <m:oMath xmlns:m="http://schemas.openxmlformats.org/officeDocument/2006/math">
                    <m:r>
                      <m:rPr>
                        <m:sty m:val="p"/>
                      </m:rPr>
                      <a:rPr lang="en-GB" b="0" i="0" smtClean="0">
                        <a:latin typeface="Cambria Math" panose="02040503050406030204" pitchFamily="18" charset="0"/>
                      </a:rPr>
                      <m:t>Cov</m:t>
                    </m:r>
                    <m:d>
                      <m:dPr>
                        <m:ctrlPr>
                          <a:rPr lang="en-GB" b="0" i="1" smtClean="0">
                            <a:latin typeface="Cambria Math" panose="02040503050406030204" pitchFamily="18" charset="0"/>
                          </a:rPr>
                        </m:ctrlPr>
                      </m:dPr>
                      <m:e>
                        <m:r>
                          <a:rPr lang="en-GB" b="0" i="1" smtClean="0">
                            <a:latin typeface="Cambria Math" panose="02040503050406030204" pitchFamily="18" charset="0"/>
                          </a:rPr>
                          <m:t>𝑍</m:t>
                        </m:r>
                        <m:d>
                          <m:dPr>
                            <m:ctrlPr>
                              <a:rPr lang="en-GB" b="1" i="1" smtClean="0">
                                <a:latin typeface="Cambria Math" panose="02040503050406030204" pitchFamily="18" charset="0"/>
                              </a:rPr>
                            </m:ctrlPr>
                          </m:dPr>
                          <m:e>
                            <m:r>
                              <a:rPr lang="en-GB" b="1" i="1" smtClean="0">
                                <a:latin typeface="Cambria Math" panose="02040503050406030204" pitchFamily="18" charset="0"/>
                              </a:rPr>
                              <m:t>𝒔</m:t>
                            </m:r>
                          </m:e>
                        </m:d>
                        <m:r>
                          <a:rPr lang="en-GB" b="0" i="1" smtClean="0">
                            <a:latin typeface="Cambria Math" panose="02040503050406030204" pitchFamily="18" charset="0"/>
                          </a:rPr>
                          <m:t>,</m:t>
                        </m:r>
                        <m:r>
                          <a:rPr lang="en-GB" b="0" i="1" smtClean="0">
                            <a:latin typeface="Cambria Math" panose="02040503050406030204" pitchFamily="18" charset="0"/>
                          </a:rPr>
                          <m:t>𝑍</m:t>
                        </m:r>
                        <m:d>
                          <m:dPr>
                            <m:ctrlPr>
                              <a:rPr lang="en-GB" b="1" i="1" smtClean="0">
                                <a:latin typeface="Cambria Math" panose="02040503050406030204" pitchFamily="18" charset="0"/>
                              </a:rPr>
                            </m:ctrlPr>
                          </m:dPr>
                          <m:e>
                            <m:r>
                              <a:rPr lang="en-GB" b="1" i="1" smtClean="0">
                                <a:latin typeface="Cambria Math" panose="02040503050406030204" pitchFamily="18" charset="0"/>
                              </a:rPr>
                              <m:t>𝒔</m:t>
                            </m:r>
                            <m:r>
                              <a:rPr lang="en-GB" b="0" i="1" smtClean="0">
                                <a:latin typeface="Cambria Math" panose="02040503050406030204" pitchFamily="18" charset="0"/>
                              </a:rPr>
                              <m:t>+</m:t>
                            </m:r>
                            <m:r>
                              <a:rPr lang="en-GB" b="1" i="1" smtClean="0">
                                <a:latin typeface="Cambria Math" panose="02040503050406030204" pitchFamily="18" charset="0"/>
                              </a:rPr>
                              <m:t>𝒉</m:t>
                            </m:r>
                          </m:e>
                        </m:d>
                      </m:e>
                    </m:d>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r>
                      <a:rPr lang="en-GB" b="1" i="1" smtClean="0">
                        <a:latin typeface="Cambria Math" panose="02040503050406030204" pitchFamily="18" charset="0"/>
                      </a:rPr>
                      <m:t>𝒉</m:t>
                    </m:r>
                    <m:r>
                      <a:rPr lang="en-GB" b="0" i="1" smtClean="0">
                        <a:latin typeface="Cambria Math" panose="02040503050406030204" pitchFamily="18" charset="0"/>
                      </a:rPr>
                      <m:t>)</m:t>
                    </m:r>
                  </m:oMath>
                </a14:m>
                <a:endParaRPr lang="en-GB" dirty="0">
                  <a:latin typeface="Aptos" panose="020B0004020202020204" pitchFamily="34" charset="0"/>
                </a:endParaRPr>
              </a:p>
              <a:p>
                <a:endParaRPr lang="en-GB" dirty="0">
                  <a:latin typeface="Aptos" panose="020B0004020202020204" pitchFamily="34" charset="0"/>
                </a:endParaRPr>
              </a:p>
              <a:p>
                <a:r>
                  <a:rPr lang="en-GB" dirty="0">
                    <a:latin typeface="Aptos" panose="020B0004020202020204" pitchFamily="34" charset="0"/>
                  </a:rPr>
                  <a:t>This means that the covariance of </a:t>
                </a:r>
                <a14:m>
                  <m:oMath xmlns:m="http://schemas.openxmlformats.org/officeDocument/2006/math">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e>
                    </m:d>
                  </m:oMath>
                </a14:m>
                <a:r>
                  <a:rPr lang="en-GB" dirty="0">
                    <a:latin typeface="Aptos" panose="020B0004020202020204" pitchFamily="34" charset="0"/>
                  </a:rPr>
                  <a:t> and </a:t>
                </a:r>
                <a14:m>
                  <m:oMath xmlns:m="http://schemas.openxmlformats.org/officeDocument/2006/math">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r>
                          <a:rPr lang="en-GB" i="1">
                            <a:latin typeface="Cambria Math" panose="02040503050406030204" pitchFamily="18" charset="0"/>
                          </a:rPr>
                          <m:t>+</m:t>
                        </m:r>
                        <m:r>
                          <a:rPr lang="en-GB" b="1" i="1">
                            <a:latin typeface="Cambria Math" panose="02040503050406030204" pitchFamily="18" charset="0"/>
                          </a:rPr>
                          <m:t>𝒉</m:t>
                        </m:r>
                      </m:e>
                    </m:d>
                  </m:oMath>
                </a14:m>
                <a:r>
                  <a:rPr lang="en-GB" dirty="0">
                    <a:latin typeface="Aptos" panose="020B0004020202020204" pitchFamily="34" charset="0"/>
                  </a:rPr>
                  <a:t> does not depend on the locations </a:t>
                </a:r>
                <a14:m>
                  <m:oMath xmlns:m="http://schemas.openxmlformats.org/officeDocument/2006/math">
                    <m:r>
                      <a:rPr lang="en-GB" b="1" i="1">
                        <a:latin typeface="Cambria Math" panose="02040503050406030204" pitchFamily="18" charset="0"/>
                      </a:rPr>
                      <m:t>𝒔</m:t>
                    </m:r>
                  </m:oMath>
                </a14:m>
                <a:r>
                  <a:rPr lang="en-GB" dirty="0">
                    <a:latin typeface="Aptos" panose="020B0004020202020204" pitchFamily="34" charset="0"/>
                  </a:rPr>
                  <a:t> and </a:t>
                </a:r>
                <a14:m>
                  <m:oMath xmlns:m="http://schemas.openxmlformats.org/officeDocument/2006/math">
                    <m:r>
                      <a:rPr lang="en-GB" b="1" i="1">
                        <a:latin typeface="Cambria Math" panose="02040503050406030204" pitchFamily="18" charset="0"/>
                      </a:rPr>
                      <m:t>𝒔</m:t>
                    </m:r>
                    <m:r>
                      <a:rPr lang="en-GB" i="1">
                        <a:latin typeface="Cambria Math" panose="02040503050406030204" pitchFamily="18" charset="0"/>
                      </a:rPr>
                      <m:t>+</m:t>
                    </m:r>
                    <m:r>
                      <a:rPr lang="en-GB" b="1" i="1">
                        <a:latin typeface="Cambria Math" panose="02040503050406030204" pitchFamily="18" charset="0"/>
                      </a:rPr>
                      <m:t>𝒉</m:t>
                    </m:r>
                  </m:oMath>
                </a14:m>
                <a:r>
                  <a:rPr lang="en-GB" dirty="0">
                    <a:latin typeface="Aptos" panose="020B0004020202020204" pitchFamily="34" charset="0"/>
                  </a:rPr>
                  <a:t>, but rather the difference </a:t>
                </a:r>
                <a14:m>
                  <m:oMath xmlns:m="http://schemas.openxmlformats.org/officeDocument/2006/math">
                    <m:r>
                      <a:rPr lang="en-GB" b="1" i="1">
                        <a:latin typeface="Cambria Math" panose="02040503050406030204" pitchFamily="18" charset="0"/>
                      </a:rPr>
                      <m:t>𝒉</m:t>
                    </m:r>
                  </m:oMath>
                </a14:m>
                <a:r>
                  <a:rPr lang="en-GB" dirty="0">
                    <a:latin typeface="Aptos" panose="020B0004020202020204" pitchFamily="34" charset="0"/>
                  </a:rPr>
                  <a:t> between them </a:t>
                </a:r>
              </a:p>
              <a:p>
                <a:endParaRPr lang="en-GB" dirty="0">
                  <a:latin typeface="Aptos" panose="020B0004020202020204" pitchFamily="34" charset="0"/>
                </a:endParaRPr>
              </a:p>
              <a:p>
                <a:r>
                  <a:rPr lang="en-GB" dirty="0">
                    <a:latin typeface="Aptos" panose="020B0004020202020204" pitchFamily="34" charset="0"/>
                  </a:rPr>
                  <a:t>The function </a:t>
                </a:r>
                <a14:m>
                  <m:oMath xmlns:m="http://schemas.openxmlformats.org/officeDocument/2006/math">
                    <m:r>
                      <a:rPr lang="en-GB" i="1">
                        <a:latin typeface="Cambria Math" panose="02040503050406030204" pitchFamily="18" charset="0"/>
                      </a:rPr>
                      <m:t>𝐶</m:t>
                    </m:r>
                    <m:r>
                      <a:rPr lang="en-GB" i="1">
                        <a:latin typeface="Cambria Math" panose="02040503050406030204" pitchFamily="18" charset="0"/>
                      </a:rPr>
                      <m:t>(</m:t>
                    </m:r>
                    <m:r>
                      <a:rPr lang="en-GB" b="1" i="1">
                        <a:latin typeface="Cambria Math" panose="02040503050406030204" pitchFamily="18" charset="0"/>
                      </a:rPr>
                      <m:t>𝒉</m:t>
                    </m:r>
                    <m:r>
                      <a:rPr lang="en-GB" i="1">
                        <a:latin typeface="Cambria Math" panose="02040503050406030204" pitchFamily="18" charset="0"/>
                      </a:rPr>
                      <m:t>)</m:t>
                    </m:r>
                  </m:oMath>
                </a14:m>
                <a:r>
                  <a:rPr lang="en-GB" dirty="0">
                    <a:latin typeface="Aptos" panose="020B0004020202020204" pitchFamily="34" charset="0"/>
                  </a:rPr>
                  <a:t> is called the </a:t>
                </a:r>
                <a:r>
                  <a:rPr lang="en-GB" b="1" dirty="0">
                    <a:solidFill>
                      <a:schemeClr val="accent1">
                        <a:lumMod val="75000"/>
                      </a:schemeClr>
                    </a:solidFill>
                    <a:latin typeface="Aptos" panose="020B0004020202020204" pitchFamily="34" charset="0"/>
                  </a:rPr>
                  <a:t>covariance function</a:t>
                </a:r>
                <a:r>
                  <a:rPr lang="en-GB" dirty="0">
                    <a:solidFill>
                      <a:schemeClr val="accent1">
                        <a:lumMod val="75000"/>
                      </a:schemeClr>
                    </a:solidFill>
                    <a:latin typeface="Aptos" panose="020B0004020202020204" pitchFamily="34" charset="0"/>
                  </a:rPr>
                  <a:t> </a:t>
                </a:r>
                <a:r>
                  <a:rPr lang="en-GB" dirty="0">
                    <a:latin typeface="Aptos" panose="020B0004020202020204" pitchFamily="34" charset="0"/>
                  </a:rPr>
                  <a:t>of the process</a:t>
                </a:r>
              </a:p>
              <a:p>
                <a:endParaRPr lang="en-GB" dirty="0">
                  <a:latin typeface="Aptos" panose="020B0004020202020204" pitchFamily="34" charset="0"/>
                </a:endParaRPr>
              </a:p>
              <a:p>
                <a:r>
                  <a:rPr lang="en-GB" dirty="0">
                    <a:latin typeface="Aptos" panose="020B0004020202020204" pitchFamily="34" charset="0"/>
                  </a:rPr>
                  <a:t>The non-dependence of </a:t>
                </a:r>
                <a14:m>
                  <m:oMath xmlns:m="http://schemas.openxmlformats.org/officeDocument/2006/math">
                    <m:r>
                      <a:rPr lang="en-GB" i="1">
                        <a:latin typeface="Cambria Math" panose="02040503050406030204" pitchFamily="18" charset="0"/>
                      </a:rPr>
                      <m:t>𝐶</m:t>
                    </m:r>
                    <m:r>
                      <a:rPr lang="en-GB" i="1">
                        <a:latin typeface="Cambria Math" panose="02040503050406030204" pitchFamily="18" charset="0"/>
                      </a:rPr>
                      <m:t>(</m:t>
                    </m:r>
                    <m:r>
                      <a:rPr lang="en-GB" b="1" i="1">
                        <a:latin typeface="Cambria Math" panose="02040503050406030204" pitchFamily="18" charset="0"/>
                      </a:rPr>
                      <m:t>𝒉</m:t>
                    </m:r>
                    <m:r>
                      <a:rPr lang="en-GB" i="1">
                        <a:latin typeface="Cambria Math" panose="02040503050406030204" pitchFamily="18" charset="0"/>
                      </a:rPr>
                      <m:t>)</m:t>
                    </m:r>
                  </m:oMath>
                </a14:m>
                <a:r>
                  <a:rPr lang="en-GB" dirty="0">
                    <a:latin typeface="Aptos" panose="020B0004020202020204" pitchFamily="34" charset="0"/>
                  </a:rPr>
                  <a:t> on any particular location in </a:t>
                </a:r>
                <a14:m>
                  <m:oMath xmlns:m="http://schemas.openxmlformats.org/officeDocument/2006/math">
                    <m:r>
                      <a:rPr lang="en-GB" b="0" i="1" smtClean="0">
                        <a:latin typeface="Cambria Math" panose="02040503050406030204" pitchFamily="18" charset="0"/>
                      </a:rPr>
                      <m:t>𝐷</m:t>
                    </m:r>
                  </m:oMath>
                </a14:m>
                <a:r>
                  <a:rPr lang="en-GB" dirty="0">
                    <a:latin typeface="Aptos" panose="020B0004020202020204" pitchFamily="34" charset="0"/>
                  </a:rPr>
                  <a:t> helps to simplify modelling</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18288" y="1203718"/>
                <a:ext cx="7130142" cy="5425682"/>
              </a:xfrm>
              <a:blipFill>
                <a:blip r:embed="rId2"/>
                <a:stretch>
                  <a:fillRect l="-1369" t="-2245" r="-1027" b="-2020"/>
                </a:stretch>
              </a:blipFill>
            </p:spPr>
            <p:txBody>
              <a:bodyPr/>
              <a:lstStyle/>
              <a:p>
                <a:r>
                  <a:rPr lang="en-GB">
                    <a:noFill/>
                  </a:rPr>
                  <a:t> </a:t>
                </a:r>
              </a:p>
            </p:txBody>
          </p:sp>
        </mc:Fallback>
      </mc:AlternateContent>
      <p:sp>
        <p:nvSpPr>
          <p:cNvPr id="5" name="Title 1"/>
          <p:cNvSpPr>
            <a:spLocks noGrp="1"/>
          </p:cNvSpPr>
          <p:nvPr>
            <p:ph type="title"/>
          </p:nvPr>
        </p:nvSpPr>
        <p:spPr>
          <a:xfrm>
            <a:off x="314325" y="-66675"/>
            <a:ext cx="8605058" cy="881149"/>
          </a:xfrm>
        </p:spPr>
        <p:txBody>
          <a:bodyPr>
            <a:normAutofit/>
          </a:bodyPr>
          <a:lstStyle/>
          <a:p>
            <a:r>
              <a:rPr lang="en-GB" sz="4000" b="1" dirty="0">
                <a:solidFill>
                  <a:schemeClr val="bg1"/>
                </a:solidFill>
                <a:latin typeface="Aptos" panose="020B0004020202020204" pitchFamily="34" charset="0"/>
              </a:rPr>
              <a:t>Stationarity</a:t>
            </a:r>
          </a:p>
        </p:txBody>
      </p:sp>
      <p:pic>
        <p:nvPicPr>
          <p:cNvPr id="4" name="Picture 3">
            <a:extLst>
              <a:ext uri="{FF2B5EF4-FFF2-40B4-BE49-F238E27FC236}">
                <a16:creationId xmlns:a16="http://schemas.microsoft.com/office/drawing/2014/main" id="{049496E8-A782-9E42-35F0-CAFAF3F7F1F0}"/>
              </a:ext>
            </a:extLst>
          </p:cNvPr>
          <p:cNvPicPr>
            <a:picLocks noChangeAspect="1"/>
          </p:cNvPicPr>
          <p:nvPr/>
        </p:nvPicPr>
        <p:blipFill>
          <a:blip r:embed="rId3"/>
          <a:srcRect l="22110" t="11008" r="22344" b="17297"/>
          <a:stretch>
            <a:fillRect/>
          </a:stretch>
        </p:blipFill>
        <p:spPr>
          <a:xfrm>
            <a:off x="7398826" y="2458086"/>
            <a:ext cx="4645439" cy="2606934"/>
          </a:xfrm>
          <a:prstGeom prst="rect">
            <a:avLst/>
          </a:prstGeom>
        </p:spPr>
      </p:pic>
      <p:sp>
        <p:nvSpPr>
          <p:cNvPr id="7" name="TextBox 6">
            <a:extLst>
              <a:ext uri="{FF2B5EF4-FFF2-40B4-BE49-F238E27FC236}">
                <a16:creationId xmlns:a16="http://schemas.microsoft.com/office/drawing/2014/main" id="{6CB0772E-FCA3-1D43-3633-BD660BD82556}"/>
              </a:ext>
            </a:extLst>
          </p:cNvPr>
          <p:cNvSpPr txBox="1"/>
          <p:nvPr/>
        </p:nvSpPr>
        <p:spPr>
          <a:xfrm>
            <a:off x="7585788" y="5225143"/>
            <a:ext cx="4133461" cy="646331"/>
          </a:xfrm>
          <a:prstGeom prst="rect">
            <a:avLst/>
          </a:prstGeom>
          <a:noFill/>
        </p:spPr>
        <p:txBody>
          <a:bodyPr wrap="square" rtlCol="0">
            <a:spAutoFit/>
          </a:bodyPr>
          <a:lstStyle/>
          <a:p>
            <a:r>
              <a:rPr lang="en-GB" dirty="0"/>
              <a:t>Same separation vector </a:t>
            </a:r>
            <a:r>
              <a:rPr lang="en-GB" b="1" dirty="0"/>
              <a:t>h</a:t>
            </a:r>
            <a:r>
              <a:rPr lang="en-GB" dirty="0"/>
              <a:t> at two different locations → same covariance</a:t>
            </a:r>
          </a:p>
        </p:txBody>
      </p:sp>
    </p:spTree>
    <p:extLst>
      <p:ext uri="{BB962C8B-B14F-4D97-AF65-F5344CB8AC3E}">
        <p14:creationId xmlns:p14="http://schemas.microsoft.com/office/powerpoint/2010/main" val="2542488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30727" y="1263268"/>
                <a:ext cx="7578012" cy="5019869"/>
              </a:xfrm>
            </p:spPr>
            <p:txBody>
              <a:bodyPr>
                <a:normAutofit fontScale="92500" lnSpcReduction="10000"/>
              </a:bodyPr>
              <a:lstStyle/>
              <a:p>
                <a:r>
                  <a:rPr lang="en-GB" dirty="0">
                    <a:latin typeface="Aptos" panose="020B0004020202020204" pitchFamily="34" charset="0"/>
                  </a:rPr>
                  <a:t>A stochastic process </a:t>
                </a:r>
                <a14:m>
                  <m:oMath xmlns:m="http://schemas.openxmlformats.org/officeDocument/2006/math">
                    <m:r>
                      <a:rPr lang="en-GB" b="0" i="1" smtClean="0">
                        <a:latin typeface="Cambria Math" panose="02040503050406030204" pitchFamily="18" charset="0"/>
                      </a:rPr>
                      <m:t>𝑍</m:t>
                    </m:r>
                    <m:r>
                      <a:rPr lang="en-GB" i="1">
                        <a:latin typeface="Cambria Math" panose="02040503050406030204" pitchFamily="18" charset="0"/>
                      </a:rPr>
                      <m:t>(</m:t>
                    </m:r>
                    <m:r>
                      <a:rPr lang="en-GB" b="1" i="1">
                        <a:latin typeface="Cambria Math" panose="02040503050406030204" pitchFamily="18" charset="0"/>
                      </a:rPr>
                      <m:t>𝒔</m:t>
                    </m:r>
                    <m:r>
                      <a:rPr lang="en-GB" i="1">
                        <a:latin typeface="Cambria Math" panose="02040503050406030204" pitchFamily="18" charset="0"/>
                      </a:rPr>
                      <m:t>)</m:t>
                    </m:r>
                  </m:oMath>
                </a14:m>
                <a:r>
                  <a:rPr lang="en-GB" dirty="0">
                    <a:latin typeface="Aptos" panose="020B0004020202020204" pitchFamily="34" charset="0"/>
                  </a:rPr>
                  <a:t> is said to be </a:t>
                </a:r>
                <a:r>
                  <a:rPr lang="en-GB" b="1" dirty="0">
                    <a:solidFill>
                      <a:schemeClr val="accent1">
                        <a:lumMod val="75000"/>
                      </a:schemeClr>
                    </a:solidFill>
                    <a:latin typeface="Aptos" panose="020B0004020202020204" pitchFamily="34" charset="0"/>
                  </a:rPr>
                  <a:t>variance stationary </a:t>
                </a:r>
                <a:r>
                  <a:rPr lang="en-GB" dirty="0">
                    <a:latin typeface="Aptos" panose="020B0004020202020204" pitchFamily="34" charset="0"/>
                  </a:rPr>
                  <a:t>if its variance </a:t>
                </a:r>
                <a14:m>
                  <m:oMath xmlns:m="http://schemas.openxmlformats.org/officeDocument/2006/math">
                    <m:r>
                      <a:rPr lang="en-GB" b="0" i="1" smtClean="0">
                        <a:latin typeface="Cambria Math" panose="02040503050406030204" pitchFamily="18" charset="0"/>
                      </a:rPr>
                      <m:t>𝑉</m:t>
                    </m:r>
                    <m:r>
                      <a:rPr lang="en-GB" b="0" i="1" smtClean="0">
                        <a:latin typeface="Cambria Math" panose="02040503050406030204" pitchFamily="18" charset="0"/>
                      </a:rPr>
                      <m:t>(</m:t>
                    </m:r>
                    <m:r>
                      <a:rPr lang="en-GB" b="1" i="1" smtClean="0">
                        <a:latin typeface="Cambria Math" panose="02040503050406030204" pitchFamily="18" charset="0"/>
                      </a:rPr>
                      <m:t>𝒔</m:t>
                    </m:r>
                    <m:r>
                      <a:rPr lang="en-GB" b="0" i="1" smtClean="0">
                        <a:latin typeface="Cambria Math" panose="02040503050406030204" pitchFamily="18" charset="0"/>
                      </a:rPr>
                      <m:t>)</m:t>
                    </m:r>
                  </m:oMath>
                </a14:m>
                <a:r>
                  <a:rPr lang="en-GB" dirty="0">
                    <a:latin typeface="Aptos" panose="020B0004020202020204" pitchFamily="34" charset="0"/>
                  </a:rPr>
                  <a:t> is constant, say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oMath>
                </a14:m>
                <a:r>
                  <a:rPr lang="en-GB" dirty="0">
                    <a:latin typeface="Aptos" panose="020B0004020202020204" pitchFamily="34" charset="0"/>
                  </a:rPr>
                  <a:t>, over the domain </a:t>
                </a:r>
                <a14:m>
                  <m:oMath xmlns:m="http://schemas.openxmlformats.org/officeDocument/2006/math">
                    <m:r>
                      <a:rPr lang="en-GB" b="0" i="1" smtClean="0">
                        <a:latin typeface="Cambria Math" panose="02040503050406030204" pitchFamily="18" charset="0"/>
                      </a:rPr>
                      <m:t>𝐷</m:t>
                    </m:r>
                  </m:oMath>
                </a14:m>
                <a:endParaRPr lang="en-GB" dirty="0">
                  <a:latin typeface="Aptos" panose="020B0004020202020204" pitchFamily="34" charset="0"/>
                </a:endParaRPr>
              </a:p>
              <a:p>
                <a:endParaRPr lang="en-GB" dirty="0">
                  <a:latin typeface="Aptos" panose="020B0004020202020204" pitchFamily="34" charset="0"/>
                </a:endParaRPr>
              </a:p>
              <a:p>
                <a:r>
                  <a:rPr lang="en-GB" dirty="0">
                    <a:latin typeface="Aptos" panose="020B0004020202020204" pitchFamily="34" charset="0"/>
                  </a:rPr>
                  <a:t>That is, no heterogeneity can be attributed to variation in space </a:t>
                </a:r>
              </a:p>
              <a:p>
                <a:endParaRPr lang="en-GB" dirty="0">
                  <a:latin typeface="Aptos" panose="020B0004020202020204" pitchFamily="34" charset="0"/>
                </a:endParaRPr>
              </a:p>
              <a:p>
                <a:r>
                  <a:rPr lang="en-GB" dirty="0">
                    <a:latin typeface="Aptos" panose="020B0004020202020204" pitchFamily="34" charset="0"/>
                  </a:rPr>
                  <a:t> Again, this does not hold in practice but is often assumed for the underlying error distribution</a:t>
                </a:r>
              </a:p>
              <a:p>
                <a:endParaRPr lang="en-GB" dirty="0">
                  <a:latin typeface="Aptos" panose="020B0004020202020204" pitchFamily="34" charset="0"/>
                </a:endParaRPr>
              </a:p>
              <a:p>
                <a:r>
                  <a:rPr lang="en-GB" dirty="0">
                    <a:latin typeface="Aptos" panose="020B0004020202020204" pitchFamily="34" charset="0"/>
                  </a:rPr>
                  <a:t>Note that when </a:t>
                </a:r>
                <a14:m>
                  <m:oMath xmlns:m="http://schemas.openxmlformats.org/officeDocument/2006/math">
                    <m:r>
                      <a:rPr lang="en-GB" b="1" i="1" smtClean="0">
                        <a:latin typeface="Cambria Math" panose="02040503050406030204" pitchFamily="18" charset="0"/>
                      </a:rPr>
                      <m:t>𝒉</m:t>
                    </m:r>
                    <m:r>
                      <a:rPr lang="en-GB" b="0" i="1" smtClean="0">
                        <a:latin typeface="Cambria Math" panose="02040503050406030204" pitchFamily="18" charset="0"/>
                      </a:rPr>
                      <m:t>=0</m:t>
                    </m:r>
                  </m:oMath>
                </a14:m>
                <a:r>
                  <a:rPr lang="en-GB" dirty="0">
                    <a:latin typeface="Aptos" panose="020B0004020202020204" pitchFamily="34" charset="0"/>
                  </a:rPr>
                  <a:t>, </a:t>
                </a:r>
                <a14:m>
                  <m:oMath xmlns:m="http://schemas.openxmlformats.org/officeDocument/2006/math">
                    <m:r>
                      <m:rPr>
                        <m:sty m:val="p"/>
                      </m:rPr>
                      <a:rPr lang="en-GB">
                        <a:latin typeface="Cambria Math" panose="02040503050406030204" pitchFamily="18" charset="0"/>
                      </a:rPr>
                      <m:t>Cov</m:t>
                    </m:r>
                    <m:d>
                      <m:dPr>
                        <m:ctrlPr>
                          <a:rPr lang="en-GB" b="0" i="1" smtClean="0">
                            <a:latin typeface="Cambria Math" panose="02040503050406030204" pitchFamily="18" charset="0"/>
                          </a:rPr>
                        </m:ctrlPr>
                      </m:dPr>
                      <m:e>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e>
                        </m:d>
                        <m:r>
                          <a:rPr lang="en-GB" i="1">
                            <a:latin typeface="Cambria Math" panose="02040503050406030204" pitchFamily="18" charset="0"/>
                          </a:rPr>
                          <m:t>,</m:t>
                        </m:r>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r>
                              <a:rPr lang="en-GB" i="1">
                                <a:latin typeface="Cambria Math" panose="02040503050406030204" pitchFamily="18" charset="0"/>
                              </a:rPr>
                              <m:t>+</m:t>
                            </m:r>
                            <m:r>
                              <a:rPr lang="en-GB" b="1" i="1" smtClean="0">
                                <a:latin typeface="Cambria Math" panose="02040503050406030204" pitchFamily="18" charset="0"/>
                              </a:rPr>
                              <m:t>𝟎</m:t>
                            </m:r>
                          </m:e>
                        </m:d>
                      </m:e>
                    </m:d>
                    <m:r>
                      <a:rPr lang="en-GB" b="0" i="1" smtClean="0">
                        <a:latin typeface="Cambria Math" panose="02040503050406030204" pitchFamily="18" charset="0"/>
                      </a:rPr>
                      <m:t>=</m:t>
                    </m:r>
                    <m:r>
                      <a:rPr lang="en-GB" b="0" i="1" smtClean="0">
                        <a:latin typeface="Cambria Math" panose="02040503050406030204" pitchFamily="18" charset="0"/>
                      </a:rPr>
                      <m:t>𝐶</m:t>
                    </m:r>
                    <m:d>
                      <m:dPr>
                        <m:ctrlPr>
                          <a:rPr lang="en-GB" b="1" i="1" smtClean="0">
                            <a:latin typeface="Cambria Math" panose="02040503050406030204" pitchFamily="18" charset="0"/>
                          </a:rPr>
                        </m:ctrlPr>
                      </m:dPr>
                      <m:e>
                        <m:r>
                          <a:rPr lang="en-GB" b="1" i="1" smtClean="0">
                            <a:latin typeface="Cambria Math" panose="02040503050406030204" pitchFamily="18" charset="0"/>
                          </a:rPr>
                          <m:t>𝟎</m:t>
                        </m:r>
                      </m:e>
                    </m:d>
                    <m:r>
                      <a:rPr lang="en-GB" b="0" i="1" smtClean="0">
                        <a:latin typeface="Cambria Math" panose="02040503050406030204" pitchFamily="18" charset="0"/>
                      </a:rPr>
                      <m:t>=</m:t>
                    </m:r>
                    <m:r>
                      <a:rPr lang="en-GB" b="0" i="1" smtClean="0">
                        <a:latin typeface="Cambria Math" panose="02040503050406030204" pitchFamily="18" charset="0"/>
                      </a:rPr>
                      <m:t>𝑉</m:t>
                    </m:r>
                    <m:d>
                      <m:dPr>
                        <m:ctrlPr>
                          <a:rPr lang="en-GB" b="1" i="1" smtClean="0">
                            <a:latin typeface="Cambria Math" panose="02040503050406030204" pitchFamily="18" charset="0"/>
                          </a:rPr>
                        </m:ctrlPr>
                      </m:dPr>
                      <m:e>
                        <m:r>
                          <a:rPr lang="en-GB" b="1" i="1" smtClean="0">
                            <a:latin typeface="Cambria Math" panose="02040503050406030204" pitchFamily="18" charset="0"/>
                          </a:rPr>
                          <m:t>𝒔</m:t>
                        </m:r>
                      </m:e>
                    </m:d>
                  </m:oMath>
                </a14:m>
                <a:endParaRPr lang="en-GB" dirty="0">
                  <a:latin typeface="Aptos" panose="020B00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30727" y="1263268"/>
                <a:ext cx="7578012" cy="5019869"/>
              </a:xfrm>
              <a:blipFill>
                <a:blip r:embed="rId2"/>
                <a:stretch>
                  <a:fillRect l="-1207" t="-2427" r="-161"/>
                </a:stretch>
              </a:blipFill>
            </p:spPr>
            <p:txBody>
              <a:bodyPr/>
              <a:lstStyle/>
              <a:p>
                <a:r>
                  <a:rPr lang="en-GB">
                    <a:noFill/>
                  </a:rPr>
                  <a:t> </a:t>
                </a:r>
              </a:p>
            </p:txBody>
          </p:sp>
        </mc:Fallback>
      </mc:AlternateContent>
      <p:sp>
        <p:nvSpPr>
          <p:cNvPr id="5" name="Title 1"/>
          <p:cNvSpPr>
            <a:spLocks noGrp="1"/>
          </p:cNvSpPr>
          <p:nvPr>
            <p:ph type="title"/>
          </p:nvPr>
        </p:nvSpPr>
        <p:spPr>
          <a:xfrm>
            <a:off x="838200" y="0"/>
            <a:ext cx="8605058" cy="881149"/>
          </a:xfrm>
        </p:spPr>
        <p:txBody>
          <a:bodyPr>
            <a:normAutofit/>
          </a:bodyPr>
          <a:lstStyle/>
          <a:p>
            <a:r>
              <a:rPr lang="en-GB" sz="4000" b="1" dirty="0">
                <a:solidFill>
                  <a:schemeClr val="bg1"/>
                </a:solidFill>
                <a:latin typeface="Aptos" panose="020B0004020202020204" pitchFamily="34" charset="0"/>
              </a:rPr>
              <a:t>Stationarity</a:t>
            </a:r>
          </a:p>
        </p:txBody>
      </p:sp>
      <p:pic>
        <p:nvPicPr>
          <p:cNvPr id="4" name="Picture 3">
            <a:extLst>
              <a:ext uri="{FF2B5EF4-FFF2-40B4-BE49-F238E27FC236}">
                <a16:creationId xmlns:a16="http://schemas.microsoft.com/office/drawing/2014/main" id="{E7D2B8B0-58A5-BBD8-3954-69F32386056B}"/>
              </a:ext>
            </a:extLst>
          </p:cNvPr>
          <p:cNvPicPr>
            <a:picLocks noChangeAspect="1"/>
          </p:cNvPicPr>
          <p:nvPr/>
        </p:nvPicPr>
        <p:blipFill>
          <a:blip r:embed="rId3"/>
          <a:srcRect l="8818" t="4467" r="54506" b="44427"/>
          <a:stretch>
            <a:fillRect/>
          </a:stretch>
        </p:blipFill>
        <p:spPr>
          <a:xfrm>
            <a:off x="8343632" y="1006031"/>
            <a:ext cx="3653980" cy="2767172"/>
          </a:xfrm>
          <a:prstGeom prst="rect">
            <a:avLst/>
          </a:prstGeom>
        </p:spPr>
      </p:pic>
      <p:pic>
        <p:nvPicPr>
          <p:cNvPr id="7" name="Picture 6">
            <a:extLst>
              <a:ext uri="{FF2B5EF4-FFF2-40B4-BE49-F238E27FC236}">
                <a16:creationId xmlns:a16="http://schemas.microsoft.com/office/drawing/2014/main" id="{92EF0F63-18F7-EFD1-A33D-B2175C995564}"/>
              </a:ext>
            </a:extLst>
          </p:cNvPr>
          <p:cNvPicPr>
            <a:picLocks noChangeAspect="1"/>
          </p:cNvPicPr>
          <p:nvPr/>
        </p:nvPicPr>
        <p:blipFill>
          <a:blip r:embed="rId3"/>
          <a:srcRect l="52984" t="2108" r="7661" b="45214"/>
          <a:stretch>
            <a:fillRect/>
          </a:stretch>
        </p:blipFill>
        <p:spPr>
          <a:xfrm>
            <a:off x="8343632" y="4121778"/>
            <a:ext cx="3517641" cy="2558940"/>
          </a:xfrm>
          <a:prstGeom prst="rect">
            <a:avLst/>
          </a:prstGeom>
        </p:spPr>
      </p:pic>
    </p:spTree>
    <p:extLst>
      <p:ext uri="{BB962C8B-B14F-4D97-AF65-F5344CB8AC3E}">
        <p14:creationId xmlns:p14="http://schemas.microsoft.com/office/powerpoint/2010/main" val="1526790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62000" y="1778000"/>
                <a:ext cx="10515600" cy="3688767"/>
              </a:xfrm>
            </p:spPr>
            <p:txBody>
              <a:bodyPr>
                <a:normAutofit lnSpcReduction="10000"/>
              </a:bodyPr>
              <a:lstStyle/>
              <a:p>
                <a:r>
                  <a:rPr lang="en-GB" dirty="0">
                    <a:latin typeface="Aptos" panose="020B0004020202020204" pitchFamily="34" charset="0"/>
                  </a:rPr>
                  <a:t>A stochastic process that is both mean stationary and covariance stationary is said to be a </a:t>
                </a:r>
                <a:r>
                  <a:rPr lang="en-GB" b="1" dirty="0">
                    <a:solidFill>
                      <a:schemeClr val="accent1">
                        <a:lumMod val="75000"/>
                      </a:schemeClr>
                    </a:solidFill>
                    <a:latin typeface="Aptos" panose="020B0004020202020204" pitchFamily="34" charset="0"/>
                  </a:rPr>
                  <a:t>weakly stationary </a:t>
                </a:r>
                <a:r>
                  <a:rPr lang="en-GB" dirty="0">
                    <a:latin typeface="Aptos" panose="020B0004020202020204" pitchFamily="34" charset="0"/>
                  </a:rPr>
                  <a:t>(or second-order stationary) process</a:t>
                </a:r>
              </a:p>
              <a:p>
                <a:endParaRPr lang="en-GB" dirty="0">
                  <a:latin typeface="Aptos" panose="020B0004020202020204" pitchFamily="34" charset="0"/>
                </a:endParaRPr>
              </a:p>
              <a:p>
                <a:r>
                  <a:rPr lang="en-GB" dirty="0">
                    <a:latin typeface="Aptos" panose="020B0004020202020204" pitchFamily="34" charset="0"/>
                  </a:rPr>
                  <a:t>A stronger assumption is </a:t>
                </a:r>
                <a:r>
                  <a:rPr lang="en-GB" b="1" dirty="0">
                    <a:solidFill>
                      <a:schemeClr val="accent1">
                        <a:lumMod val="75000"/>
                      </a:schemeClr>
                    </a:solidFill>
                    <a:latin typeface="Aptos" panose="020B0004020202020204" pitchFamily="34" charset="0"/>
                  </a:rPr>
                  <a:t>strict (or strong) stationarity</a:t>
                </a:r>
                <a:r>
                  <a:rPr lang="en-GB" dirty="0">
                    <a:latin typeface="Aptos" panose="020B0004020202020204" pitchFamily="34" charset="0"/>
                  </a:rPr>
                  <a:t>. A stochastic process is said to be strictly stationary if, for any given </a:t>
                </a:r>
                <a14:m>
                  <m:oMath xmlns:m="http://schemas.openxmlformats.org/officeDocument/2006/math">
                    <m:r>
                      <a:rPr lang="en-GB" b="0" i="1" smtClean="0">
                        <a:latin typeface="Cambria Math" panose="02040503050406030204" pitchFamily="18" charset="0"/>
                      </a:rPr>
                      <m:t>𝑛</m:t>
                    </m:r>
                    <m:r>
                      <a:rPr lang="en-GB" b="0" i="1" smtClean="0">
                        <a:latin typeface="Cambria Math" panose="02040503050406030204" pitchFamily="18" charset="0"/>
                        <a:ea typeface="Cambria Math" panose="02040503050406030204" pitchFamily="18" charset="0"/>
                      </a:rPr>
                      <m:t>≥1</m:t>
                    </m:r>
                  </m:oMath>
                </a14:m>
                <a:r>
                  <a:rPr lang="en-GB" dirty="0">
                    <a:latin typeface="Aptos" panose="020B0004020202020204" pitchFamily="34" charset="0"/>
                  </a:rPr>
                  <a:t>, any set of </a:t>
                </a:r>
                <a14:m>
                  <m:oMath xmlns:m="http://schemas.openxmlformats.org/officeDocument/2006/math">
                    <m:r>
                      <a:rPr lang="en-GB" b="0" i="1" smtClean="0">
                        <a:latin typeface="Cambria Math" panose="02040503050406030204" pitchFamily="18" charset="0"/>
                      </a:rPr>
                      <m:t>𝑛</m:t>
                    </m:r>
                  </m:oMath>
                </a14:m>
                <a:r>
                  <a:rPr lang="en-GB" dirty="0">
                    <a:latin typeface="Aptos" panose="020B0004020202020204" pitchFamily="34" charset="0"/>
                  </a:rPr>
                  <a:t> sites </a:t>
                </a:r>
                <a14:m>
                  <m:oMath xmlns:m="http://schemas.openxmlformats.org/officeDocument/2006/math">
                    <m:r>
                      <a:rPr lang="en-GB" b="0"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𝑛</m:t>
                        </m:r>
                      </m:sub>
                    </m:sSub>
                    <m:r>
                      <a:rPr lang="en-GB" b="0" i="1" smtClean="0">
                        <a:latin typeface="Cambria Math" panose="02040503050406030204" pitchFamily="18" charset="0"/>
                      </a:rPr>
                      <m:t>}</m:t>
                    </m:r>
                  </m:oMath>
                </a14:m>
                <a:r>
                  <a:rPr lang="en-GB" dirty="0">
                    <a:latin typeface="Aptos" panose="020B0004020202020204" pitchFamily="34" charset="0"/>
                  </a:rPr>
                  <a:t> and any increment vector </a:t>
                </a:r>
                <a14:m>
                  <m:oMath xmlns:m="http://schemas.openxmlformats.org/officeDocument/2006/math">
                    <m:r>
                      <a:rPr lang="en-GB" b="1" i="1" smtClean="0">
                        <a:latin typeface="Cambria Math" panose="02040503050406030204" pitchFamily="18" charset="0"/>
                      </a:rPr>
                      <m:t>𝒉</m:t>
                    </m:r>
                  </m:oMath>
                </a14:m>
                <a:r>
                  <a:rPr lang="en-GB" dirty="0">
                    <a:latin typeface="Aptos" panose="020B0004020202020204" pitchFamily="34" charset="0"/>
                  </a:rPr>
                  <a:t>, the joint distribution of Z</a:t>
                </a:r>
                <a14:m>
                  <m:oMath xmlns:m="http://schemas.openxmlformats.org/officeDocument/2006/math">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1</m:t>
                            </m:r>
                          </m:sub>
                        </m:sSub>
                      </m:e>
                    </m:d>
                    <m:r>
                      <a:rPr lang="en-GB" b="0" i="1" smtClean="0">
                        <a:latin typeface="Cambria Math" panose="02040503050406030204" pitchFamily="18" charset="0"/>
                      </a:rPr>
                      <m:t>,…</m:t>
                    </m:r>
                    <m:r>
                      <a:rPr lang="en-GB" b="0" i="1" smtClean="0">
                        <a:latin typeface="Cambria Math" panose="02040503050406030204" pitchFamily="18" charset="0"/>
                      </a:rPr>
                      <m:t>𝑍</m:t>
                    </m:r>
                    <m:r>
                      <a:rPr lang="en-GB" b="0" i="1" smtClean="0">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b="0" i="1" smtClean="0">
                            <a:latin typeface="Cambria Math" panose="02040503050406030204" pitchFamily="18" charset="0"/>
                          </a:rPr>
                          <m:t>𝑛</m:t>
                        </m:r>
                      </m:sub>
                    </m:sSub>
                    <m:r>
                      <a:rPr lang="en-GB" b="0" i="1" smtClean="0">
                        <a:latin typeface="Cambria Math" panose="02040503050406030204" pitchFamily="18" charset="0"/>
                      </a:rPr>
                      <m:t>)</m:t>
                    </m:r>
                  </m:oMath>
                </a14:m>
                <a:r>
                  <a:rPr lang="en-GB" b="1" dirty="0">
                    <a:latin typeface="Aptos" panose="020B0004020202020204" pitchFamily="34" charset="0"/>
                  </a:rPr>
                  <a:t> </a:t>
                </a:r>
                <a:r>
                  <a:rPr lang="en-GB" dirty="0">
                    <a:latin typeface="Aptos" panose="020B0004020202020204" pitchFamily="34" charset="0"/>
                  </a:rPr>
                  <a:t>is the same as Z</a:t>
                </a:r>
                <a14:m>
                  <m:oMath xmlns:m="http://schemas.openxmlformats.org/officeDocument/2006/math">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1</m:t>
                            </m:r>
                          </m:sub>
                        </m:sSub>
                        <m:r>
                          <a:rPr lang="en-GB" b="0" i="1" smtClean="0">
                            <a:latin typeface="Cambria Math" panose="02040503050406030204" pitchFamily="18" charset="0"/>
                          </a:rPr>
                          <m:t>+</m:t>
                        </m:r>
                        <m:r>
                          <a:rPr lang="en-GB" b="1" i="1" smtClean="0">
                            <a:latin typeface="Cambria Math" panose="02040503050406030204" pitchFamily="18" charset="0"/>
                          </a:rPr>
                          <m:t>𝒉</m:t>
                        </m:r>
                      </m:e>
                    </m:d>
                    <m:r>
                      <a:rPr lang="en-GB" i="1">
                        <a:latin typeface="Cambria Math" panose="02040503050406030204" pitchFamily="18" charset="0"/>
                      </a:rPr>
                      <m:t>,…</m:t>
                    </m:r>
                    <m:r>
                      <a:rPr lang="en-GB" b="0" i="1" smtClean="0">
                        <a:latin typeface="Cambria Math" panose="02040503050406030204" pitchFamily="18" charset="0"/>
                      </a:rPr>
                      <m:t>,</m:t>
                    </m:r>
                    <m:r>
                      <a:rPr lang="en-GB" b="0" i="1" smtClean="0">
                        <a:latin typeface="Cambria Math" panose="02040503050406030204" pitchFamily="18" charset="0"/>
                      </a:rPr>
                      <m:t>𝑍</m:t>
                    </m:r>
                    <m:r>
                      <a:rPr lang="en-GB" i="1">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𝑛</m:t>
                        </m:r>
                      </m:sub>
                    </m:sSub>
                    <m:r>
                      <a:rPr lang="en-GB" b="0" i="1" smtClean="0">
                        <a:latin typeface="Cambria Math" panose="02040503050406030204" pitchFamily="18" charset="0"/>
                      </a:rPr>
                      <m:t>+</m:t>
                    </m:r>
                    <m:r>
                      <a:rPr lang="en-GB" b="1" i="1" smtClean="0">
                        <a:latin typeface="Cambria Math" panose="02040503050406030204" pitchFamily="18" charset="0"/>
                      </a:rPr>
                      <m:t>𝒉</m:t>
                    </m:r>
                    <m:r>
                      <a:rPr lang="en-GB" i="1">
                        <a:latin typeface="Cambria Math" panose="02040503050406030204" pitchFamily="18" charset="0"/>
                      </a:rPr>
                      <m:t>)</m:t>
                    </m:r>
                  </m:oMath>
                </a14:m>
                <a:r>
                  <a:rPr lang="en-GB" dirty="0">
                    <a:latin typeface="Aptos" panose="020B0004020202020204" pitchFamily="34" charset="0"/>
                  </a:rPr>
                  <a:t>.</a:t>
                </a:r>
              </a:p>
              <a:p>
                <a:endParaRPr lang="en-GB" b="1"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62000" y="1778000"/>
                <a:ext cx="10515600" cy="3688767"/>
              </a:xfrm>
              <a:blipFill>
                <a:blip r:embed="rId2"/>
                <a:stretch>
                  <a:fillRect l="-1043" t="-3802" r="-522"/>
                </a:stretch>
              </a:blipFill>
            </p:spPr>
            <p:txBody>
              <a:bodyPr/>
              <a:lstStyle/>
              <a:p>
                <a:r>
                  <a:rPr lang="en-GB">
                    <a:noFill/>
                  </a:rPr>
                  <a:t> </a:t>
                </a:r>
              </a:p>
            </p:txBody>
          </p:sp>
        </mc:Fallback>
      </mc:AlternateContent>
      <p:sp>
        <p:nvSpPr>
          <p:cNvPr id="5" name="Title 1"/>
          <p:cNvSpPr>
            <a:spLocks noGrp="1"/>
          </p:cNvSpPr>
          <p:nvPr>
            <p:ph type="title"/>
          </p:nvPr>
        </p:nvSpPr>
        <p:spPr>
          <a:xfrm>
            <a:off x="838200" y="0"/>
            <a:ext cx="8605058" cy="881149"/>
          </a:xfrm>
        </p:spPr>
        <p:txBody>
          <a:bodyPr>
            <a:normAutofit/>
          </a:bodyPr>
          <a:lstStyle/>
          <a:p>
            <a:r>
              <a:rPr lang="en-GB" sz="4000" b="1" dirty="0">
                <a:solidFill>
                  <a:schemeClr val="bg1"/>
                </a:solidFill>
                <a:latin typeface="Aptos" panose="020B0004020202020204" pitchFamily="34" charset="0"/>
              </a:rPr>
              <a:t>Stationarity</a:t>
            </a:r>
          </a:p>
        </p:txBody>
      </p:sp>
    </p:spTree>
    <p:extLst>
      <p:ext uri="{BB962C8B-B14F-4D97-AF65-F5344CB8AC3E}">
        <p14:creationId xmlns:p14="http://schemas.microsoft.com/office/powerpoint/2010/main" val="1835422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4850" y="1518686"/>
            <a:ext cx="10515600" cy="3987346"/>
          </a:xfrm>
        </p:spPr>
        <p:txBody>
          <a:bodyPr>
            <a:normAutofit fontScale="92500" lnSpcReduction="10000"/>
          </a:bodyPr>
          <a:lstStyle/>
          <a:p>
            <a:r>
              <a:rPr lang="en-GB" dirty="0">
                <a:latin typeface="Aptos" panose="020B0004020202020204" pitchFamily="34" charset="0"/>
              </a:rPr>
              <a:t>For a strictly stationary process, a shift in location will not result in any change in the joint distribution of the random variables</a:t>
            </a:r>
          </a:p>
          <a:p>
            <a:endParaRPr lang="en-GB" dirty="0">
              <a:latin typeface="Aptos" panose="020B0004020202020204" pitchFamily="34" charset="0"/>
            </a:endParaRPr>
          </a:p>
          <a:p>
            <a:r>
              <a:rPr lang="en-GB" dirty="0">
                <a:latin typeface="Aptos" panose="020B0004020202020204" pitchFamily="34" charset="0"/>
              </a:rPr>
              <a:t>A strictly stationary process is also a weakly or covariance stationary process, but the converse only holds for Gaussian processes (the entire joint distribution of a Gaussian process is defined by its mean vector and covariance matrix)</a:t>
            </a:r>
          </a:p>
          <a:p>
            <a:endParaRPr lang="en-GB" dirty="0">
              <a:latin typeface="Aptos" panose="020B0004020202020204" pitchFamily="34" charset="0"/>
            </a:endParaRPr>
          </a:p>
          <a:p>
            <a:r>
              <a:rPr lang="en-GB" dirty="0">
                <a:latin typeface="Aptos" panose="020B0004020202020204" pitchFamily="34" charset="0"/>
              </a:rPr>
              <a:t>This is because we cannot claim that two random variables will have the same distribution if they have the same means and variances</a:t>
            </a:r>
          </a:p>
        </p:txBody>
      </p:sp>
      <p:sp>
        <p:nvSpPr>
          <p:cNvPr id="5" name="Title 1"/>
          <p:cNvSpPr>
            <a:spLocks noGrp="1"/>
          </p:cNvSpPr>
          <p:nvPr>
            <p:ph type="title"/>
          </p:nvPr>
        </p:nvSpPr>
        <p:spPr>
          <a:xfrm>
            <a:off x="352425" y="-76200"/>
            <a:ext cx="8605058" cy="881149"/>
          </a:xfrm>
        </p:spPr>
        <p:txBody>
          <a:bodyPr>
            <a:normAutofit/>
          </a:bodyPr>
          <a:lstStyle/>
          <a:p>
            <a:r>
              <a:rPr lang="en-GB" sz="4000" b="1" dirty="0">
                <a:solidFill>
                  <a:schemeClr val="bg1"/>
                </a:solidFill>
                <a:latin typeface="Aptos" panose="020B0004020202020204" pitchFamily="34" charset="0"/>
              </a:rPr>
              <a:t>Stationarity</a:t>
            </a:r>
          </a:p>
        </p:txBody>
      </p:sp>
    </p:spTree>
    <p:extLst>
      <p:ext uri="{BB962C8B-B14F-4D97-AF65-F5344CB8AC3E}">
        <p14:creationId xmlns:p14="http://schemas.microsoft.com/office/powerpoint/2010/main" val="1364256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20946"/>
            <a:ext cx="10234353" cy="806970"/>
          </a:xfrm>
        </p:spPr>
        <p:txBody>
          <a:bodyPr>
            <a:normAutofit/>
          </a:bodyPr>
          <a:lstStyle/>
          <a:p>
            <a:r>
              <a:rPr lang="en-GB" sz="4000" b="1" dirty="0">
                <a:solidFill>
                  <a:schemeClr val="bg1"/>
                </a:solidFill>
                <a:latin typeface="Aptos" panose="020B0004020202020204" pitchFamily="34" charset="0"/>
              </a:rPr>
              <a:t>Intrinsic stationarity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14469" y="1612956"/>
                <a:ext cx="6844976" cy="4247642"/>
              </a:xfrm>
            </p:spPr>
            <p:txBody>
              <a:bodyPr>
                <a:normAutofit/>
              </a:bodyPr>
              <a:lstStyle/>
              <a:p>
                <a:r>
                  <a:rPr lang="en-GB" sz="2400" b="1" dirty="0">
                    <a:solidFill>
                      <a:schemeClr val="accent1">
                        <a:lumMod val="75000"/>
                      </a:schemeClr>
                    </a:solidFill>
                    <a:latin typeface="Aptos" panose="020B0004020202020204" pitchFamily="34" charset="0"/>
                  </a:rPr>
                  <a:t>Intrinsic stationarity </a:t>
                </a:r>
                <a:r>
                  <a:rPr lang="en-GB" sz="2400" dirty="0">
                    <a:latin typeface="Aptos" panose="020B0004020202020204" pitchFamily="34" charset="0"/>
                  </a:rPr>
                  <a:t>concerns the stationarity of the variance of the difference </a:t>
                </a:r>
                <a14:m>
                  <m:oMath xmlns:m="http://schemas.openxmlformats.org/officeDocument/2006/math">
                    <m:r>
                      <m:rPr>
                        <m:sty m:val="p"/>
                      </m:rPr>
                      <a:rPr lang="en-GB" sz="2400" b="0" i="0" smtClean="0">
                        <a:latin typeface="Cambria Math" panose="02040503050406030204" pitchFamily="18" charset="0"/>
                      </a:rPr>
                      <m:t>Z</m:t>
                    </m:r>
                    <m:d>
                      <m:dPr>
                        <m:ctrlPr>
                          <a:rPr lang="en-GB" sz="2400" b="1" i="1" smtClean="0">
                            <a:latin typeface="Cambria Math" panose="02040503050406030204" pitchFamily="18" charset="0"/>
                          </a:rPr>
                        </m:ctrlPr>
                      </m:dPr>
                      <m:e>
                        <m:r>
                          <a:rPr lang="en-GB" sz="2400" b="1" i="1" smtClean="0">
                            <a:latin typeface="Cambria Math" panose="02040503050406030204" pitchFamily="18" charset="0"/>
                          </a:rPr>
                          <m:t>𝒔</m:t>
                        </m:r>
                        <m:r>
                          <a:rPr lang="en-GB" sz="2400" b="0" i="1" smtClean="0">
                            <a:latin typeface="Cambria Math" panose="02040503050406030204" pitchFamily="18" charset="0"/>
                          </a:rPr>
                          <m:t>+</m:t>
                        </m:r>
                        <m:r>
                          <a:rPr lang="en-GB" sz="2400" b="1" i="1" smtClean="0">
                            <a:latin typeface="Cambria Math" panose="02040503050406030204" pitchFamily="18" charset="0"/>
                          </a:rPr>
                          <m:t>𝒉</m:t>
                        </m:r>
                      </m:e>
                    </m:d>
                    <m:r>
                      <a:rPr lang="en-GB" sz="2400" b="0" i="1" smtClean="0">
                        <a:latin typeface="Cambria Math" panose="02040503050406030204" pitchFamily="18" charset="0"/>
                      </a:rPr>
                      <m:t>−</m:t>
                    </m:r>
                    <m:r>
                      <a:rPr lang="en-GB" sz="2400" b="0" i="1" smtClean="0">
                        <a:latin typeface="Cambria Math" panose="02040503050406030204" pitchFamily="18" charset="0"/>
                      </a:rPr>
                      <m:t>𝑍</m:t>
                    </m:r>
                    <m:r>
                      <a:rPr lang="en-GB" sz="2400" b="0" i="1" smtClean="0">
                        <a:latin typeface="Cambria Math" panose="02040503050406030204" pitchFamily="18" charset="0"/>
                      </a:rPr>
                      <m:t>(</m:t>
                    </m:r>
                    <m:r>
                      <a:rPr lang="en-GB" sz="2400" b="1" i="1" smtClean="0">
                        <a:latin typeface="Cambria Math" panose="02040503050406030204" pitchFamily="18" charset="0"/>
                      </a:rPr>
                      <m:t>𝒔</m:t>
                    </m:r>
                    <m:r>
                      <a:rPr lang="en-GB" sz="2400" b="0" i="1" smtClean="0">
                        <a:latin typeface="Cambria Math" panose="02040503050406030204" pitchFamily="18" charset="0"/>
                      </a:rPr>
                      <m:t>)</m:t>
                    </m:r>
                  </m:oMath>
                </a14:m>
                <a:r>
                  <a:rPr lang="en-GB" sz="2400" b="1" dirty="0">
                    <a:latin typeface="Aptos" panose="020B0004020202020204" pitchFamily="34" charset="0"/>
                  </a:rPr>
                  <a:t> </a:t>
                </a:r>
              </a:p>
              <a:p>
                <a:endParaRPr lang="en-GB" sz="2400" b="1" dirty="0">
                  <a:latin typeface="Aptos" panose="020B0004020202020204" pitchFamily="34" charset="0"/>
                </a:endParaRPr>
              </a:p>
              <a:p>
                <a:r>
                  <a:rPr lang="en-GB" sz="2400" dirty="0">
                    <a:latin typeface="Aptos" panose="020B0004020202020204" pitchFamily="34" charset="0"/>
                  </a:rPr>
                  <a:t>If </a:t>
                </a:r>
                <a14:m>
                  <m:oMath xmlns:m="http://schemas.openxmlformats.org/officeDocument/2006/math">
                    <m:r>
                      <m:rPr>
                        <m:sty m:val="p"/>
                      </m:rPr>
                      <a:rPr lang="en-GB" sz="2400" b="0" i="0" smtClean="0">
                        <a:latin typeface="Cambria Math" panose="02040503050406030204" pitchFamily="18" charset="0"/>
                      </a:rPr>
                      <m:t>Var</m:t>
                    </m:r>
                    <m:r>
                      <a:rPr lang="en-GB" sz="2400" b="0" i="1" smtClean="0">
                        <a:latin typeface="Cambria Math" panose="02040503050406030204" pitchFamily="18" charset="0"/>
                      </a:rPr>
                      <m:t>(</m:t>
                    </m:r>
                    <m:r>
                      <a:rPr lang="en-GB" sz="2400" b="0" i="1" smtClean="0">
                        <a:latin typeface="Cambria Math" panose="02040503050406030204" pitchFamily="18" charset="0"/>
                      </a:rPr>
                      <m:t>𝑍</m:t>
                    </m:r>
                    <m:d>
                      <m:dPr>
                        <m:ctrlPr>
                          <a:rPr lang="en-GB" sz="2400" b="1" i="1">
                            <a:latin typeface="Cambria Math" panose="02040503050406030204" pitchFamily="18" charset="0"/>
                          </a:rPr>
                        </m:ctrlPr>
                      </m:dPr>
                      <m:e>
                        <m:r>
                          <a:rPr lang="en-GB" sz="2400" b="1" i="1">
                            <a:latin typeface="Cambria Math" panose="02040503050406030204" pitchFamily="18" charset="0"/>
                          </a:rPr>
                          <m:t>𝒔</m:t>
                        </m:r>
                        <m:r>
                          <a:rPr lang="en-GB" sz="2400" i="1">
                            <a:latin typeface="Cambria Math" panose="02040503050406030204" pitchFamily="18" charset="0"/>
                          </a:rPr>
                          <m:t>+</m:t>
                        </m:r>
                        <m:r>
                          <a:rPr lang="en-GB" sz="2400" b="1" i="1">
                            <a:latin typeface="Cambria Math" panose="02040503050406030204" pitchFamily="18" charset="0"/>
                          </a:rPr>
                          <m:t>𝒉</m:t>
                        </m:r>
                      </m:e>
                    </m:d>
                    <m:r>
                      <a:rPr lang="en-GB" sz="2400" i="1">
                        <a:latin typeface="Cambria Math" panose="02040503050406030204" pitchFamily="18" charset="0"/>
                      </a:rPr>
                      <m:t>−</m:t>
                    </m:r>
                    <m:r>
                      <a:rPr lang="en-GB" sz="2400" b="0" i="1" smtClean="0">
                        <a:latin typeface="Cambria Math" panose="02040503050406030204" pitchFamily="18" charset="0"/>
                      </a:rPr>
                      <m:t>𝑍</m:t>
                    </m:r>
                    <m:r>
                      <a:rPr lang="en-GB" sz="2400" i="1">
                        <a:latin typeface="Cambria Math" panose="02040503050406030204" pitchFamily="18" charset="0"/>
                      </a:rPr>
                      <m:t>(</m:t>
                    </m:r>
                    <m:r>
                      <a:rPr lang="en-GB" sz="2400" b="1" i="1">
                        <a:latin typeface="Cambria Math" panose="02040503050406030204" pitchFamily="18" charset="0"/>
                      </a:rPr>
                      <m:t>𝒔</m:t>
                    </m:r>
                    <m:r>
                      <a:rPr lang="en-GB" sz="2400" i="1">
                        <a:latin typeface="Cambria Math" panose="02040503050406030204" pitchFamily="18" charset="0"/>
                      </a:rPr>
                      <m:t>)</m:t>
                    </m:r>
                    <m:r>
                      <a:rPr lang="en-GB" sz="2400" b="0" i="1" smtClean="0">
                        <a:latin typeface="Cambria Math" panose="02040503050406030204" pitchFamily="18" charset="0"/>
                      </a:rPr>
                      <m:t>)</m:t>
                    </m:r>
                  </m:oMath>
                </a14:m>
                <a:r>
                  <a:rPr lang="en-GB" sz="2400" dirty="0">
                    <a:latin typeface="Aptos" panose="020B0004020202020204" pitchFamily="34" charset="0"/>
                  </a:rPr>
                  <a:t> depends only on the difference or the separation vector </a:t>
                </a:r>
                <a14:m>
                  <m:oMath xmlns:m="http://schemas.openxmlformats.org/officeDocument/2006/math">
                    <m:r>
                      <a:rPr lang="en-GB" sz="2400" b="1" i="1" smtClean="0">
                        <a:latin typeface="Cambria Math" panose="02040503050406030204" pitchFamily="18" charset="0"/>
                      </a:rPr>
                      <m:t>𝒉</m:t>
                    </m:r>
                  </m:oMath>
                </a14:m>
                <a:r>
                  <a:rPr lang="en-GB" sz="2400" dirty="0">
                    <a:latin typeface="Aptos" panose="020B0004020202020204" pitchFamily="34" charset="0"/>
                  </a:rPr>
                  <a:t>, then </a:t>
                </a:r>
                <a14:m>
                  <m:oMath xmlns:m="http://schemas.openxmlformats.org/officeDocument/2006/math">
                    <m:r>
                      <a:rPr lang="en-GB" sz="2400" b="0" i="1" smtClean="0">
                        <a:latin typeface="Cambria Math" panose="02040503050406030204" pitchFamily="18" charset="0"/>
                      </a:rPr>
                      <m:t>𝑍</m:t>
                    </m:r>
                    <m:r>
                      <a:rPr lang="en-GB" sz="2400" b="0" i="1" smtClean="0">
                        <a:latin typeface="Cambria Math" panose="02040503050406030204" pitchFamily="18" charset="0"/>
                      </a:rPr>
                      <m:t>(</m:t>
                    </m:r>
                    <m:r>
                      <a:rPr lang="en-GB" sz="2400" b="1" i="1" smtClean="0">
                        <a:latin typeface="Cambria Math" panose="02040503050406030204" pitchFamily="18" charset="0"/>
                      </a:rPr>
                      <m:t>𝒔</m:t>
                    </m:r>
                    <m:r>
                      <a:rPr lang="en-GB" sz="2400" b="0" i="1" smtClean="0">
                        <a:latin typeface="Cambria Math" panose="02040503050406030204" pitchFamily="18" charset="0"/>
                      </a:rPr>
                      <m:t>)</m:t>
                    </m:r>
                  </m:oMath>
                </a14:m>
                <a:r>
                  <a:rPr lang="en-GB" sz="2400" dirty="0">
                    <a:latin typeface="Aptos" panose="020B0004020202020204" pitchFamily="34" charset="0"/>
                  </a:rPr>
                  <a:t> is said to be intrinsically stationary</a:t>
                </a:r>
              </a:p>
              <a:p>
                <a:endParaRPr lang="en-GB" sz="2400" dirty="0">
                  <a:latin typeface="Aptos" panose="020B0004020202020204" pitchFamily="34" charset="0"/>
                </a:endParaRPr>
              </a:p>
              <a:p>
                <a:r>
                  <a:rPr lang="en-GB" sz="2400" dirty="0">
                    <a:latin typeface="Aptos" panose="020B0004020202020204" pitchFamily="34" charset="0"/>
                  </a:rPr>
                  <a:t>Intrinsic stationarity and covariance stationarity are strongly related</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14469" y="1612956"/>
                <a:ext cx="6844976" cy="4247642"/>
              </a:xfrm>
              <a:blipFill>
                <a:blip r:embed="rId2"/>
                <a:stretch>
                  <a:fillRect l="-1158" t="-1868"/>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CD70709B-7DB0-F83B-FA6A-B9A1E97563EE}"/>
              </a:ext>
            </a:extLst>
          </p:cNvPr>
          <p:cNvPicPr>
            <a:picLocks noChangeAspect="1"/>
          </p:cNvPicPr>
          <p:nvPr/>
        </p:nvPicPr>
        <p:blipFill>
          <a:blip r:embed="rId3"/>
          <a:srcRect l="4950" t="8019" r="51775" b="30389"/>
          <a:stretch>
            <a:fillRect/>
          </a:stretch>
        </p:blipFill>
        <p:spPr>
          <a:xfrm>
            <a:off x="7902367" y="1043205"/>
            <a:ext cx="3191070" cy="2344912"/>
          </a:xfrm>
          <a:prstGeom prst="rect">
            <a:avLst/>
          </a:prstGeom>
        </p:spPr>
      </p:pic>
      <p:pic>
        <p:nvPicPr>
          <p:cNvPr id="7" name="Picture 6">
            <a:extLst>
              <a:ext uri="{FF2B5EF4-FFF2-40B4-BE49-F238E27FC236}">
                <a16:creationId xmlns:a16="http://schemas.microsoft.com/office/drawing/2014/main" id="{162CE333-F062-710D-557D-EF769AEAC574}"/>
              </a:ext>
            </a:extLst>
          </p:cNvPr>
          <p:cNvPicPr>
            <a:picLocks noChangeAspect="1"/>
          </p:cNvPicPr>
          <p:nvPr/>
        </p:nvPicPr>
        <p:blipFill>
          <a:blip r:embed="rId3"/>
          <a:srcRect l="48600" t="9617" r="13075" b="31842"/>
          <a:stretch>
            <a:fillRect/>
          </a:stretch>
        </p:blipFill>
        <p:spPr>
          <a:xfrm>
            <a:off x="7669764" y="3931095"/>
            <a:ext cx="3191070" cy="2516637"/>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74B837C-3C78-16D2-9913-55CBFE64FB63}"/>
                  </a:ext>
                </a:extLst>
              </p:cNvPr>
              <p:cNvSpPr txBox="1"/>
              <p:nvPr/>
            </p:nvSpPr>
            <p:spPr>
              <a:xfrm>
                <a:off x="8555044" y="3429000"/>
                <a:ext cx="1856791" cy="307777"/>
              </a:xfrm>
              <a:prstGeom prst="rect">
                <a:avLst/>
              </a:prstGeom>
              <a:noFill/>
            </p:spPr>
            <p:txBody>
              <a:bodyPr wrap="square">
                <a:spAutoFit/>
              </a:bodyPr>
              <a:lstStyle/>
              <a:p>
                <a14:m>
                  <m:oMath xmlns:m="http://schemas.openxmlformats.org/officeDocument/2006/math">
                    <m:r>
                      <m:rPr>
                        <m:sty m:val="p"/>
                      </m:rPr>
                      <a:rPr lang="en-GB" sz="1400" b="0" i="0" smtClean="0">
                        <a:latin typeface="Cambria Math" panose="02040503050406030204" pitchFamily="18" charset="0"/>
                      </a:rPr>
                      <m:t>Var</m:t>
                    </m:r>
                    <m:r>
                      <a:rPr lang="en-GB" sz="1400" b="0" i="1" smtClean="0">
                        <a:latin typeface="Cambria Math" panose="02040503050406030204" pitchFamily="18" charset="0"/>
                      </a:rPr>
                      <m:t>(</m:t>
                    </m:r>
                    <m:r>
                      <a:rPr lang="en-GB" sz="1400" b="1" i="1" smtClean="0">
                        <a:latin typeface="Cambria Math" panose="02040503050406030204" pitchFamily="18" charset="0"/>
                      </a:rPr>
                      <m:t>𝒁</m:t>
                    </m:r>
                    <m:d>
                      <m:dPr>
                        <m:ctrlPr>
                          <a:rPr lang="en-GB" sz="1400" b="1" i="1">
                            <a:latin typeface="Cambria Math" panose="02040503050406030204" pitchFamily="18" charset="0"/>
                          </a:rPr>
                        </m:ctrlPr>
                      </m:dPr>
                      <m:e>
                        <m:r>
                          <a:rPr lang="en-GB" sz="1400" b="1" i="1">
                            <a:latin typeface="Cambria Math" panose="02040503050406030204" pitchFamily="18" charset="0"/>
                          </a:rPr>
                          <m:t>𝒔</m:t>
                        </m:r>
                        <m:r>
                          <a:rPr lang="en-GB" sz="1400" i="1">
                            <a:latin typeface="Cambria Math" panose="02040503050406030204" pitchFamily="18" charset="0"/>
                          </a:rPr>
                          <m:t>+</m:t>
                        </m:r>
                        <m:r>
                          <a:rPr lang="en-GB" sz="1400" b="1" i="1">
                            <a:latin typeface="Cambria Math" panose="02040503050406030204" pitchFamily="18" charset="0"/>
                          </a:rPr>
                          <m:t>𝒉</m:t>
                        </m:r>
                      </m:e>
                    </m:d>
                    <m:r>
                      <a:rPr lang="en-GB" sz="1400" i="1">
                        <a:latin typeface="Cambria Math" panose="02040503050406030204" pitchFamily="18" charset="0"/>
                      </a:rPr>
                      <m:t>−</m:t>
                    </m:r>
                    <m:r>
                      <a:rPr lang="en-GB" sz="1400" b="0" i="1" smtClean="0">
                        <a:latin typeface="Cambria Math" panose="02040503050406030204" pitchFamily="18" charset="0"/>
                      </a:rPr>
                      <m:t>𝑍</m:t>
                    </m:r>
                    <m:r>
                      <a:rPr lang="en-GB" sz="1400" i="1">
                        <a:latin typeface="Cambria Math" panose="02040503050406030204" pitchFamily="18" charset="0"/>
                      </a:rPr>
                      <m:t>(</m:t>
                    </m:r>
                    <m:r>
                      <a:rPr lang="en-GB" sz="1400" b="1" i="1">
                        <a:latin typeface="Cambria Math" panose="02040503050406030204" pitchFamily="18" charset="0"/>
                      </a:rPr>
                      <m:t>𝒔</m:t>
                    </m:r>
                    <m:r>
                      <a:rPr lang="en-GB" sz="1400" i="1">
                        <a:latin typeface="Cambria Math" panose="02040503050406030204" pitchFamily="18" charset="0"/>
                      </a:rPr>
                      <m:t>)</m:t>
                    </m:r>
                    <m:r>
                      <a:rPr lang="en-GB" sz="1400" b="0" i="1" smtClean="0">
                        <a:latin typeface="Cambria Math" panose="02040503050406030204" pitchFamily="18" charset="0"/>
                      </a:rPr>
                      <m:t>)</m:t>
                    </m:r>
                  </m:oMath>
                </a14:m>
                <a:r>
                  <a:rPr lang="en-GB" sz="1400" dirty="0">
                    <a:latin typeface="Merriweather"/>
                  </a:rPr>
                  <a:t> </a:t>
                </a:r>
                <a:endParaRPr lang="en-GB" sz="1400" dirty="0"/>
              </a:p>
            </p:txBody>
          </p:sp>
        </mc:Choice>
        <mc:Fallback xmlns="">
          <p:sp>
            <p:nvSpPr>
              <p:cNvPr id="9" name="TextBox 8">
                <a:extLst>
                  <a:ext uri="{FF2B5EF4-FFF2-40B4-BE49-F238E27FC236}">
                    <a16:creationId xmlns:a16="http://schemas.microsoft.com/office/drawing/2014/main" id="{074B837C-3C78-16D2-9913-55CBFE64FB63}"/>
                  </a:ext>
                </a:extLst>
              </p:cNvPr>
              <p:cNvSpPr txBox="1">
                <a:spLocks noRot="1" noChangeAspect="1" noMove="1" noResize="1" noEditPoints="1" noAdjustHandles="1" noChangeArrowheads="1" noChangeShapeType="1" noTextEdit="1"/>
              </p:cNvSpPr>
              <p:nvPr/>
            </p:nvSpPr>
            <p:spPr>
              <a:xfrm>
                <a:off x="8555044" y="3429000"/>
                <a:ext cx="1856791" cy="307777"/>
              </a:xfrm>
              <a:prstGeom prst="rect">
                <a:avLst/>
              </a:prstGeom>
              <a:blipFill>
                <a:blip r:embed="rId4"/>
                <a:stretch>
                  <a:fillRect b="-6000"/>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14351DF5-A2A3-95F1-8B71-EBFE6C00A5DD}"/>
              </a:ext>
            </a:extLst>
          </p:cNvPr>
          <p:cNvSpPr txBox="1"/>
          <p:nvPr/>
        </p:nvSpPr>
        <p:spPr>
          <a:xfrm>
            <a:off x="7405396" y="6334780"/>
            <a:ext cx="4786604" cy="523220"/>
          </a:xfrm>
          <a:prstGeom prst="rect">
            <a:avLst/>
          </a:prstGeom>
          <a:noFill/>
        </p:spPr>
        <p:txBody>
          <a:bodyPr wrap="square" rtlCol="0">
            <a:spAutoFit/>
          </a:bodyPr>
          <a:lstStyle/>
          <a:p>
            <a:r>
              <a:rPr lang="en-GB" sz="1400" dirty="0"/>
              <a:t>Both pairs share the same </a:t>
            </a:r>
            <a:r>
              <a:rPr lang="en-GB" sz="1400" b="1" i="1" dirty="0"/>
              <a:t>h</a:t>
            </a:r>
            <a:r>
              <a:rPr lang="en-GB" sz="1400" dirty="0"/>
              <a:t>, so both land on the same point of this curve - the curve depends only on </a:t>
            </a:r>
            <a:r>
              <a:rPr lang="en-GB" sz="1400" b="1" i="1" dirty="0"/>
              <a:t>h</a:t>
            </a:r>
            <a:r>
              <a:rPr lang="en-GB" sz="1400" dirty="0"/>
              <a:t>, never on location.</a:t>
            </a:r>
          </a:p>
        </p:txBody>
      </p:sp>
    </p:spTree>
    <p:extLst>
      <p:ext uri="{BB962C8B-B14F-4D97-AF65-F5344CB8AC3E}">
        <p14:creationId xmlns:p14="http://schemas.microsoft.com/office/powerpoint/2010/main" val="3032573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275" y="72969"/>
            <a:ext cx="10342418" cy="555681"/>
          </a:xfrm>
        </p:spPr>
        <p:txBody>
          <a:bodyPr>
            <a:noAutofit/>
          </a:bodyPr>
          <a:lstStyle/>
          <a:p>
            <a:r>
              <a:rPr lang="en-GB" sz="4000" b="1" dirty="0" err="1">
                <a:solidFill>
                  <a:schemeClr val="bg1"/>
                </a:solidFill>
                <a:latin typeface="Aptos" panose="020B0004020202020204" pitchFamily="34" charset="0"/>
              </a:rPr>
              <a:t>Variogram</a:t>
            </a:r>
            <a:r>
              <a:rPr lang="en-GB" sz="4000" b="1" dirty="0">
                <a:solidFill>
                  <a:schemeClr val="bg1"/>
                </a:solidFill>
                <a:latin typeface="Aptos" panose="020B0004020202020204" pitchFamily="34" charset="0"/>
              </a:rPr>
              <a:t> and </a:t>
            </a:r>
            <a:r>
              <a:rPr lang="en-GB" sz="4000" b="1" dirty="0" err="1">
                <a:solidFill>
                  <a:schemeClr val="bg1"/>
                </a:solidFill>
                <a:latin typeface="Aptos" panose="020B0004020202020204" pitchFamily="34" charset="0"/>
              </a:rPr>
              <a:t>covariogram</a:t>
            </a:r>
            <a:r>
              <a:rPr lang="en-GB" sz="4000" b="1" dirty="0">
                <a:solidFill>
                  <a:schemeClr val="bg1"/>
                </a:solidFill>
                <a:latin typeface="Aptos" panose="020B0004020202020204" pitchFamily="34" charset="0"/>
              </a:rPr>
              <a:t>/covariance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480820"/>
                <a:ext cx="10515600" cy="4351338"/>
              </a:xfrm>
            </p:spPr>
            <p:txBody>
              <a:bodyPr/>
              <a:lstStyle/>
              <a:p>
                <a:r>
                  <a:rPr lang="en-GB" dirty="0">
                    <a:latin typeface="Aptos" panose="020B0004020202020204" pitchFamily="34" charset="0"/>
                  </a:rPr>
                  <a:t>The quantity </a:t>
                </a:r>
                <a14:m>
                  <m:oMath xmlns:m="http://schemas.openxmlformats.org/officeDocument/2006/math">
                    <m:r>
                      <m:rPr>
                        <m:sty m:val="p"/>
                      </m:rPr>
                      <a:rPr lang="en-GB">
                        <a:latin typeface="Cambria Math" panose="02040503050406030204" pitchFamily="18" charset="0"/>
                      </a:rPr>
                      <m:t>Var</m:t>
                    </m:r>
                    <m:r>
                      <a:rPr lang="en-GB" i="1">
                        <a:latin typeface="Cambria Math" panose="02040503050406030204" pitchFamily="18" charset="0"/>
                      </a:rPr>
                      <m:t>(</m:t>
                    </m:r>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r>
                          <a:rPr lang="en-GB" i="1">
                            <a:latin typeface="Cambria Math" panose="02040503050406030204" pitchFamily="18" charset="0"/>
                          </a:rPr>
                          <m:t>+</m:t>
                        </m:r>
                        <m:r>
                          <a:rPr lang="en-GB" b="1" i="1">
                            <a:latin typeface="Cambria Math" panose="02040503050406030204" pitchFamily="18" charset="0"/>
                          </a:rPr>
                          <m:t>𝒉</m:t>
                        </m:r>
                      </m:e>
                    </m:d>
                    <m:r>
                      <a:rPr lang="en-GB" i="1">
                        <a:latin typeface="Cambria Math" panose="02040503050406030204" pitchFamily="18" charset="0"/>
                      </a:rPr>
                      <m:t>−</m:t>
                    </m:r>
                    <m:r>
                      <a:rPr lang="en-GB" b="0" i="1" smtClean="0">
                        <a:latin typeface="Cambria Math" panose="02040503050406030204" pitchFamily="18" charset="0"/>
                      </a:rPr>
                      <m:t>𝑍</m:t>
                    </m:r>
                    <m:r>
                      <a:rPr lang="en-GB" i="1">
                        <a:latin typeface="Cambria Math" panose="02040503050406030204" pitchFamily="18" charset="0"/>
                      </a:rPr>
                      <m:t>(</m:t>
                    </m:r>
                    <m:r>
                      <a:rPr lang="en-GB" b="1" i="1">
                        <a:latin typeface="Cambria Math" panose="02040503050406030204" pitchFamily="18" charset="0"/>
                      </a:rPr>
                      <m:t>𝒔</m:t>
                    </m:r>
                    <m:r>
                      <a:rPr lang="en-GB" i="1">
                        <a:latin typeface="Cambria Math" panose="02040503050406030204" pitchFamily="18" charset="0"/>
                      </a:rPr>
                      <m:t>))</m:t>
                    </m:r>
                  </m:oMath>
                </a14:m>
                <a:r>
                  <a:rPr lang="en-GB" dirty="0">
                    <a:latin typeface="Aptos" panose="020B0004020202020204" pitchFamily="34" charset="0"/>
                  </a:rPr>
                  <a:t> is called the </a:t>
                </a:r>
                <a:r>
                  <a:rPr lang="en-GB" b="1" dirty="0" err="1">
                    <a:latin typeface="Aptos" panose="020B0004020202020204" pitchFamily="34" charset="0"/>
                  </a:rPr>
                  <a:t>variogram</a:t>
                </a:r>
                <a:r>
                  <a:rPr lang="en-GB" dirty="0">
                    <a:latin typeface="Aptos" panose="020B0004020202020204" pitchFamily="34" charset="0"/>
                  </a:rPr>
                  <a:t> of the stochastic process, </a:t>
                </a:r>
                <a14:m>
                  <m:oMath xmlns:m="http://schemas.openxmlformats.org/officeDocument/2006/math">
                    <m:r>
                      <a:rPr lang="en-GB" b="0" i="1" smtClean="0">
                        <a:latin typeface="Cambria Math" panose="02040503050406030204" pitchFamily="18" charset="0"/>
                      </a:rPr>
                      <m:t>𝑍</m:t>
                    </m:r>
                    <m:r>
                      <a:rPr lang="en-GB" b="0" i="1" smtClean="0">
                        <a:latin typeface="Cambria Math" panose="02040503050406030204" pitchFamily="18" charset="0"/>
                      </a:rPr>
                      <m:t>(</m:t>
                    </m:r>
                    <m:r>
                      <a:rPr lang="en-GB" b="1" i="1" smtClean="0">
                        <a:latin typeface="Cambria Math" panose="02040503050406030204" pitchFamily="18" charset="0"/>
                      </a:rPr>
                      <m:t>𝒔</m:t>
                    </m:r>
                    <m:r>
                      <a:rPr lang="en-GB" b="0" i="1" smtClean="0">
                        <a:latin typeface="Cambria Math" panose="02040503050406030204" pitchFamily="18" charset="0"/>
                      </a:rPr>
                      <m:t>)</m:t>
                    </m:r>
                  </m:oMath>
                </a14:m>
                <a:endParaRPr lang="en-GB" dirty="0">
                  <a:latin typeface="Aptos" panose="020B0004020202020204" pitchFamily="34" charset="0"/>
                </a:endParaRPr>
              </a:p>
              <a:p>
                <a:endParaRPr lang="en-GB" dirty="0">
                  <a:latin typeface="Aptos" panose="020B0004020202020204" pitchFamily="34" charset="0"/>
                </a:endParaRPr>
              </a:p>
              <a:p>
                <a:r>
                  <a:rPr lang="en-GB" dirty="0">
                    <a:latin typeface="Aptos" panose="020B0004020202020204" pitchFamily="34" charset="0"/>
                  </a:rPr>
                  <a:t>Using intrinsic stationarity, the </a:t>
                </a:r>
                <a:r>
                  <a:rPr lang="en-GB" dirty="0" err="1">
                    <a:latin typeface="Aptos" panose="020B0004020202020204" pitchFamily="34" charset="0"/>
                  </a:rPr>
                  <a:t>variogram</a:t>
                </a:r>
                <a:r>
                  <a:rPr lang="en-GB" dirty="0">
                    <a:latin typeface="Aptos" panose="020B0004020202020204" pitchFamily="34" charset="0"/>
                  </a:rPr>
                  <a:t> depends only on </a:t>
                </a:r>
                <a14:m>
                  <m:oMath xmlns:m="http://schemas.openxmlformats.org/officeDocument/2006/math">
                    <m:r>
                      <a:rPr lang="en-GB" b="1" i="1" smtClean="0">
                        <a:latin typeface="Cambria Math" panose="02040503050406030204" pitchFamily="18" charset="0"/>
                      </a:rPr>
                      <m:t>𝒉</m:t>
                    </m:r>
                  </m:oMath>
                </a14:m>
                <a:r>
                  <a:rPr lang="en-GB" dirty="0">
                    <a:latin typeface="Aptos" panose="020B0004020202020204" pitchFamily="34" charset="0"/>
                  </a:rPr>
                  <a:t> and not on </a:t>
                </a:r>
                <a14:m>
                  <m:oMath xmlns:m="http://schemas.openxmlformats.org/officeDocument/2006/math">
                    <m:r>
                      <a:rPr lang="en-GB" b="1" i="1" smtClean="0">
                        <a:latin typeface="Cambria Math" panose="02040503050406030204" pitchFamily="18" charset="0"/>
                      </a:rPr>
                      <m:t>𝒔</m:t>
                    </m:r>
                  </m:oMath>
                </a14:m>
                <a:r>
                  <a:rPr lang="en-GB" dirty="0">
                    <a:latin typeface="Aptos" panose="020B0004020202020204" pitchFamily="34" charset="0"/>
                  </a:rPr>
                  <a:t> </a:t>
                </a:r>
              </a:p>
              <a:p>
                <a:endParaRPr lang="en-GB" dirty="0">
                  <a:latin typeface="Aptos" panose="020B0004020202020204" pitchFamily="34" charset="0"/>
                </a:endParaRPr>
              </a:p>
              <a:p>
                <a:r>
                  <a:rPr lang="en-GB" dirty="0">
                    <a:latin typeface="Aptos" panose="020B0004020202020204" pitchFamily="34" charset="0"/>
                  </a:rPr>
                  <a:t>Assuming mean and variance stationarity such that </a:t>
                </a:r>
                <a14:m>
                  <m:oMath xmlns:m="http://schemas.openxmlformats.org/officeDocument/2006/math">
                    <m:r>
                      <a:rPr lang="en-GB" b="0" i="1" smtClean="0">
                        <a:latin typeface="Cambria Math" panose="02040503050406030204" pitchFamily="18" charset="0"/>
                      </a:rPr>
                      <m:t>𝐸</m:t>
                    </m:r>
                    <m:d>
                      <m:dPr>
                        <m:ctrlPr>
                          <a:rPr lang="en-GB" b="0" i="1" smtClean="0">
                            <a:latin typeface="Cambria Math" panose="02040503050406030204" pitchFamily="18" charset="0"/>
                          </a:rPr>
                        </m:ctrlPr>
                      </m:dPr>
                      <m:e>
                        <m:r>
                          <a:rPr lang="en-GB" b="0" i="1" smtClean="0">
                            <a:latin typeface="Cambria Math" panose="02040503050406030204" pitchFamily="18" charset="0"/>
                          </a:rPr>
                          <m:t>𝑍</m:t>
                        </m:r>
                        <m:d>
                          <m:dPr>
                            <m:ctrlPr>
                              <a:rPr lang="en-GB" b="1" i="1" smtClean="0">
                                <a:latin typeface="Cambria Math" panose="02040503050406030204" pitchFamily="18" charset="0"/>
                              </a:rPr>
                            </m:ctrlPr>
                          </m:dPr>
                          <m:e>
                            <m:r>
                              <a:rPr lang="en-GB" b="1" i="1" smtClean="0">
                                <a:latin typeface="Cambria Math" panose="02040503050406030204" pitchFamily="18" charset="0"/>
                              </a:rPr>
                              <m:t>𝒔</m:t>
                            </m:r>
                            <m:r>
                              <a:rPr lang="en-GB" b="0" i="1" smtClean="0">
                                <a:latin typeface="Cambria Math" panose="02040503050406030204" pitchFamily="18" charset="0"/>
                              </a:rPr>
                              <m:t>+</m:t>
                            </m:r>
                            <m:r>
                              <a:rPr lang="en-GB" b="1" i="1" smtClean="0">
                                <a:latin typeface="Cambria Math" panose="02040503050406030204" pitchFamily="18" charset="0"/>
                              </a:rPr>
                              <m:t>𝒉</m:t>
                            </m:r>
                          </m:e>
                        </m:d>
                      </m:e>
                    </m:d>
                    <m:r>
                      <a:rPr lang="en-GB" b="0" i="1" smtClean="0">
                        <a:latin typeface="Cambria Math" panose="02040503050406030204" pitchFamily="18" charset="0"/>
                      </a:rPr>
                      <m:t>=</m:t>
                    </m:r>
                    <m:r>
                      <a:rPr lang="en-GB" b="0" i="1" smtClean="0">
                        <a:latin typeface="Cambria Math" panose="02040503050406030204" pitchFamily="18" charset="0"/>
                      </a:rPr>
                      <m:t>𝐸</m:t>
                    </m:r>
                    <m:r>
                      <a:rPr lang="en-GB" b="0" i="1" smtClean="0">
                        <a:latin typeface="Cambria Math" panose="02040503050406030204" pitchFamily="18" charset="0"/>
                      </a:rPr>
                      <m:t>(</m:t>
                    </m:r>
                    <m:r>
                      <a:rPr lang="en-GB" b="0" i="1" smtClean="0">
                        <a:latin typeface="Cambria Math" panose="02040503050406030204" pitchFamily="18" charset="0"/>
                      </a:rPr>
                      <m:t>𝑍</m:t>
                    </m:r>
                    <m:d>
                      <m:dPr>
                        <m:ctrlPr>
                          <a:rPr lang="en-GB" b="1" i="1" smtClean="0">
                            <a:latin typeface="Cambria Math" panose="02040503050406030204" pitchFamily="18" charset="0"/>
                          </a:rPr>
                        </m:ctrlPr>
                      </m:dPr>
                      <m:e>
                        <m:r>
                          <a:rPr lang="en-GB" b="1" i="1" smtClean="0">
                            <a:latin typeface="Cambria Math" panose="02040503050406030204" pitchFamily="18" charset="0"/>
                          </a:rPr>
                          <m:t>𝒔</m:t>
                        </m:r>
                      </m:e>
                    </m:d>
                    <m:r>
                      <a:rPr lang="en-GB" b="0" i="1" smtClean="0">
                        <a:latin typeface="Cambria Math" panose="02040503050406030204" pitchFamily="18" charset="0"/>
                      </a:rPr>
                      <m:t>)</m:t>
                    </m:r>
                  </m:oMath>
                </a14:m>
                <a:r>
                  <a:rPr lang="en-GB" dirty="0">
                    <a:latin typeface="Aptos" panose="020B0004020202020204" pitchFamily="34" charset="0"/>
                  </a:rPr>
                  <a:t> and </a:t>
                </a:r>
                <a14:m>
                  <m:oMath xmlns:m="http://schemas.openxmlformats.org/officeDocument/2006/math">
                    <m:r>
                      <m:rPr>
                        <m:sty m:val="p"/>
                      </m:rPr>
                      <a:rPr lang="en-GB" b="0" i="0" smtClean="0">
                        <a:latin typeface="Cambria Math" panose="02040503050406030204" pitchFamily="18" charset="0"/>
                      </a:rPr>
                      <m:t>Var</m:t>
                    </m:r>
                    <m:d>
                      <m:dPr>
                        <m:ctrlPr>
                          <a:rPr lang="en-GB" b="0" i="1" smtClean="0">
                            <a:latin typeface="Cambria Math" panose="02040503050406030204" pitchFamily="18" charset="0"/>
                          </a:rPr>
                        </m:ctrlPr>
                      </m:dPr>
                      <m:e>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r>
                              <a:rPr lang="en-GB" i="1">
                                <a:latin typeface="Cambria Math" panose="02040503050406030204" pitchFamily="18" charset="0"/>
                              </a:rPr>
                              <m:t>+</m:t>
                            </m:r>
                            <m:r>
                              <a:rPr lang="en-GB" b="1" i="1">
                                <a:latin typeface="Cambria Math" panose="02040503050406030204" pitchFamily="18" charset="0"/>
                              </a:rPr>
                              <m:t>𝒉</m:t>
                            </m:r>
                          </m:e>
                        </m:d>
                      </m:e>
                    </m:d>
                    <m:r>
                      <a:rPr lang="en-GB" b="0" i="1" smtClean="0">
                        <a:latin typeface="Cambria Math" panose="02040503050406030204" pitchFamily="18" charset="0"/>
                      </a:rPr>
                      <m:t>=</m:t>
                    </m:r>
                    <m:r>
                      <m:rPr>
                        <m:sty m:val="p"/>
                      </m:rPr>
                      <a:rPr lang="en-GB" b="0" i="0" smtClean="0">
                        <a:latin typeface="Cambria Math" panose="02040503050406030204" pitchFamily="18" charset="0"/>
                      </a:rPr>
                      <m:t>Var</m:t>
                    </m:r>
                    <m:d>
                      <m:dPr>
                        <m:ctrlPr>
                          <a:rPr lang="en-GB" b="0" i="1" smtClean="0">
                            <a:latin typeface="Cambria Math" panose="02040503050406030204" pitchFamily="18" charset="0"/>
                          </a:rPr>
                        </m:ctrlPr>
                      </m:dPr>
                      <m:e>
                        <m:r>
                          <a:rPr lang="en-GB" b="0" i="1" smtClean="0">
                            <a:latin typeface="Cambria Math" panose="02040503050406030204" pitchFamily="18" charset="0"/>
                          </a:rPr>
                          <m:t>𝑍</m:t>
                        </m:r>
                        <m:r>
                          <a:rPr lang="en-GB" b="0" i="1" smtClean="0">
                            <a:latin typeface="Cambria Math" panose="02040503050406030204" pitchFamily="18" charset="0"/>
                          </a:rPr>
                          <m:t>(</m:t>
                        </m:r>
                        <m:r>
                          <a:rPr lang="en-GB" b="1" i="1" smtClean="0">
                            <a:latin typeface="Cambria Math" panose="02040503050406030204" pitchFamily="18" charset="0"/>
                          </a:rPr>
                          <m:t>𝒔</m:t>
                        </m:r>
                        <m:r>
                          <a:rPr lang="en-GB" b="0" i="1" smtClean="0">
                            <a:latin typeface="Cambria Math" panose="02040503050406030204" pitchFamily="18" charset="0"/>
                          </a:rPr>
                          <m:t>)</m:t>
                        </m:r>
                      </m:e>
                    </m:d>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r>
                      <a:rPr lang="en-GB" b="1" i="1" smtClean="0">
                        <a:latin typeface="Cambria Math" panose="02040503050406030204" pitchFamily="18" charset="0"/>
                      </a:rPr>
                      <m:t>𝟎</m:t>
                    </m:r>
                    <m:r>
                      <a:rPr lang="en-GB" b="0" i="1" smtClean="0">
                        <a:latin typeface="Cambria Math" panose="02040503050406030204" pitchFamily="18" charset="0"/>
                      </a:rPr>
                      <m:t>)</m:t>
                    </m:r>
                  </m:oMath>
                </a14:m>
                <a:r>
                  <a:rPr lang="en-GB" dirty="0">
                    <a:latin typeface="Aptos" panose="020B0004020202020204" pitchFamily="34" charset="0"/>
                  </a:rPr>
                  <a:t>. For an intrinsically stationary process, we have that: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85800" y="1480820"/>
                <a:ext cx="10515600" cy="4351338"/>
              </a:xfrm>
              <a:blipFill>
                <a:blip r:embed="rId2"/>
                <a:stretch>
                  <a:fillRect l="-1043" t="-2521"/>
                </a:stretch>
              </a:blipFill>
            </p:spPr>
            <p:txBody>
              <a:bodyPr/>
              <a:lstStyle/>
              <a:p>
                <a:r>
                  <a:rPr lang="en-GB">
                    <a:noFill/>
                  </a:rPr>
                  <a:t> </a:t>
                </a:r>
              </a:p>
            </p:txBody>
          </p:sp>
        </mc:Fallback>
      </mc:AlternateContent>
    </p:spTree>
    <p:extLst>
      <p:ext uri="{BB962C8B-B14F-4D97-AF65-F5344CB8AC3E}">
        <p14:creationId xmlns:p14="http://schemas.microsoft.com/office/powerpoint/2010/main" val="3418948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313843"/>
                <a:ext cx="10799618" cy="5032375"/>
              </a:xfrm>
            </p:spPr>
            <p:txBody>
              <a:bodyPr>
                <a:normAutofit fontScale="92500" lnSpcReduction="20000"/>
              </a:bodyPr>
              <a:lstStyle/>
              <a:p>
                <a14:m>
                  <m:oMath xmlns:m="http://schemas.openxmlformats.org/officeDocument/2006/math">
                    <m:r>
                      <m:rPr>
                        <m:sty m:val="p"/>
                      </m:rPr>
                      <a:rPr lang="en-GB" smtClean="0">
                        <a:latin typeface="Cambria Math" panose="02040503050406030204" pitchFamily="18" charset="0"/>
                      </a:rPr>
                      <m:t>Var</m:t>
                    </m:r>
                    <m:d>
                      <m:dPr>
                        <m:ctrlPr>
                          <a:rPr lang="en-GB" b="0" i="1" smtClean="0">
                            <a:latin typeface="Cambria Math" panose="02040503050406030204" pitchFamily="18" charset="0"/>
                          </a:rPr>
                        </m:ctrlPr>
                      </m:dPr>
                      <m:e>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r>
                              <a:rPr lang="en-GB" i="1">
                                <a:latin typeface="Cambria Math" panose="02040503050406030204" pitchFamily="18" charset="0"/>
                              </a:rPr>
                              <m:t>+</m:t>
                            </m:r>
                            <m:r>
                              <a:rPr lang="en-GB" b="1" i="1">
                                <a:latin typeface="Cambria Math" panose="02040503050406030204" pitchFamily="18" charset="0"/>
                              </a:rPr>
                              <m:t>𝒉</m:t>
                            </m:r>
                          </m:e>
                        </m:d>
                        <m:r>
                          <a:rPr lang="en-GB" i="1">
                            <a:latin typeface="Cambria Math" panose="02040503050406030204" pitchFamily="18" charset="0"/>
                          </a:rPr>
                          <m:t>−</m:t>
                        </m:r>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e>
                        </m:d>
                      </m:e>
                    </m:d>
                    <m:r>
                      <a:rPr lang="en-GB" b="0" i="1" smtClean="0">
                        <a:latin typeface="Cambria Math" panose="02040503050406030204" pitchFamily="18" charset="0"/>
                      </a:rPr>
                      <m:t>=</m:t>
                    </m:r>
                    <m:r>
                      <m:rPr>
                        <m:sty m:val="p"/>
                      </m:rPr>
                      <a:rPr lang="en-GB">
                        <a:latin typeface="Cambria Math" panose="02040503050406030204" pitchFamily="18" charset="0"/>
                      </a:rPr>
                      <m:t>Var</m:t>
                    </m:r>
                    <m:d>
                      <m:dPr>
                        <m:ctrlPr>
                          <a:rPr lang="en-GB" b="0" i="1" smtClean="0">
                            <a:latin typeface="Cambria Math" panose="02040503050406030204" pitchFamily="18" charset="0"/>
                          </a:rPr>
                        </m:ctrlPr>
                      </m:dPr>
                      <m:e>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r>
                              <a:rPr lang="en-GB" i="1">
                                <a:latin typeface="Cambria Math" panose="02040503050406030204" pitchFamily="18" charset="0"/>
                              </a:rPr>
                              <m:t>+</m:t>
                            </m:r>
                            <m:r>
                              <a:rPr lang="en-GB" b="1" i="1">
                                <a:latin typeface="Cambria Math" panose="02040503050406030204" pitchFamily="18" charset="0"/>
                              </a:rPr>
                              <m:t>𝒉</m:t>
                            </m:r>
                          </m:e>
                        </m:d>
                      </m:e>
                    </m:d>
                    <m:r>
                      <m:rPr>
                        <m:nor/>
                      </m:rPr>
                      <a:rPr lang="en-GB" i="0" dirty="0">
                        <a:latin typeface="Aptos" panose="020B0004020202020204" pitchFamily="34" charset="0"/>
                      </a:rPr>
                      <m:t>+ </m:t>
                    </m:r>
                    <m:r>
                      <m:rPr>
                        <m:sty m:val="p"/>
                      </m:rPr>
                      <a:rPr lang="en-GB">
                        <a:latin typeface="Cambria Math" panose="02040503050406030204" pitchFamily="18" charset="0"/>
                      </a:rPr>
                      <m:t>Var</m:t>
                    </m:r>
                    <m:d>
                      <m:dPr>
                        <m:ctrlPr>
                          <a:rPr lang="en-GB" b="0" i="1" smtClean="0">
                            <a:latin typeface="Cambria Math" panose="02040503050406030204" pitchFamily="18" charset="0"/>
                          </a:rPr>
                        </m:ctrlPr>
                      </m:dPr>
                      <m:e>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e>
                        </m:d>
                      </m:e>
                    </m:d>
                    <m:r>
                      <a:rPr lang="en-GB">
                        <a:latin typeface="Cambria Math" panose="02040503050406030204" pitchFamily="18" charset="0"/>
                      </a:rPr>
                      <m:t>−</m:t>
                    </m:r>
                  </m:oMath>
                </a14:m>
                <a:endParaRPr lang="en-GB" dirty="0">
                  <a:latin typeface="Aptos" panose="020B0004020202020204" pitchFamily="34" charset="0"/>
                </a:endParaRPr>
              </a:p>
              <a:p>
                <a:pPr marL="0" indent="0">
                  <a:buNone/>
                </a:pPr>
                <a:r>
                  <a:rPr lang="en-GB" dirty="0">
                    <a:latin typeface="Aptos" panose="020B0004020202020204" pitchFamily="34" charset="0"/>
                  </a:rPr>
                  <a:t>                                                  </a:t>
                </a:r>
                <a14:m>
                  <m:oMath xmlns:m="http://schemas.openxmlformats.org/officeDocument/2006/math">
                    <m:r>
                      <a:rPr lang="en-GB">
                        <a:latin typeface="Cambria Math" panose="02040503050406030204" pitchFamily="18" charset="0"/>
                      </a:rPr>
                      <m:t>2</m:t>
                    </m:r>
                    <m:r>
                      <m:rPr>
                        <m:sty m:val="p"/>
                      </m:rPr>
                      <a:rPr lang="en-GB" b="0" i="0" smtClean="0">
                        <a:latin typeface="Cambria Math" panose="02040503050406030204" pitchFamily="18" charset="0"/>
                      </a:rPr>
                      <m:t>Cov</m:t>
                    </m:r>
                    <m:d>
                      <m:dPr>
                        <m:ctrlPr>
                          <a:rPr lang="en-GB" b="0" i="1" smtClean="0">
                            <a:latin typeface="Cambria Math" panose="02040503050406030204" pitchFamily="18" charset="0"/>
                          </a:rPr>
                        </m:ctrlPr>
                      </m:dPr>
                      <m:e>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r>
                              <a:rPr lang="en-GB" i="1">
                                <a:latin typeface="Cambria Math" panose="02040503050406030204" pitchFamily="18" charset="0"/>
                              </a:rPr>
                              <m:t>+</m:t>
                            </m:r>
                            <m:r>
                              <a:rPr lang="en-GB" b="1" i="1">
                                <a:latin typeface="Cambria Math" panose="02040503050406030204" pitchFamily="18" charset="0"/>
                              </a:rPr>
                              <m:t>𝒉</m:t>
                            </m:r>
                          </m:e>
                        </m:d>
                        <m:r>
                          <a:rPr lang="en-GB" b="0" i="1" smtClean="0">
                            <a:latin typeface="Cambria Math" panose="02040503050406030204" pitchFamily="18" charset="0"/>
                          </a:rPr>
                          <m:t>,</m:t>
                        </m:r>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e>
                        </m:d>
                      </m:e>
                    </m:d>
                  </m:oMath>
                </a14:m>
                <a:endParaRPr lang="en-GB" baseline="-25000" dirty="0">
                  <a:latin typeface="Aptos" panose="020B0004020202020204" pitchFamily="34" charset="0"/>
                </a:endParaRPr>
              </a:p>
              <a:p>
                <a:pPr marL="0" indent="0">
                  <a:buNone/>
                </a:pPr>
                <a:r>
                  <a:rPr lang="en-GB" b="0" dirty="0">
                    <a:latin typeface="Aptos" panose="020B0004020202020204" pitchFamily="34" charset="0"/>
                  </a:rPr>
                  <a:t>                                             </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𝐶</m:t>
                    </m:r>
                    <m:d>
                      <m:dPr>
                        <m:ctrlPr>
                          <a:rPr lang="en-GB" b="1" i="1" smtClean="0">
                            <a:latin typeface="Cambria Math" panose="02040503050406030204" pitchFamily="18" charset="0"/>
                          </a:rPr>
                        </m:ctrlPr>
                      </m:dPr>
                      <m:e>
                        <m:r>
                          <a:rPr lang="en-GB" b="1" i="1" smtClean="0">
                            <a:latin typeface="Cambria Math" panose="02040503050406030204" pitchFamily="18" charset="0"/>
                          </a:rPr>
                          <m:t>𝟎</m:t>
                        </m:r>
                      </m:e>
                    </m:d>
                    <m:r>
                      <a:rPr lang="en-GB" b="0" i="1" smtClean="0">
                        <a:latin typeface="Cambria Math" panose="02040503050406030204" pitchFamily="18" charset="0"/>
                      </a:rPr>
                      <m:t>+</m:t>
                    </m:r>
                    <m:r>
                      <a:rPr lang="en-GB" b="0" i="1" smtClean="0">
                        <a:latin typeface="Cambria Math" panose="02040503050406030204" pitchFamily="18" charset="0"/>
                      </a:rPr>
                      <m:t>𝐶</m:t>
                    </m:r>
                    <m:d>
                      <m:dPr>
                        <m:ctrlPr>
                          <a:rPr lang="en-GB" b="1" i="1" smtClean="0">
                            <a:latin typeface="Cambria Math" panose="02040503050406030204" pitchFamily="18" charset="0"/>
                          </a:rPr>
                        </m:ctrlPr>
                      </m:dPr>
                      <m:e>
                        <m:r>
                          <a:rPr lang="en-GB" b="1" i="1" smtClean="0">
                            <a:latin typeface="Cambria Math" panose="02040503050406030204" pitchFamily="18" charset="0"/>
                          </a:rPr>
                          <m:t>𝟎</m:t>
                        </m:r>
                      </m:e>
                    </m:d>
                    <m:r>
                      <a:rPr lang="en-GB" b="0" i="1" smtClean="0">
                        <a:latin typeface="Cambria Math" panose="02040503050406030204" pitchFamily="18" charset="0"/>
                      </a:rPr>
                      <m:t>−2</m:t>
                    </m:r>
                    <m:r>
                      <a:rPr lang="en-GB" b="0" i="1" smtClean="0">
                        <a:latin typeface="Cambria Math" panose="02040503050406030204" pitchFamily="18" charset="0"/>
                      </a:rPr>
                      <m:t>𝐶</m:t>
                    </m:r>
                    <m:r>
                      <a:rPr lang="en-GB" b="0" i="1" smtClean="0">
                        <a:latin typeface="Cambria Math" panose="02040503050406030204" pitchFamily="18" charset="0"/>
                      </a:rPr>
                      <m:t>(</m:t>
                    </m:r>
                    <m:r>
                      <a:rPr lang="en-GB" b="1" i="1" smtClean="0">
                        <a:latin typeface="Cambria Math" panose="02040503050406030204" pitchFamily="18" charset="0"/>
                      </a:rPr>
                      <m:t>𝒉</m:t>
                    </m:r>
                    <m:r>
                      <a:rPr lang="en-GB" b="0" i="1" smtClean="0">
                        <a:latin typeface="Cambria Math" panose="02040503050406030204" pitchFamily="18" charset="0"/>
                      </a:rPr>
                      <m:t>)=2(</m:t>
                    </m:r>
                    <m:r>
                      <a:rPr lang="en-GB" b="0" i="1" smtClean="0">
                        <a:latin typeface="Cambria Math" panose="02040503050406030204" pitchFamily="18" charset="0"/>
                      </a:rPr>
                      <m:t>𝐶</m:t>
                    </m:r>
                    <m:d>
                      <m:dPr>
                        <m:ctrlPr>
                          <a:rPr lang="en-GB" b="1" i="1" smtClean="0">
                            <a:latin typeface="Cambria Math" panose="02040503050406030204" pitchFamily="18" charset="0"/>
                          </a:rPr>
                        </m:ctrlPr>
                      </m:dPr>
                      <m:e>
                        <m:r>
                          <a:rPr lang="en-GB" b="1" i="1" smtClean="0">
                            <a:latin typeface="Cambria Math" panose="02040503050406030204" pitchFamily="18" charset="0"/>
                          </a:rPr>
                          <m:t>𝟎</m:t>
                        </m:r>
                      </m:e>
                    </m:d>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r>
                      <a:rPr lang="en-GB" b="1" i="1" smtClean="0">
                        <a:latin typeface="Cambria Math" panose="02040503050406030204" pitchFamily="18" charset="0"/>
                      </a:rPr>
                      <m:t>𝒉</m:t>
                    </m:r>
                    <m:r>
                      <a:rPr lang="en-GB" b="0" i="1" smtClean="0">
                        <a:latin typeface="Cambria Math" panose="02040503050406030204" pitchFamily="18" charset="0"/>
                      </a:rPr>
                      <m:t>))</m:t>
                    </m:r>
                  </m:oMath>
                </a14:m>
                <a:endParaRPr lang="en-GB" dirty="0">
                  <a:latin typeface="Aptos" panose="020B0004020202020204" pitchFamily="34" charset="0"/>
                </a:endParaRPr>
              </a:p>
              <a:p>
                <a:pPr marL="0" indent="0">
                  <a:buNone/>
                </a:pPr>
                <a:endParaRPr lang="en-GB" dirty="0">
                  <a:latin typeface="Aptos" panose="020B0004020202020204" pitchFamily="34" charset="0"/>
                </a:endParaRPr>
              </a:p>
              <a:p>
                <a:r>
                  <a:rPr lang="en-GB" dirty="0">
                    <a:latin typeface="Aptos" panose="020B0004020202020204" pitchFamily="34" charset="0"/>
                  </a:rPr>
                  <a:t>This states that: </a:t>
                </a:r>
                <a:r>
                  <a:rPr lang="en-GB" dirty="0" err="1">
                    <a:latin typeface="Aptos" panose="020B0004020202020204" pitchFamily="34" charset="0"/>
                  </a:rPr>
                  <a:t>Variogram</a:t>
                </a:r>
                <a:r>
                  <a:rPr lang="en-GB" dirty="0">
                    <a:latin typeface="Aptos" panose="020B0004020202020204" pitchFamily="34" charset="0"/>
                  </a:rPr>
                  <a:t> at separation </a:t>
                </a:r>
                <a14:m>
                  <m:oMath xmlns:m="http://schemas.openxmlformats.org/officeDocument/2006/math">
                    <m:r>
                      <a:rPr lang="en-GB" b="0" i="1" smtClean="0">
                        <a:latin typeface="Cambria Math" panose="02040503050406030204" pitchFamily="18" charset="0"/>
                      </a:rPr>
                      <m:t>ℎ</m:t>
                    </m:r>
                    <m:r>
                      <a:rPr lang="en-GB" b="0" i="1" smtClean="0">
                        <a:latin typeface="Cambria Math" panose="02040503050406030204" pitchFamily="18" charset="0"/>
                      </a:rPr>
                      <m:t>=2×{</m:t>
                    </m:r>
                    <m:r>
                      <m:rPr>
                        <m:sty m:val="p"/>
                      </m:rPr>
                      <a:rPr lang="en-GB" b="0" i="0" smtClean="0">
                        <a:latin typeface="Cambria Math" panose="02040503050406030204" pitchFamily="18" charset="0"/>
                      </a:rPr>
                      <m:t>spatial</m:t>
                    </m:r>
                    <m:r>
                      <a:rPr lang="en-GB" b="0" i="0" smtClean="0">
                        <a:latin typeface="Cambria Math" panose="02040503050406030204" pitchFamily="18" charset="0"/>
                      </a:rPr>
                      <m:t> </m:t>
                    </m:r>
                    <m:r>
                      <m:rPr>
                        <m:sty m:val="p"/>
                      </m:rPr>
                      <a:rPr lang="en-GB" b="0" i="0" smtClean="0">
                        <a:latin typeface="Cambria Math" panose="02040503050406030204" pitchFamily="18" charset="0"/>
                      </a:rPr>
                      <m:t>variance</m:t>
                    </m:r>
                    <m:r>
                      <a:rPr lang="en-GB" b="0" i="0" smtClean="0">
                        <a:latin typeface="Cambria Math" panose="02040503050406030204" pitchFamily="18" charset="0"/>
                      </a:rPr>
                      <m:t> −</m:t>
                    </m:r>
                    <m:r>
                      <m:rPr>
                        <m:sty m:val="p"/>
                      </m:rPr>
                      <a:rPr lang="en-GB" b="0" i="0" smtClean="0">
                        <a:latin typeface="Cambria Math" panose="02040503050406030204" pitchFamily="18" charset="0"/>
                      </a:rPr>
                      <m:t>spatial</m:t>
                    </m:r>
                    <m:r>
                      <a:rPr lang="en-GB" b="0" i="0" smtClean="0">
                        <a:latin typeface="Cambria Math" panose="02040503050406030204" pitchFamily="18" charset="0"/>
                      </a:rPr>
                      <m:t> </m:t>
                    </m:r>
                    <m:r>
                      <m:rPr>
                        <m:sty m:val="p"/>
                      </m:rPr>
                      <a:rPr lang="en-GB" b="0" i="0" smtClean="0">
                        <a:latin typeface="Cambria Math" panose="02040503050406030204" pitchFamily="18" charset="0"/>
                      </a:rPr>
                      <m:t>covariance</m:t>
                    </m:r>
                    <m:r>
                      <a:rPr lang="en-GB" b="0" i="0" smtClean="0">
                        <a:latin typeface="Cambria Math" panose="02040503050406030204" pitchFamily="18" charset="0"/>
                      </a:rPr>
                      <m:t> </m:t>
                    </m:r>
                    <m:r>
                      <m:rPr>
                        <m:sty m:val="p"/>
                      </m:rPr>
                      <a:rPr lang="en-GB" b="0" i="0" smtClean="0">
                        <a:latin typeface="Cambria Math" panose="02040503050406030204" pitchFamily="18" charset="0"/>
                      </a:rPr>
                      <m:t>function</m:t>
                    </m:r>
                    <m:r>
                      <a:rPr lang="en-GB" b="0" i="0" smtClean="0">
                        <a:latin typeface="Cambria Math" panose="02040503050406030204" pitchFamily="18" charset="0"/>
                      </a:rPr>
                      <m:t> </m:t>
                    </m:r>
                    <m:r>
                      <m:rPr>
                        <m:sty m:val="p"/>
                      </m:rPr>
                      <a:rPr lang="en-GB" b="0" i="0" smtClean="0">
                        <a:latin typeface="Cambria Math" panose="02040503050406030204" pitchFamily="18" charset="0"/>
                      </a:rPr>
                      <m:t>at</m:t>
                    </m:r>
                    <m:r>
                      <a:rPr lang="en-GB" b="0" i="0" smtClean="0">
                        <a:latin typeface="Cambria Math" panose="02040503050406030204" pitchFamily="18" charset="0"/>
                      </a:rPr>
                      <m:t> </m:t>
                    </m:r>
                    <m:r>
                      <m:rPr>
                        <m:sty m:val="p"/>
                      </m:rPr>
                      <a:rPr lang="en-GB" b="0" i="0" smtClean="0">
                        <a:latin typeface="Cambria Math" panose="02040503050406030204" pitchFamily="18" charset="0"/>
                      </a:rPr>
                      <m:t>separation</m:t>
                    </m:r>
                    <m:r>
                      <a:rPr lang="en-GB" b="0" i="0" smtClean="0">
                        <a:latin typeface="Cambria Math" panose="02040503050406030204" pitchFamily="18" charset="0"/>
                      </a:rPr>
                      <m:t> </m:t>
                    </m:r>
                    <m:r>
                      <m:rPr>
                        <m:sty m:val="p"/>
                      </m:rPr>
                      <a:rPr lang="en-GB" b="0" i="0" smtClean="0">
                        <a:latin typeface="Cambria Math" panose="02040503050406030204" pitchFamily="18" charset="0"/>
                      </a:rPr>
                      <m:t>h</m:t>
                    </m:r>
                    <m:r>
                      <a:rPr lang="en-GB" b="0" i="1" smtClean="0">
                        <a:latin typeface="Cambria Math" panose="02040503050406030204" pitchFamily="18" charset="0"/>
                      </a:rPr>
                      <m:t>}</m:t>
                    </m:r>
                  </m:oMath>
                </a14:m>
                <a:endParaRPr lang="en-GB" dirty="0">
                  <a:latin typeface="Aptos" panose="020B0004020202020204" pitchFamily="34" charset="0"/>
                </a:endParaRPr>
              </a:p>
              <a:p>
                <a:endParaRPr lang="en-GB" dirty="0">
                  <a:latin typeface="Aptos" panose="020B0004020202020204" pitchFamily="34" charset="0"/>
                </a:endParaRPr>
              </a:p>
              <a:p>
                <a:r>
                  <a:rPr lang="en-GB" dirty="0">
                    <a:latin typeface="Aptos" panose="020B0004020202020204" pitchFamily="34" charset="0"/>
                  </a:rPr>
                  <a:t>The </a:t>
                </a:r>
                <a:r>
                  <a:rPr lang="en-GB" dirty="0" err="1">
                    <a:latin typeface="Aptos" panose="020B0004020202020204" pitchFamily="34" charset="0"/>
                  </a:rPr>
                  <a:t>variogram</a:t>
                </a:r>
                <a:r>
                  <a:rPr lang="en-GB" dirty="0">
                    <a:latin typeface="Aptos" panose="020B0004020202020204" pitchFamily="34" charset="0"/>
                  </a:rPr>
                  <a:t> is often denoted as </a:t>
                </a:r>
                <a14:m>
                  <m:oMath xmlns:m="http://schemas.openxmlformats.org/officeDocument/2006/math">
                    <m:r>
                      <m:rPr>
                        <m:sty m:val="p"/>
                      </m:rPr>
                      <a:rPr lang="en-GB">
                        <a:latin typeface="Cambria Math" panose="02040503050406030204" pitchFamily="18" charset="0"/>
                      </a:rPr>
                      <m:t>Var</m:t>
                    </m:r>
                    <m:d>
                      <m:dPr>
                        <m:ctrlPr>
                          <a:rPr lang="en-GB" b="0" i="1" smtClean="0">
                            <a:latin typeface="Cambria Math" panose="02040503050406030204" pitchFamily="18" charset="0"/>
                          </a:rPr>
                        </m:ctrlPr>
                      </m:dPr>
                      <m:e>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r>
                              <a:rPr lang="en-GB" i="1">
                                <a:latin typeface="Cambria Math" panose="02040503050406030204" pitchFamily="18" charset="0"/>
                              </a:rPr>
                              <m:t>+</m:t>
                            </m:r>
                            <m:r>
                              <a:rPr lang="en-GB" b="1" i="1">
                                <a:latin typeface="Cambria Math" panose="02040503050406030204" pitchFamily="18" charset="0"/>
                              </a:rPr>
                              <m:t>𝒉</m:t>
                            </m:r>
                          </m:e>
                        </m:d>
                        <m:r>
                          <a:rPr lang="en-GB" i="1">
                            <a:latin typeface="Cambria Math" panose="02040503050406030204" pitchFamily="18" charset="0"/>
                          </a:rPr>
                          <m:t>−</m:t>
                        </m:r>
                        <m:r>
                          <a:rPr lang="en-GB" b="0" i="1" smtClean="0">
                            <a:latin typeface="Cambria Math" panose="02040503050406030204" pitchFamily="18" charset="0"/>
                          </a:rPr>
                          <m:t>𝑍</m:t>
                        </m:r>
                        <m:d>
                          <m:dPr>
                            <m:ctrlPr>
                              <a:rPr lang="en-GB" b="1" i="1">
                                <a:latin typeface="Cambria Math" panose="02040503050406030204" pitchFamily="18" charset="0"/>
                              </a:rPr>
                            </m:ctrlPr>
                          </m:dPr>
                          <m:e>
                            <m:r>
                              <a:rPr lang="en-GB" b="1" i="1">
                                <a:latin typeface="Cambria Math" panose="02040503050406030204" pitchFamily="18" charset="0"/>
                              </a:rPr>
                              <m:t>𝒔</m:t>
                            </m:r>
                          </m:e>
                        </m:d>
                      </m:e>
                    </m:d>
                    <m:r>
                      <a:rPr lang="en-GB" b="1" i="1" smtClean="0">
                        <a:latin typeface="Cambria Math" panose="02040503050406030204" pitchFamily="18" charset="0"/>
                      </a:rPr>
                      <m:t>=</m:t>
                    </m:r>
                    <m:r>
                      <a:rPr lang="en-GB">
                        <a:latin typeface="Cambria Math" panose="02040503050406030204" pitchFamily="18" charset="0"/>
                      </a:rPr>
                      <m:t>2</m:t>
                    </m:r>
                    <m:r>
                      <a:rPr lang="en-GB" i="1">
                        <a:latin typeface="Cambria Math" panose="02040503050406030204" pitchFamily="18" charset="0"/>
                      </a:rPr>
                      <m:t>𝛾</m:t>
                    </m:r>
                    <m:d>
                      <m:dPr>
                        <m:ctrlPr>
                          <a:rPr lang="en-GB" b="1" i="1">
                            <a:latin typeface="Cambria Math" panose="02040503050406030204" pitchFamily="18" charset="0"/>
                          </a:rPr>
                        </m:ctrlPr>
                      </m:dPr>
                      <m:e>
                        <m:r>
                          <a:rPr lang="en-GB" b="1" i="1">
                            <a:latin typeface="Cambria Math" panose="02040503050406030204" pitchFamily="18" charset="0"/>
                          </a:rPr>
                          <m:t>𝒉</m:t>
                        </m:r>
                      </m:e>
                    </m:d>
                  </m:oMath>
                </a14:m>
                <a:endParaRPr lang="en-GB" dirty="0">
                  <a:latin typeface="Aptos" panose="020B0004020202020204" pitchFamily="34" charset="0"/>
                </a:endParaRPr>
              </a:p>
              <a:p>
                <a:endParaRPr lang="en-GB" dirty="0">
                  <a:latin typeface="Aptos" panose="020B0004020202020204" pitchFamily="34" charset="0"/>
                </a:endParaRPr>
              </a:p>
              <a:p>
                <a:r>
                  <a:rPr lang="en-GB" dirty="0">
                    <a:latin typeface="Aptos" panose="020B0004020202020204" pitchFamily="34" charset="0"/>
                  </a:rPr>
                  <a:t>So given </a:t>
                </a:r>
                <a14:m>
                  <m:oMath xmlns:m="http://schemas.openxmlformats.org/officeDocument/2006/math">
                    <m:r>
                      <a:rPr lang="en-GB" i="1">
                        <a:latin typeface="Cambria Math" panose="02040503050406030204" pitchFamily="18" charset="0"/>
                      </a:rPr>
                      <m:t>𝐶</m:t>
                    </m:r>
                  </m:oMath>
                </a14:m>
                <a:r>
                  <a:rPr lang="en-GB" dirty="0">
                    <a:latin typeface="Aptos" panose="020B0004020202020204" pitchFamily="34" charset="0"/>
                  </a:rPr>
                  <a:t>, we are able to determine </a:t>
                </a:r>
                <a14:m>
                  <m:oMath xmlns:m="http://schemas.openxmlformats.org/officeDocument/2006/math">
                    <m:r>
                      <a:rPr lang="en-GB" i="1">
                        <a:latin typeface="Cambria Math" panose="02040503050406030204" pitchFamily="18" charset="0"/>
                      </a:rPr>
                      <m:t>𝛾</m:t>
                    </m:r>
                  </m:oMath>
                </a14:m>
                <a:r>
                  <a:rPr lang="en-GB" dirty="0">
                    <a:latin typeface="Aptos" panose="020B0004020202020204" pitchFamily="34" charset="0"/>
                  </a:rPr>
                  <a:t>.</a:t>
                </a:r>
              </a:p>
              <a:p>
                <a:endParaRPr lang="en-GB" dirty="0">
                  <a:latin typeface="Aptos" panose="020B0004020202020204" pitchFamily="34" charset="0"/>
                </a:endParaRPr>
              </a:p>
              <a:p>
                <a:r>
                  <a:rPr lang="en-GB" dirty="0">
                    <a:latin typeface="Aptos" panose="020B0004020202020204" pitchFamily="34" charset="0"/>
                  </a:rPr>
                  <a:t>The quantity </a:t>
                </a:r>
                <a14:m>
                  <m:oMath xmlns:m="http://schemas.openxmlformats.org/officeDocument/2006/math">
                    <m:r>
                      <a:rPr lang="en-GB" i="1">
                        <a:latin typeface="Cambria Math" panose="02040503050406030204" pitchFamily="18" charset="0"/>
                      </a:rPr>
                      <m:t>𝛾</m:t>
                    </m:r>
                    <m:d>
                      <m:dPr>
                        <m:ctrlPr>
                          <a:rPr lang="en-GB" b="1" i="1">
                            <a:latin typeface="Cambria Math" panose="02040503050406030204" pitchFamily="18" charset="0"/>
                          </a:rPr>
                        </m:ctrlPr>
                      </m:dPr>
                      <m:e>
                        <m:r>
                          <a:rPr lang="en-GB" b="1" i="1">
                            <a:latin typeface="Cambria Math" panose="02040503050406030204" pitchFamily="18" charset="0"/>
                          </a:rPr>
                          <m:t>𝒉</m:t>
                        </m:r>
                      </m:e>
                    </m:d>
                    <m:r>
                      <a:rPr lang="en-GB" b="0" i="1" smtClean="0">
                        <a:latin typeface="Cambria Math" panose="02040503050406030204" pitchFamily="18" charset="0"/>
                      </a:rPr>
                      <m:t>=</m:t>
                    </m:r>
                    <m:r>
                      <a:rPr lang="en-GB" i="1">
                        <a:latin typeface="Cambria Math" panose="02040503050406030204" pitchFamily="18" charset="0"/>
                      </a:rPr>
                      <m:t>(</m:t>
                    </m:r>
                    <m:r>
                      <a:rPr lang="en-GB" i="1">
                        <a:latin typeface="Cambria Math" panose="02040503050406030204" pitchFamily="18" charset="0"/>
                      </a:rPr>
                      <m:t>𝐶</m:t>
                    </m:r>
                    <m:d>
                      <m:dPr>
                        <m:ctrlPr>
                          <a:rPr lang="en-GB" b="1" i="1">
                            <a:latin typeface="Cambria Math" panose="02040503050406030204" pitchFamily="18" charset="0"/>
                          </a:rPr>
                        </m:ctrlPr>
                      </m:dPr>
                      <m:e>
                        <m:r>
                          <a:rPr lang="en-GB" b="1" i="1">
                            <a:latin typeface="Cambria Math" panose="02040503050406030204" pitchFamily="18" charset="0"/>
                          </a:rPr>
                          <m:t>𝟎</m:t>
                        </m:r>
                      </m:e>
                    </m:d>
                    <m:r>
                      <a:rPr lang="en-GB" i="1">
                        <a:latin typeface="Cambria Math" panose="02040503050406030204" pitchFamily="18" charset="0"/>
                      </a:rPr>
                      <m:t>−</m:t>
                    </m:r>
                    <m:r>
                      <a:rPr lang="en-GB" i="1">
                        <a:latin typeface="Cambria Math" panose="02040503050406030204" pitchFamily="18" charset="0"/>
                      </a:rPr>
                      <m:t>𝐶</m:t>
                    </m:r>
                    <m:r>
                      <a:rPr lang="en-GB" i="1">
                        <a:latin typeface="Cambria Math" panose="02040503050406030204" pitchFamily="18" charset="0"/>
                      </a:rPr>
                      <m:t>(</m:t>
                    </m:r>
                    <m:r>
                      <a:rPr lang="en-GB" b="1" i="1">
                        <a:latin typeface="Cambria Math" panose="02040503050406030204" pitchFamily="18" charset="0"/>
                      </a:rPr>
                      <m:t>𝒉</m:t>
                    </m:r>
                    <m:r>
                      <a:rPr lang="en-GB" i="1">
                        <a:latin typeface="Cambria Math" panose="02040503050406030204" pitchFamily="18" charset="0"/>
                      </a:rPr>
                      <m:t>))</m:t>
                    </m:r>
                  </m:oMath>
                </a14:m>
                <a:r>
                  <a:rPr lang="en-GB" dirty="0">
                    <a:latin typeface="Aptos" panose="020B0004020202020204" pitchFamily="34" charset="0"/>
                  </a:rPr>
                  <a:t> is called the </a:t>
                </a:r>
                <a:r>
                  <a:rPr lang="en-GB" b="1" dirty="0" err="1">
                    <a:latin typeface="Aptos" panose="020B0004020202020204" pitchFamily="34" charset="0"/>
                  </a:rPr>
                  <a:t>semivariogram</a:t>
                </a:r>
                <a:endParaRPr lang="en-GB" b="1" dirty="0">
                  <a:latin typeface="Aptos" panose="020B0004020202020204" pitchFamily="34" charset="0"/>
                </a:endParaRPr>
              </a:p>
              <a:p>
                <a:endParaRPr lang="en-GB" dirty="0"/>
              </a:p>
              <a:p>
                <a:endParaRPr lang="en-GB"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313843"/>
                <a:ext cx="10799618" cy="5032375"/>
              </a:xfrm>
              <a:blipFill>
                <a:blip r:embed="rId2"/>
                <a:stretch>
                  <a:fillRect l="-903" b="-606"/>
                </a:stretch>
              </a:blipFill>
            </p:spPr>
            <p:txBody>
              <a:bodyPr/>
              <a:lstStyle/>
              <a:p>
                <a:r>
                  <a:rPr lang="en-GB">
                    <a:noFill/>
                  </a:rPr>
                  <a:t> </a:t>
                </a:r>
              </a:p>
            </p:txBody>
          </p:sp>
        </mc:Fallback>
      </mc:AlternateContent>
      <p:sp>
        <p:nvSpPr>
          <p:cNvPr id="5" name="Title 1"/>
          <p:cNvSpPr>
            <a:spLocks noGrp="1"/>
          </p:cNvSpPr>
          <p:nvPr>
            <p:ph type="title"/>
          </p:nvPr>
        </p:nvSpPr>
        <p:spPr>
          <a:xfrm>
            <a:off x="276225" y="92019"/>
            <a:ext cx="10342418" cy="603306"/>
          </a:xfrm>
        </p:spPr>
        <p:txBody>
          <a:bodyPr>
            <a:normAutofit fontScale="90000"/>
          </a:bodyPr>
          <a:lstStyle/>
          <a:p>
            <a:r>
              <a:rPr lang="en-GB" b="1" dirty="0" err="1">
                <a:solidFill>
                  <a:schemeClr val="bg1"/>
                </a:solidFill>
                <a:latin typeface="Aptos" panose="020B0004020202020204" pitchFamily="34" charset="0"/>
              </a:rPr>
              <a:t>Variogram</a:t>
            </a:r>
            <a:r>
              <a:rPr lang="en-GB" b="1" dirty="0">
                <a:solidFill>
                  <a:schemeClr val="bg1"/>
                </a:solidFill>
                <a:latin typeface="Aptos" panose="020B0004020202020204" pitchFamily="34" charset="0"/>
              </a:rPr>
              <a:t> and </a:t>
            </a:r>
            <a:r>
              <a:rPr lang="en-GB" b="1" dirty="0" err="1">
                <a:solidFill>
                  <a:schemeClr val="bg1"/>
                </a:solidFill>
                <a:latin typeface="Aptos" panose="020B0004020202020204" pitchFamily="34" charset="0"/>
              </a:rPr>
              <a:t>covariogram</a:t>
            </a:r>
            <a:r>
              <a:rPr lang="en-GB" b="1" dirty="0">
                <a:solidFill>
                  <a:schemeClr val="bg1"/>
                </a:solidFill>
                <a:latin typeface="Aptos" panose="020B0004020202020204" pitchFamily="34" charset="0"/>
              </a:rPr>
              <a:t>/covariance</a:t>
            </a:r>
          </a:p>
        </p:txBody>
      </p:sp>
    </p:spTree>
    <p:extLst>
      <p:ext uri="{BB962C8B-B14F-4D97-AF65-F5344CB8AC3E}">
        <p14:creationId xmlns:p14="http://schemas.microsoft.com/office/powerpoint/2010/main" val="705726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435100"/>
                <a:ext cx="10515600" cy="4351338"/>
              </a:xfrm>
            </p:spPr>
            <p:txBody>
              <a:bodyPr/>
              <a:lstStyle/>
              <a:p>
                <a:r>
                  <a:rPr lang="en-GB" dirty="0">
                    <a:latin typeface="Aptos" panose="020B0004020202020204" pitchFamily="34" charset="0"/>
                  </a:rPr>
                  <a:t>In practice, a </a:t>
                </a:r>
                <a:r>
                  <a:rPr lang="en-GB" b="1" dirty="0">
                    <a:solidFill>
                      <a:schemeClr val="accent1">
                        <a:lumMod val="75000"/>
                      </a:schemeClr>
                    </a:solidFill>
                    <a:latin typeface="Aptos" panose="020B0004020202020204" pitchFamily="34" charset="0"/>
                  </a:rPr>
                  <a:t>valid</a:t>
                </a:r>
                <a:r>
                  <a:rPr lang="en-GB" dirty="0">
                    <a:latin typeface="Aptos" panose="020B0004020202020204" pitchFamily="34" charset="0"/>
                  </a:rPr>
                  <a:t> covariance function is assumed for the process </a:t>
                </a:r>
                <a14:m>
                  <m:oMath xmlns:m="http://schemas.openxmlformats.org/officeDocument/2006/math">
                    <m:r>
                      <m:rPr>
                        <m:sty m:val="p"/>
                      </m:rPr>
                      <a:rPr lang="en-GB" b="0" i="0" smtClean="0">
                        <a:latin typeface="Cambria Math" panose="02040503050406030204" pitchFamily="18" charset="0"/>
                      </a:rPr>
                      <m:t>Z</m:t>
                    </m:r>
                    <m:d>
                      <m:dPr>
                        <m:ctrlPr>
                          <a:rPr lang="en-GB" b="1" i="1" smtClean="0">
                            <a:latin typeface="Cambria Math" panose="02040503050406030204" pitchFamily="18" charset="0"/>
                          </a:rPr>
                        </m:ctrlPr>
                      </m:dPr>
                      <m:e>
                        <m:r>
                          <a:rPr lang="en-GB" b="1" i="1" smtClean="0">
                            <a:latin typeface="Cambria Math" panose="02040503050406030204" pitchFamily="18" charset="0"/>
                          </a:rPr>
                          <m:t>𝒔</m:t>
                        </m:r>
                      </m:e>
                    </m:d>
                    <m:r>
                      <a:rPr lang="en-GB" b="0" i="0" smtClean="0">
                        <a:latin typeface="Cambria Math" panose="02040503050406030204" pitchFamily="18" charset="0"/>
                      </a:rPr>
                      <m:t>,</m:t>
                    </m:r>
                  </m:oMath>
                </a14:m>
                <a:r>
                  <a:rPr lang="en-GB" dirty="0">
                    <a:latin typeface="Aptos" panose="020B0004020202020204" pitchFamily="34" charset="0"/>
                  </a:rPr>
                  <a:t> from which the </a:t>
                </a:r>
                <a:r>
                  <a:rPr lang="en-GB" dirty="0" err="1">
                    <a:latin typeface="Aptos" panose="020B0004020202020204" pitchFamily="34" charset="0"/>
                  </a:rPr>
                  <a:t>semivariogram</a:t>
                </a:r>
                <a:r>
                  <a:rPr lang="en-GB" dirty="0">
                    <a:latin typeface="Aptos" panose="020B0004020202020204" pitchFamily="34" charset="0"/>
                  </a:rPr>
                  <a:t> is automatically determined</a:t>
                </a:r>
              </a:p>
              <a:p>
                <a:endParaRPr lang="en-GB" dirty="0">
                  <a:latin typeface="Aptos" panose="020B0004020202020204" pitchFamily="34" charset="0"/>
                </a:endParaRPr>
              </a:p>
              <a:p>
                <a:r>
                  <a:rPr lang="en-GB" dirty="0">
                    <a:latin typeface="Aptos" panose="020B0004020202020204" pitchFamily="34" charset="0"/>
                  </a:rPr>
                  <a:t>To specify a valid covariance function, we need the concept of isotropy in addition to intrinsic stationarity</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435100"/>
                <a:ext cx="10515600" cy="4351338"/>
              </a:xfrm>
              <a:blipFill>
                <a:blip r:embed="rId2"/>
                <a:stretch>
                  <a:fillRect l="-1043" t="-2381"/>
                </a:stretch>
              </a:blipFill>
            </p:spPr>
            <p:txBody>
              <a:bodyPr/>
              <a:lstStyle/>
              <a:p>
                <a:r>
                  <a:rPr lang="en-GB">
                    <a:noFill/>
                  </a:rPr>
                  <a:t> </a:t>
                </a:r>
              </a:p>
            </p:txBody>
          </p:sp>
        </mc:Fallback>
      </mc:AlternateContent>
      <p:sp>
        <p:nvSpPr>
          <p:cNvPr id="2" name="TextBox 1"/>
          <p:cNvSpPr txBox="1"/>
          <p:nvPr/>
        </p:nvSpPr>
        <p:spPr>
          <a:xfrm>
            <a:off x="1106172" y="5053568"/>
            <a:ext cx="8892074" cy="369332"/>
          </a:xfrm>
          <a:prstGeom prst="rect">
            <a:avLst/>
          </a:prstGeom>
          <a:noFill/>
        </p:spPr>
        <p:txBody>
          <a:bodyPr wrap="square" rtlCol="0">
            <a:spAutoFit/>
          </a:bodyPr>
          <a:lstStyle/>
          <a:p>
            <a:r>
              <a:rPr lang="en-GB" dirty="0">
                <a:latin typeface="Merriweather"/>
              </a:rPr>
              <a:t>NB: Sometimes, the plot of C(h) against h is referred to as the </a:t>
            </a:r>
            <a:r>
              <a:rPr lang="en-GB" dirty="0" err="1">
                <a:latin typeface="Merriweather"/>
              </a:rPr>
              <a:t>covariogram</a:t>
            </a:r>
            <a:endParaRPr lang="en-GB" dirty="0">
              <a:latin typeface="Merriweather"/>
            </a:endParaRPr>
          </a:p>
        </p:txBody>
      </p:sp>
      <p:sp>
        <p:nvSpPr>
          <p:cNvPr id="6" name="Title 1"/>
          <p:cNvSpPr>
            <a:spLocks noGrp="1"/>
          </p:cNvSpPr>
          <p:nvPr>
            <p:ph type="title"/>
          </p:nvPr>
        </p:nvSpPr>
        <p:spPr>
          <a:xfrm>
            <a:off x="381000" y="82494"/>
            <a:ext cx="10342418" cy="598543"/>
          </a:xfrm>
        </p:spPr>
        <p:txBody>
          <a:bodyPr>
            <a:normAutofit fontScale="90000"/>
          </a:bodyPr>
          <a:lstStyle/>
          <a:p>
            <a:r>
              <a:rPr lang="en-GB" b="1" dirty="0" err="1">
                <a:solidFill>
                  <a:schemeClr val="bg1"/>
                </a:solidFill>
                <a:latin typeface="Aptos" panose="020B0004020202020204" pitchFamily="34" charset="0"/>
              </a:rPr>
              <a:t>Variogram</a:t>
            </a:r>
            <a:r>
              <a:rPr lang="en-GB" b="1" dirty="0">
                <a:solidFill>
                  <a:schemeClr val="bg1"/>
                </a:solidFill>
                <a:latin typeface="Aptos" panose="020B0004020202020204" pitchFamily="34" charset="0"/>
              </a:rPr>
              <a:t> and </a:t>
            </a:r>
            <a:r>
              <a:rPr lang="en-GB" b="1" dirty="0" err="1">
                <a:solidFill>
                  <a:schemeClr val="bg1"/>
                </a:solidFill>
                <a:latin typeface="Aptos" panose="020B0004020202020204" pitchFamily="34" charset="0"/>
              </a:rPr>
              <a:t>covariogram</a:t>
            </a:r>
            <a:r>
              <a:rPr lang="en-GB" b="1" dirty="0">
                <a:solidFill>
                  <a:schemeClr val="bg1"/>
                </a:solidFill>
                <a:latin typeface="Aptos" panose="020B0004020202020204" pitchFamily="34" charset="0"/>
              </a:rPr>
              <a:t>/covariance</a:t>
            </a:r>
          </a:p>
        </p:txBody>
      </p:sp>
    </p:spTree>
    <p:extLst>
      <p:ext uri="{BB962C8B-B14F-4D97-AF65-F5344CB8AC3E}">
        <p14:creationId xmlns:p14="http://schemas.microsoft.com/office/powerpoint/2010/main" val="3403134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375" y="114675"/>
            <a:ext cx="10300855" cy="535420"/>
          </a:xfrm>
        </p:spPr>
        <p:txBody>
          <a:bodyPr>
            <a:normAutofit fontScale="90000"/>
          </a:bodyPr>
          <a:lstStyle/>
          <a:p>
            <a:r>
              <a:rPr lang="en-GB" sz="4000" b="1" dirty="0">
                <a:solidFill>
                  <a:schemeClr val="bg1"/>
                </a:solidFill>
                <a:latin typeface="Aptos" panose="020B0004020202020204" pitchFamily="34" charset="0"/>
              </a:rPr>
              <a:t>Isotropy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343487"/>
                <a:ext cx="10515600" cy="5132128"/>
              </a:xfrm>
            </p:spPr>
            <p:txBody>
              <a:bodyPr>
                <a:normAutofit fontScale="92500" lnSpcReduction="10000"/>
              </a:bodyPr>
              <a:lstStyle/>
              <a:p>
                <a:r>
                  <a:rPr lang="en-GB" dirty="0">
                    <a:latin typeface="Aptos" panose="020B0004020202020204" pitchFamily="34" charset="0"/>
                  </a:rPr>
                  <a:t>The vector </a:t>
                </a:r>
                <a14:m>
                  <m:oMath xmlns:m="http://schemas.openxmlformats.org/officeDocument/2006/math">
                    <m:r>
                      <a:rPr lang="en-GB" b="1" i="1" smtClean="0">
                        <a:latin typeface="Cambria Math" panose="02040503050406030204" pitchFamily="18" charset="0"/>
                      </a:rPr>
                      <m:t>𝒉</m:t>
                    </m:r>
                  </m:oMath>
                </a14:m>
                <a:r>
                  <a:rPr lang="en-GB" dirty="0">
                    <a:latin typeface="Aptos" panose="020B0004020202020204" pitchFamily="34" charset="0"/>
                  </a:rPr>
                  <a:t> is multi-dimensional which can be problematic as </a:t>
                </a:r>
                <a14:m>
                  <m:oMath xmlns:m="http://schemas.openxmlformats.org/officeDocument/2006/math">
                    <m:r>
                      <a:rPr lang="en-GB" b="0" i="1" smtClean="0">
                        <a:latin typeface="Cambria Math" panose="02040503050406030204" pitchFamily="18" charset="0"/>
                      </a:rPr>
                      <m:t>𝐶</m:t>
                    </m:r>
                    <m:d>
                      <m:dPr>
                        <m:ctrlPr>
                          <a:rPr lang="en-GB" b="1" i="1" smtClean="0">
                            <a:latin typeface="Cambria Math" panose="02040503050406030204" pitchFamily="18" charset="0"/>
                          </a:rPr>
                        </m:ctrlPr>
                      </m:dPr>
                      <m:e>
                        <m:r>
                          <a:rPr lang="en-GB" b="1" i="1" smtClean="0">
                            <a:latin typeface="Cambria Math" panose="02040503050406030204" pitchFamily="18" charset="0"/>
                          </a:rPr>
                          <m:t>𝒉</m:t>
                        </m:r>
                      </m:e>
                    </m:d>
                  </m:oMath>
                </a14:m>
                <a:r>
                  <a:rPr lang="en-GB" b="1" dirty="0">
                    <a:latin typeface="Aptos" panose="020B0004020202020204" pitchFamily="34" charset="0"/>
                  </a:rPr>
                  <a:t> </a:t>
                </a:r>
                <a:r>
                  <a:rPr lang="en-GB" dirty="0">
                    <a:latin typeface="Aptos" panose="020B0004020202020204" pitchFamily="34" charset="0"/>
                  </a:rPr>
                  <a:t>needs to be specified for every possible value of </a:t>
                </a:r>
                <a14:m>
                  <m:oMath xmlns:m="http://schemas.openxmlformats.org/officeDocument/2006/math">
                    <m:r>
                      <a:rPr lang="en-GB" b="1" i="1" smtClean="0">
                        <a:latin typeface="Cambria Math" panose="02040503050406030204" pitchFamily="18" charset="0"/>
                      </a:rPr>
                      <m:t>𝒉</m:t>
                    </m:r>
                  </m:oMath>
                </a14:m>
                <a:endParaRPr lang="en-GB" dirty="0">
                  <a:latin typeface="Aptos" panose="020B0004020202020204" pitchFamily="34" charset="0"/>
                </a:endParaRPr>
              </a:p>
              <a:p>
                <a:endParaRPr lang="en-GB" dirty="0">
                  <a:latin typeface="Aptos" panose="020B0004020202020204" pitchFamily="34" charset="0"/>
                </a:endParaRPr>
              </a:p>
              <a:p>
                <a:r>
                  <a:rPr lang="en-GB" dirty="0">
                    <a:latin typeface="Aptos" panose="020B0004020202020204" pitchFamily="34" charset="0"/>
                  </a:rPr>
                  <a:t>A covariance function is </a:t>
                </a:r>
                <a:r>
                  <a:rPr lang="en-GB" b="1" dirty="0">
                    <a:latin typeface="Aptos" panose="020B0004020202020204" pitchFamily="34" charset="0"/>
                  </a:rPr>
                  <a:t>isotropic</a:t>
                </a:r>
                <a:r>
                  <a:rPr lang="en-GB" dirty="0">
                    <a:latin typeface="Aptos" panose="020B0004020202020204" pitchFamily="34" charset="0"/>
                  </a:rPr>
                  <a:t> if it depends only on the length </a:t>
                </a:r>
                <a14:m>
                  <m:oMath xmlns:m="http://schemas.openxmlformats.org/officeDocument/2006/math">
                    <m:d>
                      <m:dPr>
                        <m:begChr m:val="‖"/>
                        <m:endChr m:val="‖"/>
                        <m:ctrlPr>
                          <a:rPr lang="en-GB" b="1" i="1" smtClean="0">
                            <a:latin typeface="Cambria Math" panose="02040503050406030204" pitchFamily="18" charset="0"/>
                          </a:rPr>
                        </m:ctrlPr>
                      </m:dPr>
                      <m:e>
                        <m:r>
                          <a:rPr lang="en-GB" b="1" i="1" smtClean="0">
                            <a:latin typeface="Cambria Math" panose="02040503050406030204" pitchFamily="18" charset="0"/>
                          </a:rPr>
                          <m:t>𝒉</m:t>
                        </m:r>
                      </m:e>
                    </m:d>
                  </m:oMath>
                </a14:m>
                <a:r>
                  <a:rPr lang="en-GB" b="1" dirty="0">
                    <a:latin typeface="Aptos" panose="020B0004020202020204" pitchFamily="34" charset="0"/>
                  </a:rPr>
                  <a:t> </a:t>
                </a:r>
                <a:r>
                  <a:rPr lang="en-GB" dirty="0">
                    <a:latin typeface="Aptos" panose="020B0004020202020204" pitchFamily="34" charset="0"/>
                  </a:rPr>
                  <a:t>of the separation vector </a:t>
                </a:r>
                <a14:m>
                  <m:oMath xmlns:m="http://schemas.openxmlformats.org/officeDocument/2006/math">
                    <m:r>
                      <a:rPr lang="en-GB" b="1" i="1">
                        <a:latin typeface="Cambria Math" panose="02040503050406030204" pitchFamily="18" charset="0"/>
                      </a:rPr>
                      <m:t>𝒉</m:t>
                    </m:r>
                  </m:oMath>
                </a14:m>
                <a:endParaRPr lang="en-GB" dirty="0">
                  <a:latin typeface="Aptos" panose="020B0004020202020204" pitchFamily="34" charset="0"/>
                </a:endParaRPr>
              </a:p>
              <a:p>
                <a:endParaRPr lang="en-GB" dirty="0">
                  <a:latin typeface="Aptos" panose="020B0004020202020204" pitchFamily="34" charset="0"/>
                </a:endParaRPr>
              </a:p>
              <a:p>
                <a:r>
                  <a:rPr lang="en-GB" dirty="0">
                    <a:latin typeface="Aptos" panose="020B0004020202020204" pitchFamily="34" charset="0"/>
                  </a:rPr>
                  <a:t>That is, isotropic functions depend only on the distance but not on the angle or direction of travel. They are said to be </a:t>
                </a:r>
                <a:r>
                  <a:rPr lang="en-GB" i="1" dirty="0" err="1">
                    <a:latin typeface="Aptos" panose="020B0004020202020204" pitchFamily="34" charset="0"/>
                  </a:rPr>
                  <a:t>omni</a:t>
                </a:r>
                <a:r>
                  <a:rPr lang="en-GB" i="1" dirty="0">
                    <a:latin typeface="Aptos" panose="020B0004020202020204" pitchFamily="34" charset="0"/>
                  </a:rPr>
                  <a:t>-directional</a:t>
                </a:r>
                <a:r>
                  <a:rPr lang="en-GB" dirty="0">
                    <a:latin typeface="Aptos" panose="020B0004020202020204" pitchFamily="34" charset="0"/>
                  </a:rPr>
                  <a:t>. </a:t>
                </a:r>
              </a:p>
              <a:p>
                <a:endParaRPr lang="en-GB" dirty="0">
                  <a:latin typeface="Aptos" panose="020B0004020202020204" pitchFamily="34" charset="0"/>
                </a:endParaRPr>
              </a:p>
              <a:p>
                <a:r>
                  <a:rPr lang="en-GB" dirty="0">
                    <a:latin typeface="Aptos" panose="020B0004020202020204" pitchFamily="34" charset="0"/>
                  </a:rPr>
                  <a:t>Isotropic covariance functions can be denoted by </a:t>
                </a:r>
                <a14:m>
                  <m:oMath xmlns:m="http://schemas.openxmlformats.org/officeDocument/2006/math">
                    <m:r>
                      <a:rPr lang="en-GB" b="0" i="1" smtClean="0">
                        <a:latin typeface="Cambria Math" panose="02040503050406030204" pitchFamily="18" charset="0"/>
                      </a:rPr>
                      <m:t>𝐶</m:t>
                    </m:r>
                    <m:r>
                      <a:rPr lang="en-GB" b="0" i="1" smtClean="0">
                        <a:latin typeface="Cambria Math" panose="02040503050406030204" pitchFamily="18" charset="0"/>
                      </a:rPr>
                      <m:t>(</m:t>
                    </m:r>
                    <m:d>
                      <m:dPr>
                        <m:begChr m:val="‖"/>
                        <m:endChr m:val="‖"/>
                        <m:ctrlPr>
                          <a:rPr lang="en-GB" b="1" i="1">
                            <a:latin typeface="Cambria Math" panose="02040503050406030204" pitchFamily="18" charset="0"/>
                          </a:rPr>
                        </m:ctrlPr>
                      </m:dPr>
                      <m:e>
                        <m:r>
                          <a:rPr lang="en-GB" b="1" i="1">
                            <a:latin typeface="Cambria Math" panose="02040503050406030204" pitchFamily="18" charset="0"/>
                          </a:rPr>
                          <m:t>𝒉</m:t>
                        </m:r>
                      </m:e>
                    </m:d>
                    <m:r>
                      <a:rPr lang="en-GB" b="0" i="1" smtClean="0">
                        <a:latin typeface="Cambria Math" panose="02040503050406030204" pitchFamily="18" charset="0"/>
                      </a:rPr>
                      <m:t>)</m:t>
                    </m:r>
                  </m:oMath>
                </a14:m>
                <a:r>
                  <a:rPr lang="en-GB" dirty="0">
                    <a:latin typeface="Aptos" panose="020B0004020202020204" pitchFamily="34" charset="0"/>
                  </a:rPr>
                  <a:t>, </a:t>
                </a:r>
                <a14:m>
                  <m:oMath xmlns:m="http://schemas.openxmlformats.org/officeDocument/2006/math">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𝑑</m:t>
                        </m:r>
                      </m:e>
                    </m:d>
                    <m:r>
                      <a:rPr lang="en-GB" b="0" i="1" smtClean="0">
                        <a:latin typeface="Cambria Math" panose="02040503050406030204" pitchFamily="18" charset="0"/>
                      </a:rPr>
                      <m:t> </m:t>
                    </m:r>
                    <m:r>
                      <m:rPr>
                        <m:sty m:val="p"/>
                      </m:rPr>
                      <a:rPr lang="en-GB" b="0" i="0" smtClean="0">
                        <a:latin typeface="Cambria Math" panose="02040503050406030204" pitchFamily="18" charset="0"/>
                      </a:rPr>
                      <m:t>or</m:t>
                    </m:r>
                    <m:r>
                      <a:rPr lang="en-GB" b="0" i="0" smtClean="0">
                        <a:latin typeface="Cambria Math" panose="02040503050406030204" pitchFamily="18" charset="0"/>
                      </a:rPr>
                      <m:t> </m:t>
                    </m:r>
                    <m:r>
                      <m:rPr>
                        <m:sty m:val="p"/>
                      </m:rPr>
                      <a:rPr lang="en-GB" b="0" i="0" smtClean="0">
                        <a:latin typeface="Cambria Math" panose="02040503050406030204" pitchFamily="18" charset="0"/>
                      </a:rPr>
                      <m:t>even</m:t>
                    </m:r>
                    <m:r>
                      <a:rPr lang="en-GB" b="0" i="1" smtClean="0">
                        <a:latin typeface="Cambria Math" panose="02040503050406030204" pitchFamily="18" charset="0"/>
                      </a:rPr>
                      <m:t> </m:t>
                    </m:r>
                    <m:r>
                      <a:rPr lang="en-GB" b="0" i="1" smtClean="0">
                        <a:latin typeface="Cambria Math" panose="02040503050406030204" pitchFamily="18" charset="0"/>
                      </a:rPr>
                      <m:t>𝐶</m:t>
                    </m:r>
                    <m:r>
                      <a:rPr lang="en-GB" b="0"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𝑗</m:t>
                        </m:r>
                      </m:sub>
                    </m:sSub>
                    <m:r>
                      <a:rPr lang="en-GB" b="0" i="1" smtClean="0">
                        <a:latin typeface="Cambria Math" panose="02040503050406030204" pitchFamily="18" charset="0"/>
                      </a:rPr>
                      <m:t>)</m:t>
                    </m:r>
                  </m:oMath>
                </a14:m>
                <a:r>
                  <a:rPr lang="en-GB" dirty="0">
                    <a:latin typeface="Aptos" panose="020B0004020202020204" pitchFamily="34" charset="0"/>
                  </a:rPr>
                  <a:t> where </a:t>
                </a:r>
                <a14:m>
                  <m:oMath xmlns:m="http://schemas.openxmlformats.org/officeDocument/2006/math">
                    <m:r>
                      <a:rPr lang="en-GB" b="0" i="1" smtClean="0">
                        <a:latin typeface="Cambria Math" panose="02040503050406030204" pitchFamily="18" charset="0"/>
                      </a:rPr>
                      <m:t>𝑑</m:t>
                    </m:r>
                    <m:r>
                      <a:rPr lang="en-GB" b="0" i="1" smtClean="0">
                        <a:latin typeface="Cambria Math" panose="02040503050406030204" pitchFamily="18" charset="0"/>
                      </a:rPr>
                      <m:t>=</m:t>
                    </m:r>
                    <m:d>
                      <m:dPr>
                        <m:begChr m:val="‖"/>
                        <m:endChr m:val="‖"/>
                        <m:ctrlPr>
                          <a:rPr lang="en-GB" b="1" i="1">
                            <a:latin typeface="Cambria Math" panose="02040503050406030204" pitchFamily="18" charset="0"/>
                          </a:rPr>
                        </m:ctrlPr>
                      </m:dPr>
                      <m:e>
                        <m:r>
                          <a:rPr lang="en-GB" b="1" i="1">
                            <a:latin typeface="Cambria Math" panose="02040503050406030204" pitchFamily="18" charset="0"/>
                          </a:rPr>
                          <m:t>𝒉</m:t>
                        </m:r>
                      </m:e>
                    </m:d>
                    <m:r>
                      <a:rPr lang="en-GB" b="0" i="0" smtClean="0">
                        <a:latin typeface="Cambria Math" panose="02040503050406030204" pitchFamily="18" charset="0"/>
                      </a:rPr>
                      <m:t>=</m:t>
                    </m:r>
                    <m:d>
                      <m:dPr>
                        <m:begChr m:val="‖"/>
                        <m:endChr m:val="‖"/>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smtClean="0">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b="0" i="1" smtClean="0">
                                <a:latin typeface="Cambria Math" panose="02040503050406030204" pitchFamily="18" charset="0"/>
                              </a:rPr>
                              <m:t>𝑗</m:t>
                            </m:r>
                          </m:sub>
                        </m:sSub>
                      </m:e>
                    </m:d>
                  </m:oMath>
                </a14:m>
                <a:r>
                  <a:rPr lang="en-GB" dirty="0">
                    <a:latin typeface="Aptos" panose="020B0004020202020204" pitchFamily="34" charset="0"/>
                  </a:rPr>
                  <a:t> is a scalar distance between locations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oMath>
                </a14:m>
                <a:r>
                  <a:rPr lang="en-GB" dirty="0">
                    <a:latin typeface="Aptos" panose="020B0004020202020204" pitchFamily="34" charset="0"/>
                  </a:rPr>
                  <a:t> and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𝑗</m:t>
                        </m:r>
                      </m:sub>
                    </m:sSub>
                  </m:oMath>
                </a14:m>
                <a:r>
                  <a:rPr lang="en-GB" dirty="0">
                    <a:latin typeface="Aptos" panose="020B0004020202020204" pitchFamily="34" charset="0"/>
                  </a:rPr>
                  <a:t>.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343487"/>
                <a:ext cx="10515600" cy="5132128"/>
              </a:xfrm>
              <a:blipFill>
                <a:blip r:embed="rId2"/>
                <a:stretch>
                  <a:fillRect l="-928" t="-2375"/>
                </a:stretch>
              </a:blipFill>
            </p:spPr>
            <p:txBody>
              <a:bodyPr/>
              <a:lstStyle/>
              <a:p>
                <a:r>
                  <a:rPr lang="en-GB">
                    <a:noFill/>
                  </a:rPr>
                  <a:t> </a:t>
                </a:r>
              </a:p>
            </p:txBody>
          </p:sp>
        </mc:Fallback>
      </mc:AlternateContent>
    </p:spTree>
    <p:extLst>
      <p:ext uri="{BB962C8B-B14F-4D97-AF65-F5344CB8AC3E}">
        <p14:creationId xmlns:p14="http://schemas.microsoft.com/office/powerpoint/2010/main" val="105770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614864"/>
            <a:ext cx="9717578" cy="3918469"/>
          </a:xfrm>
        </p:spPr>
        <p:txBody>
          <a:bodyPr>
            <a:normAutofit lnSpcReduction="10000"/>
          </a:bodyPr>
          <a:lstStyle/>
          <a:p>
            <a:r>
              <a:rPr lang="en-GB" dirty="0">
                <a:latin typeface="Aptos" panose="020B0004020202020204" pitchFamily="34" charset="0"/>
              </a:rPr>
              <a:t>A covariance function is called anisotropic if it is not isotropic</a:t>
            </a:r>
          </a:p>
          <a:p>
            <a:endParaRPr lang="en-GB" dirty="0">
              <a:latin typeface="Aptos" panose="020B0004020202020204" pitchFamily="34" charset="0"/>
            </a:endParaRPr>
          </a:p>
          <a:p>
            <a:r>
              <a:rPr lang="en-GB" dirty="0">
                <a:latin typeface="Aptos" panose="020B0004020202020204" pitchFamily="34" charset="0"/>
              </a:rPr>
              <a:t>Anisotropy can be desirable if the phenomenon being modelled is direction-dependent. E.g. the spread of air pollution could depend on wind direction</a:t>
            </a:r>
          </a:p>
          <a:p>
            <a:endParaRPr lang="en-GB" dirty="0">
              <a:latin typeface="Aptos" panose="020B0004020202020204" pitchFamily="34" charset="0"/>
            </a:endParaRPr>
          </a:p>
          <a:p>
            <a:r>
              <a:rPr lang="en-GB" dirty="0">
                <a:latin typeface="Aptos" panose="020B0004020202020204" pitchFamily="34" charset="0"/>
              </a:rPr>
              <a:t>However, for simplicity, isotropic covariance functions are used for the underlying true error process </a:t>
            </a:r>
          </a:p>
        </p:txBody>
      </p:sp>
      <p:sp>
        <p:nvSpPr>
          <p:cNvPr id="4" name="Title 1"/>
          <p:cNvSpPr>
            <a:spLocks noGrp="1"/>
          </p:cNvSpPr>
          <p:nvPr>
            <p:ph type="title"/>
          </p:nvPr>
        </p:nvSpPr>
        <p:spPr>
          <a:xfrm>
            <a:off x="285750" y="-95250"/>
            <a:ext cx="6974378" cy="872836"/>
          </a:xfrm>
        </p:spPr>
        <p:txBody>
          <a:bodyPr>
            <a:normAutofit/>
          </a:bodyPr>
          <a:lstStyle/>
          <a:p>
            <a:r>
              <a:rPr lang="en-GB" sz="4000" b="1" dirty="0">
                <a:solidFill>
                  <a:schemeClr val="bg1"/>
                </a:solidFill>
                <a:latin typeface="Aptos" panose="020B0004020202020204" pitchFamily="34" charset="0"/>
              </a:rPr>
              <a:t>Isotropy</a:t>
            </a:r>
          </a:p>
        </p:txBody>
      </p:sp>
    </p:spTree>
    <p:extLst>
      <p:ext uri="{BB962C8B-B14F-4D97-AF65-F5344CB8AC3E}">
        <p14:creationId xmlns:p14="http://schemas.microsoft.com/office/powerpoint/2010/main" val="1309086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225" y="15384"/>
            <a:ext cx="9333807" cy="790344"/>
          </a:xfrm>
        </p:spPr>
        <p:txBody>
          <a:bodyPr>
            <a:normAutofit/>
          </a:bodyPr>
          <a:lstStyle/>
          <a:p>
            <a:r>
              <a:rPr lang="en-GB" sz="4000" b="1" dirty="0" err="1">
                <a:solidFill>
                  <a:schemeClr val="bg1"/>
                </a:solidFill>
                <a:latin typeface="Aptos" panose="020B0004020202020204" pitchFamily="34" charset="0"/>
              </a:rPr>
              <a:t>Matérn</a:t>
            </a:r>
            <a:r>
              <a:rPr lang="en-GB" sz="4000" b="1" dirty="0">
                <a:solidFill>
                  <a:schemeClr val="bg1"/>
                </a:solidFill>
                <a:latin typeface="Aptos" panose="020B0004020202020204" pitchFamily="34" charset="0"/>
              </a:rPr>
              <a:t> covariance function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519959"/>
                <a:ext cx="10515600" cy="4351338"/>
              </a:xfrm>
            </p:spPr>
            <p:txBody>
              <a:bodyPr>
                <a:normAutofit/>
              </a:bodyPr>
              <a:lstStyle/>
              <a:p>
                <a:r>
                  <a:rPr lang="en-GB" dirty="0">
                    <a:latin typeface="Aptos" panose="020B0004020202020204" pitchFamily="34" charset="0"/>
                  </a:rPr>
                  <a:t>Practical modelling work requires the specification of a particular covariance function for inferential purposes (likelihood, parameter estimation)</a:t>
                </a:r>
              </a:p>
              <a:p>
                <a:endParaRPr lang="en-GB" dirty="0">
                  <a:latin typeface="Aptos" panose="020B0004020202020204" pitchFamily="34" charset="0"/>
                </a:endParaRPr>
              </a:p>
              <a:p>
                <a:r>
                  <a:rPr lang="en-GB" dirty="0">
                    <a:latin typeface="Aptos" panose="020B0004020202020204" pitchFamily="34" charset="0"/>
                  </a:rPr>
                  <a:t>The most commonly used isotropic covariance functions are the </a:t>
                </a:r>
                <a:r>
                  <a:rPr lang="en-GB" b="1" dirty="0" err="1">
                    <a:solidFill>
                      <a:schemeClr val="accent1">
                        <a:lumMod val="75000"/>
                      </a:schemeClr>
                    </a:solidFill>
                    <a:latin typeface="Aptos" panose="020B0004020202020204" pitchFamily="34" charset="0"/>
                  </a:rPr>
                  <a:t>Matérn</a:t>
                </a:r>
                <a:r>
                  <a:rPr lang="en-GB" b="1" dirty="0">
                    <a:solidFill>
                      <a:schemeClr val="accent1">
                        <a:lumMod val="75000"/>
                      </a:schemeClr>
                    </a:solidFill>
                    <a:latin typeface="Aptos" panose="020B0004020202020204" pitchFamily="34" charset="0"/>
                  </a:rPr>
                  <a:t> family of covariance functions </a:t>
                </a:r>
                <a:r>
                  <a:rPr lang="en-GB" dirty="0">
                    <a:latin typeface="Aptos" panose="020B0004020202020204" pitchFamily="34" charset="0"/>
                  </a:rPr>
                  <a:t>(</a:t>
                </a:r>
                <a:r>
                  <a:rPr lang="en-GB" dirty="0" err="1">
                    <a:latin typeface="Aptos" panose="020B0004020202020204" pitchFamily="34" charset="0"/>
                  </a:rPr>
                  <a:t>Matérn</a:t>
                </a:r>
                <a:r>
                  <a:rPr lang="en-GB" dirty="0">
                    <a:latin typeface="Aptos" panose="020B0004020202020204" pitchFamily="34" charset="0"/>
                  </a:rPr>
                  <a:t>, 1986) </a:t>
                </a:r>
              </a:p>
              <a:p>
                <a:endParaRPr lang="en-GB" b="1" dirty="0">
                  <a:latin typeface="Aptos" panose="020B0004020202020204" pitchFamily="34" charset="0"/>
                </a:endParaRPr>
              </a:p>
              <a:p>
                <a:r>
                  <a:rPr lang="en-GB" dirty="0">
                    <a:latin typeface="Aptos" panose="020B0004020202020204" pitchFamily="34" charset="0"/>
                  </a:rPr>
                  <a:t>Recall that </a:t>
                </a:r>
                <a14:m>
                  <m:oMath xmlns:m="http://schemas.openxmlformats.org/officeDocument/2006/math">
                    <m:r>
                      <m:rPr>
                        <m:sty m:val="p"/>
                      </m:rPr>
                      <a:rPr lang="en-GB" b="0" i="0" smtClean="0">
                        <a:latin typeface="Cambria Math" panose="02040503050406030204" pitchFamily="18" charset="0"/>
                      </a:rPr>
                      <m:t>Covariance</m:t>
                    </m:r>
                    <m:r>
                      <a:rPr lang="en-GB" b="0" i="1" smtClean="0">
                        <a:latin typeface="Cambria Math" panose="02040503050406030204" pitchFamily="18" charset="0"/>
                      </a:rPr>
                      <m:t>=</m:t>
                    </m:r>
                    <m:r>
                      <m:rPr>
                        <m:sty m:val="p"/>
                      </m:rPr>
                      <a:rPr lang="en-GB" b="0" i="0" smtClean="0">
                        <a:latin typeface="Cambria Math" panose="02040503050406030204" pitchFamily="18" charset="0"/>
                      </a:rPr>
                      <m:t>variance</m:t>
                    </m:r>
                    <m:r>
                      <a:rPr lang="en-GB" b="0" i="1" smtClean="0">
                        <a:latin typeface="Cambria Math" panose="02040503050406030204" pitchFamily="18" charset="0"/>
                      </a:rPr>
                      <m:t> ∗</m:t>
                    </m:r>
                    <m:r>
                      <m:rPr>
                        <m:sty m:val="p"/>
                      </m:rPr>
                      <a:rPr lang="en-GB" b="0" i="0" smtClean="0">
                        <a:latin typeface="Cambria Math" panose="02040503050406030204" pitchFamily="18" charset="0"/>
                      </a:rPr>
                      <m:t>correlation</m:t>
                    </m:r>
                  </m:oMath>
                </a14:m>
                <a:r>
                  <a:rPr lang="en-GB" b="1" dirty="0">
                    <a:latin typeface="Aptos" panose="020B0004020202020204" pitchFamily="34" charset="0"/>
                  </a:rPr>
                  <a:t> </a:t>
                </a:r>
                <a:r>
                  <a:rPr lang="en-GB" dirty="0">
                    <a:latin typeface="Aptos" panose="020B0004020202020204" pitchFamily="34" charset="0"/>
                  </a:rPr>
                  <a:t>if both random variables involved have the same variance</a:t>
                </a:r>
                <a:endParaRPr lang="en-GB" b="1" dirty="0">
                  <a:latin typeface="Aptos" panose="020B00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519959"/>
                <a:ext cx="10515600" cy="4351338"/>
              </a:xfrm>
              <a:blipFill>
                <a:blip r:embed="rId2"/>
                <a:stretch>
                  <a:fillRect l="-1043" t="-2381" r="-174"/>
                </a:stretch>
              </a:blipFill>
            </p:spPr>
            <p:txBody>
              <a:bodyPr/>
              <a:lstStyle/>
              <a:p>
                <a:r>
                  <a:rPr lang="en-GB">
                    <a:noFill/>
                  </a:rPr>
                  <a:t> </a:t>
                </a:r>
              </a:p>
            </p:txBody>
          </p:sp>
        </mc:Fallback>
      </mc:AlternateContent>
    </p:spTree>
    <p:extLst>
      <p:ext uri="{BB962C8B-B14F-4D97-AF65-F5344CB8AC3E}">
        <p14:creationId xmlns:p14="http://schemas.microsoft.com/office/powerpoint/2010/main" val="2708555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57225" y="1464713"/>
                <a:ext cx="10515600" cy="4488412"/>
              </a:xfrm>
            </p:spPr>
            <p:txBody>
              <a:bodyPr>
                <a:noAutofit/>
              </a:bodyPr>
              <a:lstStyle/>
              <a:p>
                <a:r>
                  <a:rPr lang="en-GB" dirty="0">
                    <a:latin typeface="Aptos" panose="020B0004020202020204" pitchFamily="34" charset="0"/>
                  </a:rPr>
                  <a:t>In spatial statistics, we assume equal variance denoted by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oMath>
                </a14:m>
                <a:endParaRPr lang="en-GB" dirty="0">
                  <a:latin typeface="Aptos" panose="020B0004020202020204" pitchFamily="34" charset="0"/>
                </a:endParaRPr>
              </a:p>
              <a:p>
                <a:r>
                  <a:rPr lang="en-GB" dirty="0">
                    <a:latin typeface="Aptos" panose="020B0004020202020204" pitchFamily="34" charset="0"/>
                  </a:rPr>
                  <a:t>Hence, covariance functions have the form </a:t>
                </a:r>
                <a14:m>
                  <m:oMath xmlns:m="http://schemas.openxmlformats.org/officeDocument/2006/math">
                    <m:r>
                      <a:rPr lang="en-GB" b="0" i="1" smtClean="0">
                        <a:latin typeface="Cambria Math" panose="02040503050406030204" pitchFamily="18" charset="0"/>
                      </a:rPr>
                      <m:t>𝐶</m:t>
                    </m:r>
                    <m:d>
                      <m:dPr>
                        <m:ctrlPr>
                          <a:rPr lang="en-GB" b="0" i="1" smtClean="0">
                            <a:latin typeface="Cambria Math" panose="02040503050406030204" pitchFamily="18" charset="0"/>
                          </a:rPr>
                        </m:ctrlPr>
                      </m:dPr>
                      <m:e>
                        <m:r>
                          <a:rPr lang="en-GB" b="0" i="1" smtClean="0">
                            <a:latin typeface="Cambria Math" panose="02040503050406030204" pitchFamily="18" charset="0"/>
                          </a:rPr>
                          <m:t>𝑑</m:t>
                        </m:r>
                      </m:e>
                    </m:d>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r>
                      <a:rPr lang="en-GB" b="0" i="1" smtClean="0">
                        <a:latin typeface="Cambria Math" panose="02040503050406030204" pitchFamily="18" charset="0"/>
                      </a:rPr>
                      <m:t>𝜌</m:t>
                    </m:r>
                    <m:d>
                      <m:dPr>
                        <m:ctrlPr>
                          <a:rPr lang="en-GB" b="0" i="1" smtClean="0">
                            <a:latin typeface="Cambria Math" panose="02040503050406030204" pitchFamily="18" charset="0"/>
                          </a:rPr>
                        </m:ctrlPr>
                      </m:dPr>
                      <m:e>
                        <m:r>
                          <a:rPr lang="en-GB" b="0" i="1" smtClean="0">
                            <a:latin typeface="Cambria Math" panose="02040503050406030204" pitchFamily="18" charset="0"/>
                          </a:rPr>
                          <m:t>𝑑</m:t>
                        </m:r>
                      </m:e>
                    </m:d>
                  </m:oMath>
                </a14:m>
                <a:r>
                  <a:rPr lang="en-GB" dirty="0">
                    <a:latin typeface="Aptos" panose="020B0004020202020204" pitchFamily="34" charset="0"/>
                  </a:rPr>
                  <a:t>, where </a:t>
                </a:r>
                <a14:m>
                  <m:oMath xmlns:m="http://schemas.openxmlformats.org/officeDocument/2006/math">
                    <m:r>
                      <a:rPr lang="en-GB" i="1">
                        <a:latin typeface="Cambria Math" panose="02040503050406030204" pitchFamily="18" charset="0"/>
                      </a:rPr>
                      <m:t>𝜌</m:t>
                    </m:r>
                    <m:d>
                      <m:dPr>
                        <m:ctrlPr>
                          <a:rPr lang="en-GB" i="1">
                            <a:latin typeface="Cambria Math" panose="02040503050406030204" pitchFamily="18" charset="0"/>
                          </a:rPr>
                        </m:ctrlPr>
                      </m:dPr>
                      <m:e>
                        <m:r>
                          <a:rPr lang="en-GB" i="1">
                            <a:latin typeface="Cambria Math" panose="02040503050406030204" pitchFamily="18" charset="0"/>
                          </a:rPr>
                          <m:t>𝑑</m:t>
                        </m:r>
                      </m:e>
                    </m:d>
                  </m:oMath>
                </a14:m>
                <a:r>
                  <a:rPr lang="en-GB" dirty="0">
                    <a:latin typeface="Aptos" panose="020B0004020202020204" pitchFamily="34" charset="0"/>
                  </a:rPr>
                  <a:t> is a </a:t>
                </a:r>
                <a:r>
                  <a:rPr lang="en-GB" b="1" dirty="0">
                    <a:latin typeface="Aptos" panose="020B0004020202020204" pitchFamily="34" charset="0"/>
                  </a:rPr>
                  <a:t>correlation function</a:t>
                </a:r>
              </a:p>
              <a:p>
                <a:r>
                  <a:rPr lang="en-GB" dirty="0">
                    <a:latin typeface="Aptos" panose="020B0004020202020204" pitchFamily="34" charset="0"/>
                  </a:rPr>
                  <a:t>Note that </a:t>
                </a:r>
                <a14:m>
                  <m:oMath xmlns:m="http://schemas.openxmlformats.org/officeDocument/2006/math">
                    <m:r>
                      <a:rPr lang="en-GB" b="0" i="1" smtClean="0">
                        <a:latin typeface="Cambria Math" panose="02040503050406030204" pitchFamily="18" charset="0"/>
                      </a:rPr>
                      <m:t>𝐶</m:t>
                    </m:r>
                    <m:d>
                      <m:dPr>
                        <m:ctrlPr>
                          <a:rPr lang="en-GB" b="0" i="1" smtClean="0">
                            <a:latin typeface="Cambria Math" panose="02040503050406030204" pitchFamily="18" charset="0"/>
                          </a:rPr>
                        </m:ctrlPr>
                      </m:dPr>
                      <m:e>
                        <m:r>
                          <a:rPr lang="en-GB" b="0" i="1" smtClean="0">
                            <a:latin typeface="Cambria Math" panose="02040503050406030204" pitchFamily="18" charset="0"/>
                          </a:rPr>
                          <m:t>0</m:t>
                        </m:r>
                      </m:e>
                    </m:d>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oMath>
                </a14:m>
                <a:r>
                  <a:rPr lang="en-GB" dirty="0">
                    <a:latin typeface="Aptos" panose="020B0004020202020204" pitchFamily="34" charset="0"/>
                  </a:rPr>
                  <a:t>. So, we shall assume that </a:t>
                </a:r>
                <a14:m>
                  <m:oMath xmlns:m="http://schemas.openxmlformats.org/officeDocument/2006/math">
                    <m:r>
                      <a:rPr lang="en-GB" i="1">
                        <a:latin typeface="Cambria Math" panose="02040503050406030204" pitchFamily="18" charset="0"/>
                      </a:rPr>
                      <m:t>𝜌</m:t>
                    </m:r>
                    <m:d>
                      <m:dPr>
                        <m:ctrlPr>
                          <a:rPr lang="en-GB" i="1">
                            <a:latin typeface="Cambria Math" panose="02040503050406030204" pitchFamily="18" charset="0"/>
                          </a:rPr>
                        </m:ctrlPr>
                      </m:dPr>
                      <m:e>
                        <m:r>
                          <a:rPr lang="en-GB" i="1">
                            <a:latin typeface="Cambria Math" panose="02040503050406030204" pitchFamily="18" charset="0"/>
                          </a:rPr>
                          <m:t>𝑑</m:t>
                        </m:r>
                      </m:e>
                    </m:d>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1</m:t>
                    </m:r>
                  </m:oMath>
                </a14:m>
                <a:r>
                  <a:rPr lang="en-GB" dirty="0">
                    <a:latin typeface="Aptos" panose="020B0004020202020204" pitchFamily="34" charset="0"/>
                  </a:rPr>
                  <a:t> as </a:t>
                </a:r>
                <a14:m>
                  <m:oMath xmlns:m="http://schemas.openxmlformats.org/officeDocument/2006/math">
                    <m:r>
                      <a:rPr lang="en-GB" b="0" i="1" smtClean="0">
                        <a:latin typeface="Cambria Math" panose="02040503050406030204" pitchFamily="18" charset="0"/>
                      </a:rPr>
                      <m:t>𝑑</m:t>
                    </m:r>
                    <m:r>
                      <a:rPr lang="en-GB" b="0" i="1" smtClean="0">
                        <a:latin typeface="Cambria Math" panose="02040503050406030204" pitchFamily="18" charset="0"/>
                        <a:ea typeface="Cambria Math" panose="02040503050406030204" pitchFamily="18" charset="0"/>
                      </a:rPr>
                      <m:t>→0</m:t>
                    </m:r>
                  </m:oMath>
                </a14:m>
                <a:endParaRPr lang="en-GB" dirty="0">
                  <a:latin typeface="Aptos" panose="020B0004020202020204" pitchFamily="34" charset="0"/>
                </a:endParaRPr>
              </a:p>
              <a:p>
                <a:r>
                  <a:rPr lang="en-GB" dirty="0">
                    <a:latin typeface="Aptos" panose="020B0004020202020204" pitchFamily="34" charset="0"/>
                  </a:rPr>
                  <a:t>This also means that the correlation should decay with increasing </a:t>
                </a:r>
                <a14:m>
                  <m:oMath xmlns:m="http://schemas.openxmlformats.org/officeDocument/2006/math">
                    <m:r>
                      <a:rPr lang="en-GB" b="0" i="1" smtClean="0">
                        <a:latin typeface="Cambria Math" panose="02040503050406030204" pitchFamily="18" charset="0"/>
                      </a:rPr>
                      <m:t>𝑑</m:t>
                    </m:r>
                  </m:oMath>
                </a14:m>
                <a:r>
                  <a:rPr lang="en-GB" dirty="0">
                    <a:latin typeface="Aptos" panose="020B0004020202020204" pitchFamily="34" charset="0"/>
                  </a:rPr>
                  <a:t>, in line with Tobler’s first law of Geography (Tobler, 1970):</a:t>
                </a:r>
              </a:p>
              <a:p>
                <a:endParaRPr lang="en-GB" dirty="0">
                  <a:latin typeface="Aptos" panose="020B0004020202020204" pitchFamily="34" charset="0"/>
                </a:endParaRPr>
              </a:p>
              <a:p>
                <a:pPr marL="457200" lvl="1" indent="0">
                  <a:buNone/>
                </a:pPr>
                <a:r>
                  <a:rPr lang="en-GB" sz="2800" dirty="0">
                    <a:latin typeface="Aptos" panose="020B0004020202020204" pitchFamily="34" charset="0"/>
                  </a:rPr>
                  <a:t>“everything is related to everything else, but near things are more related than distant things.”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57225" y="1464713"/>
                <a:ext cx="10515600" cy="4488412"/>
              </a:xfrm>
              <a:blipFill>
                <a:blip r:embed="rId2"/>
                <a:stretch>
                  <a:fillRect l="-1043" t="-2171" r="-1565"/>
                </a:stretch>
              </a:blipFill>
            </p:spPr>
            <p:txBody>
              <a:bodyPr/>
              <a:lstStyle/>
              <a:p>
                <a:r>
                  <a:rPr lang="en-GB">
                    <a:noFill/>
                  </a:rPr>
                  <a:t> </a:t>
                </a:r>
              </a:p>
            </p:txBody>
          </p:sp>
        </mc:Fallback>
      </mc:AlternateContent>
      <p:sp>
        <p:nvSpPr>
          <p:cNvPr id="5" name="Title 1"/>
          <p:cNvSpPr>
            <a:spLocks noGrp="1"/>
          </p:cNvSpPr>
          <p:nvPr>
            <p:ph type="title"/>
          </p:nvPr>
        </p:nvSpPr>
        <p:spPr>
          <a:xfrm>
            <a:off x="295275" y="0"/>
            <a:ext cx="9333807" cy="790344"/>
          </a:xfrm>
        </p:spPr>
        <p:txBody>
          <a:bodyPr>
            <a:normAutofit/>
          </a:bodyPr>
          <a:lstStyle/>
          <a:p>
            <a:r>
              <a:rPr lang="en-GB" sz="4000" b="1" dirty="0" err="1">
                <a:solidFill>
                  <a:schemeClr val="bg1"/>
                </a:solidFill>
                <a:latin typeface="Aptos" panose="020B0004020202020204" pitchFamily="34" charset="0"/>
              </a:rPr>
              <a:t>Matérn</a:t>
            </a:r>
            <a:r>
              <a:rPr lang="en-GB" sz="4000" b="1" dirty="0">
                <a:solidFill>
                  <a:schemeClr val="bg1"/>
                </a:solidFill>
                <a:latin typeface="Aptos" panose="020B0004020202020204" pitchFamily="34" charset="0"/>
              </a:rPr>
              <a:t> covariance function</a:t>
            </a:r>
          </a:p>
        </p:txBody>
      </p:sp>
    </p:spTree>
    <p:extLst>
      <p:ext uri="{BB962C8B-B14F-4D97-AF65-F5344CB8AC3E}">
        <p14:creationId xmlns:p14="http://schemas.microsoft.com/office/powerpoint/2010/main" val="1497378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95325" y="1481931"/>
                <a:ext cx="10515600" cy="4404519"/>
              </a:xfrm>
            </p:spPr>
            <p:txBody>
              <a:bodyPr>
                <a:normAutofit/>
              </a:bodyPr>
              <a:lstStyle/>
              <a:p>
                <a:r>
                  <a:rPr lang="en-GB" dirty="0">
                    <a:latin typeface="Aptos" panose="020B0004020202020204" pitchFamily="34" charset="0"/>
                  </a:rPr>
                  <a:t>The distance </a:t>
                </a:r>
                <a14:m>
                  <m:oMath xmlns:m="http://schemas.openxmlformats.org/officeDocument/2006/math">
                    <m:r>
                      <a:rPr lang="en-GB" b="0" i="1" smtClean="0">
                        <a:latin typeface="Cambria Math" panose="02040503050406030204" pitchFamily="18" charset="0"/>
                      </a:rPr>
                      <m:t>𝑟</m:t>
                    </m:r>
                  </m:oMath>
                </a14:m>
                <a:r>
                  <a:rPr lang="en-GB" dirty="0">
                    <a:latin typeface="Aptos" panose="020B0004020202020204" pitchFamily="34" charset="0"/>
                  </a:rPr>
                  <a:t> at which the correlation </a:t>
                </a:r>
                <a14:m>
                  <m:oMath xmlns:m="http://schemas.openxmlformats.org/officeDocument/2006/math">
                    <m:r>
                      <a:rPr lang="en-GB" b="0" i="1" smtClean="0">
                        <a:latin typeface="Cambria Math" panose="02040503050406030204" pitchFamily="18" charset="0"/>
                      </a:rPr>
                      <m:t>𝜌</m:t>
                    </m:r>
                    <m:d>
                      <m:dPr>
                        <m:ctrlPr>
                          <a:rPr lang="en-GB" b="0" i="1" smtClean="0">
                            <a:latin typeface="Cambria Math" panose="02040503050406030204" pitchFamily="18" charset="0"/>
                          </a:rPr>
                        </m:ctrlPr>
                      </m:dPr>
                      <m:e>
                        <m:r>
                          <a:rPr lang="en-GB" b="0" i="1" smtClean="0">
                            <a:latin typeface="Cambria Math" panose="02040503050406030204" pitchFamily="18" charset="0"/>
                          </a:rPr>
                          <m:t>𝑑</m:t>
                        </m:r>
                      </m:e>
                    </m:d>
                    <m:r>
                      <a:rPr lang="en-GB" b="0" i="1" smtClean="0">
                        <a:latin typeface="Cambria Math" panose="02040503050406030204" pitchFamily="18" charset="0"/>
                      </a:rPr>
                      <m:t>=0</m:t>
                    </m:r>
                  </m:oMath>
                </a14:m>
                <a:r>
                  <a:rPr lang="en-GB" dirty="0">
                    <a:latin typeface="Aptos" panose="020B0004020202020204" pitchFamily="34" charset="0"/>
                  </a:rPr>
                  <a:t> is called the </a:t>
                </a:r>
                <a:r>
                  <a:rPr lang="en-GB" b="1" dirty="0">
                    <a:latin typeface="Aptos" panose="020B0004020202020204" pitchFamily="34" charset="0"/>
                  </a:rPr>
                  <a:t>range</a:t>
                </a:r>
              </a:p>
              <a:p>
                <a:r>
                  <a:rPr lang="en-GB" b="1" dirty="0">
                    <a:latin typeface="Aptos" panose="020B0004020202020204" pitchFamily="34" charset="0"/>
                  </a:rPr>
                  <a:t>The range </a:t>
                </a:r>
                <a:r>
                  <a:rPr lang="en-GB" dirty="0">
                    <a:latin typeface="Aptos" panose="020B0004020202020204" pitchFamily="34" charset="0"/>
                  </a:rPr>
                  <a:t>is therefore the minimum distance beyond which any two random observations are deemed independent</a:t>
                </a:r>
                <a:endParaRPr lang="en-GB" b="1" dirty="0">
                  <a:latin typeface="Aptos" panose="020B0004020202020204" pitchFamily="34" charset="0"/>
                </a:endParaRPr>
              </a:p>
              <a:p>
                <a:r>
                  <a:rPr lang="en-GB" dirty="0">
                    <a:latin typeface="Aptos" panose="020B0004020202020204" pitchFamily="34" charset="0"/>
                  </a:rPr>
                  <a:t>Often times, analytical forms of </a:t>
                </a:r>
                <a14:m>
                  <m:oMath xmlns:m="http://schemas.openxmlformats.org/officeDocument/2006/math">
                    <m:r>
                      <a:rPr lang="en-GB" i="1">
                        <a:latin typeface="Cambria Math" panose="02040503050406030204" pitchFamily="18" charset="0"/>
                      </a:rPr>
                      <m:t>𝜌</m:t>
                    </m:r>
                    <m:d>
                      <m:dPr>
                        <m:ctrlPr>
                          <a:rPr lang="en-GB" i="1">
                            <a:latin typeface="Cambria Math" panose="02040503050406030204" pitchFamily="18" charset="0"/>
                          </a:rPr>
                        </m:ctrlPr>
                      </m:dPr>
                      <m:e>
                        <m:r>
                          <a:rPr lang="en-GB" i="1">
                            <a:latin typeface="Cambria Math" panose="02040503050406030204" pitchFamily="18" charset="0"/>
                          </a:rPr>
                          <m:t>𝑑</m:t>
                        </m:r>
                      </m:e>
                    </m:d>
                  </m:oMath>
                </a14:m>
                <a:r>
                  <a:rPr lang="en-GB" dirty="0">
                    <a:latin typeface="Aptos" panose="020B0004020202020204" pitchFamily="34" charset="0"/>
                  </a:rPr>
                  <a:t> do not allow a finite value for the range (e.g., the exponential correlation function)</a:t>
                </a:r>
              </a:p>
              <a:p>
                <a:r>
                  <a:rPr lang="en-GB" dirty="0">
                    <a:latin typeface="Aptos" panose="020B0004020202020204" pitchFamily="34" charset="0"/>
                  </a:rPr>
                  <a:t>In such cases, the </a:t>
                </a:r>
                <a:r>
                  <a:rPr lang="en-GB" b="1" dirty="0">
                    <a:latin typeface="Aptos" panose="020B0004020202020204" pitchFamily="34" charset="0"/>
                  </a:rPr>
                  <a:t>effective range </a:t>
                </a:r>
                <a:r>
                  <a:rPr lang="en-GB" dirty="0">
                    <a:latin typeface="Aptos" panose="020B0004020202020204" pitchFamily="34" charset="0"/>
                  </a:rPr>
                  <a:t>is used which is usually the minimum distance  after which there is a negligible amount of correlation, e.g. </a:t>
                </a:r>
                <a14:m>
                  <m:oMath xmlns:m="http://schemas.openxmlformats.org/officeDocument/2006/math">
                    <m:r>
                      <a:rPr lang="en-GB" b="0" i="1" smtClean="0">
                        <a:solidFill>
                          <a:schemeClr val="accent1">
                            <a:lumMod val="75000"/>
                          </a:schemeClr>
                        </a:solidFill>
                        <a:latin typeface="Cambria Math" panose="02040503050406030204" pitchFamily="18" charset="0"/>
                      </a:rPr>
                      <m:t>𝜌</m:t>
                    </m:r>
                    <m:d>
                      <m:dPr>
                        <m:ctrlPr>
                          <a:rPr lang="en-GB" b="0" i="1" smtClean="0">
                            <a:solidFill>
                              <a:schemeClr val="accent1">
                                <a:lumMod val="75000"/>
                              </a:schemeClr>
                            </a:solidFill>
                            <a:latin typeface="Cambria Math" panose="02040503050406030204" pitchFamily="18" charset="0"/>
                          </a:rPr>
                        </m:ctrlPr>
                      </m:dPr>
                      <m:e>
                        <m:r>
                          <a:rPr lang="en-GB" b="0" i="1" smtClean="0">
                            <a:solidFill>
                              <a:schemeClr val="accent1">
                                <a:lumMod val="75000"/>
                              </a:schemeClr>
                            </a:solidFill>
                            <a:latin typeface="Cambria Math" panose="02040503050406030204" pitchFamily="18" charset="0"/>
                          </a:rPr>
                          <m:t>𝑑</m:t>
                        </m:r>
                      </m:e>
                    </m:d>
                    <m:r>
                      <a:rPr lang="en-GB" b="0" i="1" smtClean="0">
                        <a:solidFill>
                          <a:schemeClr val="accent1">
                            <a:lumMod val="75000"/>
                          </a:schemeClr>
                        </a:solidFill>
                        <a:latin typeface="Cambria Math" panose="02040503050406030204" pitchFamily="18" charset="0"/>
                      </a:rPr>
                      <m:t>=0.1(</m:t>
                    </m:r>
                    <m:r>
                      <m:rPr>
                        <m:sty m:val="p"/>
                      </m:rPr>
                      <a:rPr lang="en-GB" b="0" i="0" smtClean="0">
                        <a:solidFill>
                          <a:schemeClr val="accent1">
                            <a:lumMod val="75000"/>
                          </a:schemeClr>
                        </a:solidFill>
                        <a:latin typeface="Cambria Math" panose="02040503050406030204" pitchFamily="18" charset="0"/>
                      </a:rPr>
                      <m:t>or</m:t>
                    </m:r>
                    <m:r>
                      <a:rPr lang="en-GB" b="0" i="1" smtClean="0">
                        <a:solidFill>
                          <a:schemeClr val="accent1">
                            <a:lumMod val="75000"/>
                          </a:schemeClr>
                        </a:solidFill>
                        <a:latin typeface="Cambria Math" panose="02040503050406030204" pitchFamily="18" charset="0"/>
                      </a:rPr>
                      <m:t> 0.05)</m:t>
                    </m:r>
                  </m:oMath>
                </a14:m>
                <a:r>
                  <a:rPr lang="en-GB" dirty="0">
                    <a:solidFill>
                      <a:schemeClr val="accent1">
                        <a:lumMod val="75000"/>
                      </a:schemeClr>
                    </a:solidFill>
                    <a:latin typeface="Aptos" panose="020B0004020202020204" pitchFamily="34" charset="0"/>
                  </a:rPr>
                  <a:t>.</a:t>
                </a:r>
                <a:endParaRPr lang="en-GB" dirty="0">
                  <a:latin typeface="Aptos" panose="020B00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95325" y="1481931"/>
                <a:ext cx="10515600" cy="4404519"/>
              </a:xfrm>
              <a:blipFill>
                <a:blip r:embed="rId2"/>
                <a:stretch>
                  <a:fillRect l="-1043" t="-2351" r="-1275"/>
                </a:stretch>
              </a:blipFill>
            </p:spPr>
            <p:txBody>
              <a:bodyPr/>
              <a:lstStyle/>
              <a:p>
                <a:r>
                  <a:rPr lang="en-GB">
                    <a:noFill/>
                  </a:rPr>
                  <a:t> </a:t>
                </a:r>
              </a:p>
            </p:txBody>
          </p:sp>
        </mc:Fallback>
      </mc:AlternateContent>
      <p:sp>
        <p:nvSpPr>
          <p:cNvPr id="5" name="Title 1"/>
          <p:cNvSpPr>
            <a:spLocks noGrp="1"/>
          </p:cNvSpPr>
          <p:nvPr>
            <p:ph type="title"/>
          </p:nvPr>
        </p:nvSpPr>
        <p:spPr>
          <a:xfrm>
            <a:off x="266700" y="0"/>
            <a:ext cx="9333807" cy="790344"/>
          </a:xfrm>
        </p:spPr>
        <p:txBody>
          <a:bodyPr>
            <a:normAutofit/>
          </a:bodyPr>
          <a:lstStyle/>
          <a:p>
            <a:r>
              <a:rPr lang="en-GB" sz="4000" b="1" dirty="0" err="1">
                <a:solidFill>
                  <a:schemeClr val="bg1"/>
                </a:solidFill>
                <a:latin typeface="Aptos" panose="020B0004020202020204" pitchFamily="34" charset="0"/>
              </a:rPr>
              <a:t>Matérn</a:t>
            </a:r>
            <a:r>
              <a:rPr lang="en-GB" sz="4000" b="1" dirty="0">
                <a:solidFill>
                  <a:schemeClr val="bg1"/>
                </a:solidFill>
                <a:latin typeface="Aptos" panose="020B0004020202020204" pitchFamily="34" charset="0"/>
              </a:rPr>
              <a:t> covariance function</a:t>
            </a:r>
          </a:p>
        </p:txBody>
      </p:sp>
    </p:spTree>
    <p:extLst>
      <p:ext uri="{BB962C8B-B14F-4D97-AF65-F5344CB8AC3E}">
        <p14:creationId xmlns:p14="http://schemas.microsoft.com/office/powerpoint/2010/main" val="392639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250315"/>
                <a:ext cx="10515600" cy="4775200"/>
              </a:xfrm>
            </p:spPr>
            <p:txBody>
              <a:bodyPr>
                <a:normAutofit/>
              </a:bodyPr>
              <a:lstStyle/>
              <a:p>
                <a:r>
                  <a:rPr lang="en-GB" dirty="0">
                    <a:latin typeface="Aptos" panose="020B0004020202020204" pitchFamily="34" charset="0"/>
                  </a:rPr>
                  <a:t>The </a:t>
                </a:r>
                <a:r>
                  <a:rPr lang="en-GB" dirty="0" err="1">
                    <a:latin typeface="Aptos" panose="020B0004020202020204" pitchFamily="34" charset="0"/>
                  </a:rPr>
                  <a:t>Matérn</a:t>
                </a:r>
                <a:r>
                  <a:rPr lang="en-GB" dirty="0">
                    <a:latin typeface="Aptos" panose="020B0004020202020204" pitchFamily="34" charset="0"/>
                  </a:rPr>
                  <a:t> family of covariance functions is given by:</a:t>
                </a:r>
              </a:p>
              <a:p>
                <a:endParaRPr lang="en-GB" dirty="0">
                  <a:latin typeface="Aptos" panose="020B0004020202020204" pitchFamily="34" charset="0"/>
                </a:endParaRPr>
              </a:p>
              <a:p>
                <a:pPr marL="0" indent="0">
                  <a:buNone/>
                </a:pPr>
                <a14:m>
                  <m:oMathPara xmlns:m="http://schemas.openxmlformats.org/officeDocument/2006/math">
                    <m:oMath>
                      <m:r>
                        <a:rPr lang="en-GB" b="0" i="1" smtClean="0">
                          <a:latin typeface="Cambria Math" panose="02040503050406030204" pitchFamily="18" charset="0"/>
                        </a:rPr>
                        <m:t>𝐶</m:t>
                      </m:r>
                      <m:d>
                        <m:dPr>
                          <m:ctrlPr>
                            <a:rPr lang="en-GB" b="0" i="1" smtClean="0">
                              <a:latin typeface="Cambria Math" panose="02040503050406030204" pitchFamily="18" charset="0"/>
                            </a:rPr>
                          </m:ctrlPr>
                        </m:dPr>
                        <m:e>
                          <m:r>
                            <a:rPr lang="en-GB" b="0" i="1" smtClean="0">
                              <a:latin typeface="Cambria Math" panose="02040503050406030204" pitchFamily="18" charset="0"/>
                            </a:rPr>
                            <m:t>𝑑</m:t>
                          </m:r>
                        </m:e>
                        <m:e>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𝜈</m:t>
                          </m:r>
                        </m:e>
                      </m:d>
                      <m:r>
                        <a:rPr lang="en-GB" b="0" i="0"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r>
                        <a:rPr lang="en-GB" b="0" i="1" smtClean="0">
                          <a:latin typeface="Cambria Math" panose="02040503050406030204" pitchFamily="18" charset="0"/>
                        </a:rPr>
                        <m:t>𝜌</m:t>
                      </m:r>
                      <m:r>
                        <a:rPr lang="en-GB" b="0" i="1" smtClean="0">
                          <a:latin typeface="Cambria Math" panose="02040503050406030204" pitchFamily="18" charset="0"/>
                        </a:rPr>
                        <m:t>(</m:t>
                      </m:r>
                      <m:r>
                        <a:rPr lang="en-GB" b="0" i="1" smtClean="0">
                          <a:latin typeface="Cambria Math" panose="02040503050406030204" pitchFamily="18" charset="0"/>
                        </a:rPr>
                        <m:t>𝑑</m:t>
                      </m:r>
                      <m:r>
                        <a:rPr lang="en-GB" b="0" i="1" smtClean="0">
                          <a:latin typeface="Cambria Math" panose="02040503050406030204" pitchFamily="18" charset="0"/>
                        </a:rPr>
                        <m:t>|</m:t>
                      </m:r>
                      <m:r>
                        <a:rPr lang="en-GB" b="0" i="1" smtClean="0">
                          <a:latin typeface="Cambria Math" panose="02040503050406030204" pitchFamily="18" charset="0"/>
                        </a:rPr>
                        <m:t>𝜅</m:t>
                      </m:r>
                      <m:r>
                        <a:rPr lang="en-GB" b="0" i="1" smtClean="0">
                          <a:latin typeface="Cambria Math" panose="02040503050406030204" pitchFamily="18" charset="0"/>
                        </a:rPr>
                        <m:t>,</m:t>
                      </m:r>
                      <m:r>
                        <a:rPr lang="en-GB" b="0" i="1" smtClean="0">
                          <a:latin typeface="Cambria Math" panose="02040503050406030204" pitchFamily="18" charset="0"/>
                        </a:rPr>
                        <m:t>𝜈</m:t>
                      </m:r>
                      <m:r>
                        <a:rPr lang="en-GB" b="0" i="1" smtClean="0">
                          <a:latin typeface="Cambria Math" panose="02040503050406030204" pitchFamily="18" charset="0"/>
                        </a:rPr>
                        <m:t>)</m:t>
                      </m:r>
                    </m:oMath>
                  </m:oMathPara>
                </a14:m>
                <a:endParaRPr lang="en-GB" dirty="0">
                  <a:latin typeface="Aptos" panose="020B0004020202020204" pitchFamily="34" charset="0"/>
                </a:endParaRPr>
              </a:p>
              <a:p>
                <a:pPr marL="0" indent="0">
                  <a:buNone/>
                </a:pPr>
                <a:r>
                  <a:rPr lang="en-GB" dirty="0">
                    <a:latin typeface="Aptos" panose="020B0004020202020204" pitchFamily="34" charset="0"/>
                  </a:rPr>
                  <a:t>where </a:t>
                </a:r>
                <a14:m>
                  <m:oMath xmlns:m="http://schemas.openxmlformats.org/officeDocument/2006/math">
                    <m:r>
                      <a:rPr lang="en-GB" b="0" i="1" smtClean="0">
                        <a:latin typeface="Cambria Math" panose="02040503050406030204" pitchFamily="18" charset="0"/>
                      </a:rPr>
                      <m:t>𝜌</m:t>
                    </m:r>
                    <m:d>
                      <m:dPr>
                        <m:ctrlPr>
                          <a:rPr lang="en-GB" i="1">
                            <a:latin typeface="Cambria Math" panose="02040503050406030204" pitchFamily="18" charset="0"/>
                          </a:rPr>
                        </m:ctrlPr>
                      </m:dPr>
                      <m:e>
                        <m:r>
                          <a:rPr lang="en-GB" i="1">
                            <a:latin typeface="Cambria Math" panose="02040503050406030204" pitchFamily="18" charset="0"/>
                          </a:rPr>
                          <m:t>𝑑</m:t>
                        </m:r>
                      </m:e>
                      <m:e>
                        <m:r>
                          <a:rPr lang="en-GB" b="0" i="1" smtClean="0">
                            <a:latin typeface="Cambria Math" panose="02040503050406030204" pitchFamily="18" charset="0"/>
                          </a:rPr>
                          <m:t>𝜅</m:t>
                        </m:r>
                        <m:r>
                          <a:rPr lang="en-GB" i="1">
                            <a:latin typeface="Cambria Math" panose="02040503050406030204" pitchFamily="18" charset="0"/>
                          </a:rPr>
                          <m:t>,</m:t>
                        </m:r>
                        <m:r>
                          <a:rPr lang="en-GB" i="1">
                            <a:latin typeface="Cambria Math" panose="02040503050406030204" pitchFamily="18" charset="0"/>
                          </a:rPr>
                          <m:t>𝜈</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𝜈</m:t>
                            </m:r>
                            <m:r>
                              <a:rPr lang="en-GB" b="0" i="1" smtClean="0">
                                <a:latin typeface="Cambria Math" panose="02040503050406030204" pitchFamily="18" charset="0"/>
                              </a:rPr>
                              <m:t>−1</m:t>
                            </m:r>
                          </m:sup>
                        </m:sSup>
                        <m:r>
                          <m:rPr>
                            <m:sty m:val="p"/>
                          </m:rPr>
                          <a:rPr lang="en-GB" b="0" i="0" smtClean="0">
                            <a:latin typeface="Cambria Math" panose="02040503050406030204" pitchFamily="18" charset="0"/>
                          </a:rPr>
                          <m:t>Γ</m:t>
                        </m:r>
                        <m:d>
                          <m:dPr>
                            <m:ctrlPr>
                              <a:rPr lang="en-GB" b="0" i="1" smtClean="0">
                                <a:latin typeface="Cambria Math" panose="02040503050406030204" pitchFamily="18" charset="0"/>
                              </a:rPr>
                            </m:ctrlPr>
                          </m:dPr>
                          <m:e>
                            <m:r>
                              <a:rPr lang="en-GB" b="0" i="1" smtClean="0">
                                <a:latin typeface="Cambria Math" panose="02040503050406030204" pitchFamily="18" charset="0"/>
                              </a:rPr>
                              <m:t>𝜈</m:t>
                            </m:r>
                          </m:e>
                        </m:d>
                      </m:den>
                    </m:f>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𝜅</m:t>
                            </m:r>
                            <m:r>
                              <a:rPr lang="en-GB" b="0" i="1" smtClean="0">
                                <a:latin typeface="Cambria Math" panose="02040503050406030204" pitchFamily="18" charset="0"/>
                              </a:rPr>
                              <m:t>𝑑</m:t>
                            </m:r>
                          </m:e>
                        </m:d>
                      </m:e>
                      <m:sup>
                        <m:r>
                          <a:rPr lang="en-GB" b="0" i="1" smtClean="0">
                            <a:latin typeface="Cambria Math" panose="02040503050406030204" pitchFamily="18" charset="0"/>
                          </a:rPr>
                          <m:t>𝜈</m:t>
                        </m:r>
                      </m:sup>
                    </m:sSup>
                    <m:sSub>
                      <m:sSubPr>
                        <m:ctrlPr>
                          <a:rPr lang="en-GB" b="0" i="1" smtClean="0">
                            <a:latin typeface="Cambria Math" panose="02040503050406030204" pitchFamily="18" charset="0"/>
                          </a:rPr>
                        </m:ctrlPr>
                      </m:sSubPr>
                      <m:e>
                        <m:r>
                          <a:rPr lang="en-GB" b="0" i="1" smtClean="0">
                            <a:latin typeface="Cambria Math" panose="02040503050406030204" pitchFamily="18" charset="0"/>
                          </a:rPr>
                          <m:t>𝐾</m:t>
                        </m:r>
                      </m:e>
                      <m:sub>
                        <m:r>
                          <a:rPr lang="en-GB" b="0" i="1" smtClean="0">
                            <a:latin typeface="Cambria Math" panose="02040503050406030204" pitchFamily="18" charset="0"/>
                          </a:rPr>
                          <m:t>𝜈</m:t>
                        </m:r>
                      </m:sub>
                    </m:sSub>
                    <m:r>
                      <a:rPr lang="en-GB" b="0" i="1" smtClean="0">
                        <a:latin typeface="Cambria Math" panose="02040503050406030204" pitchFamily="18" charset="0"/>
                      </a:rPr>
                      <m:t>(</m:t>
                    </m:r>
                    <m:r>
                      <a:rPr lang="en-GB" b="0" i="1" smtClean="0">
                        <a:latin typeface="Cambria Math" panose="02040503050406030204" pitchFamily="18" charset="0"/>
                      </a:rPr>
                      <m:t>𝜅</m:t>
                    </m:r>
                    <m:r>
                      <a:rPr lang="en-GB" b="0" i="1" smtClean="0">
                        <a:latin typeface="Cambria Math" panose="02040503050406030204" pitchFamily="18" charset="0"/>
                      </a:rPr>
                      <m:t>𝑑</m:t>
                    </m:r>
                    <m:r>
                      <a:rPr lang="en-GB" b="0" i="1" smtClean="0">
                        <a:latin typeface="Cambria Math" panose="02040503050406030204" pitchFamily="18" charset="0"/>
                      </a:rPr>
                      <m:t>), </m:t>
                    </m:r>
                    <m:r>
                      <a:rPr lang="en-GB" b="0" i="1" dirty="0" smtClean="0">
                        <a:latin typeface="Cambria Math" panose="02040503050406030204" pitchFamily="18" charset="0"/>
                      </a:rPr>
                      <m:t>𝑑</m:t>
                    </m:r>
                    <m:r>
                      <a:rPr lang="en-GB" b="0" i="1" dirty="0" smtClean="0">
                        <a:latin typeface="Cambria Math" panose="02040503050406030204" pitchFamily="18" charset="0"/>
                      </a:rPr>
                      <m:t>&gt;0,</m:t>
                    </m:r>
                  </m:oMath>
                </a14:m>
                <a:endParaRPr lang="en-GB" dirty="0">
                  <a:latin typeface="Aptos" panose="020B0004020202020204" pitchFamily="34" charset="0"/>
                </a:endParaRPr>
              </a:p>
              <a:p>
                <a:pPr marL="0" indent="0">
                  <a:buNone/>
                </a:pPr>
                <a:endParaRPr lang="en-GB" dirty="0">
                  <a:latin typeface="Aptos" panose="020B0004020202020204" pitchFamily="34" charset="0"/>
                </a:endParaRPr>
              </a:p>
              <a:p>
                <a:pPr lvl="1"/>
                <a14:m>
                  <m:oMath xmlns:m="http://schemas.openxmlformats.org/officeDocument/2006/math">
                    <m:r>
                      <a:rPr lang="en-GB" b="0" i="1" smtClean="0">
                        <a:latin typeface="Cambria Math" panose="02040503050406030204" pitchFamily="18" charset="0"/>
                      </a:rPr>
                      <m:t>𝜈</m:t>
                    </m:r>
                    <m:r>
                      <a:rPr lang="en-GB" b="0" i="1" smtClean="0">
                        <a:latin typeface="Cambria Math" panose="02040503050406030204" pitchFamily="18" charset="0"/>
                      </a:rPr>
                      <m:t>&gt;0</m:t>
                    </m:r>
                  </m:oMath>
                </a14:m>
                <a:r>
                  <a:rPr lang="en-GB" dirty="0">
                    <a:latin typeface="Aptos" panose="020B0004020202020204" pitchFamily="34" charset="0"/>
                  </a:rPr>
                  <a:t> is a smoothness parameter, usually kept fixed</a:t>
                </a:r>
              </a:p>
              <a:p>
                <a:pPr lvl="1"/>
                <a14:m>
                  <m:oMath xmlns:m="http://schemas.openxmlformats.org/officeDocument/2006/math">
                    <m:r>
                      <a:rPr lang="en-GB" b="0" i="1" smtClean="0">
                        <a:latin typeface="Cambria Math" panose="02040503050406030204" pitchFamily="18" charset="0"/>
                      </a:rPr>
                      <m:t>𝜅</m:t>
                    </m:r>
                    <m:r>
                      <a:rPr lang="en-GB" b="0" i="1" smtClean="0">
                        <a:latin typeface="Cambria Math" panose="02040503050406030204" pitchFamily="18" charset="0"/>
                      </a:rPr>
                      <m:t>&gt;0</m:t>
                    </m:r>
                  </m:oMath>
                </a14:m>
                <a:r>
                  <a:rPr lang="en-GB" dirty="0">
                    <a:latin typeface="Aptos" panose="020B0004020202020204" pitchFamily="34" charset="0"/>
                  </a:rPr>
                  <a:t> is a scaling/decay parameter related to the range such that </a:t>
                </a:r>
                <a14:m>
                  <m:oMath xmlns:m="http://schemas.openxmlformats.org/officeDocument/2006/math">
                    <m:r>
                      <a:rPr lang="en-GB" b="0" i="1" smtClean="0">
                        <a:latin typeface="Cambria Math" panose="02040503050406030204" pitchFamily="18" charset="0"/>
                      </a:rPr>
                      <m:t>𝑟</m:t>
                    </m:r>
                    <m:r>
                      <a:rPr lang="en-GB" b="0" i="1" smtClean="0">
                        <a:latin typeface="Cambria Math" panose="02040503050406030204" pitchFamily="18" charset="0"/>
                      </a:rPr>
                      <m:t>=</m:t>
                    </m:r>
                    <m:f>
                      <m:fPr>
                        <m:ctrlPr>
                          <a:rPr lang="en-GB" b="0" i="1" smtClean="0">
                            <a:latin typeface="Cambria Math" panose="02040503050406030204" pitchFamily="18" charset="0"/>
                          </a:rPr>
                        </m:ctrlPr>
                      </m:fPr>
                      <m:num>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8</m:t>
                            </m:r>
                            <m:r>
                              <a:rPr lang="en-GB" b="0" i="1" smtClean="0">
                                <a:latin typeface="Cambria Math" panose="02040503050406030204" pitchFamily="18" charset="0"/>
                              </a:rPr>
                              <m:t>𝜈</m:t>
                            </m:r>
                          </m:e>
                        </m:rad>
                      </m:num>
                      <m:den>
                        <m:r>
                          <a:rPr lang="en-GB" b="0" i="1" smtClean="0">
                            <a:latin typeface="Cambria Math" panose="02040503050406030204" pitchFamily="18" charset="0"/>
                          </a:rPr>
                          <m:t>𝜅</m:t>
                        </m:r>
                      </m:den>
                    </m:f>
                  </m:oMath>
                </a14:m>
                <a:endParaRPr lang="en-GB" dirty="0">
                  <a:latin typeface="Aptos" panose="020B0004020202020204" pitchFamily="34" charset="0"/>
                </a:endParaRPr>
              </a:p>
              <a:p>
                <a:pPr lvl="1"/>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𝐾</m:t>
                        </m:r>
                      </m:e>
                      <m:sub>
                        <m:r>
                          <a:rPr lang="en-GB" b="0" i="1" smtClean="0">
                            <a:latin typeface="Cambria Math" panose="02040503050406030204" pitchFamily="18" charset="0"/>
                          </a:rPr>
                          <m:t>𝜈</m:t>
                        </m:r>
                      </m:sub>
                    </m:sSub>
                    <m:r>
                      <a:rPr lang="en-GB" b="0" i="1" smtClean="0">
                        <a:latin typeface="Cambria Math" panose="02040503050406030204" pitchFamily="18" charset="0"/>
                      </a:rPr>
                      <m:t>(.)</m:t>
                    </m:r>
                  </m:oMath>
                </a14:m>
                <a:r>
                  <a:rPr lang="en-GB" dirty="0">
                    <a:latin typeface="Aptos" panose="020B0004020202020204" pitchFamily="34" charset="0"/>
                  </a:rPr>
                  <a:t> is the modified Bessel function of the second kind and order </a:t>
                </a:r>
                <a14:m>
                  <m:oMath xmlns:m="http://schemas.openxmlformats.org/officeDocument/2006/math">
                    <m:r>
                      <a:rPr lang="en-GB" b="0" i="1" smtClean="0">
                        <a:latin typeface="Cambria Math" panose="02040503050406030204" pitchFamily="18" charset="0"/>
                      </a:rPr>
                      <m:t>𝜈</m:t>
                    </m:r>
                  </m:oMath>
                </a14:m>
                <a:endParaRPr lang="en-GB" dirty="0">
                  <a:latin typeface="Aptos" panose="020B0004020202020204" pitchFamily="34" charset="0"/>
                </a:endParaRPr>
              </a:p>
              <a:p>
                <a:pPr lvl="1"/>
                <a14:m>
                  <m:oMath xmlns:m="http://schemas.openxmlformats.org/officeDocument/2006/math">
                    <m:r>
                      <a:rPr lang="en-GB" b="0" i="1" smtClean="0">
                        <a:latin typeface="Cambria Math" panose="02040503050406030204" pitchFamily="18" charset="0"/>
                      </a:rPr>
                      <m:t>𝑑</m:t>
                    </m:r>
                  </m:oMath>
                </a14:m>
                <a:r>
                  <a:rPr lang="en-GB" dirty="0">
                    <a:latin typeface="Aptos" panose="020B0004020202020204" pitchFamily="34" charset="0"/>
                  </a:rPr>
                  <a:t> is usually the Euclidean distance between any two locations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250315"/>
                <a:ext cx="10515600" cy="4775200"/>
              </a:xfrm>
              <a:blipFill>
                <a:blip r:embed="rId2"/>
                <a:stretch>
                  <a:fillRect l="-1217" t="-2171"/>
                </a:stretch>
              </a:blipFill>
            </p:spPr>
            <p:txBody>
              <a:bodyPr/>
              <a:lstStyle/>
              <a:p>
                <a:r>
                  <a:rPr lang="en-GB">
                    <a:noFill/>
                  </a:rPr>
                  <a:t> </a:t>
                </a:r>
              </a:p>
            </p:txBody>
          </p:sp>
        </mc:Fallback>
      </mc:AlternateContent>
      <p:sp>
        <p:nvSpPr>
          <p:cNvPr id="5" name="Title 1"/>
          <p:cNvSpPr>
            <a:spLocks noGrp="1"/>
          </p:cNvSpPr>
          <p:nvPr>
            <p:ph type="title"/>
          </p:nvPr>
        </p:nvSpPr>
        <p:spPr>
          <a:xfrm>
            <a:off x="276225" y="0"/>
            <a:ext cx="9333807" cy="790344"/>
          </a:xfrm>
        </p:spPr>
        <p:txBody>
          <a:bodyPr>
            <a:normAutofit/>
          </a:bodyPr>
          <a:lstStyle/>
          <a:p>
            <a:r>
              <a:rPr lang="en-GB" sz="4000" b="1" dirty="0" err="1">
                <a:solidFill>
                  <a:schemeClr val="bg1"/>
                </a:solidFill>
                <a:latin typeface="Aptos" panose="020B0004020202020204" pitchFamily="34" charset="0"/>
              </a:rPr>
              <a:t>Matérn</a:t>
            </a:r>
            <a:r>
              <a:rPr lang="en-GB" sz="4000" b="1" dirty="0">
                <a:solidFill>
                  <a:schemeClr val="bg1"/>
                </a:solidFill>
                <a:latin typeface="Aptos" panose="020B0004020202020204" pitchFamily="34" charset="0"/>
              </a:rPr>
              <a:t> covariance function</a:t>
            </a:r>
          </a:p>
        </p:txBody>
      </p:sp>
    </p:spTree>
    <p:extLst>
      <p:ext uri="{BB962C8B-B14F-4D97-AF65-F5344CB8AC3E}">
        <p14:creationId xmlns:p14="http://schemas.microsoft.com/office/powerpoint/2010/main" val="2425064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338464"/>
                <a:ext cx="10515600" cy="5032375"/>
              </a:xfrm>
            </p:spPr>
            <p:txBody>
              <a:bodyPr>
                <a:normAutofit lnSpcReduction="10000"/>
              </a:bodyPr>
              <a:lstStyle/>
              <a:p>
                <a:r>
                  <a:rPr lang="en-GB" dirty="0">
                    <a:latin typeface="Aptos" panose="020B0004020202020204" pitchFamily="34" charset="0"/>
                  </a:rPr>
                  <a:t>In </a:t>
                </a:r>
                <a14:m>
                  <m:oMath xmlns:m="http://schemas.openxmlformats.org/officeDocument/2006/math">
                    <m:r>
                      <a:rPr lang="en-GB" i="1">
                        <a:latin typeface="Cambria Math" panose="02040503050406030204" pitchFamily="18" charset="0"/>
                      </a:rPr>
                      <m:t>𝑟</m:t>
                    </m:r>
                    <m:r>
                      <a:rPr lang="en-GB" i="1">
                        <a:latin typeface="Cambria Math" panose="02040503050406030204" pitchFamily="18" charset="0"/>
                      </a:rPr>
                      <m:t>=</m:t>
                    </m:r>
                    <m:f>
                      <m:fPr>
                        <m:ctrlPr>
                          <a:rPr lang="en-GB" i="1">
                            <a:latin typeface="Cambria Math" panose="02040503050406030204" pitchFamily="18" charset="0"/>
                          </a:rPr>
                        </m:ctrlPr>
                      </m:fPr>
                      <m:num>
                        <m:rad>
                          <m:radPr>
                            <m:degHide m:val="on"/>
                            <m:ctrlPr>
                              <a:rPr lang="en-GB" i="1">
                                <a:latin typeface="Cambria Math" panose="02040503050406030204" pitchFamily="18" charset="0"/>
                              </a:rPr>
                            </m:ctrlPr>
                          </m:radPr>
                          <m:deg/>
                          <m:e>
                            <m:r>
                              <a:rPr lang="en-GB" i="1">
                                <a:latin typeface="Cambria Math" panose="02040503050406030204" pitchFamily="18" charset="0"/>
                              </a:rPr>
                              <m:t>8</m:t>
                            </m:r>
                            <m:r>
                              <a:rPr lang="en-GB" i="1">
                                <a:latin typeface="Cambria Math" panose="02040503050406030204" pitchFamily="18" charset="0"/>
                              </a:rPr>
                              <m:t>𝜈</m:t>
                            </m:r>
                          </m:e>
                        </m:rad>
                      </m:num>
                      <m:den>
                        <m:r>
                          <a:rPr lang="en-GB" i="1">
                            <a:latin typeface="Cambria Math" panose="02040503050406030204" pitchFamily="18" charset="0"/>
                          </a:rPr>
                          <m:t>𝜅</m:t>
                        </m:r>
                      </m:den>
                    </m:f>
                  </m:oMath>
                </a14:m>
                <a:r>
                  <a:rPr lang="en-GB" dirty="0">
                    <a:latin typeface="Aptos" panose="020B0004020202020204" pitchFamily="34" charset="0"/>
                  </a:rPr>
                  <a:t>, </a:t>
                </a:r>
                <a14:m>
                  <m:oMath xmlns:m="http://schemas.openxmlformats.org/officeDocument/2006/math">
                    <m:r>
                      <a:rPr lang="en-GB" b="0" i="1" smtClean="0">
                        <a:latin typeface="Cambria Math" panose="02040503050406030204" pitchFamily="18" charset="0"/>
                      </a:rPr>
                      <m:t>𝑟</m:t>
                    </m:r>
                  </m:oMath>
                </a14:m>
                <a:r>
                  <a:rPr lang="en-GB" dirty="0">
                    <a:latin typeface="Aptos" panose="020B0004020202020204" pitchFamily="34" charset="0"/>
                  </a:rPr>
                  <a:t> corresponds to the distance at which </a:t>
                </a:r>
                <a14:m>
                  <m:oMath xmlns:m="http://schemas.openxmlformats.org/officeDocument/2006/math">
                    <m:r>
                      <a:rPr lang="en-GB" i="1">
                        <a:latin typeface="Cambria Math" panose="02040503050406030204" pitchFamily="18" charset="0"/>
                      </a:rPr>
                      <m:t>𝜌</m:t>
                    </m:r>
                    <m:d>
                      <m:dPr>
                        <m:ctrlPr>
                          <a:rPr lang="en-GB" b="0" i="0" smtClean="0">
                            <a:latin typeface="Cambria Math" panose="02040503050406030204" pitchFamily="18" charset="0"/>
                          </a:rPr>
                        </m:ctrlPr>
                      </m:dPr>
                      <m:e>
                        <m:r>
                          <a:rPr lang="en-GB" b="0" i="0" smtClean="0">
                            <a:latin typeface="Cambria Math" panose="02040503050406030204" pitchFamily="18" charset="0"/>
                          </a:rPr>
                          <m:t>.</m:t>
                        </m:r>
                      </m:e>
                    </m:d>
                    <m:r>
                      <a:rPr lang="en-GB" b="0" i="1" smtClean="0">
                        <a:latin typeface="Cambria Math" panose="02040503050406030204" pitchFamily="18" charset="0"/>
                      </a:rPr>
                      <m:t>≈0.1</m:t>
                    </m:r>
                  </m:oMath>
                </a14:m>
                <a:r>
                  <a:rPr lang="en-GB" dirty="0">
                    <a:latin typeface="Aptos" panose="020B0004020202020204" pitchFamily="34" charset="0"/>
                  </a:rPr>
                  <a:t> for each </a:t>
                </a:r>
                <a14:m>
                  <m:oMath xmlns:m="http://schemas.openxmlformats.org/officeDocument/2006/math">
                    <m:r>
                      <a:rPr lang="en-GB" b="0" i="1" smtClean="0">
                        <a:latin typeface="Cambria Math" panose="02040503050406030204" pitchFamily="18" charset="0"/>
                      </a:rPr>
                      <m:t>𝜈</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0.5</m:t>
                    </m:r>
                  </m:oMath>
                </a14:m>
                <a:endParaRPr lang="en-GB" dirty="0">
                  <a:latin typeface="Aptos" panose="020B0004020202020204" pitchFamily="34" charset="0"/>
                </a:endParaRPr>
              </a:p>
              <a:p>
                <a:endParaRPr lang="en-GB" dirty="0">
                  <a:latin typeface="Aptos" panose="020B0004020202020204" pitchFamily="34" charset="0"/>
                </a:endParaRPr>
              </a:p>
              <a:p>
                <a:r>
                  <a:rPr lang="en-GB" dirty="0">
                    <a:latin typeface="Aptos" panose="020B0004020202020204" pitchFamily="34" charset="0"/>
                  </a:rPr>
                  <a:t>An intentional discontinuity can be introduced in </a:t>
                </a:r>
                <a14:m>
                  <m:oMath xmlns:m="http://schemas.openxmlformats.org/officeDocument/2006/math">
                    <m:r>
                      <a:rPr lang="en-GB" b="0" i="1" smtClean="0">
                        <a:latin typeface="Cambria Math" panose="02040503050406030204" pitchFamily="18" charset="0"/>
                      </a:rPr>
                      <m:t>𝐶</m:t>
                    </m:r>
                    <m:r>
                      <a:rPr lang="en-GB" b="0" i="1" smtClean="0">
                        <a:latin typeface="Cambria Math" panose="02040503050406030204" pitchFamily="18" charset="0"/>
                      </a:rPr>
                      <m:t>(.)</m:t>
                    </m:r>
                  </m:oMath>
                </a14:m>
                <a:r>
                  <a:rPr lang="en-GB" dirty="0">
                    <a:latin typeface="Aptos" panose="020B0004020202020204" pitchFamily="34" charset="0"/>
                  </a:rPr>
                  <a:t> and </a:t>
                </a:r>
                <a14:m>
                  <m:oMath xmlns:m="http://schemas.openxmlformats.org/officeDocument/2006/math">
                    <m:r>
                      <a:rPr lang="en-GB" b="0" i="1" smtClean="0">
                        <a:latin typeface="Cambria Math" panose="02040503050406030204" pitchFamily="18" charset="0"/>
                      </a:rPr>
                      <m:t>𝛾</m:t>
                    </m:r>
                    <m:r>
                      <a:rPr lang="en-GB" b="0" i="1" smtClean="0">
                        <a:latin typeface="Cambria Math" panose="02040503050406030204" pitchFamily="18" charset="0"/>
                      </a:rPr>
                      <m:t>(.)</m:t>
                    </m:r>
                  </m:oMath>
                </a14:m>
                <a:r>
                  <a:rPr lang="en-GB" dirty="0">
                    <a:latin typeface="Aptos" panose="020B0004020202020204" pitchFamily="34" charset="0"/>
                  </a:rPr>
                  <a:t> when </a:t>
                </a:r>
                <a14:m>
                  <m:oMath xmlns:m="http://schemas.openxmlformats.org/officeDocument/2006/math">
                    <m:r>
                      <a:rPr lang="en-GB" b="0" i="1" smtClean="0">
                        <a:latin typeface="Cambria Math" panose="02040503050406030204" pitchFamily="18" charset="0"/>
                      </a:rPr>
                      <m:t>𝑑</m:t>
                    </m:r>
                    <m:r>
                      <a:rPr lang="en-GB" b="0" i="1" smtClean="0">
                        <a:latin typeface="Cambria Math" panose="02040503050406030204" pitchFamily="18" charset="0"/>
                      </a:rPr>
                      <m:t>=0</m:t>
                    </m:r>
                  </m:oMath>
                </a14:m>
                <a:r>
                  <a:rPr lang="en-GB" dirty="0">
                    <a:latin typeface="Aptos" panose="020B0004020202020204" pitchFamily="34" charset="0"/>
                  </a:rPr>
                  <a:t> by decomposing the error term in a spatial model into a </a:t>
                </a:r>
                <a:r>
                  <a:rPr lang="en-GB" dirty="0">
                    <a:solidFill>
                      <a:schemeClr val="accent1">
                        <a:lumMod val="75000"/>
                      </a:schemeClr>
                    </a:solidFill>
                    <a:latin typeface="Aptos" panose="020B0004020202020204" pitchFamily="34" charset="0"/>
                  </a:rPr>
                  <a:t>spatial error</a:t>
                </a:r>
                <a:r>
                  <a:rPr lang="en-GB" dirty="0">
                    <a:latin typeface="Aptos" panose="020B0004020202020204" pitchFamily="34" charset="0"/>
                  </a:rPr>
                  <a:t> and a </a:t>
                </a:r>
                <a:r>
                  <a:rPr lang="en-GB" dirty="0">
                    <a:solidFill>
                      <a:schemeClr val="accent1">
                        <a:lumMod val="75000"/>
                      </a:schemeClr>
                    </a:solidFill>
                    <a:latin typeface="Aptos" panose="020B0004020202020204" pitchFamily="34" charset="0"/>
                  </a:rPr>
                  <a:t>non-spatial error</a:t>
                </a:r>
              </a:p>
              <a:p>
                <a:endParaRPr lang="en-GB" dirty="0">
                  <a:latin typeface="Aptos" panose="020B0004020202020204" pitchFamily="34" charset="0"/>
                </a:endParaRPr>
              </a:p>
              <a:p>
                <a:r>
                  <a:rPr lang="en-GB" dirty="0">
                    <a:latin typeface="Aptos" panose="020B0004020202020204" pitchFamily="34" charset="0"/>
                  </a:rPr>
                  <a:t> The variance of the spatial error is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oMath>
                </a14:m>
                <a:r>
                  <a:rPr lang="en-GB" dirty="0">
                    <a:latin typeface="Aptos" panose="020B0004020202020204" pitchFamily="34" charset="0"/>
                  </a:rPr>
                  <a:t> (in the </a:t>
                </a:r>
                <a:r>
                  <a:rPr lang="en-GB" dirty="0" err="1">
                    <a:latin typeface="Aptos" panose="020B0004020202020204" pitchFamily="34" charset="0"/>
                  </a:rPr>
                  <a:t>Matérn</a:t>
                </a:r>
                <a:r>
                  <a:rPr lang="en-GB" dirty="0">
                    <a:latin typeface="Aptos" panose="020B0004020202020204" pitchFamily="34" charset="0"/>
                  </a:rPr>
                  <a:t> equation). This is called the </a:t>
                </a:r>
                <a:r>
                  <a:rPr lang="en-GB" b="1" dirty="0">
                    <a:solidFill>
                      <a:schemeClr val="accent1">
                        <a:lumMod val="75000"/>
                      </a:schemeClr>
                    </a:solidFill>
                    <a:latin typeface="Aptos" panose="020B0004020202020204" pitchFamily="34" charset="0"/>
                  </a:rPr>
                  <a:t>partial sill</a:t>
                </a:r>
                <a:r>
                  <a:rPr lang="en-GB" dirty="0">
                    <a:latin typeface="Aptos" panose="020B0004020202020204" pitchFamily="34" charset="0"/>
                  </a:rPr>
                  <a:t>. The variance of the non-spatial error (usually assumed to be an </a:t>
                </a:r>
                <a:r>
                  <a:rPr lang="en-GB" dirty="0" err="1">
                    <a:latin typeface="Aptos" panose="020B0004020202020204" pitchFamily="34" charset="0"/>
                  </a:rPr>
                  <a:t>iid</a:t>
                </a:r>
                <a:r>
                  <a:rPr lang="en-GB" dirty="0">
                    <a:latin typeface="Aptos" panose="020B0004020202020204" pitchFamily="34" charset="0"/>
                  </a:rPr>
                  <a:t> term) can be denoted using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𝜏</m:t>
                        </m:r>
                      </m:e>
                      <m:sup>
                        <m:r>
                          <a:rPr lang="en-GB" b="0" i="1" smtClean="0">
                            <a:latin typeface="Cambria Math" panose="02040503050406030204" pitchFamily="18" charset="0"/>
                          </a:rPr>
                          <m:t>2</m:t>
                        </m:r>
                      </m:sup>
                    </m:sSup>
                  </m:oMath>
                </a14:m>
                <a:r>
                  <a:rPr lang="en-GB" dirty="0">
                    <a:latin typeface="Aptos" panose="020B0004020202020204" pitchFamily="34" charset="0"/>
                  </a:rPr>
                  <a:t>. This is called the </a:t>
                </a:r>
                <a:r>
                  <a:rPr lang="en-GB" b="1" dirty="0">
                    <a:solidFill>
                      <a:schemeClr val="accent1">
                        <a:lumMod val="75000"/>
                      </a:schemeClr>
                    </a:solidFill>
                    <a:latin typeface="Aptos" panose="020B0004020202020204" pitchFamily="34" charset="0"/>
                  </a:rPr>
                  <a:t>nugget</a:t>
                </a:r>
                <a:r>
                  <a:rPr lang="en-GB" dirty="0">
                    <a:latin typeface="Aptos" panose="020B0004020202020204" pitchFamily="34" charset="0"/>
                  </a:rPr>
                  <a:t>.</a:t>
                </a:r>
                <a:endParaRPr lang="en-GB" b="1" dirty="0">
                  <a:latin typeface="Aptos" panose="020B0004020202020204" pitchFamily="34" charset="0"/>
                </a:endParaRPr>
              </a:p>
              <a:p>
                <a:endParaRPr lang="en-GB"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338464"/>
                <a:ext cx="10515600" cy="5032375"/>
              </a:xfrm>
              <a:blipFill>
                <a:blip r:embed="rId2"/>
                <a:stretch>
                  <a:fillRect l="-1043" r="-870"/>
                </a:stretch>
              </a:blipFill>
            </p:spPr>
            <p:txBody>
              <a:bodyPr/>
              <a:lstStyle/>
              <a:p>
                <a:r>
                  <a:rPr lang="en-GB">
                    <a:noFill/>
                  </a:rPr>
                  <a:t> </a:t>
                </a:r>
              </a:p>
            </p:txBody>
          </p:sp>
        </mc:Fallback>
      </mc:AlternateContent>
      <p:sp>
        <p:nvSpPr>
          <p:cNvPr id="5" name="Title 1"/>
          <p:cNvSpPr>
            <a:spLocks noGrp="1"/>
          </p:cNvSpPr>
          <p:nvPr>
            <p:ph type="title"/>
          </p:nvPr>
        </p:nvSpPr>
        <p:spPr>
          <a:xfrm>
            <a:off x="304800" y="0"/>
            <a:ext cx="9333807" cy="790344"/>
          </a:xfrm>
        </p:spPr>
        <p:txBody>
          <a:bodyPr>
            <a:normAutofit/>
          </a:bodyPr>
          <a:lstStyle/>
          <a:p>
            <a:r>
              <a:rPr lang="en-GB" sz="4000" b="1" dirty="0" err="1">
                <a:solidFill>
                  <a:schemeClr val="bg1"/>
                </a:solidFill>
                <a:latin typeface="Aptos" panose="020B0004020202020204" pitchFamily="34" charset="0"/>
              </a:rPr>
              <a:t>Matérn</a:t>
            </a:r>
            <a:r>
              <a:rPr lang="en-GB" sz="4000" b="1" dirty="0">
                <a:solidFill>
                  <a:schemeClr val="bg1"/>
                </a:solidFill>
                <a:latin typeface="Aptos" panose="020B0004020202020204" pitchFamily="34" charset="0"/>
              </a:rPr>
              <a:t> covariance function</a:t>
            </a:r>
          </a:p>
        </p:txBody>
      </p:sp>
    </p:spTree>
    <p:extLst>
      <p:ext uri="{BB962C8B-B14F-4D97-AF65-F5344CB8AC3E}">
        <p14:creationId xmlns:p14="http://schemas.microsoft.com/office/powerpoint/2010/main" val="3276533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483804"/>
                <a:ext cx="10515600" cy="4413379"/>
              </a:xfrm>
            </p:spPr>
            <p:txBody>
              <a:bodyPr>
                <a:normAutofit/>
              </a:bodyPr>
              <a:lstStyle/>
              <a:p>
                <a:r>
                  <a:rPr lang="en-GB" dirty="0">
                    <a:latin typeface="Aptos" panose="020B0004020202020204" pitchFamily="34" charset="0"/>
                  </a:rPr>
                  <a:t>nugget + partial sill = </a:t>
                </a:r>
                <a:r>
                  <a:rPr lang="en-GB" b="1" dirty="0">
                    <a:solidFill>
                      <a:schemeClr val="accent1">
                        <a:lumMod val="75000"/>
                      </a:schemeClr>
                    </a:solidFill>
                    <a:latin typeface="Aptos" panose="020B0004020202020204" pitchFamily="34" charset="0"/>
                  </a:rPr>
                  <a:t>sill</a:t>
                </a:r>
                <a:r>
                  <a:rPr lang="en-GB" b="1" dirty="0">
                    <a:latin typeface="Aptos" panose="020B0004020202020204" pitchFamily="34" charset="0"/>
                  </a:rPr>
                  <a:t> </a:t>
                </a:r>
                <a:r>
                  <a:rPr lang="en-GB" dirty="0">
                    <a:latin typeface="Aptos" panose="020B0004020202020204" pitchFamily="34" charset="0"/>
                  </a:rPr>
                  <a:t>(this concept is better illustrated using semi-</a:t>
                </a:r>
                <a:r>
                  <a:rPr lang="en-GB" dirty="0" err="1">
                    <a:latin typeface="Aptos" panose="020B0004020202020204" pitchFamily="34" charset="0"/>
                  </a:rPr>
                  <a:t>variograms</a:t>
                </a:r>
                <a:r>
                  <a:rPr lang="en-GB" dirty="0">
                    <a:latin typeface="Aptos" panose="020B0004020202020204" pitchFamily="34" charset="0"/>
                  </a:rPr>
                  <a:t> calculated from data, most of which do not pass through the origin)</a:t>
                </a:r>
                <a:endParaRPr lang="en-GB" b="1" dirty="0">
                  <a:latin typeface="Aptos" panose="020B0004020202020204" pitchFamily="34" charset="0"/>
                </a:endParaRPr>
              </a:p>
              <a:p>
                <a:endParaRPr lang="en-GB" dirty="0">
                  <a:latin typeface="Aptos" panose="020B0004020202020204" pitchFamily="34" charset="0"/>
                </a:endParaRPr>
              </a:p>
              <a:p>
                <a:r>
                  <a:rPr lang="en-GB" dirty="0">
                    <a:latin typeface="Aptos" panose="020B0004020202020204" pitchFamily="34" charset="0"/>
                  </a:rPr>
                  <a:t>Higher values of the smoothness parameter </a:t>
                </a:r>
                <a14:m>
                  <m:oMath xmlns:m="http://schemas.openxmlformats.org/officeDocument/2006/math">
                    <m:r>
                      <a:rPr lang="en-GB" i="1">
                        <a:latin typeface="Cambria Math" panose="02040503050406030204" pitchFamily="18" charset="0"/>
                      </a:rPr>
                      <m:t>𝜈</m:t>
                    </m:r>
                  </m:oMath>
                </a14:m>
                <a:r>
                  <a:rPr lang="en-GB" dirty="0">
                    <a:latin typeface="Aptos" panose="020B0004020202020204" pitchFamily="34" charset="0"/>
                  </a:rPr>
                  <a:t> imply more smoothness (easier to predict due to less data needed)</a:t>
                </a:r>
              </a:p>
              <a:p>
                <a:pPr marL="0" indent="0">
                  <a:buNone/>
                </a:pPr>
                <a:endParaRPr lang="en-GB" dirty="0">
                  <a:latin typeface="Aptos" panose="020B0004020202020204" pitchFamily="34" charset="0"/>
                </a:endParaRPr>
              </a:p>
              <a:p>
                <a:r>
                  <a:rPr lang="en-GB" dirty="0">
                    <a:latin typeface="Aptos" panose="020B0004020202020204" pitchFamily="34" charset="0"/>
                  </a:rPr>
                  <a:t>Different values of </a:t>
                </a:r>
                <a14:m>
                  <m:oMath xmlns:m="http://schemas.openxmlformats.org/officeDocument/2006/math">
                    <m:r>
                      <a:rPr lang="en-GB" i="1">
                        <a:latin typeface="Cambria Math" panose="02040503050406030204" pitchFamily="18" charset="0"/>
                      </a:rPr>
                      <m:t>𝜈</m:t>
                    </m:r>
                  </m:oMath>
                </a14:m>
                <a:r>
                  <a:rPr lang="en-GB" dirty="0">
                    <a:latin typeface="Aptos" panose="020B0004020202020204" pitchFamily="34" charset="0"/>
                  </a:rPr>
                  <a:t> produce different popular special cases of the </a:t>
                </a:r>
                <a:r>
                  <a:rPr lang="en-GB" dirty="0" err="1">
                    <a:latin typeface="Aptos" panose="020B0004020202020204" pitchFamily="34" charset="0"/>
                  </a:rPr>
                  <a:t>Matérn</a:t>
                </a:r>
                <a:r>
                  <a:rPr lang="en-GB" dirty="0">
                    <a:latin typeface="Aptos" panose="020B0004020202020204" pitchFamily="34" charset="0"/>
                  </a:rPr>
                  <a:t> family of covariance functions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483804"/>
                <a:ext cx="10515600" cy="4413379"/>
              </a:xfrm>
              <a:blipFill>
                <a:blip r:embed="rId2"/>
                <a:stretch>
                  <a:fillRect l="-1043" t="-2348" r="-928"/>
                </a:stretch>
              </a:blipFill>
            </p:spPr>
            <p:txBody>
              <a:bodyPr/>
              <a:lstStyle/>
              <a:p>
                <a:r>
                  <a:rPr lang="en-GB">
                    <a:noFill/>
                  </a:rPr>
                  <a:t> </a:t>
                </a:r>
              </a:p>
            </p:txBody>
          </p:sp>
        </mc:Fallback>
      </mc:AlternateContent>
      <p:sp>
        <p:nvSpPr>
          <p:cNvPr id="5" name="Title 1"/>
          <p:cNvSpPr>
            <a:spLocks noGrp="1"/>
          </p:cNvSpPr>
          <p:nvPr>
            <p:ph type="title"/>
          </p:nvPr>
        </p:nvSpPr>
        <p:spPr>
          <a:xfrm>
            <a:off x="276225" y="0"/>
            <a:ext cx="9333807" cy="790344"/>
          </a:xfrm>
        </p:spPr>
        <p:txBody>
          <a:bodyPr>
            <a:normAutofit/>
          </a:bodyPr>
          <a:lstStyle/>
          <a:p>
            <a:r>
              <a:rPr lang="en-GB" sz="4000" b="1" dirty="0" err="1">
                <a:solidFill>
                  <a:schemeClr val="bg1"/>
                </a:solidFill>
                <a:latin typeface="Aptos" panose="020B0004020202020204" pitchFamily="34" charset="0"/>
              </a:rPr>
              <a:t>Matérn</a:t>
            </a:r>
            <a:r>
              <a:rPr lang="en-GB" sz="4000" b="1" dirty="0">
                <a:solidFill>
                  <a:schemeClr val="bg1"/>
                </a:solidFill>
                <a:latin typeface="Aptos" panose="020B0004020202020204" pitchFamily="34" charset="0"/>
              </a:rPr>
              <a:t> covariance function</a:t>
            </a:r>
          </a:p>
        </p:txBody>
      </p:sp>
    </p:spTree>
    <p:extLst>
      <p:ext uri="{BB962C8B-B14F-4D97-AF65-F5344CB8AC3E}">
        <p14:creationId xmlns:p14="http://schemas.microsoft.com/office/powerpoint/2010/main" val="1801415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081881"/>
                <a:ext cx="10515600" cy="604044"/>
              </a:xfrm>
            </p:spPr>
            <p:txBody>
              <a:bodyPr/>
              <a:lstStyle/>
              <a:p>
                <a:r>
                  <a:rPr lang="en-GB" dirty="0"/>
                  <a:t>When </a:t>
                </a:r>
                <a14:m>
                  <m:oMath xmlns:m="http://schemas.openxmlformats.org/officeDocument/2006/math">
                    <m:r>
                      <a:rPr lang="en-GB" b="0" i="1" smtClean="0">
                        <a:latin typeface="Cambria Math" panose="02040503050406030204" pitchFamily="18" charset="0"/>
                      </a:rPr>
                      <m:t>𝜈</m:t>
                    </m:r>
                    <m:r>
                      <a:rPr lang="en-GB" b="0" i="1" smtClean="0">
                        <a:latin typeface="Cambria Math" panose="02040503050406030204" pitchFamily="18" charset="0"/>
                      </a:rPr>
                      <m:t>=0.5</m:t>
                    </m:r>
                  </m:oMath>
                </a14:m>
                <a:r>
                  <a:rPr lang="en-GB" dirty="0"/>
                  <a:t>, we obtain the </a:t>
                </a:r>
                <a:r>
                  <a:rPr lang="en-GB" b="1" dirty="0"/>
                  <a:t>exponential covariance </a:t>
                </a:r>
                <a:r>
                  <a:rPr lang="en-GB" dirty="0"/>
                  <a:t>function</a:t>
                </a:r>
              </a:p>
              <a:p>
                <a:endParaRPr lang="en-GB"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081881"/>
                <a:ext cx="10515600" cy="604044"/>
              </a:xfrm>
              <a:blipFill>
                <a:blip r:embed="rId2"/>
                <a:stretch>
                  <a:fillRect l="-1043" t="-16000" b="-7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82420" y="3716755"/>
                <a:ext cx="6262395" cy="3141245"/>
              </a:xfrm>
              <a:prstGeom prst="rect">
                <a:avLst/>
              </a:prstGeom>
              <a:noFill/>
            </p:spPr>
            <p:txBody>
              <a:bodyPr wrap="square" rtlCol="0">
                <a:spAutoFit/>
              </a:bodyPr>
              <a:lstStyle/>
              <a:p>
                <a:r>
                  <a:rPr lang="en-GB" dirty="0"/>
                  <a:t>In the exponential case, the covariance function simplifies to: </a:t>
                </a:r>
                <a14:m>
                  <m:oMath xmlns:m="http://schemas.openxmlformats.org/officeDocument/2006/math">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𝑑</m:t>
                        </m:r>
                      </m:e>
                      <m:e>
                        <m:sSup>
                          <m:sSupPr>
                            <m:ctrlPr>
                              <a:rPr lang="en-GB" i="1">
                                <a:latin typeface="Cambria Math" panose="02040503050406030204" pitchFamily="18" charset="0"/>
                              </a:rPr>
                            </m:ctrlPr>
                          </m:sSupPr>
                          <m:e>
                            <m:r>
                              <a:rPr lang="en-GB" i="1">
                                <a:latin typeface="Cambria Math" panose="02040503050406030204" pitchFamily="18" charset="0"/>
                              </a:rPr>
                              <m:t>𝜎</m:t>
                            </m:r>
                          </m:e>
                          <m:sup>
                            <m:r>
                              <a:rPr lang="en-GB" i="1">
                                <a:latin typeface="Cambria Math" panose="02040503050406030204" pitchFamily="18" charset="0"/>
                              </a:rPr>
                              <m:t>2</m:t>
                            </m:r>
                          </m:sup>
                        </m:sSup>
                        <m:r>
                          <a:rPr lang="en-GB" i="1">
                            <a:latin typeface="Cambria Math" panose="02040503050406030204" pitchFamily="18" charset="0"/>
                          </a:rPr>
                          <m:t>,</m:t>
                        </m:r>
                        <m:r>
                          <a:rPr lang="en-GB" b="0" i="1" smtClean="0">
                            <a:latin typeface="Cambria Math" panose="02040503050406030204" pitchFamily="18" charset="0"/>
                          </a:rPr>
                          <m:t>𝜅</m:t>
                        </m:r>
                      </m:e>
                    </m:d>
                    <m:r>
                      <a:rPr lang="en-GB">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𝜎</m:t>
                        </m:r>
                      </m:e>
                      <m:sup>
                        <m:r>
                          <a:rPr lang="en-GB" i="1">
                            <a:latin typeface="Cambria Math" panose="02040503050406030204" pitchFamily="18" charset="0"/>
                          </a:rPr>
                          <m:t>2</m:t>
                        </m:r>
                      </m:sup>
                    </m:sSup>
                    <m:r>
                      <m:rPr>
                        <m:sty m:val="p"/>
                      </m:rPr>
                      <a:rPr lang="en-GB" b="0" i="0" smtClean="0">
                        <a:latin typeface="Cambria Math" panose="02040503050406030204" pitchFamily="18" charset="0"/>
                      </a:rPr>
                      <m:t>exp</m:t>
                    </m:r>
                    <m:r>
                      <a:rPr lang="en-GB" b="0" i="1" smtClean="0">
                        <a:latin typeface="Cambria Math" panose="02040503050406030204" pitchFamily="18" charset="0"/>
                      </a:rPr>
                      <m:t>⁡(−</m:t>
                    </m:r>
                    <m:r>
                      <a:rPr lang="en-GB" b="0" i="1" smtClean="0">
                        <a:latin typeface="Cambria Math" panose="02040503050406030204" pitchFamily="18" charset="0"/>
                      </a:rPr>
                      <m:t>𝜅</m:t>
                    </m:r>
                    <m:r>
                      <a:rPr lang="en-GB" b="0" i="1" smtClean="0">
                        <a:latin typeface="Cambria Math" panose="02040503050406030204" pitchFamily="18" charset="0"/>
                      </a:rPr>
                      <m:t>𝑑</m:t>
                    </m:r>
                    <m:r>
                      <a:rPr lang="en-GB" b="0" i="1" smtClean="0">
                        <a:latin typeface="Cambria Math" panose="02040503050406030204" pitchFamily="18" charset="0"/>
                      </a:rPr>
                      <m:t>)</m:t>
                    </m:r>
                  </m:oMath>
                </a14:m>
                <a:r>
                  <a:rPr lang="en-GB" dirty="0"/>
                  <a:t>, where </a:t>
                </a:r>
                <a14:m>
                  <m:oMath xmlns:m="http://schemas.openxmlformats.org/officeDocument/2006/math">
                    <m:r>
                      <a:rPr lang="en-GB" b="0" i="1" smtClean="0">
                        <a:latin typeface="Cambria Math" panose="02040503050406030204" pitchFamily="18" charset="0"/>
                      </a:rPr>
                      <m:t>𝜅</m:t>
                    </m:r>
                  </m:oMath>
                </a14:m>
                <a:r>
                  <a:rPr lang="en-GB" dirty="0"/>
                  <a:t> is a decay parameter.</a:t>
                </a:r>
              </a:p>
              <a:p>
                <a:endParaRPr lang="en-GB" dirty="0"/>
              </a:p>
              <a:p>
                <a:r>
                  <a:rPr lang="en-GB" dirty="0"/>
                  <a:t>The effective range for the exponential covariance function is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2.303</m:t>
                        </m:r>
                      </m:num>
                      <m:den>
                        <m:r>
                          <a:rPr lang="en-GB" i="1">
                            <a:latin typeface="Cambria Math" panose="02040503050406030204" pitchFamily="18" charset="0"/>
                          </a:rPr>
                          <m:t>𝜅</m:t>
                        </m:r>
                      </m:den>
                    </m:f>
                    <m:r>
                      <a:rPr lang="en-GB" b="0" i="1" smtClean="0">
                        <a:latin typeface="Cambria Math" panose="02040503050406030204" pitchFamily="18" charset="0"/>
                      </a:rPr>
                      <m:t>(</m:t>
                    </m:r>
                    <m:r>
                      <m:rPr>
                        <m:sty m:val="p"/>
                      </m:rPr>
                      <a:rPr lang="en-GB" b="0" i="0" smtClean="0">
                        <a:latin typeface="Cambria Math" panose="02040503050406030204" pitchFamily="18" charset="0"/>
                      </a:rPr>
                      <m:t>i</m:t>
                    </m:r>
                    <m:r>
                      <a:rPr lang="en-GB" b="0" i="0" smtClean="0">
                        <a:latin typeface="Cambria Math" panose="02040503050406030204" pitchFamily="18" charset="0"/>
                      </a:rPr>
                      <m:t>.</m:t>
                    </m:r>
                    <m:r>
                      <m:rPr>
                        <m:sty m:val="p"/>
                      </m:rPr>
                      <a:rPr lang="en-GB" b="0" i="0" smtClean="0">
                        <a:latin typeface="Cambria Math" panose="02040503050406030204" pitchFamily="18" charset="0"/>
                      </a:rPr>
                      <m:t>e</m:t>
                    </m:r>
                    <m:r>
                      <a:rPr lang="en-GB" b="0" i="0" smtClean="0">
                        <a:latin typeface="Cambria Math" panose="02040503050406030204" pitchFamily="18" charset="0"/>
                      </a:rPr>
                      <m:t>., </m:t>
                    </m:r>
                    <m:sSup>
                      <m:sSupPr>
                        <m:ctrlPr>
                          <a:rPr lang="en-GB" i="1" dirty="0">
                            <a:latin typeface="Cambria Math" panose="02040503050406030204" pitchFamily="18" charset="0"/>
                          </a:rPr>
                        </m:ctrlPr>
                      </m:sSupPr>
                      <m:e>
                        <m:r>
                          <a:rPr lang="en-GB" i="1" dirty="0">
                            <a:latin typeface="Cambria Math" panose="02040503050406030204" pitchFamily="18" charset="0"/>
                          </a:rPr>
                          <m:t>𝑒</m:t>
                        </m:r>
                      </m:e>
                      <m:sup>
                        <m:r>
                          <a:rPr lang="en-GB" i="1" dirty="0">
                            <a:latin typeface="Cambria Math" panose="02040503050406030204" pitchFamily="18" charset="0"/>
                          </a:rPr>
                          <m:t>−</m:t>
                        </m:r>
                        <m:r>
                          <a:rPr lang="en-GB" i="1" dirty="0">
                            <a:latin typeface="Cambria Math" panose="02040503050406030204" pitchFamily="18" charset="0"/>
                          </a:rPr>
                          <m:t>𝜅</m:t>
                        </m:r>
                        <m:r>
                          <a:rPr lang="en-GB" i="1" dirty="0">
                            <a:latin typeface="Cambria Math" panose="02040503050406030204" pitchFamily="18" charset="0"/>
                          </a:rPr>
                          <m:t>𝑑</m:t>
                        </m:r>
                      </m:sup>
                    </m:sSup>
                    <m:r>
                      <a:rPr lang="en-GB" i="1" dirty="0">
                        <a:latin typeface="Cambria Math" panose="02040503050406030204" pitchFamily="18" charset="0"/>
                      </a:rPr>
                      <m:t>=0.1 </m:t>
                    </m:r>
                    <m:r>
                      <a:rPr lang="en-GB" i="1" dirty="0">
                        <a:latin typeface="Cambria Math" panose="02040503050406030204" pitchFamily="18" charset="0"/>
                        <a:ea typeface="Cambria Math" panose="02040503050406030204" pitchFamily="18" charset="0"/>
                      </a:rPr>
                      <m:t>⟹</m:t>
                    </m:r>
                    <m:r>
                      <a:rPr lang="en-GB" b="0" i="1" dirty="0" smtClean="0">
                        <a:latin typeface="Cambria Math" panose="02040503050406030204" pitchFamily="18" charset="0"/>
                        <a:ea typeface="Cambria Math" panose="02040503050406030204" pitchFamily="18" charset="0"/>
                      </a:rPr>
                      <m:t>𝑟</m:t>
                    </m:r>
                    <m:r>
                      <a:rPr lang="en-GB" b="0" i="1" dirty="0" smtClean="0">
                        <a:latin typeface="Cambria Math" panose="02040503050406030204" pitchFamily="18" charset="0"/>
                        <a:ea typeface="Cambria Math" panose="02040503050406030204" pitchFamily="18" charset="0"/>
                      </a:rPr>
                      <m:t>=</m:t>
                    </m:r>
                    <m:r>
                      <a:rPr lang="en-GB" i="1" dirty="0">
                        <a:latin typeface="Cambria Math" panose="02040503050406030204" pitchFamily="18" charset="0"/>
                        <a:ea typeface="Cambria Math" panose="02040503050406030204" pitchFamily="18" charset="0"/>
                      </a:rPr>
                      <m:t>𝑑</m:t>
                    </m:r>
                    <m:r>
                      <a:rPr lang="en-GB" i="1" dirty="0">
                        <a:latin typeface="Cambria Math" panose="02040503050406030204" pitchFamily="18" charset="0"/>
                        <a:ea typeface="Cambria Math" panose="02040503050406030204" pitchFamily="18" charset="0"/>
                      </a:rPr>
                      <m:t>≈</m:t>
                    </m:r>
                    <m:f>
                      <m:fPr>
                        <m:ctrlPr>
                          <a:rPr lang="en-GB" i="1" dirty="0">
                            <a:latin typeface="Cambria Math" panose="02040503050406030204" pitchFamily="18" charset="0"/>
                            <a:ea typeface="Cambria Math" panose="02040503050406030204" pitchFamily="18" charset="0"/>
                          </a:rPr>
                        </m:ctrlPr>
                      </m:fPr>
                      <m:num>
                        <m:r>
                          <a:rPr lang="en-GB" i="1" dirty="0">
                            <a:latin typeface="Cambria Math" panose="02040503050406030204" pitchFamily="18" charset="0"/>
                            <a:ea typeface="Cambria Math" panose="02040503050406030204" pitchFamily="18" charset="0"/>
                          </a:rPr>
                          <m:t>2.303</m:t>
                        </m:r>
                      </m:num>
                      <m:den>
                        <m:r>
                          <a:rPr lang="en-GB" i="1" dirty="0">
                            <a:latin typeface="Cambria Math" panose="02040503050406030204" pitchFamily="18" charset="0"/>
                            <a:ea typeface="Cambria Math" panose="02040503050406030204" pitchFamily="18" charset="0"/>
                          </a:rPr>
                          <m:t>𝜅</m:t>
                        </m:r>
                      </m:den>
                    </m:f>
                    <m:r>
                      <a:rPr lang="en-GB" b="0" i="1" smtClean="0">
                        <a:latin typeface="Cambria Math" panose="02040503050406030204" pitchFamily="18" charset="0"/>
                      </a:rPr>
                      <m:t>)</m:t>
                    </m:r>
                  </m:oMath>
                </a14:m>
                <a:r>
                  <a:rPr lang="en-GB" dirty="0"/>
                  <a:t> when using the 0.1 convention or </a:t>
                </a:r>
                <a14:m>
                  <m:oMath xmlns:m="http://schemas.openxmlformats.org/officeDocument/2006/math">
                    <m:r>
                      <a:rPr lang="en-GB" b="0" i="1" smtClean="0">
                        <a:latin typeface="Cambria Math" panose="02040503050406030204" pitchFamily="18" charset="0"/>
                      </a:rPr>
                      <m:t>3/</m:t>
                    </m:r>
                    <m:r>
                      <a:rPr lang="en-GB" b="0" i="1" smtClean="0">
                        <a:latin typeface="Cambria Math" panose="02040503050406030204" pitchFamily="18" charset="0"/>
                      </a:rPr>
                      <m:t>𝜅</m:t>
                    </m:r>
                  </m:oMath>
                </a14:m>
                <a:r>
                  <a:rPr lang="en-GB" dirty="0"/>
                  <a:t> </a:t>
                </a:r>
                <a14:m>
                  <m:oMath xmlns:m="http://schemas.openxmlformats.org/officeDocument/2006/math">
                    <m:r>
                      <a:rPr lang="en-GB" b="0" i="1" dirty="0" smtClean="0">
                        <a:latin typeface="Cambria Math" panose="02040503050406030204" pitchFamily="18" charset="0"/>
                      </a:rPr>
                      <m:t>(</m:t>
                    </m:r>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𝑒</m:t>
                        </m:r>
                      </m:e>
                      <m:sup>
                        <m:r>
                          <a:rPr lang="en-GB" b="0" i="1" dirty="0" smtClean="0">
                            <a:latin typeface="Cambria Math" panose="02040503050406030204" pitchFamily="18" charset="0"/>
                          </a:rPr>
                          <m:t>−</m:t>
                        </m:r>
                        <m:r>
                          <a:rPr lang="en-GB" b="0" i="1" dirty="0" smtClean="0">
                            <a:latin typeface="Cambria Math" panose="02040503050406030204" pitchFamily="18" charset="0"/>
                          </a:rPr>
                          <m:t>𝜅</m:t>
                        </m:r>
                        <m:r>
                          <a:rPr lang="en-GB" b="0" i="1" dirty="0" smtClean="0">
                            <a:latin typeface="Cambria Math" panose="02040503050406030204" pitchFamily="18" charset="0"/>
                          </a:rPr>
                          <m:t>𝑑</m:t>
                        </m:r>
                      </m:sup>
                    </m:sSup>
                    <m:r>
                      <a:rPr lang="en-GB" b="0" i="1" dirty="0" smtClean="0">
                        <a:latin typeface="Cambria Math" panose="02040503050406030204" pitchFamily="18" charset="0"/>
                      </a:rPr>
                      <m:t>=0.05 </m:t>
                    </m:r>
                    <m:r>
                      <a:rPr lang="en-GB" i="1" dirty="0">
                        <a:latin typeface="Cambria Math" panose="02040503050406030204" pitchFamily="18" charset="0"/>
                        <a:ea typeface="Cambria Math" panose="02040503050406030204" pitchFamily="18" charset="0"/>
                      </a:rPr>
                      <m:t>⟹</m:t>
                    </m:r>
                    <m:r>
                      <a:rPr lang="en-GB" b="0" i="1" dirty="0" smtClean="0">
                        <a:latin typeface="Cambria Math" panose="02040503050406030204" pitchFamily="18" charset="0"/>
                        <a:ea typeface="Cambria Math" panose="02040503050406030204" pitchFamily="18" charset="0"/>
                      </a:rPr>
                      <m:t>𝑟</m:t>
                    </m:r>
                    <m:r>
                      <a:rPr lang="en-GB" b="0" i="1" dirty="0" smtClean="0">
                        <a:latin typeface="Cambria Math" panose="02040503050406030204" pitchFamily="18" charset="0"/>
                        <a:ea typeface="Cambria Math" panose="02040503050406030204" pitchFamily="18" charset="0"/>
                      </a:rPr>
                      <m:t>≈</m:t>
                    </m:r>
                    <m:f>
                      <m:fPr>
                        <m:ctrlPr>
                          <a:rPr lang="en-GB" b="0" i="1" dirty="0" smtClean="0">
                            <a:latin typeface="Cambria Math" panose="02040503050406030204" pitchFamily="18" charset="0"/>
                            <a:ea typeface="Cambria Math" panose="02040503050406030204" pitchFamily="18" charset="0"/>
                          </a:rPr>
                        </m:ctrlPr>
                      </m:fPr>
                      <m:num>
                        <m:r>
                          <a:rPr lang="en-GB" b="0" i="1" dirty="0" smtClean="0">
                            <a:latin typeface="Cambria Math" panose="02040503050406030204" pitchFamily="18" charset="0"/>
                            <a:ea typeface="Cambria Math" panose="02040503050406030204" pitchFamily="18" charset="0"/>
                          </a:rPr>
                          <m:t>3</m:t>
                        </m:r>
                      </m:num>
                      <m:den>
                        <m:r>
                          <a:rPr lang="en-GB" b="0" i="1" dirty="0" smtClean="0">
                            <a:latin typeface="Cambria Math" panose="02040503050406030204" pitchFamily="18" charset="0"/>
                            <a:ea typeface="Cambria Math" panose="02040503050406030204" pitchFamily="18" charset="0"/>
                          </a:rPr>
                          <m:t>𝜅</m:t>
                        </m:r>
                      </m:den>
                    </m:f>
                    <m:r>
                      <a:rPr lang="en-GB" b="0" i="0" dirty="0" smtClean="0">
                        <a:latin typeface="Cambria Math" panose="02040503050406030204" pitchFamily="18" charset="0"/>
                        <a:ea typeface="Cambria Math" panose="02040503050406030204" pitchFamily="18" charset="0"/>
                      </a:rPr>
                      <m:t>  )</m:t>
                    </m:r>
                  </m:oMath>
                </a14:m>
                <a:r>
                  <a:rPr lang="en-GB" dirty="0"/>
                  <a:t> when using the 0.05 convention. Note that </a:t>
                </a:r>
                <a14:m>
                  <m:oMath xmlns:m="http://schemas.openxmlformats.org/officeDocument/2006/math">
                    <m:r>
                      <a:rPr lang="en-GB" i="1">
                        <a:latin typeface="Cambria Math" panose="02040503050406030204" pitchFamily="18" charset="0"/>
                      </a:rPr>
                      <m:t>𝑟</m:t>
                    </m:r>
                    <m:r>
                      <a:rPr lang="en-GB" i="1">
                        <a:latin typeface="Cambria Math" panose="02040503050406030204" pitchFamily="18" charset="0"/>
                      </a:rPr>
                      <m:t>=</m:t>
                    </m:r>
                    <m:f>
                      <m:fPr>
                        <m:ctrlPr>
                          <a:rPr lang="en-GB" i="1">
                            <a:latin typeface="Cambria Math" panose="02040503050406030204" pitchFamily="18" charset="0"/>
                          </a:rPr>
                        </m:ctrlPr>
                      </m:fPr>
                      <m:num>
                        <m:rad>
                          <m:radPr>
                            <m:degHide m:val="on"/>
                            <m:ctrlPr>
                              <a:rPr lang="en-GB" i="1">
                                <a:latin typeface="Cambria Math" panose="02040503050406030204" pitchFamily="18" charset="0"/>
                              </a:rPr>
                            </m:ctrlPr>
                          </m:radPr>
                          <m:deg/>
                          <m:e>
                            <m:r>
                              <a:rPr lang="en-GB" i="1">
                                <a:latin typeface="Cambria Math" panose="02040503050406030204" pitchFamily="18" charset="0"/>
                              </a:rPr>
                              <m:t>8</m:t>
                            </m:r>
                            <m:r>
                              <a:rPr lang="en-GB" i="1">
                                <a:latin typeface="Cambria Math" panose="02040503050406030204" pitchFamily="18" charset="0"/>
                              </a:rPr>
                              <m:t>𝜈</m:t>
                            </m:r>
                          </m:e>
                        </m:rad>
                      </m:num>
                      <m:den>
                        <m:r>
                          <a:rPr lang="en-GB" i="1">
                            <a:latin typeface="Cambria Math" panose="02040503050406030204" pitchFamily="18" charset="0"/>
                          </a:rPr>
                          <m:t>𝜅</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𝜅</m:t>
                        </m:r>
                      </m:den>
                    </m:f>
                  </m:oMath>
                </a14:m>
                <a:r>
                  <a:rPr lang="en-GB" dirty="0"/>
                  <a:t> used in the general </a:t>
                </a:r>
                <a:r>
                  <a:rPr lang="en-GB" dirty="0" err="1"/>
                  <a:t>Matérn</a:t>
                </a:r>
                <a:r>
                  <a:rPr lang="en-GB" dirty="0"/>
                  <a:t> formula when </a:t>
                </a:r>
                <a14:m>
                  <m:oMath xmlns:m="http://schemas.openxmlformats.org/officeDocument/2006/math">
                    <m:r>
                      <a:rPr lang="en-GB" b="0" i="1" smtClean="0">
                        <a:latin typeface="Cambria Math" panose="02040503050406030204" pitchFamily="18" charset="0"/>
                      </a:rPr>
                      <m:t>𝜈</m:t>
                    </m:r>
                    <m:r>
                      <a:rPr lang="en-GB" b="0" i="1" smtClean="0">
                        <a:latin typeface="Cambria Math" panose="02040503050406030204" pitchFamily="18" charset="0"/>
                      </a:rPr>
                      <m:t>=0.5</m:t>
                    </m:r>
                  </m:oMath>
                </a14:m>
                <a:r>
                  <a:rPr lang="en-GB" dirty="0"/>
                  <a:t> differs slightly from </a:t>
                </a:r>
                <a14:m>
                  <m:oMath xmlns:m="http://schemas.openxmlformats.org/officeDocument/2006/math">
                    <m:f>
                      <m:fPr>
                        <m:ctrlPr>
                          <a:rPr lang="en-GB" i="1" dirty="0">
                            <a:latin typeface="Cambria Math" panose="02040503050406030204" pitchFamily="18" charset="0"/>
                            <a:ea typeface="Cambria Math" panose="02040503050406030204" pitchFamily="18" charset="0"/>
                          </a:rPr>
                        </m:ctrlPr>
                      </m:fPr>
                      <m:num>
                        <m:r>
                          <a:rPr lang="en-GB" i="1" dirty="0">
                            <a:latin typeface="Cambria Math" panose="02040503050406030204" pitchFamily="18" charset="0"/>
                            <a:ea typeface="Cambria Math" panose="02040503050406030204" pitchFamily="18" charset="0"/>
                          </a:rPr>
                          <m:t>2.303</m:t>
                        </m:r>
                      </m:num>
                      <m:den>
                        <m:r>
                          <a:rPr lang="en-GB" i="1" dirty="0">
                            <a:latin typeface="Cambria Math" panose="02040503050406030204" pitchFamily="18" charset="0"/>
                            <a:ea typeface="Cambria Math" panose="02040503050406030204" pitchFamily="18" charset="0"/>
                          </a:rPr>
                          <m:t>𝜅</m:t>
                        </m:r>
                      </m:den>
                    </m:f>
                  </m:oMath>
                </a14:m>
                <a:r>
                  <a:rPr lang="en-GB" dirty="0"/>
                  <a:t> for the exponential covariance function. The latter is preferable.</a:t>
                </a:r>
              </a:p>
            </p:txBody>
          </p:sp>
        </mc:Choice>
        <mc:Fallback xmlns="">
          <p:sp>
            <p:nvSpPr>
              <p:cNvPr id="5" name="TextBox 4"/>
              <p:cNvSpPr txBox="1">
                <a:spLocks noRot="1" noChangeAspect="1" noMove="1" noResize="1" noEditPoints="1" noAdjustHandles="1" noChangeArrowheads="1" noChangeShapeType="1" noTextEdit="1"/>
              </p:cNvSpPr>
              <p:nvPr/>
            </p:nvSpPr>
            <p:spPr>
              <a:xfrm>
                <a:off x="82420" y="3716755"/>
                <a:ext cx="6262395" cy="3141245"/>
              </a:xfrm>
              <a:prstGeom prst="rect">
                <a:avLst/>
              </a:prstGeom>
              <a:blipFill>
                <a:blip r:embed="rId3"/>
                <a:stretch>
                  <a:fillRect l="-876" t="-1165" b="-2136"/>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82419" y="1777763"/>
                <a:ext cx="6262395" cy="1938992"/>
              </a:xfrm>
              <a:prstGeom prst="rect">
                <a:avLst/>
              </a:prstGeom>
              <a:noFill/>
            </p:spPr>
            <p:txBody>
              <a:bodyPr wrap="square" rtlCol="0">
                <a:spAutoFit/>
              </a:bodyPr>
              <a:lstStyle/>
              <a:p>
                <a:pPr marL="285750" indent="-285750">
                  <a:buFont typeface="Arial" panose="020B0604020202020204" pitchFamily="34" charset="0"/>
                  <a:buChar char="•"/>
                </a:pPr>
                <a:r>
                  <a:rPr lang="en-GB" sz="2400" dirty="0"/>
                  <a:t>In the plot, the vertical lines show the values of the range parameter </a:t>
                </a:r>
                <a14:m>
                  <m:oMath xmlns:m="http://schemas.openxmlformats.org/officeDocument/2006/math">
                    <m:r>
                      <a:rPr lang="en-GB" sz="2400" b="0" i="1" smtClean="0">
                        <a:latin typeface="Cambria Math" panose="02040503050406030204" pitchFamily="18" charset="0"/>
                      </a:rPr>
                      <m:t>𝑟</m:t>
                    </m:r>
                  </m:oMath>
                </a14:m>
                <a:r>
                  <a:rPr lang="en-GB" sz="2400" dirty="0"/>
                  <a:t> for various values of </a:t>
                </a:r>
                <a14:m>
                  <m:oMath xmlns:m="http://schemas.openxmlformats.org/officeDocument/2006/math">
                    <m:r>
                      <a:rPr lang="en-GB" sz="2400" b="0" i="1" smtClean="0">
                        <a:latin typeface="Cambria Math" panose="02040503050406030204" pitchFamily="18" charset="0"/>
                      </a:rPr>
                      <m:t>𝜅</m:t>
                    </m:r>
                  </m:oMath>
                </a14:m>
                <a:endParaRPr lang="en-GB" sz="2400" b="0" dirty="0"/>
              </a:p>
              <a:p>
                <a:pPr marL="285750" indent="-285750">
                  <a:buFont typeface="Arial" panose="020B0604020202020204" pitchFamily="34" charset="0"/>
                  <a:buChar char="•"/>
                </a:pPr>
                <a:r>
                  <a:rPr lang="en-GB" sz="2400" dirty="0"/>
                  <a:t>The horizontal line illustrates the correlation of 0.1 used to define the range.</a:t>
                </a:r>
              </a:p>
            </p:txBody>
          </p:sp>
        </mc:Choice>
        <mc:Fallback>
          <p:sp>
            <p:nvSpPr>
              <p:cNvPr id="7" name="TextBox 6"/>
              <p:cNvSpPr txBox="1">
                <a:spLocks noRot="1" noChangeAspect="1" noMove="1" noResize="1" noEditPoints="1" noAdjustHandles="1" noChangeArrowheads="1" noChangeShapeType="1" noTextEdit="1"/>
              </p:cNvSpPr>
              <p:nvPr/>
            </p:nvSpPr>
            <p:spPr>
              <a:xfrm>
                <a:off x="82419" y="1777763"/>
                <a:ext cx="6262395" cy="1938992"/>
              </a:xfrm>
              <a:prstGeom prst="rect">
                <a:avLst/>
              </a:prstGeom>
              <a:blipFill>
                <a:blip r:embed="rId4"/>
                <a:stretch>
                  <a:fillRect l="-1363" t="-2516" r="-2532" b="-6289"/>
                </a:stretch>
              </a:blipFill>
            </p:spPr>
            <p:txBody>
              <a:bodyPr/>
              <a:lstStyle/>
              <a:p>
                <a:r>
                  <a:rPr lang="en-GB">
                    <a:noFill/>
                  </a:rPr>
                  <a:t> </a:t>
                </a:r>
              </a:p>
            </p:txBody>
          </p:sp>
        </mc:Fallback>
      </mc:AlternateContent>
      <p:pic>
        <p:nvPicPr>
          <p:cNvPr id="8" name="Picture 7"/>
          <p:cNvPicPr>
            <a:picLocks noChangeAspect="1"/>
          </p:cNvPicPr>
          <p:nvPr/>
        </p:nvPicPr>
        <p:blipFill>
          <a:blip r:embed="rId5"/>
          <a:stretch>
            <a:fillRect/>
          </a:stretch>
        </p:blipFill>
        <p:spPr>
          <a:xfrm>
            <a:off x="6659227" y="2304363"/>
            <a:ext cx="5321278" cy="4181003"/>
          </a:xfrm>
          <a:prstGeom prst="rect">
            <a:avLst/>
          </a:prstGeom>
        </p:spPr>
      </p:pic>
      <p:sp>
        <p:nvSpPr>
          <p:cNvPr id="9" name="Title 1"/>
          <p:cNvSpPr>
            <a:spLocks noGrp="1"/>
          </p:cNvSpPr>
          <p:nvPr>
            <p:ph type="title"/>
          </p:nvPr>
        </p:nvSpPr>
        <p:spPr>
          <a:xfrm>
            <a:off x="314325" y="0"/>
            <a:ext cx="9333807" cy="790344"/>
          </a:xfrm>
        </p:spPr>
        <p:txBody>
          <a:bodyPr>
            <a:normAutofit/>
          </a:bodyPr>
          <a:lstStyle/>
          <a:p>
            <a:r>
              <a:rPr lang="en-GB" sz="4000" b="1" dirty="0" err="1">
                <a:solidFill>
                  <a:schemeClr val="bg1"/>
                </a:solidFill>
                <a:latin typeface="Aptos" panose="020B0004020202020204" pitchFamily="34" charset="0"/>
              </a:rPr>
              <a:t>Matérn</a:t>
            </a:r>
            <a:r>
              <a:rPr lang="en-GB" sz="4000" b="1" dirty="0">
                <a:solidFill>
                  <a:schemeClr val="bg1"/>
                </a:solidFill>
                <a:latin typeface="Aptos" panose="020B0004020202020204" pitchFamily="34" charset="0"/>
              </a:rPr>
              <a:t> covariance function</a:t>
            </a:r>
          </a:p>
        </p:txBody>
      </p:sp>
    </p:spTree>
    <p:extLst>
      <p:ext uri="{BB962C8B-B14F-4D97-AF65-F5344CB8AC3E}">
        <p14:creationId xmlns:p14="http://schemas.microsoft.com/office/powerpoint/2010/main" val="2664391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Content Placeholder 2"/>
              <p:cNvSpPr txBox="1">
                <a:spLocks/>
              </p:cNvSpPr>
              <p:nvPr/>
            </p:nvSpPr>
            <p:spPr>
              <a:xfrm>
                <a:off x="816758" y="1149158"/>
                <a:ext cx="10515600" cy="540535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Aptos" panose="020B0004020202020204" pitchFamily="34" charset="0"/>
                  </a:rPr>
                  <a:t>In R-INLA package, the default value is </a:t>
                </a:r>
                <a14:m>
                  <m:oMath xmlns:m="http://schemas.openxmlformats.org/officeDocument/2006/math">
                    <m:r>
                      <a:rPr lang="en-GB" i="1">
                        <a:latin typeface="Cambria Math" panose="02040503050406030204" pitchFamily="18" charset="0"/>
                      </a:rPr>
                      <m:t>𝜈</m:t>
                    </m:r>
                    <m:r>
                      <a:rPr lang="en-GB" i="1">
                        <a:latin typeface="Cambria Math" panose="02040503050406030204" pitchFamily="18" charset="0"/>
                      </a:rPr>
                      <m:t>=1</m:t>
                    </m:r>
                  </m:oMath>
                </a14:m>
                <a:endParaRPr lang="en-GB" dirty="0">
                  <a:latin typeface="Aptos" panose="020B0004020202020204" pitchFamily="34" charset="0"/>
                </a:endParaRP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latin typeface="Aptos" panose="020B0004020202020204" pitchFamily="34" charset="0"/>
                  </a:rPr>
                  <a:t>The correlation dies down/decays at a slower rate as </a:t>
                </a:r>
                <a14:m>
                  <m:oMath xmlns:m="http://schemas.openxmlformats.org/officeDocument/2006/math">
                    <m:r>
                      <a:rPr lang="en-GB" i="1">
                        <a:latin typeface="Cambria Math" panose="02040503050406030204" pitchFamily="18" charset="0"/>
                      </a:rPr>
                      <m:t>𝜈</m:t>
                    </m:r>
                  </m:oMath>
                </a14:m>
                <a:r>
                  <a:rPr lang="en-GB" dirty="0">
                    <a:latin typeface="Aptos" panose="020B0004020202020204" pitchFamily="34" charset="0"/>
                  </a:rPr>
                  <a:t> increases</a:t>
                </a:r>
              </a:p>
              <a:p>
                <a:r>
                  <a:rPr lang="en-GB" dirty="0">
                    <a:latin typeface="Aptos" panose="020B0004020202020204" pitchFamily="34" charset="0"/>
                  </a:rPr>
                  <a:t>Other members of the </a:t>
                </a:r>
                <a:r>
                  <a:rPr lang="en-GB" dirty="0" err="1">
                    <a:latin typeface="Aptos" panose="020B0004020202020204" pitchFamily="34" charset="0"/>
                  </a:rPr>
                  <a:t>Matérn</a:t>
                </a:r>
                <a:r>
                  <a:rPr lang="en-GB" dirty="0">
                    <a:latin typeface="Aptos" panose="020B0004020202020204" pitchFamily="34" charset="0"/>
                  </a:rPr>
                  <a:t> family are: Gaussian (</a:t>
                </a:r>
                <a14:m>
                  <m:oMath xmlns:m="http://schemas.openxmlformats.org/officeDocument/2006/math">
                    <m:r>
                      <a:rPr lang="en-GB" i="1">
                        <a:latin typeface="Cambria Math" panose="02040503050406030204" pitchFamily="18" charset="0"/>
                      </a:rPr>
                      <m:t>𝜈</m:t>
                    </m:r>
                    <m:r>
                      <a:rPr lang="en-GB" i="1">
                        <a:latin typeface="Cambria Math" panose="02040503050406030204" pitchFamily="18" charset="0"/>
                        <a:ea typeface="Cambria Math" panose="02040503050406030204" pitchFamily="18" charset="0"/>
                      </a:rPr>
                      <m:t>→∞</m:t>
                    </m:r>
                  </m:oMath>
                </a14:m>
                <a:r>
                  <a:rPr lang="en-GB" dirty="0">
                    <a:latin typeface="Aptos" panose="020B0004020202020204" pitchFamily="34" charset="0"/>
                  </a:rPr>
                  <a:t>), spherical, </a:t>
                </a:r>
                <a:r>
                  <a:rPr lang="en-GB" dirty="0" err="1">
                    <a:latin typeface="Aptos" panose="020B0004020202020204" pitchFamily="34" charset="0"/>
                  </a:rPr>
                  <a:t>etc</a:t>
                </a:r>
                <a:r>
                  <a:rPr lang="en-GB" dirty="0">
                    <a:latin typeface="Aptos" panose="020B0004020202020204" pitchFamily="34" charset="0"/>
                  </a:rPr>
                  <a:t> </a:t>
                </a:r>
              </a:p>
              <a:p>
                <a:endParaRPr lang="en-GB" dirty="0"/>
              </a:p>
            </p:txBody>
          </p:sp>
        </mc:Choice>
        <mc:Fallback>
          <p:sp>
            <p:nvSpPr>
              <p:cNvPr id="4" name="Content Placeholder 2"/>
              <p:cNvSpPr txBox="1">
                <a:spLocks noRot="1" noChangeAspect="1" noMove="1" noResize="1" noEditPoints="1" noAdjustHandles="1" noChangeArrowheads="1" noChangeShapeType="1" noTextEdit="1"/>
              </p:cNvSpPr>
              <p:nvPr/>
            </p:nvSpPr>
            <p:spPr>
              <a:xfrm>
                <a:off x="816758" y="1149158"/>
                <a:ext cx="10515600" cy="5405358"/>
              </a:xfrm>
              <a:prstGeom prst="rect">
                <a:avLst/>
              </a:prstGeom>
              <a:blipFill>
                <a:blip r:embed="rId2"/>
                <a:stretch>
                  <a:fillRect l="-812" t="-2483" b="-1580"/>
                </a:stretch>
              </a:blipFill>
            </p:spPr>
            <p:txBody>
              <a:bodyPr/>
              <a:lstStyle/>
              <a:p>
                <a:r>
                  <a:rPr lang="en-GB">
                    <a:noFill/>
                  </a:rPr>
                  <a:t> </a:t>
                </a:r>
              </a:p>
            </p:txBody>
          </p:sp>
        </mc:Fallback>
      </mc:AlternateContent>
      <p:pic>
        <p:nvPicPr>
          <p:cNvPr id="2" name="Picture 1"/>
          <p:cNvPicPr>
            <a:picLocks noChangeAspect="1"/>
          </p:cNvPicPr>
          <p:nvPr/>
        </p:nvPicPr>
        <p:blipFill>
          <a:blip r:embed="rId3"/>
          <a:stretch>
            <a:fillRect/>
          </a:stretch>
        </p:blipFill>
        <p:spPr>
          <a:xfrm>
            <a:off x="6248400" y="1642394"/>
            <a:ext cx="4845698" cy="3807333"/>
          </a:xfrm>
          <a:prstGeom prst="rect">
            <a:avLst/>
          </a:prstGeom>
        </p:spPr>
      </p:pic>
      <p:pic>
        <p:nvPicPr>
          <p:cNvPr id="7" name="Picture 6"/>
          <p:cNvPicPr>
            <a:picLocks noChangeAspect="1"/>
          </p:cNvPicPr>
          <p:nvPr/>
        </p:nvPicPr>
        <p:blipFill>
          <a:blip r:embed="rId4"/>
          <a:stretch>
            <a:fillRect/>
          </a:stretch>
        </p:blipFill>
        <p:spPr>
          <a:xfrm>
            <a:off x="1164443" y="1642394"/>
            <a:ext cx="4910115" cy="3857947"/>
          </a:xfrm>
          <a:prstGeom prst="rect">
            <a:avLst/>
          </a:prstGeom>
        </p:spPr>
      </p:pic>
      <p:sp>
        <p:nvSpPr>
          <p:cNvPr id="6" name="Title 1"/>
          <p:cNvSpPr>
            <a:spLocks noGrp="1"/>
          </p:cNvSpPr>
          <p:nvPr>
            <p:ph type="title"/>
          </p:nvPr>
        </p:nvSpPr>
        <p:spPr>
          <a:xfrm>
            <a:off x="247650" y="0"/>
            <a:ext cx="9333807" cy="790344"/>
          </a:xfrm>
        </p:spPr>
        <p:txBody>
          <a:bodyPr>
            <a:normAutofit/>
          </a:bodyPr>
          <a:lstStyle/>
          <a:p>
            <a:r>
              <a:rPr lang="en-GB" sz="4000" b="1" dirty="0" err="1">
                <a:solidFill>
                  <a:schemeClr val="bg1"/>
                </a:solidFill>
                <a:latin typeface="Aptos" panose="020B0004020202020204" pitchFamily="34" charset="0"/>
              </a:rPr>
              <a:t>Matérn</a:t>
            </a:r>
            <a:r>
              <a:rPr lang="en-GB" sz="4000" b="1" dirty="0">
                <a:solidFill>
                  <a:schemeClr val="bg1"/>
                </a:solidFill>
                <a:latin typeface="Aptos" panose="020B0004020202020204" pitchFamily="34" charset="0"/>
              </a:rPr>
              <a:t> covariance function</a:t>
            </a:r>
          </a:p>
        </p:txBody>
      </p:sp>
    </p:spTree>
    <p:extLst>
      <p:ext uri="{BB962C8B-B14F-4D97-AF65-F5344CB8AC3E}">
        <p14:creationId xmlns:p14="http://schemas.microsoft.com/office/powerpoint/2010/main" val="1949786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5798198" y="765562"/>
            <a:ext cx="5299787" cy="5898352"/>
          </a:xfrm>
          <a:prstGeom prst="rect">
            <a:avLst/>
          </a:prstGeom>
        </p:spPr>
      </p:pic>
      <p:sp>
        <p:nvSpPr>
          <p:cNvPr id="4" name="Title 1"/>
          <p:cNvSpPr>
            <a:spLocks noGrp="1"/>
          </p:cNvSpPr>
          <p:nvPr>
            <p:ph type="title"/>
          </p:nvPr>
        </p:nvSpPr>
        <p:spPr>
          <a:xfrm>
            <a:off x="302376" y="89289"/>
            <a:ext cx="10026534" cy="589565"/>
          </a:xfrm>
        </p:spPr>
        <p:txBody>
          <a:bodyPr>
            <a:normAutofit fontScale="90000"/>
          </a:bodyPr>
          <a:lstStyle/>
          <a:p>
            <a:r>
              <a:rPr lang="en-GB" sz="4000" b="1" dirty="0">
                <a:solidFill>
                  <a:schemeClr val="bg1"/>
                </a:solidFill>
                <a:latin typeface="Aptos" panose="020B0004020202020204" pitchFamily="34" charset="0"/>
              </a:rPr>
              <a:t>Empirical variogram model-fitting</a:t>
            </a:r>
          </a:p>
        </p:txBody>
      </p:sp>
      <p:sp>
        <p:nvSpPr>
          <p:cNvPr id="6" name="TextBox 5"/>
          <p:cNvSpPr txBox="1"/>
          <p:nvPr/>
        </p:nvSpPr>
        <p:spPr>
          <a:xfrm>
            <a:off x="533886" y="2761861"/>
            <a:ext cx="4647713" cy="1477328"/>
          </a:xfrm>
          <a:prstGeom prst="rect">
            <a:avLst/>
          </a:prstGeom>
          <a:noFill/>
        </p:spPr>
        <p:txBody>
          <a:bodyPr wrap="square" rtlCol="0">
            <a:spAutoFit/>
          </a:bodyPr>
          <a:lstStyle/>
          <a:p>
            <a:r>
              <a:rPr lang="en-GB" sz="2400" dirty="0">
                <a:latin typeface="Aptos" panose="020B0004020202020204" pitchFamily="34" charset="0"/>
              </a:rPr>
              <a:t>An example </a:t>
            </a:r>
            <a:r>
              <a:rPr lang="en-GB" sz="2400" dirty="0" err="1">
                <a:latin typeface="Aptos" panose="020B0004020202020204" pitchFamily="34" charset="0"/>
              </a:rPr>
              <a:t>variogram</a:t>
            </a:r>
            <a:r>
              <a:rPr lang="en-GB" sz="2400" dirty="0">
                <a:latin typeface="Aptos" panose="020B0004020202020204" pitchFamily="34" charset="0"/>
              </a:rPr>
              <a:t> illustrating the sill (</a:t>
            </a:r>
            <a:r>
              <a:rPr lang="en-GB" sz="2400" dirty="0">
                <a:solidFill>
                  <a:schemeClr val="accent6">
                    <a:lumMod val="75000"/>
                  </a:schemeClr>
                </a:solidFill>
                <a:latin typeface="Aptos" panose="020B0004020202020204" pitchFamily="34" charset="0"/>
              </a:rPr>
              <a:t>green line</a:t>
            </a:r>
            <a:r>
              <a:rPr lang="en-GB" sz="2400" dirty="0">
                <a:latin typeface="Aptos" panose="020B0004020202020204" pitchFamily="34" charset="0"/>
              </a:rPr>
              <a:t>), nugget (</a:t>
            </a:r>
            <a:r>
              <a:rPr lang="en-GB" sz="2400" dirty="0">
                <a:solidFill>
                  <a:schemeClr val="accent1">
                    <a:lumMod val="75000"/>
                  </a:schemeClr>
                </a:solidFill>
                <a:latin typeface="Aptos" panose="020B0004020202020204" pitchFamily="34" charset="0"/>
              </a:rPr>
              <a:t>blue line</a:t>
            </a:r>
            <a:r>
              <a:rPr lang="en-GB" sz="2400" dirty="0">
                <a:latin typeface="Aptos" panose="020B0004020202020204" pitchFamily="34" charset="0"/>
              </a:rPr>
              <a:t>) and the range (</a:t>
            </a:r>
            <a:r>
              <a:rPr lang="en-GB" sz="2400" dirty="0">
                <a:solidFill>
                  <a:srgbClr val="FF0000"/>
                </a:solidFill>
                <a:latin typeface="Aptos" panose="020B0004020202020204" pitchFamily="34" charset="0"/>
              </a:rPr>
              <a:t>red line</a:t>
            </a:r>
            <a:r>
              <a:rPr lang="en-GB" sz="2400" dirty="0">
                <a:latin typeface="Aptos" panose="020B0004020202020204" pitchFamily="34" charset="0"/>
              </a:rPr>
              <a:t>)</a:t>
            </a:r>
          </a:p>
          <a:p>
            <a:endParaRPr lang="en-GB" dirty="0"/>
          </a:p>
        </p:txBody>
      </p:sp>
      <p:cxnSp>
        <p:nvCxnSpPr>
          <p:cNvPr id="8" name="Straight Arrow Connector 7"/>
          <p:cNvCxnSpPr/>
          <p:nvPr/>
        </p:nvCxnSpPr>
        <p:spPr>
          <a:xfrm>
            <a:off x="9647854" y="3739629"/>
            <a:ext cx="0" cy="157882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9647854" y="4385387"/>
            <a:ext cx="979714" cy="369332"/>
          </a:xfrm>
          <a:prstGeom prst="rect">
            <a:avLst/>
          </a:prstGeom>
          <a:noFill/>
        </p:spPr>
        <p:txBody>
          <a:bodyPr wrap="square" rtlCol="0">
            <a:spAutoFit/>
          </a:bodyPr>
          <a:lstStyle/>
          <a:p>
            <a:r>
              <a:rPr lang="en-GB" dirty="0"/>
              <a:t>nugget</a:t>
            </a:r>
          </a:p>
        </p:txBody>
      </p:sp>
      <p:cxnSp>
        <p:nvCxnSpPr>
          <p:cNvPr id="10" name="Straight Arrow Connector 9"/>
          <p:cNvCxnSpPr/>
          <p:nvPr/>
        </p:nvCxnSpPr>
        <p:spPr>
          <a:xfrm flipH="1">
            <a:off x="10673636" y="2761861"/>
            <a:ext cx="24299" cy="255658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0697935" y="3670823"/>
            <a:ext cx="617764" cy="369332"/>
          </a:xfrm>
          <a:prstGeom prst="rect">
            <a:avLst/>
          </a:prstGeom>
          <a:noFill/>
        </p:spPr>
        <p:txBody>
          <a:bodyPr wrap="square" rtlCol="0">
            <a:spAutoFit/>
          </a:bodyPr>
          <a:lstStyle/>
          <a:p>
            <a:r>
              <a:rPr lang="en-GB" dirty="0"/>
              <a:t>sill</a:t>
            </a:r>
          </a:p>
        </p:txBody>
      </p:sp>
      <p:sp>
        <p:nvSpPr>
          <p:cNvPr id="16" name="TextBox 15"/>
          <p:cNvSpPr txBox="1"/>
          <p:nvPr/>
        </p:nvSpPr>
        <p:spPr>
          <a:xfrm>
            <a:off x="9647854" y="2976074"/>
            <a:ext cx="979714" cy="646331"/>
          </a:xfrm>
          <a:prstGeom prst="rect">
            <a:avLst/>
          </a:prstGeom>
          <a:noFill/>
        </p:spPr>
        <p:txBody>
          <a:bodyPr wrap="square" rtlCol="0">
            <a:spAutoFit/>
          </a:bodyPr>
          <a:lstStyle/>
          <a:p>
            <a:r>
              <a:rPr lang="en-GB" dirty="0"/>
              <a:t>partial sill</a:t>
            </a:r>
          </a:p>
        </p:txBody>
      </p:sp>
      <p:cxnSp>
        <p:nvCxnSpPr>
          <p:cNvPr id="17" name="Straight Arrow Connector 16"/>
          <p:cNvCxnSpPr/>
          <p:nvPr/>
        </p:nvCxnSpPr>
        <p:spPr>
          <a:xfrm>
            <a:off x="9647854" y="2761861"/>
            <a:ext cx="0" cy="952877"/>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7125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650" y="0"/>
            <a:ext cx="10117975" cy="798657"/>
          </a:xfrm>
        </p:spPr>
        <p:txBody>
          <a:bodyPr>
            <a:normAutofit/>
          </a:bodyPr>
          <a:lstStyle/>
          <a:p>
            <a:r>
              <a:rPr lang="en-GB" sz="4000" b="1" dirty="0">
                <a:solidFill>
                  <a:schemeClr val="bg1"/>
                </a:solidFill>
                <a:latin typeface="Aptos" panose="020B0004020202020204" pitchFamily="34" charset="0"/>
              </a:rPr>
              <a:t>Empirical </a:t>
            </a:r>
            <a:r>
              <a:rPr lang="en-GB" sz="4000" b="1" dirty="0" err="1">
                <a:solidFill>
                  <a:schemeClr val="bg1"/>
                </a:solidFill>
                <a:latin typeface="Aptos" panose="020B0004020202020204" pitchFamily="34" charset="0"/>
              </a:rPr>
              <a:t>variogram</a:t>
            </a:r>
            <a:r>
              <a:rPr lang="en-GB" sz="4000" b="1" dirty="0">
                <a:solidFill>
                  <a:schemeClr val="bg1"/>
                </a:solidFill>
                <a:latin typeface="Aptos" panose="020B0004020202020204" pitchFamily="34" charset="0"/>
              </a:rPr>
              <a:t> model-fitting</a:t>
            </a:r>
          </a:p>
        </p:txBody>
      </p:sp>
      <p:sp>
        <p:nvSpPr>
          <p:cNvPr id="3" name="Content Placeholder 2"/>
          <p:cNvSpPr>
            <a:spLocks noGrp="1"/>
          </p:cNvSpPr>
          <p:nvPr>
            <p:ph idx="1"/>
          </p:nvPr>
        </p:nvSpPr>
        <p:spPr>
          <a:xfrm>
            <a:off x="704850" y="1389380"/>
            <a:ext cx="10515600" cy="4351338"/>
          </a:xfrm>
        </p:spPr>
        <p:txBody>
          <a:bodyPr>
            <a:normAutofit lnSpcReduction="10000"/>
          </a:bodyPr>
          <a:lstStyle/>
          <a:p>
            <a:r>
              <a:rPr lang="en-GB" dirty="0">
                <a:latin typeface="Aptos" panose="020B0004020202020204" pitchFamily="34" charset="0"/>
              </a:rPr>
              <a:t>As we noted previously, the </a:t>
            </a:r>
            <a:r>
              <a:rPr lang="en-GB" dirty="0" err="1">
                <a:latin typeface="Aptos" panose="020B0004020202020204" pitchFamily="34" charset="0"/>
              </a:rPr>
              <a:t>variogram</a:t>
            </a:r>
            <a:r>
              <a:rPr lang="en-GB" dirty="0">
                <a:latin typeface="Aptos" panose="020B0004020202020204" pitchFamily="34" charset="0"/>
              </a:rPr>
              <a:t> model can be automatically determined once the form of the covariance/correlation function is known</a:t>
            </a:r>
          </a:p>
          <a:p>
            <a:endParaRPr lang="en-GB" dirty="0">
              <a:latin typeface="Aptos" panose="020B0004020202020204" pitchFamily="34" charset="0"/>
            </a:endParaRPr>
          </a:p>
          <a:p>
            <a:r>
              <a:rPr lang="en-GB" dirty="0">
                <a:latin typeface="Aptos" panose="020B0004020202020204" pitchFamily="34" charset="0"/>
              </a:rPr>
              <a:t>In practice, however, the variogram is usually starting point of spatial analysis involving point-referenced data </a:t>
            </a:r>
            <a:r>
              <a:rPr lang="en-GB" sz="2200" dirty="0">
                <a:latin typeface="Aptos" panose="020B0004020202020204" pitchFamily="34" charset="0"/>
              </a:rPr>
              <a:t>(variograms use pairwise differences and do not depend on the unknown mean of the process)</a:t>
            </a:r>
          </a:p>
          <a:p>
            <a:endParaRPr lang="en-GB" dirty="0">
              <a:latin typeface="Aptos" panose="020B0004020202020204" pitchFamily="34" charset="0"/>
            </a:endParaRPr>
          </a:p>
          <a:p>
            <a:r>
              <a:rPr lang="en-GB" dirty="0">
                <a:latin typeface="Aptos" panose="020B0004020202020204" pitchFamily="34" charset="0"/>
              </a:rPr>
              <a:t>The (semi)</a:t>
            </a:r>
            <a:r>
              <a:rPr lang="en-GB" dirty="0" err="1">
                <a:latin typeface="Aptos" panose="020B0004020202020204" pitchFamily="34" charset="0"/>
              </a:rPr>
              <a:t>variogram</a:t>
            </a:r>
            <a:r>
              <a:rPr lang="en-GB" dirty="0">
                <a:latin typeface="Aptos" panose="020B0004020202020204" pitchFamily="34" charset="0"/>
              </a:rPr>
              <a:t> computed from observed data is called the </a:t>
            </a:r>
            <a:r>
              <a:rPr lang="en-GB" i="1" dirty="0">
                <a:latin typeface="Aptos" panose="020B0004020202020204" pitchFamily="34" charset="0"/>
              </a:rPr>
              <a:t>empirical (semi)</a:t>
            </a:r>
            <a:r>
              <a:rPr lang="en-GB" i="1" dirty="0" err="1">
                <a:latin typeface="Aptos" panose="020B0004020202020204" pitchFamily="34" charset="0"/>
              </a:rPr>
              <a:t>variogram</a:t>
            </a:r>
            <a:r>
              <a:rPr lang="en-GB" i="1" dirty="0">
                <a:latin typeface="Aptos" panose="020B0004020202020204" pitchFamily="34" charset="0"/>
              </a:rPr>
              <a:t> </a:t>
            </a:r>
          </a:p>
          <a:p>
            <a:endParaRPr lang="en-GB" dirty="0"/>
          </a:p>
          <a:p>
            <a:endParaRPr lang="en-GB" dirty="0"/>
          </a:p>
        </p:txBody>
      </p:sp>
    </p:spTree>
    <p:extLst>
      <p:ext uri="{BB962C8B-B14F-4D97-AF65-F5344CB8AC3E}">
        <p14:creationId xmlns:p14="http://schemas.microsoft.com/office/powerpoint/2010/main" val="1769372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302588"/>
                <a:ext cx="10515600" cy="5032375"/>
              </a:xfrm>
            </p:spPr>
            <p:txBody>
              <a:bodyPr>
                <a:normAutofit fontScale="92500" lnSpcReduction="10000"/>
              </a:bodyPr>
              <a:lstStyle/>
              <a:p>
                <a:r>
                  <a:rPr lang="en-GB" dirty="0">
                    <a:latin typeface="Aptos" panose="020B0004020202020204" pitchFamily="34" charset="0"/>
                  </a:rPr>
                  <a:t>Recall that the </a:t>
                </a:r>
                <a:r>
                  <a:rPr lang="en-GB" dirty="0" err="1">
                    <a:latin typeface="Aptos" panose="020B0004020202020204" pitchFamily="34" charset="0"/>
                  </a:rPr>
                  <a:t>variogram</a:t>
                </a:r>
                <a:r>
                  <a:rPr lang="en-GB" dirty="0">
                    <a:latin typeface="Aptos" panose="020B0004020202020204" pitchFamily="34" charset="0"/>
                  </a:rPr>
                  <a:t> is </a:t>
                </a:r>
                <a14:m>
                  <m:oMath xmlns:m="http://schemas.openxmlformats.org/officeDocument/2006/math">
                    <m:r>
                      <m:rPr>
                        <m:sty m:val="p"/>
                      </m:rPr>
                      <a:rPr lang="en-GB">
                        <a:latin typeface="Cambria Math" panose="02040503050406030204" pitchFamily="18" charset="0"/>
                      </a:rPr>
                      <m:t>Var</m:t>
                    </m:r>
                    <m:d>
                      <m:dPr>
                        <m:ctrlPr>
                          <a:rPr lang="en-GB" i="1">
                            <a:latin typeface="Cambria Math" panose="02040503050406030204" pitchFamily="18" charset="0"/>
                          </a:rPr>
                        </m:ctrlPr>
                      </m:dPr>
                      <m:e>
                        <m:r>
                          <a:rPr lang="en-GB" i="1">
                            <a:latin typeface="Cambria Math" panose="02040503050406030204" pitchFamily="18" charset="0"/>
                          </a:rPr>
                          <m:t>𝑌</m:t>
                        </m:r>
                        <m:d>
                          <m:dPr>
                            <m:ctrlPr>
                              <a:rPr lang="en-GB" b="1" i="1">
                                <a:latin typeface="Cambria Math" panose="02040503050406030204" pitchFamily="18" charset="0"/>
                              </a:rPr>
                            </m:ctrlPr>
                          </m:dPr>
                          <m:e>
                            <m:r>
                              <a:rPr lang="en-GB" b="1" i="1">
                                <a:latin typeface="Cambria Math" panose="02040503050406030204" pitchFamily="18" charset="0"/>
                              </a:rPr>
                              <m:t>𝒔</m:t>
                            </m:r>
                            <m:r>
                              <a:rPr lang="en-GB" i="1">
                                <a:latin typeface="Cambria Math" panose="02040503050406030204" pitchFamily="18" charset="0"/>
                              </a:rPr>
                              <m:t>+</m:t>
                            </m:r>
                            <m:r>
                              <a:rPr lang="en-GB" b="1" i="1">
                                <a:latin typeface="Cambria Math" panose="02040503050406030204" pitchFamily="18" charset="0"/>
                              </a:rPr>
                              <m:t>𝒉</m:t>
                            </m:r>
                          </m:e>
                        </m:d>
                        <m:r>
                          <a:rPr lang="en-GB" i="1">
                            <a:latin typeface="Cambria Math" panose="02040503050406030204" pitchFamily="18" charset="0"/>
                          </a:rPr>
                          <m:t>−</m:t>
                        </m:r>
                        <m:r>
                          <a:rPr lang="en-GB" i="1">
                            <a:latin typeface="Cambria Math" panose="02040503050406030204" pitchFamily="18" charset="0"/>
                          </a:rPr>
                          <m:t>𝑌</m:t>
                        </m:r>
                        <m:d>
                          <m:dPr>
                            <m:ctrlPr>
                              <a:rPr lang="en-GB" b="1" i="1">
                                <a:latin typeface="Cambria Math" panose="02040503050406030204" pitchFamily="18" charset="0"/>
                              </a:rPr>
                            </m:ctrlPr>
                          </m:dPr>
                          <m:e>
                            <m:r>
                              <a:rPr lang="en-GB" b="1" i="1">
                                <a:latin typeface="Cambria Math" panose="02040503050406030204" pitchFamily="18" charset="0"/>
                              </a:rPr>
                              <m:t>𝒔</m:t>
                            </m:r>
                          </m:e>
                        </m:d>
                      </m:e>
                    </m:d>
                    <m:r>
                      <a:rPr lang="en-GB" b="1" i="1">
                        <a:latin typeface="Cambria Math" panose="02040503050406030204" pitchFamily="18" charset="0"/>
                      </a:rPr>
                      <m:t>=</m:t>
                    </m:r>
                    <m:r>
                      <a:rPr lang="en-GB">
                        <a:latin typeface="Cambria Math" panose="02040503050406030204" pitchFamily="18" charset="0"/>
                      </a:rPr>
                      <m:t>2</m:t>
                    </m:r>
                    <m:r>
                      <a:rPr lang="en-GB" i="1">
                        <a:latin typeface="Cambria Math" panose="02040503050406030204" pitchFamily="18" charset="0"/>
                      </a:rPr>
                      <m:t>𝛾</m:t>
                    </m:r>
                    <m:d>
                      <m:dPr>
                        <m:ctrlPr>
                          <a:rPr lang="en-GB" b="1" i="1">
                            <a:latin typeface="Cambria Math" panose="02040503050406030204" pitchFamily="18" charset="0"/>
                          </a:rPr>
                        </m:ctrlPr>
                      </m:dPr>
                      <m:e>
                        <m:r>
                          <a:rPr lang="en-GB" b="1" i="1">
                            <a:latin typeface="Cambria Math" panose="02040503050406030204" pitchFamily="18" charset="0"/>
                          </a:rPr>
                          <m:t>𝒉</m:t>
                        </m:r>
                      </m:e>
                    </m:d>
                  </m:oMath>
                </a14:m>
                <a:r>
                  <a:rPr lang="en-GB" dirty="0">
                    <a:latin typeface="Aptos" panose="020B0004020202020204" pitchFamily="34" charset="0"/>
                  </a:rPr>
                  <a:t> and that  </a:t>
                </a:r>
                <a14:m>
                  <m:oMath xmlns:m="http://schemas.openxmlformats.org/officeDocument/2006/math">
                    <m:r>
                      <a:rPr lang="en-GB" i="1">
                        <a:latin typeface="Cambria Math" panose="02040503050406030204" pitchFamily="18" charset="0"/>
                      </a:rPr>
                      <m:t>𝛾</m:t>
                    </m:r>
                    <m:d>
                      <m:dPr>
                        <m:ctrlPr>
                          <a:rPr lang="en-GB" b="1" i="1">
                            <a:latin typeface="Cambria Math" panose="02040503050406030204" pitchFamily="18" charset="0"/>
                          </a:rPr>
                        </m:ctrlPr>
                      </m:dPr>
                      <m:e>
                        <m:r>
                          <a:rPr lang="en-GB" b="1" i="1">
                            <a:latin typeface="Cambria Math" panose="02040503050406030204" pitchFamily="18" charset="0"/>
                          </a:rPr>
                          <m:t>𝒉</m:t>
                        </m:r>
                      </m:e>
                    </m:d>
                    <m:r>
                      <a:rPr lang="en-GB" b="1"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m:rPr>
                        <m:sty m:val="p"/>
                      </m:rPr>
                      <a:rPr lang="en-GB">
                        <a:latin typeface="Cambria Math" panose="02040503050406030204" pitchFamily="18" charset="0"/>
                      </a:rPr>
                      <m:t>Var</m:t>
                    </m:r>
                    <m:d>
                      <m:dPr>
                        <m:ctrlPr>
                          <a:rPr lang="en-GB" i="1">
                            <a:latin typeface="Cambria Math" panose="02040503050406030204" pitchFamily="18" charset="0"/>
                          </a:rPr>
                        </m:ctrlPr>
                      </m:dPr>
                      <m:e>
                        <m:r>
                          <a:rPr lang="en-GB" i="1">
                            <a:latin typeface="Cambria Math" panose="02040503050406030204" pitchFamily="18" charset="0"/>
                          </a:rPr>
                          <m:t>𝑌</m:t>
                        </m:r>
                        <m:d>
                          <m:dPr>
                            <m:ctrlPr>
                              <a:rPr lang="en-GB" b="1" i="1">
                                <a:latin typeface="Cambria Math" panose="02040503050406030204" pitchFamily="18" charset="0"/>
                              </a:rPr>
                            </m:ctrlPr>
                          </m:dPr>
                          <m:e>
                            <m:r>
                              <a:rPr lang="en-GB" b="1" i="1">
                                <a:latin typeface="Cambria Math" panose="02040503050406030204" pitchFamily="18" charset="0"/>
                              </a:rPr>
                              <m:t>𝒔</m:t>
                            </m:r>
                            <m:r>
                              <a:rPr lang="en-GB" i="1">
                                <a:latin typeface="Cambria Math" panose="02040503050406030204" pitchFamily="18" charset="0"/>
                              </a:rPr>
                              <m:t>+</m:t>
                            </m:r>
                            <m:r>
                              <a:rPr lang="en-GB" b="1" i="1">
                                <a:latin typeface="Cambria Math" panose="02040503050406030204" pitchFamily="18" charset="0"/>
                              </a:rPr>
                              <m:t>𝒉</m:t>
                            </m:r>
                          </m:e>
                        </m:d>
                        <m:r>
                          <a:rPr lang="en-GB" i="1">
                            <a:latin typeface="Cambria Math" panose="02040503050406030204" pitchFamily="18" charset="0"/>
                          </a:rPr>
                          <m:t>−</m:t>
                        </m:r>
                        <m:r>
                          <a:rPr lang="en-GB" i="1">
                            <a:latin typeface="Cambria Math" panose="02040503050406030204" pitchFamily="18" charset="0"/>
                          </a:rPr>
                          <m:t>𝑌</m:t>
                        </m:r>
                        <m:d>
                          <m:dPr>
                            <m:ctrlPr>
                              <a:rPr lang="en-GB" b="1" i="1">
                                <a:latin typeface="Cambria Math" panose="02040503050406030204" pitchFamily="18" charset="0"/>
                              </a:rPr>
                            </m:ctrlPr>
                          </m:dPr>
                          <m:e>
                            <m:r>
                              <a:rPr lang="en-GB" b="1" i="1">
                                <a:latin typeface="Cambria Math" panose="02040503050406030204" pitchFamily="18" charset="0"/>
                              </a:rPr>
                              <m:t>𝒔</m:t>
                            </m:r>
                          </m:e>
                        </m:d>
                      </m:e>
                    </m:d>
                  </m:oMath>
                </a14:m>
                <a:r>
                  <a:rPr lang="en-GB" dirty="0">
                    <a:latin typeface="Aptos" panose="020B0004020202020204" pitchFamily="34" charset="0"/>
                  </a:rPr>
                  <a:t> is the </a:t>
                </a:r>
                <a:r>
                  <a:rPr lang="en-GB" dirty="0" err="1">
                    <a:latin typeface="Aptos" panose="020B0004020202020204" pitchFamily="34" charset="0"/>
                  </a:rPr>
                  <a:t>semivariogram</a:t>
                </a:r>
                <a:endParaRPr lang="en-GB" dirty="0">
                  <a:latin typeface="Aptos" panose="020B0004020202020204" pitchFamily="34" charset="0"/>
                </a:endParaRPr>
              </a:p>
              <a:p>
                <a:r>
                  <a:rPr lang="en-GB" dirty="0">
                    <a:latin typeface="Aptos" panose="020B0004020202020204" pitchFamily="34" charset="0"/>
                  </a:rPr>
                  <a:t>This can be written as </a:t>
                </a:r>
                <a14:m>
                  <m:oMath xmlns:m="http://schemas.openxmlformats.org/officeDocument/2006/math">
                    <m:r>
                      <a:rPr lang="en-GB" i="1">
                        <a:latin typeface="Cambria Math" panose="02040503050406030204" pitchFamily="18" charset="0"/>
                      </a:rPr>
                      <m:t>𝛾</m:t>
                    </m:r>
                    <m:d>
                      <m:dPr>
                        <m:ctrlPr>
                          <a:rPr lang="en-GB" b="1" i="1">
                            <a:latin typeface="Cambria Math" panose="02040503050406030204" pitchFamily="18" charset="0"/>
                          </a:rPr>
                        </m:ctrlPr>
                      </m:dPr>
                      <m:e>
                        <m:r>
                          <a:rPr lang="en-GB" b="1" i="1">
                            <a:latin typeface="Cambria Math" panose="02040503050406030204" pitchFamily="18" charset="0"/>
                          </a:rPr>
                          <m:t>𝒉</m:t>
                        </m:r>
                      </m:e>
                    </m:d>
                    <m:r>
                      <a:rPr lang="en-GB" b="1"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r>
                      <a:rPr lang="en-GB" b="0" i="1" smtClean="0">
                        <a:latin typeface="Cambria Math" panose="02040503050406030204" pitchFamily="18" charset="0"/>
                      </a:rPr>
                      <m:t>𝐸</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𝑌</m:t>
                            </m:r>
                            <m:d>
                              <m:dPr>
                                <m:ctrlPr>
                                  <a:rPr lang="en-GB" b="1" i="1">
                                    <a:latin typeface="Cambria Math" panose="02040503050406030204" pitchFamily="18" charset="0"/>
                                  </a:rPr>
                                </m:ctrlPr>
                              </m:dPr>
                              <m:e>
                                <m:r>
                                  <a:rPr lang="en-GB" b="1" i="1">
                                    <a:latin typeface="Cambria Math" panose="02040503050406030204" pitchFamily="18" charset="0"/>
                                  </a:rPr>
                                  <m:t>𝒔</m:t>
                                </m:r>
                                <m:r>
                                  <a:rPr lang="en-GB" i="1">
                                    <a:latin typeface="Cambria Math" panose="02040503050406030204" pitchFamily="18" charset="0"/>
                                  </a:rPr>
                                  <m:t>+</m:t>
                                </m:r>
                                <m:r>
                                  <a:rPr lang="en-GB" b="1" i="1">
                                    <a:latin typeface="Cambria Math" panose="02040503050406030204" pitchFamily="18" charset="0"/>
                                  </a:rPr>
                                  <m:t>𝒉</m:t>
                                </m:r>
                              </m:e>
                            </m:d>
                            <m:r>
                              <a:rPr lang="en-GB" i="1">
                                <a:latin typeface="Cambria Math" panose="02040503050406030204" pitchFamily="18" charset="0"/>
                              </a:rPr>
                              <m:t>−</m:t>
                            </m:r>
                            <m:r>
                              <a:rPr lang="en-GB" i="1">
                                <a:latin typeface="Cambria Math" panose="02040503050406030204" pitchFamily="18" charset="0"/>
                              </a:rPr>
                              <m:t>𝑌</m:t>
                            </m:r>
                            <m:d>
                              <m:dPr>
                                <m:ctrlPr>
                                  <a:rPr lang="en-GB" b="1" i="1">
                                    <a:latin typeface="Cambria Math" panose="02040503050406030204" pitchFamily="18" charset="0"/>
                                  </a:rPr>
                                </m:ctrlPr>
                              </m:dPr>
                              <m:e>
                                <m:r>
                                  <a:rPr lang="en-GB" b="1" i="1">
                                    <a:latin typeface="Cambria Math" panose="02040503050406030204" pitchFamily="18" charset="0"/>
                                  </a:rPr>
                                  <m:t>𝒔</m:t>
                                </m:r>
                              </m:e>
                            </m:d>
                          </m:e>
                        </m:d>
                      </m:e>
                      <m:sup>
                        <m:r>
                          <a:rPr lang="en-GB" b="0" i="1" smtClean="0">
                            <a:latin typeface="Cambria Math" panose="02040503050406030204" pitchFamily="18" charset="0"/>
                          </a:rPr>
                          <m:t>2</m:t>
                        </m:r>
                      </m:sup>
                    </m:sSup>
                  </m:oMath>
                </a14:m>
                <a:endParaRPr lang="en-GB" dirty="0">
                  <a:latin typeface="Aptos" panose="020B0004020202020204" pitchFamily="34" charset="0"/>
                </a:endParaRPr>
              </a:p>
              <a:p>
                <a:r>
                  <a:rPr lang="en-GB" dirty="0">
                    <a:latin typeface="Aptos" panose="020B0004020202020204" pitchFamily="34" charset="0"/>
                  </a:rPr>
                  <a:t>Hence, the empirical </a:t>
                </a:r>
                <a:r>
                  <a:rPr lang="en-GB" dirty="0" err="1">
                    <a:latin typeface="Aptos" panose="020B0004020202020204" pitchFamily="34" charset="0"/>
                  </a:rPr>
                  <a:t>semivariogram</a:t>
                </a:r>
                <a:r>
                  <a:rPr lang="en-GB" dirty="0">
                    <a:latin typeface="Aptos" panose="020B0004020202020204" pitchFamily="34" charset="0"/>
                  </a:rPr>
                  <a:t> is  </a:t>
                </a:r>
              </a:p>
              <a:p>
                <a:pPr marL="0" indent="0">
                  <a:buNone/>
                </a:pPr>
                <a:r>
                  <a:rPr lang="en-GB" b="0" dirty="0">
                    <a:latin typeface="Aptos" panose="020B0004020202020204" pitchFamily="34" charset="0"/>
                  </a:rPr>
                  <a:t>                                </a:t>
                </a: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𝛾</m:t>
                        </m:r>
                      </m:e>
                    </m:acc>
                    <m:d>
                      <m:dPr>
                        <m:ctrlPr>
                          <a:rPr lang="en-GB" b="0" i="1" smtClean="0">
                            <a:latin typeface="Cambria Math" panose="02040503050406030204" pitchFamily="18" charset="0"/>
                          </a:rPr>
                        </m:ctrlPr>
                      </m:dPr>
                      <m:e>
                        <m:r>
                          <a:rPr lang="en-GB" b="0" i="1" smtClean="0">
                            <a:latin typeface="Cambria Math" panose="02040503050406030204" pitchFamily="18" charset="0"/>
                          </a:rPr>
                          <m:t>𝑑</m:t>
                        </m:r>
                      </m:e>
                    </m:d>
                    <m:r>
                      <a:rPr lang="en-GB" b="0" i="1" smtClean="0">
                        <a:latin typeface="Cambria Math" panose="02040503050406030204" pitchFamily="18" charset="0"/>
                      </a:rPr>
                      <m:t>=</m:t>
                    </m:r>
                    <m:box>
                      <m:boxPr>
                        <m:ctrlPr>
                          <a:rPr lang="en-GB" b="0" i="1" smtClean="0">
                            <a:latin typeface="Cambria Math" panose="02040503050406030204" pitchFamily="18" charset="0"/>
                          </a:rPr>
                        </m:ctrlPr>
                      </m:box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r>
                              <a:rPr lang="en-GB" b="0" i="1" smtClean="0">
                                <a:latin typeface="Cambria Math" panose="02040503050406030204" pitchFamily="18" charset="0"/>
                              </a:rPr>
                              <m:t>𝑁</m:t>
                            </m:r>
                            <m:d>
                              <m:dPr>
                                <m:ctrlPr>
                                  <a:rPr lang="en-GB" b="0" i="1" smtClean="0">
                                    <a:latin typeface="Cambria Math" panose="02040503050406030204" pitchFamily="18" charset="0"/>
                                  </a:rPr>
                                </m:ctrlPr>
                              </m:dPr>
                              <m:e>
                                <m:r>
                                  <a:rPr lang="en-GB" b="0" i="1" smtClean="0">
                                    <a:latin typeface="Cambria Math" panose="02040503050406030204" pitchFamily="18" charset="0"/>
                                  </a:rPr>
                                  <m:t>𝑑</m:t>
                                </m:r>
                              </m:e>
                            </m:d>
                            <m:r>
                              <a:rPr lang="en-GB" b="0" i="1" smtClean="0">
                                <a:latin typeface="Cambria Math" panose="02040503050406030204" pitchFamily="18" charset="0"/>
                              </a:rPr>
                              <m:t>|</m:t>
                            </m:r>
                          </m:den>
                        </m:f>
                      </m:e>
                    </m:box>
                    <m:nary>
                      <m:naryPr>
                        <m:chr m:val="∑"/>
                        <m:supHide m:val="on"/>
                        <m:ctrlPr>
                          <a:rPr lang="en-GB" b="1" i="1" smtClean="0">
                            <a:latin typeface="Cambria Math" panose="02040503050406030204" pitchFamily="18" charset="0"/>
                          </a:rPr>
                        </m:ctrlPr>
                      </m:naryPr>
                      <m:sub>
                        <m:sSub>
                          <m:sSubPr>
                            <m:ctrlPr>
                              <a:rPr lang="en-GB" b="1" i="1" smtClean="0">
                                <a:latin typeface="Cambria Math" panose="02040503050406030204" pitchFamily="18" charset="0"/>
                              </a:rPr>
                            </m:ctrlPr>
                          </m:sSubPr>
                          <m:e>
                            <m:r>
                              <m:rPr>
                                <m:brk m:alnAt="7"/>
                              </m:rPr>
                              <a:rPr lang="en-GB" b="1" i="1" smtClean="0">
                                <a:latin typeface="Cambria Math" panose="02040503050406030204" pitchFamily="18" charset="0"/>
                              </a:rPr>
                              <m:t>𝒔</m:t>
                            </m:r>
                          </m:e>
                          <m:sub>
                            <m:r>
                              <m:rPr>
                                <m:brk m:alnAt="7"/>
                              </m:rPr>
                              <a:rPr lang="en-GB" b="0" i="1" smtClean="0">
                                <a:latin typeface="Cambria Math" panose="02040503050406030204" pitchFamily="18" charset="0"/>
                              </a:rPr>
                              <m:t>𝑖</m:t>
                            </m:r>
                          </m:sub>
                        </m:sSub>
                        <m:r>
                          <m:rPr>
                            <m:brk m:alnAt="7"/>
                          </m:rPr>
                          <a:rPr lang="en-GB" b="0" i="1" smtClean="0">
                            <a:latin typeface="Cambria Math" panose="02040503050406030204" pitchFamily="18" charset="0"/>
                          </a:rPr>
                          <m:t>,</m:t>
                        </m:r>
                        <m:sSub>
                          <m:sSubPr>
                            <m:ctrlPr>
                              <a:rPr lang="en-GB" b="1" i="1" smtClean="0">
                                <a:latin typeface="Cambria Math" panose="02040503050406030204" pitchFamily="18" charset="0"/>
                              </a:rPr>
                            </m:ctrlPr>
                          </m:sSubPr>
                          <m:e>
                            <m:r>
                              <m:rPr>
                                <m:brk m:alnAt="7"/>
                              </m:rPr>
                              <a:rPr lang="en-GB" b="1" i="1" smtClean="0">
                                <a:latin typeface="Cambria Math" panose="02040503050406030204" pitchFamily="18" charset="0"/>
                              </a:rPr>
                              <m:t>𝒔</m:t>
                            </m:r>
                          </m:e>
                          <m:sub>
                            <m:r>
                              <m:rPr>
                                <m:brk m:alnAt="7"/>
                              </m:rPr>
                              <a:rPr lang="en-GB" b="0" i="1" smtClean="0">
                                <a:latin typeface="Cambria Math" panose="02040503050406030204" pitchFamily="18" charset="0"/>
                              </a:rPr>
                              <m:t>𝑗</m:t>
                            </m:r>
                          </m:sub>
                        </m:sSub>
                        <m:r>
                          <m:rPr>
                            <m:brk m:alnAt="7"/>
                          </m:rP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r>
                          <a:rPr lang="en-GB" b="0" i="1" smtClean="0">
                            <a:latin typeface="Cambria Math" panose="02040503050406030204" pitchFamily="18" charset="0"/>
                          </a:rPr>
                          <m:t>𝑑</m:t>
                        </m:r>
                        <m:r>
                          <a:rPr lang="en-GB" b="0" i="1" smtClean="0">
                            <a:latin typeface="Cambria Math" panose="02040503050406030204" pitchFamily="18" charset="0"/>
                          </a:rPr>
                          <m:t>)</m:t>
                        </m:r>
                      </m:sub>
                      <m:sup/>
                      <m:e>
                        <m:sSup>
                          <m:sSupPr>
                            <m:ctrlPr>
                              <a:rPr lang="en-GB" b="0" i="1" smtClean="0">
                                <a:latin typeface="Cambria Math" panose="02040503050406030204" pitchFamily="18" charset="0"/>
                              </a:rPr>
                            </m:ctrlPr>
                          </m:sSupPr>
                          <m:e>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𝑌</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e>
                                </m:d>
                                <m:r>
                                  <a:rPr lang="en-GB" b="0" i="1" smtClean="0">
                                    <a:latin typeface="Cambria Math" panose="02040503050406030204" pitchFamily="18" charset="0"/>
                                  </a:rPr>
                                  <m:t>−</m:t>
                                </m:r>
                                <m:r>
                                  <a:rPr lang="en-GB" b="0" i="1" smtClean="0">
                                    <a:latin typeface="Cambria Math" panose="02040503050406030204" pitchFamily="18" charset="0"/>
                                  </a:rPr>
                                  <m:t>𝑌</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𝑗</m:t>
                                        </m:r>
                                      </m:sub>
                                    </m:sSub>
                                  </m:e>
                                </m:d>
                              </m:e>
                            </m:d>
                          </m:e>
                          <m:sup>
                            <m:r>
                              <a:rPr lang="en-GB" b="0" i="1" smtClean="0">
                                <a:latin typeface="Cambria Math" panose="02040503050406030204" pitchFamily="18" charset="0"/>
                              </a:rPr>
                              <m:t>2</m:t>
                            </m:r>
                          </m:sup>
                        </m:sSup>
                      </m:e>
                    </m:nary>
                  </m:oMath>
                </a14:m>
                <a:endParaRPr lang="en-GB" dirty="0">
                  <a:latin typeface="Aptos" panose="020B0004020202020204" pitchFamily="34" charset="0"/>
                </a:endParaRPr>
              </a:p>
              <a:p>
                <a:pPr marL="0" indent="0">
                  <a:buNone/>
                </a:pPr>
                <a:r>
                  <a:rPr lang="en-GB" dirty="0">
                    <a:latin typeface="Aptos" panose="020B0004020202020204" pitchFamily="34" charset="0"/>
                  </a:rPr>
                  <a:t>where </a:t>
                </a:r>
                <a14:m>
                  <m:oMath xmlns:m="http://schemas.openxmlformats.org/officeDocument/2006/math">
                    <m:r>
                      <a:rPr lang="en-GB" b="0" i="1" smtClean="0">
                        <a:latin typeface="Cambria Math" panose="02040503050406030204" pitchFamily="18" charset="0"/>
                      </a:rPr>
                      <m:t>𝑁</m:t>
                    </m:r>
                    <m:r>
                      <a:rPr lang="en-GB" b="0" i="1" smtClean="0">
                        <a:latin typeface="Cambria Math" panose="02040503050406030204" pitchFamily="18" charset="0"/>
                      </a:rPr>
                      <m:t>(</m:t>
                    </m:r>
                    <m:r>
                      <a:rPr lang="en-GB" b="0" i="1" smtClean="0">
                        <a:latin typeface="Cambria Math" panose="02040503050406030204" pitchFamily="18" charset="0"/>
                      </a:rPr>
                      <m:t>𝑑</m:t>
                    </m:r>
                    <m:r>
                      <a:rPr lang="en-GB" b="0" i="1" smtClean="0">
                        <a:latin typeface="Cambria Math" panose="02040503050406030204" pitchFamily="18" charset="0"/>
                      </a:rPr>
                      <m:t>)</m:t>
                    </m:r>
                  </m:oMath>
                </a14:m>
                <a:r>
                  <a:rPr lang="en-GB" dirty="0">
                    <a:latin typeface="Aptos" panose="020B0004020202020204" pitchFamily="34" charset="0"/>
                  </a:rPr>
                  <a:t> is the set of location pairs with coordinate difference </a:t>
                </a:r>
                <a14:m>
                  <m:oMath xmlns:m="http://schemas.openxmlformats.org/officeDocument/2006/math">
                    <m:r>
                      <a:rPr lang="en-GB" b="0" i="1" smtClean="0">
                        <a:latin typeface="Cambria Math" panose="02040503050406030204" pitchFamily="18" charset="0"/>
                      </a:rPr>
                      <m:t>𝑑</m:t>
                    </m:r>
                    <m:r>
                      <a:rPr lang="en-GB" b="0" i="1" smtClean="0">
                        <a:latin typeface="Cambria Math" panose="02040503050406030204" pitchFamily="18" charset="0"/>
                      </a:rPr>
                      <m:t>=</m:t>
                    </m:r>
                    <m:d>
                      <m:dPr>
                        <m:begChr m:val="‖"/>
                        <m:endChr m:val="‖"/>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𝑗</m:t>
                            </m:r>
                          </m:sub>
                        </m:sSub>
                      </m:e>
                    </m:d>
                  </m:oMath>
                </a14:m>
                <a:r>
                  <a:rPr lang="en-GB" dirty="0">
                    <a:latin typeface="Aptos" panose="020B0004020202020204" pitchFamily="34" charset="0"/>
                  </a:rPr>
                  <a:t> and </a:t>
                </a: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𝑁</m:t>
                    </m:r>
                    <m:d>
                      <m:dPr>
                        <m:ctrlPr>
                          <a:rPr lang="en-GB" i="1">
                            <a:latin typeface="Cambria Math" panose="02040503050406030204" pitchFamily="18" charset="0"/>
                          </a:rPr>
                        </m:ctrlPr>
                      </m:dPr>
                      <m:e>
                        <m:r>
                          <a:rPr lang="en-GB" i="1">
                            <a:latin typeface="Cambria Math" panose="02040503050406030204" pitchFamily="18" charset="0"/>
                          </a:rPr>
                          <m:t>𝑑</m:t>
                        </m:r>
                      </m:e>
                    </m:d>
                    <m:r>
                      <a:rPr lang="en-GB" b="0" i="1" smtClean="0">
                        <a:latin typeface="Cambria Math" panose="02040503050406030204" pitchFamily="18" charset="0"/>
                      </a:rPr>
                      <m:t>|</m:t>
                    </m:r>
                  </m:oMath>
                </a14:m>
                <a:r>
                  <a:rPr lang="en-GB" dirty="0">
                    <a:latin typeface="Aptos" panose="020B0004020202020204" pitchFamily="34" charset="0"/>
                  </a:rPr>
                  <a:t> is the number of pairs in the set</a:t>
                </a:r>
              </a:p>
              <a:p>
                <a:endParaRPr lang="en-GB" dirty="0">
                  <a:latin typeface="Aptos" panose="020B0004020202020204" pitchFamily="34" charset="0"/>
                </a:endParaRPr>
              </a:p>
              <a:p>
                <a:r>
                  <a:rPr lang="en-GB" dirty="0">
                    <a:latin typeface="Aptos" panose="020B0004020202020204" pitchFamily="34" charset="0"/>
                  </a:rPr>
                  <a:t>Note that the empirical covariance/</a:t>
                </a:r>
                <a:r>
                  <a:rPr lang="en-GB" dirty="0" err="1">
                    <a:latin typeface="Aptos" panose="020B0004020202020204" pitchFamily="34" charset="0"/>
                  </a:rPr>
                  <a:t>covariogram</a:t>
                </a:r>
                <a:r>
                  <a:rPr lang="en-GB" dirty="0">
                    <a:latin typeface="Aptos" panose="020B0004020202020204" pitchFamily="34" charset="0"/>
                  </a:rPr>
                  <a:t> can be written in a similar way, but this is not commonly used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302588"/>
                <a:ext cx="10515600" cy="5032375"/>
              </a:xfrm>
              <a:blipFill>
                <a:blip r:embed="rId2"/>
                <a:stretch>
                  <a:fillRect l="-1043" t="-1939"/>
                </a:stretch>
              </a:blipFill>
            </p:spPr>
            <p:txBody>
              <a:bodyPr/>
              <a:lstStyle/>
              <a:p>
                <a:r>
                  <a:rPr lang="en-GB">
                    <a:noFill/>
                  </a:rPr>
                  <a:t> </a:t>
                </a:r>
              </a:p>
            </p:txBody>
          </p:sp>
        </mc:Fallback>
      </mc:AlternateContent>
      <p:sp>
        <p:nvSpPr>
          <p:cNvPr id="4" name="Title 1"/>
          <p:cNvSpPr>
            <a:spLocks noGrp="1"/>
          </p:cNvSpPr>
          <p:nvPr>
            <p:ph type="title"/>
          </p:nvPr>
        </p:nvSpPr>
        <p:spPr>
          <a:xfrm>
            <a:off x="257175" y="76200"/>
            <a:ext cx="9827029" cy="608762"/>
          </a:xfrm>
        </p:spPr>
        <p:txBody>
          <a:bodyPr>
            <a:normAutofit fontScale="90000"/>
          </a:bodyPr>
          <a:lstStyle/>
          <a:p>
            <a:r>
              <a:rPr lang="en-GB" sz="4000" b="1" dirty="0">
                <a:solidFill>
                  <a:schemeClr val="bg1"/>
                </a:solidFill>
                <a:latin typeface="Aptos" panose="020B0004020202020204" pitchFamily="34" charset="0"/>
              </a:rPr>
              <a:t>Empirical </a:t>
            </a:r>
            <a:r>
              <a:rPr lang="en-GB" sz="4000" b="1" dirty="0" err="1">
                <a:solidFill>
                  <a:schemeClr val="bg1"/>
                </a:solidFill>
                <a:latin typeface="Aptos" panose="020B0004020202020204" pitchFamily="34" charset="0"/>
              </a:rPr>
              <a:t>variogram</a:t>
            </a:r>
            <a:r>
              <a:rPr lang="en-GB" sz="4000" b="1" dirty="0">
                <a:solidFill>
                  <a:schemeClr val="bg1"/>
                </a:solidFill>
                <a:latin typeface="Aptos" panose="020B0004020202020204" pitchFamily="34" charset="0"/>
              </a:rPr>
              <a:t> model-fitting</a:t>
            </a:r>
          </a:p>
        </p:txBody>
      </p:sp>
    </p:spTree>
    <p:extLst>
      <p:ext uri="{BB962C8B-B14F-4D97-AF65-F5344CB8AC3E}">
        <p14:creationId xmlns:p14="http://schemas.microsoft.com/office/powerpoint/2010/main" val="1000534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90525" y="2296507"/>
                <a:ext cx="6493625" cy="2621684"/>
              </a:xfrm>
            </p:spPr>
            <p:txBody>
              <a:bodyPr/>
              <a:lstStyle/>
              <a:p>
                <a:r>
                  <a:rPr lang="en-GB" dirty="0">
                    <a:latin typeface="Aptos" panose="020B0004020202020204" pitchFamily="34" charset="0"/>
                  </a:rPr>
                  <a:t>In practice, we need to group all possible values of </a:t>
                </a:r>
                <a14:m>
                  <m:oMath xmlns:m="http://schemas.openxmlformats.org/officeDocument/2006/math">
                    <m:r>
                      <a:rPr lang="en-GB" b="0" i="1" smtClean="0">
                        <a:latin typeface="Cambria Math" panose="02040503050406030204" pitchFamily="18" charset="0"/>
                      </a:rPr>
                      <m:t>𝑑</m:t>
                    </m:r>
                  </m:oMath>
                </a14:m>
                <a:r>
                  <a:rPr lang="en-GB" dirty="0">
                    <a:latin typeface="Aptos" panose="020B0004020202020204" pitchFamily="34" charset="0"/>
                  </a:rPr>
                  <a:t> into predetermined intervals e.g. </a:t>
                </a:r>
                <a14:m>
                  <m:oMath xmlns:m="http://schemas.openxmlformats.org/officeDocument/2006/math">
                    <m:d>
                      <m:dPr>
                        <m:begChr m:val="["/>
                        <m:ctrlPr>
                          <a:rPr lang="en-GB" b="0" i="0" smtClean="0">
                            <a:latin typeface="Cambria Math" panose="02040503050406030204" pitchFamily="18" charset="0"/>
                          </a:rPr>
                        </m:ctrlPr>
                      </m:dPr>
                      <m:e>
                        <m:r>
                          <a:rPr lang="en-GB" b="0" i="0" smtClean="0">
                            <a:latin typeface="Cambria Math" panose="02040503050406030204" pitchFamily="18" charset="0"/>
                          </a:rPr>
                          <m:t>0, 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0" smtClean="0">
                                <a:latin typeface="Cambria Math" panose="02040503050406030204" pitchFamily="18" charset="0"/>
                              </a:rPr>
                              <m:t>1</m:t>
                            </m:r>
                          </m:sub>
                        </m:sSub>
                      </m:e>
                    </m:d>
                    <m:r>
                      <a:rPr lang="en-GB" b="0" i="1" smtClean="0">
                        <a:latin typeface="Cambria Math" panose="02040503050406030204" pitchFamily="18" charset="0"/>
                      </a:rPr>
                      <m:t>,</m:t>
                    </m:r>
                    <m:d>
                      <m:dPr>
                        <m:begChr m:val="["/>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2</m:t>
                            </m:r>
                          </m:sub>
                        </m:sSub>
                      </m:e>
                    </m:d>
                    <m:r>
                      <a:rPr lang="en-GB" b="0" i="1" smtClean="0">
                        <a:latin typeface="Cambria Math" panose="02040503050406030204" pitchFamily="18" charset="0"/>
                      </a:rPr>
                      <m:t>,… </m:t>
                    </m:r>
                  </m:oMath>
                </a14:m>
                <a:r>
                  <a:rPr lang="en-GB" dirty="0">
                    <a:latin typeface="Aptos" panose="020B0004020202020204" pitchFamily="34" charset="0"/>
                  </a:rPr>
                  <a:t>and represent each </a:t>
                </a:r>
              </a:p>
              <a:p>
                <a:pPr marL="0" indent="0">
                  <a:buNone/>
                </a:pPr>
                <a:r>
                  <a:rPr lang="en-GB" dirty="0">
                    <a:latin typeface="Aptos" panose="020B0004020202020204" pitchFamily="34" charset="0"/>
                  </a:rPr>
                  <a:t>  interval by its midpoint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90525" y="2296507"/>
                <a:ext cx="6493625" cy="2621684"/>
              </a:xfrm>
              <a:blipFill>
                <a:blip r:embed="rId2"/>
                <a:stretch>
                  <a:fillRect l="-1690" t="-4186" r="-2817"/>
                </a:stretch>
              </a:blipFill>
            </p:spPr>
            <p:txBody>
              <a:bodyPr/>
              <a:lstStyle/>
              <a:p>
                <a:r>
                  <a:rPr lang="en-GB">
                    <a:noFill/>
                  </a:rPr>
                  <a:t> </a:t>
                </a:r>
              </a:p>
            </p:txBody>
          </p:sp>
        </mc:Fallback>
      </mc:AlternateContent>
      <p:pic>
        <p:nvPicPr>
          <p:cNvPr id="5" name="Picture 4"/>
          <p:cNvPicPr>
            <a:picLocks noChangeAspect="1"/>
          </p:cNvPicPr>
          <p:nvPr/>
        </p:nvPicPr>
        <p:blipFill>
          <a:blip r:embed="rId3"/>
          <a:stretch>
            <a:fillRect/>
          </a:stretch>
        </p:blipFill>
        <p:spPr>
          <a:xfrm>
            <a:off x="7312133" y="1730375"/>
            <a:ext cx="4448471" cy="4950886"/>
          </a:xfrm>
          <a:prstGeom prst="rect">
            <a:avLst/>
          </a:prstGeom>
        </p:spPr>
      </p:pic>
      <p:sp>
        <p:nvSpPr>
          <p:cNvPr id="6" name="TextBox 5"/>
          <p:cNvSpPr txBox="1"/>
          <p:nvPr/>
        </p:nvSpPr>
        <p:spPr>
          <a:xfrm>
            <a:off x="7848600" y="1640959"/>
            <a:ext cx="3773113" cy="369332"/>
          </a:xfrm>
          <a:prstGeom prst="rect">
            <a:avLst/>
          </a:prstGeom>
          <a:noFill/>
        </p:spPr>
        <p:txBody>
          <a:bodyPr wrap="square" rtlCol="0">
            <a:spAutoFit/>
          </a:bodyPr>
          <a:lstStyle/>
          <a:p>
            <a:r>
              <a:rPr lang="en-GB" dirty="0">
                <a:latin typeface="Merriweather"/>
              </a:rPr>
              <a:t>Empirical </a:t>
            </a:r>
            <a:r>
              <a:rPr lang="en-GB" dirty="0" err="1">
                <a:latin typeface="Merriweather"/>
              </a:rPr>
              <a:t>semivariogram</a:t>
            </a:r>
            <a:r>
              <a:rPr lang="en-GB" dirty="0">
                <a:latin typeface="Merriweather"/>
              </a:rPr>
              <a:t> plot</a:t>
            </a:r>
          </a:p>
        </p:txBody>
      </p:sp>
      <p:sp>
        <p:nvSpPr>
          <p:cNvPr id="7" name="Title 1"/>
          <p:cNvSpPr>
            <a:spLocks noGrp="1"/>
          </p:cNvSpPr>
          <p:nvPr>
            <p:ph type="title"/>
          </p:nvPr>
        </p:nvSpPr>
        <p:spPr>
          <a:xfrm>
            <a:off x="390525" y="-9525"/>
            <a:ext cx="9827029" cy="840220"/>
          </a:xfrm>
        </p:spPr>
        <p:txBody>
          <a:bodyPr>
            <a:normAutofit/>
          </a:bodyPr>
          <a:lstStyle/>
          <a:p>
            <a:r>
              <a:rPr lang="en-GB" sz="4000" b="1" dirty="0">
                <a:solidFill>
                  <a:schemeClr val="bg1"/>
                </a:solidFill>
                <a:latin typeface="Aptos" panose="020B0004020202020204" pitchFamily="34" charset="0"/>
              </a:rPr>
              <a:t>Empirical </a:t>
            </a:r>
            <a:r>
              <a:rPr lang="en-GB" sz="4000" b="1" dirty="0" err="1">
                <a:solidFill>
                  <a:schemeClr val="bg1"/>
                </a:solidFill>
                <a:latin typeface="Aptos" panose="020B0004020202020204" pitchFamily="34" charset="0"/>
              </a:rPr>
              <a:t>variogram</a:t>
            </a:r>
            <a:r>
              <a:rPr lang="en-GB" sz="4000" b="1" dirty="0">
                <a:solidFill>
                  <a:schemeClr val="bg1"/>
                </a:solidFill>
                <a:latin typeface="Aptos" panose="020B0004020202020204" pitchFamily="34" charset="0"/>
              </a:rPr>
              <a:t> model-fitting</a:t>
            </a:r>
          </a:p>
        </p:txBody>
      </p:sp>
    </p:spTree>
    <p:extLst>
      <p:ext uri="{BB962C8B-B14F-4D97-AF65-F5344CB8AC3E}">
        <p14:creationId xmlns:p14="http://schemas.microsoft.com/office/powerpoint/2010/main" val="136864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6476264" y="1022106"/>
            <a:ext cx="4995473" cy="5559669"/>
          </a:xfrm>
          <a:prstGeom prst="rect">
            <a:avLst/>
          </a:prstGeom>
        </p:spPr>
      </p:pic>
      <p:sp>
        <p:nvSpPr>
          <p:cNvPr id="7" name="Title 1"/>
          <p:cNvSpPr>
            <a:spLocks noGrp="1"/>
          </p:cNvSpPr>
          <p:nvPr>
            <p:ph type="title"/>
          </p:nvPr>
        </p:nvSpPr>
        <p:spPr>
          <a:xfrm>
            <a:off x="863138" y="74179"/>
            <a:ext cx="9220200" cy="765405"/>
          </a:xfrm>
        </p:spPr>
        <p:txBody>
          <a:bodyPr>
            <a:normAutofit/>
          </a:bodyPr>
          <a:lstStyle/>
          <a:p>
            <a:r>
              <a:rPr lang="en-GB" sz="4000" b="1" dirty="0">
                <a:solidFill>
                  <a:schemeClr val="bg1"/>
                </a:solidFill>
                <a:latin typeface="Aptos" panose="020B0004020202020204" pitchFamily="34" charset="0"/>
              </a:rPr>
              <a:t>Empirical </a:t>
            </a:r>
            <a:r>
              <a:rPr lang="en-GB" sz="4000" b="1" dirty="0" err="1">
                <a:solidFill>
                  <a:schemeClr val="bg1"/>
                </a:solidFill>
                <a:latin typeface="Aptos" panose="020B0004020202020204" pitchFamily="34" charset="0"/>
              </a:rPr>
              <a:t>variogram</a:t>
            </a:r>
            <a:r>
              <a:rPr lang="en-GB" sz="4000" b="1" dirty="0">
                <a:solidFill>
                  <a:schemeClr val="bg1"/>
                </a:solidFill>
                <a:latin typeface="Aptos" panose="020B0004020202020204" pitchFamily="34" charset="0"/>
              </a:rPr>
              <a:t> model-fitting</a:t>
            </a:r>
          </a:p>
        </p:txBody>
      </p:sp>
      <mc:AlternateContent xmlns:mc="http://schemas.openxmlformats.org/markup-compatibility/2006">
        <mc:Choice xmlns:a14="http://schemas.microsoft.com/office/drawing/2010/main" Requires="a14">
          <p:sp>
            <p:nvSpPr>
              <p:cNvPr id="8" name="TextBox 7"/>
              <p:cNvSpPr txBox="1"/>
              <p:nvPr/>
            </p:nvSpPr>
            <p:spPr>
              <a:xfrm>
                <a:off x="720263" y="2736100"/>
                <a:ext cx="5051090" cy="2677656"/>
              </a:xfrm>
              <a:prstGeom prst="rect">
                <a:avLst/>
              </a:prstGeom>
              <a:noFill/>
            </p:spPr>
            <p:txBody>
              <a:bodyPr wrap="square" rtlCol="0">
                <a:spAutoFit/>
              </a:bodyPr>
              <a:lstStyle/>
              <a:p>
                <a:r>
                  <a:rPr lang="en-GB" sz="2800" dirty="0">
                    <a:latin typeface="Aptos" panose="020B0004020202020204" pitchFamily="34" charset="0"/>
                  </a:rPr>
                  <a:t>Matern </a:t>
                </a:r>
                <a:r>
                  <a:rPr lang="en-GB" sz="2800" dirty="0" err="1">
                    <a:latin typeface="Aptos" panose="020B0004020202020204" pitchFamily="34" charset="0"/>
                  </a:rPr>
                  <a:t>variogram</a:t>
                </a:r>
                <a:r>
                  <a:rPr lang="en-GB" sz="2800" dirty="0">
                    <a:latin typeface="Aptos" panose="020B0004020202020204" pitchFamily="34" charset="0"/>
                  </a:rPr>
                  <a:t> fitted (</a:t>
                </a:r>
                <a14:m>
                  <m:oMath xmlns:m="http://schemas.openxmlformats.org/officeDocument/2006/math">
                    <m:r>
                      <a:rPr lang="en-GB" sz="2800" b="0" i="1" smtClean="0">
                        <a:latin typeface="Cambria Math" panose="02040503050406030204" pitchFamily="18" charset="0"/>
                      </a:rPr>
                      <m:t>𝜅</m:t>
                    </m:r>
                    <m:r>
                      <a:rPr lang="en-GB" sz="2800" b="0" i="1" smtClean="0">
                        <a:latin typeface="Cambria Math" panose="02040503050406030204" pitchFamily="18" charset="0"/>
                      </a:rPr>
                      <m:t>=0.5)</m:t>
                    </m:r>
                  </m:oMath>
                </a14:m>
                <a:r>
                  <a:rPr lang="en-GB" sz="2800" dirty="0">
                    <a:latin typeface="Aptos" panose="020B0004020202020204" pitchFamily="34" charset="0"/>
                  </a:rPr>
                  <a:t>:</a:t>
                </a:r>
              </a:p>
              <a:p>
                <a:endParaRPr lang="en-GB" sz="2800" dirty="0">
                  <a:latin typeface="Aptos" panose="020B0004020202020204" pitchFamily="34" charset="0"/>
                </a:endParaRPr>
              </a:p>
              <a:p>
                <a:r>
                  <a:rPr lang="en-GB" sz="2800" dirty="0">
                    <a:latin typeface="Aptos" panose="020B0004020202020204" pitchFamily="34" charset="0"/>
                  </a:rPr>
                  <a:t>Nugget      </a:t>
                </a:r>
                <a14:m>
                  <m:oMath xmlns:m="http://schemas.openxmlformats.org/officeDocument/2006/math">
                    <m:sSup>
                      <m:sSupPr>
                        <m:ctrlPr>
                          <a:rPr lang="en-GB" sz="2800" b="0" i="1" smtClean="0">
                            <a:latin typeface="Cambria Math" panose="02040503050406030204" pitchFamily="18" charset="0"/>
                          </a:rPr>
                        </m:ctrlPr>
                      </m:sSupPr>
                      <m:e>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𝜏</m:t>
                            </m:r>
                          </m:e>
                        </m:acc>
                      </m:e>
                      <m:sup>
                        <m:r>
                          <a:rPr lang="en-GB" sz="2800" b="0" i="1" smtClean="0">
                            <a:latin typeface="Cambria Math" panose="02040503050406030204" pitchFamily="18" charset="0"/>
                          </a:rPr>
                          <m:t>2</m:t>
                        </m:r>
                      </m:sup>
                    </m:sSup>
                    <m:r>
                      <a:rPr lang="en-GB" sz="2800" b="0" i="1" smtClean="0">
                        <a:latin typeface="Cambria Math" panose="02040503050406030204" pitchFamily="18" charset="0"/>
                      </a:rPr>
                      <m:t>=0.91</m:t>
                    </m:r>
                  </m:oMath>
                </a14:m>
                <a:endParaRPr lang="en-GB" sz="2800" dirty="0">
                  <a:latin typeface="Aptos" panose="020B0004020202020204" pitchFamily="34" charset="0"/>
                </a:endParaRPr>
              </a:p>
              <a:p>
                <a:r>
                  <a:rPr lang="en-GB" sz="2800" dirty="0">
                    <a:latin typeface="Aptos" panose="020B0004020202020204" pitchFamily="34" charset="0"/>
                  </a:rPr>
                  <a:t>Partial sill </a:t>
                </a:r>
                <a14:m>
                  <m:oMath xmlns:m="http://schemas.openxmlformats.org/officeDocument/2006/math">
                    <m:sSup>
                      <m:sSupPr>
                        <m:ctrlPr>
                          <a:rPr lang="en-GB" sz="2800" b="0" i="1" smtClean="0">
                            <a:latin typeface="Cambria Math" panose="02040503050406030204" pitchFamily="18" charset="0"/>
                          </a:rPr>
                        </m:ctrlPr>
                      </m:sSupPr>
                      <m:e>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𝜎</m:t>
                            </m:r>
                          </m:e>
                        </m:acc>
                      </m:e>
                      <m:sup>
                        <m:r>
                          <a:rPr lang="en-GB" sz="2800" b="0" i="1" smtClean="0">
                            <a:latin typeface="Cambria Math" panose="02040503050406030204" pitchFamily="18" charset="0"/>
                          </a:rPr>
                          <m:t>2</m:t>
                        </m:r>
                      </m:sup>
                    </m:sSup>
                    <m:r>
                      <a:rPr lang="en-GB" sz="2800" b="0" i="1" smtClean="0">
                        <a:latin typeface="Cambria Math" panose="02040503050406030204" pitchFamily="18" charset="0"/>
                      </a:rPr>
                      <m:t>=0.57</m:t>
                    </m:r>
                  </m:oMath>
                </a14:m>
                <a:endParaRPr lang="en-GB" sz="2800" dirty="0">
                  <a:latin typeface="Aptos" panose="020B0004020202020204" pitchFamily="34" charset="0"/>
                </a:endParaRPr>
              </a:p>
              <a:p>
                <a:r>
                  <a:rPr lang="en-GB" sz="2800" dirty="0">
                    <a:latin typeface="Aptos" panose="020B0004020202020204" pitchFamily="34" charset="0"/>
                  </a:rPr>
                  <a:t>Range </a:t>
                </a:r>
                <a14:m>
                  <m:oMath xmlns:m="http://schemas.openxmlformats.org/officeDocument/2006/math">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𝑟</m:t>
                        </m:r>
                      </m:e>
                    </m:acc>
                    <m:r>
                      <a:rPr lang="en-GB" sz="2800" b="0" i="1" smtClean="0">
                        <a:latin typeface="Cambria Math" panose="02040503050406030204" pitchFamily="18" charset="0"/>
                      </a:rPr>
                      <m:t>=0.99</m:t>
                    </m:r>
                  </m:oMath>
                </a14:m>
                <a:endParaRPr lang="en-GB" sz="2800" dirty="0">
                  <a:latin typeface="Aptos" panose="020B0004020202020204" pitchFamily="34" charset="0"/>
                </a:endParaRPr>
              </a:p>
            </p:txBody>
          </p:sp>
        </mc:Choice>
        <mc:Fallback>
          <p:sp>
            <p:nvSpPr>
              <p:cNvPr id="8" name="TextBox 7"/>
              <p:cNvSpPr txBox="1">
                <a:spLocks noRot="1" noChangeAspect="1" noMove="1" noResize="1" noEditPoints="1" noAdjustHandles="1" noChangeArrowheads="1" noChangeShapeType="1" noTextEdit="1"/>
              </p:cNvSpPr>
              <p:nvPr/>
            </p:nvSpPr>
            <p:spPr>
              <a:xfrm>
                <a:off x="720263" y="2736100"/>
                <a:ext cx="5051090" cy="2677656"/>
              </a:xfrm>
              <a:prstGeom prst="rect">
                <a:avLst/>
              </a:prstGeom>
              <a:blipFill>
                <a:blip r:embed="rId3"/>
                <a:stretch>
                  <a:fillRect l="-2413" t="-2506" b="-5467"/>
                </a:stretch>
              </a:blipFill>
            </p:spPr>
            <p:txBody>
              <a:bodyPr/>
              <a:lstStyle/>
              <a:p>
                <a:r>
                  <a:rPr lang="en-GB">
                    <a:noFill/>
                  </a:rPr>
                  <a:t> </a:t>
                </a:r>
              </a:p>
            </p:txBody>
          </p:sp>
        </mc:Fallback>
      </mc:AlternateContent>
    </p:spTree>
    <p:extLst>
      <p:ext uri="{BB962C8B-B14F-4D97-AF65-F5344CB8AC3E}">
        <p14:creationId xmlns:p14="http://schemas.microsoft.com/office/powerpoint/2010/main" val="3542335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6250" y="2538842"/>
            <a:ext cx="5778731" cy="2214134"/>
          </a:xfrm>
        </p:spPr>
        <p:txBody>
          <a:bodyPr>
            <a:normAutofit/>
          </a:bodyPr>
          <a:lstStyle/>
          <a:p>
            <a:r>
              <a:rPr lang="en-GB" sz="2400" dirty="0">
                <a:latin typeface="Aptos" panose="020B0004020202020204" pitchFamily="34" charset="0"/>
              </a:rPr>
              <a:t>The residuals were assigned at random to the locations to generate this plot. Observe that the </a:t>
            </a:r>
            <a:r>
              <a:rPr lang="en-GB" sz="2400" dirty="0" err="1">
                <a:latin typeface="Aptos" panose="020B0004020202020204" pitchFamily="34" charset="0"/>
              </a:rPr>
              <a:t>variogram</a:t>
            </a:r>
            <a:r>
              <a:rPr lang="en-GB" sz="2400" dirty="0">
                <a:latin typeface="Aptos" panose="020B0004020202020204" pitchFamily="34" charset="0"/>
              </a:rPr>
              <a:t> appears to be fluctuating around a fixed value and no longer increases with increasing distance.</a:t>
            </a:r>
          </a:p>
        </p:txBody>
      </p:sp>
      <p:pic>
        <p:nvPicPr>
          <p:cNvPr id="5" name="Picture 4"/>
          <p:cNvPicPr>
            <a:picLocks noChangeAspect="1"/>
          </p:cNvPicPr>
          <p:nvPr/>
        </p:nvPicPr>
        <p:blipFill>
          <a:blip r:embed="rId2"/>
          <a:stretch>
            <a:fillRect/>
          </a:stretch>
        </p:blipFill>
        <p:spPr>
          <a:xfrm>
            <a:off x="6932815" y="1204551"/>
            <a:ext cx="5184822" cy="5469443"/>
          </a:xfrm>
          <a:prstGeom prst="rect">
            <a:avLst/>
          </a:prstGeom>
        </p:spPr>
      </p:pic>
      <p:sp>
        <p:nvSpPr>
          <p:cNvPr id="7" name="Title 1"/>
          <p:cNvSpPr>
            <a:spLocks noGrp="1"/>
          </p:cNvSpPr>
          <p:nvPr>
            <p:ph type="title"/>
          </p:nvPr>
        </p:nvSpPr>
        <p:spPr>
          <a:xfrm>
            <a:off x="838200" y="115743"/>
            <a:ext cx="9619211" cy="732155"/>
          </a:xfrm>
        </p:spPr>
        <p:txBody>
          <a:bodyPr>
            <a:normAutofit/>
          </a:bodyPr>
          <a:lstStyle/>
          <a:p>
            <a:r>
              <a:rPr lang="en-GB" sz="4000" b="1" dirty="0">
                <a:solidFill>
                  <a:schemeClr val="bg1"/>
                </a:solidFill>
                <a:latin typeface="Merriweather"/>
              </a:rPr>
              <a:t>Empirical </a:t>
            </a:r>
            <a:r>
              <a:rPr lang="en-GB" sz="4000" b="1" dirty="0" err="1">
                <a:solidFill>
                  <a:schemeClr val="bg1"/>
                </a:solidFill>
                <a:latin typeface="Merriweather"/>
              </a:rPr>
              <a:t>variogram</a:t>
            </a:r>
            <a:r>
              <a:rPr lang="en-GB" sz="4000" b="1" dirty="0">
                <a:solidFill>
                  <a:schemeClr val="bg1"/>
                </a:solidFill>
                <a:latin typeface="Merriweather"/>
              </a:rPr>
              <a:t> model-fitting</a:t>
            </a:r>
          </a:p>
        </p:txBody>
      </p:sp>
    </p:spTree>
    <p:extLst>
      <p:ext uri="{BB962C8B-B14F-4D97-AF65-F5344CB8AC3E}">
        <p14:creationId xmlns:p14="http://schemas.microsoft.com/office/powerpoint/2010/main" val="963841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04072" y="1380205"/>
            <a:ext cx="4793992" cy="5266127"/>
          </a:xfrm>
        </p:spPr>
      </p:pic>
      <p:sp>
        <p:nvSpPr>
          <p:cNvPr id="2" name="TextBox 1"/>
          <p:cNvSpPr txBox="1"/>
          <p:nvPr/>
        </p:nvSpPr>
        <p:spPr>
          <a:xfrm>
            <a:off x="742950" y="1292362"/>
            <a:ext cx="6020893" cy="4524315"/>
          </a:xfrm>
          <a:prstGeom prst="rect">
            <a:avLst/>
          </a:prstGeom>
          <a:noFill/>
        </p:spPr>
        <p:txBody>
          <a:bodyPr wrap="square" rtlCol="0">
            <a:spAutoFit/>
          </a:bodyPr>
          <a:lstStyle/>
          <a:p>
            <a:pPr marL="285750" indent="-285750">
              <a:buFont typeface="Arial" panose="020B0604020202020204" pitchFamily="34" charset="0"/>
              <a:buChar char="•"/>
            </a:pPr>
            <a:r>
              <a:rPr lang="en-GB" sz="2400" dirty="0">
                <a:latin typeface="Aptos" panose="020B0004020202020204" pitchFamily="34" charset="0"/>
              </a:rPr>
              <a:t>In </a:t>
            </a:r>
            <a:r>
              <a:rPr lang="en-GB" sz="2400" dirty="0" err="1">
                <a:latin typeface="Aptos" panose="020B0004020202020204" pitchFamily="34" charset="0"/>
              </a:rPr>
              <a:t>PrevMap</a:t>
            </a:r>
            <a:r>
              <a:rPr lang="en-GB" sz="2400" dirty="0">
                <a:latin typeface="Aptos" panose="020B0004020202020204" pitchFamily="34" charset="0"/>
              </a:rPr>
              <a:t> package in R, the residuals are assigned to the locations multiple times to generate a variogram envelope (often shown as the 2.5% and 97.5% quantiles of the variogram estimates for each distance bin). This is known as the permutation test.</a:t>
            </a:r>
          </a:p>
          <a:p>
            <a:endParaRPr lang="en-GB" sz="2400" dirty="0">
              <a:latin typeface="Aptos" panose="020B0004020202020204" pitchFamily="34" charset="0"/>
            </a:endParaRPr>
          </a:p>
          <a:p>
            <a:pPr marL="285750" indent="-285750">
              <a:buFont typeface="Arial" panose="020B0604020202020204" pitchFamily="34" charset="0"/>
              <a:buChar char="•"/>
            </a:pPr>
            <a:r>
              <a:rPr lang="en-GB" sz="2400" dirty="0">
                <a:latin typeface="Aptos" panose="020B0004020202020204" pitchFamily="34" charset="0"/>
              </a:rPr>
              <a:t>When the empirical </a:t>
            </a:r>
            <a:r>
              <a:rPr lang="en-GB" sz="2400" dirty="0" err="1">
                <a:latin typeface="Aptos" panose="020B0004020202020204" pitchFamily="34" charset="0"/>
              </a:rPr>
              <a:t>variogram</a:t>
            </a:r>
            <a:r>
              <a:rPr lang="en-GB" sz="2400" dirty="0">
                <a:latin typeface="Aptos" panose="020B0004020202020204" pitchFamily="34" charset="0"/>
              </a:rPr>
              <a:t> is not compatible with the </a:t>
            </a:r>
            <a:r>
              <a:rPr lang="en-GB" sz="2400" dirty="0" err="1">
                <a:latin typeface="Aptos" panose="020B0004020202020204" pitchFamily="34" charset="0"/>
              </a:rPr>
              <a:t>variogram</a:t>
            </a:r>
            <a:r>
              <a:rPr lang="en-GB" sz="2400" dirty="0">
                <a:latin typeface="Aptos" panose="020B0004020202020204" pitchFamily="34" charset="0"/>
              </a:rPr>
              <a:t> envelope, there is presence of spatial dependence/autocorrelation in the data.</a:t>
            </a:r>
          </a:p>
        </p:txBody>
      </p:sp>
      <p:sp>
        <p:nvSpPr>
          <p:cNvPr id="7" name="Title 1"/>
          <p:cNvSpPr>
            <a:spLocks noGrp="1"/>
          </p:cNvSpPr>
          <p:nvPr>
            <p:ph type="title"/>
          </p:nvPr>
        </p:nvSpPr>
        <p:spPr>
          <a:xfrm>
            <a:off x="266700" y="0"/>
            <a:ext cx="9619211" cy="732155"/>
          </a:xfrm>
        </p:spPr>
        <p:txBody>
          <a:bodyPr>
            <a:normAutofit/>
          </a:bodyPr>
          <a:lstStyle/>
          <a:p>
            <a:r>
              <a:rPr lang="en-GB" sz="4000" b="1" dirty="0">
                <a:solidFill>
                  <a:schemeClr val="bg1"/>
                </a:solidFill>
                <a:latin typeface="Aptos" panose="020B0004020202020204" pitchFamily="34" charset="0"/>
              </a:rPr>
              <a:t>Empirical </a:t>
            </a:r>
            <a:r>
              <a:rPr lang="en-GB" sz="4000" b="1" dirty="0" err="1">
                <a:solidFill>
                  <a:schemeClr val="bg1"/>
                </a:solidFill>
                <a:latin typeface="Aptos" panose="020B0004020202020204" pitchFamily="34" charset="0"/>
              </a:rPr>
              <a:t>variogram</a:t>
            </a:r>
            <a:r>
              <a:rPr lang="en-GB" sz="4000" b="1" dirty="0">
                <a:solidFill>
                  <a:schemeClr val="bg1"/>
                </a:solidFill>
                <a:latin typeface="Aptos" panose="020B0004020202020204" pitchFamily="34" charset="0"/>
              </a:rPr>
              <a:t> model-fitting</a:t>
            </a:r>
          </a:p>
        </p:txBody>
      </p:sp>
    </p:spTree>
    <p:extLst>
      <p:ext uri="{BB962C8B-B14F-4D97-AF65-F5344CB8AC3E}">
        <p14:creationId xmlns:p14="http://schemas.microsoft.com/office/powerpoint/2010/main" val="230909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225" y="0"/>
            <a:ext cx="10515600" cy="798657"/>
          </a:xfrm>
        </p:spPr>
        <p:txBody>
          <a:bodyPr>
            <a:normAutofit/>
          </a:bodyPr>
          <a:lstStyle/>
          <a:p>
            <a:r>
              <a:rPr lang="en-GB" sz="4000" b="1" dirty="0">
                <a:solidFill>
                  <a:schemeClr val="bg1"/>
                </a:solidFill>
                <a:latin typeface="Aptos" panose="020B0004020202020204" pitchFamily="34" charset="0"/>
              </a:rPr>
              <a:t>Exercise 5: Variograms </a:t>
            </a:r>
          </a:p>
        </p:txBody>
      </p:sp>
      <p:sp>
        <p:nvSpPr>
          <p:cNvPr id="3" name="Content Placeholder 2"/>
          <p:cNvSpPr>
            <a:spLocks noGrp="1"/>
          </p:cNvSpPr>
          <p:nvPr>
            <p:ph idx="1"/>
          </p:nvPr>
        </p:nvSpPr>
        <p:spPr>
          <a:xfrm>
            <a:off x="790575" y="1605684"/>
            <a:ext cx="10306049" cy="3852141"/>
          </a:xfrm>
        </p:spPr>
        <p:txBody>
          <a:bodyPr>
            <a:normAutofit fontScale="92500" lnSpcReduction="10000"/>
          </a:bodyPr>
          <a:lstStyle/>
          <a:p>
            <a:r>
              <a:rPr lang="en-GB" dirty="0">
                <a:latin typeface="Aptos" panose="020B0004020202020204" pitchFamily="34" charset="0"/>
              </a:rPr>
              <a:t>Use </a:t>
            </a:r>
            <a:r>
              <a:rPr lang="en-GB" dirty="0" err="1">
                <a:latin typeface="Aptos" panose="020B0004020202020204" pitchFamily="34" charset="0"/>
              </a:rPr>
              <a:t>variogram_script.R</a:t>
            </a:r>
            <a:r>
              <a:rPr lang="en-GB" dirty="0">
                <a:latin typeface="Aptos" panose="020B0004020202020204" pitchFamily="34" charset="0"/>
              </a:rPr>
              <a:t> for this exercise</a:t>
            </a:r>
          </a:p>
          <a:p>
            <a:endParaRPr lang="en-GB" dirty="0">
              <a:latin typeface="Aptos" panose="020B0004020202020204" pitchFamily="34" charset="0"/>
            </a:endParaRPr>
          </a:p>
          <a:p>
            <a:r>
              <a:rPr lang="en-GB" dirty="0">
                <a:latin typeface="Aptos" panose="020B0004020202020204" pitchFamily="34" charset="0"/>
              </a:rPr>
              <a:t>In this exercise, you will learn how to plot empirical variograms to test for residual spatial autocorrelation </a:t>
            </a:r>
          </a:p>
          <a:p>
            <a:r>
              <a:rPr lang="en-GB" dirty="0">
                <a:latin typeface="Aptos" panose="020B0004020202020204" pitchFamily="34" charset="0"/>
              </a:rPr>
              <a:t>The data used for this exercise were constructed to mimic cluster level </a:t>
            </a:r>
            <a:r>
              <a:rPr lang="en-GB" dirty="0">
                <a:latin typeface="Aptos" panose="020B0004020202020204" pitchFamily="34" charset="0"/>
                <a:hlinkClick r:id="rId2"/>
              </a:rPr>
              <a:t>Demographic and Health Survey (DHS) </a:t>
            </a:r>
            <a:r>
              <a:rPr lang="en-GB" dirty="0">
                <a:latin typeface="Aptos" panose="020B0004020202020204" pitchFamily="34" charset="0"/>
              </a:rPr>
              <a:t>data for Nigeria. The data includes a binomial outcome showing assumed counts of numbers of children sampled from each cluster and corresponding assumed numbers of children who had been vaccinated. There are up to 1332 spatial locations in the data.</a:t>
            </a:r>
          </a:p>
          <a:p>
            <a:pPr marL="0" indent="0">
              <a:buNone/>
            </a:pPr>
            <a:endParaRPr lang="en-GB" dirty="0">
              <a:latin typeface="Aptos" panose="020B0004020202020204" pitchFamily="34" charset="0"/>
            </a:endParaRPr>
          </a:p>
          <a:p>
            <a:endParaRPr lang="en-GB" dirty="0"/>
          </a:p>
        </p:txBody>
      </p:sp>
    </p:spTree>
    <p:extLst>
      <p:ext uri="{BB962C8B-B14F-4D97-AF65-F5344CB8AC3E}">
        <p14:creationId xmlns:p14="http://schemas.microsoft.com/office/powerpoint/2010/main" val="30932783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3613" y="1985933"/>
            <a:ext cx="4747776" cy="1081118"/>
          </a:xfrm>
        </p:spPr>
        <p:txBody>
          <a:bodyPr>
            <a:normAutofit/>
          </a:bodyPr>
          <a:lstStyle/>
          <a:p>
            <a:r>
              <a:rPr lang="en-GB" sz="4000" dirty="0">
                <a:latin typeface="Aptos" panose="020B0004020202020204" pitchFamily="34" charset="0"/>
              </a:rPr>
              <a:t>Stats can be crazy!</a:t>
            </a:r>
          </a:p>
        </p:txBody>
      </p:sp>
      <p:pic>
        <p:nvPicPr>
          <p:cNvPr id="1026" name="Picture 2" descr="May be an image of floor pl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2211" y="865304"/>
            <a:ext cx="4936176" cy="578629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orried Face | Smileys Emotion - Face Concerned">
            <a:extLst>
              <a:ext uri="{FF2B5EF4-FFF2-40B4-BE49-F238E27FC236}">
                <a16:creationId xmlns:a16="http://schemas.microsoft.com/office/drawing/2014/main" id="{0CD796D4-C783-3451-AB0F-737CC6D43A72}"/>
              </a:ext>
            </a:extLst>
          </p:cNvPr>
          <p:cNvPicPr>
            <a:picLocks noChangeAspect="1"/>
          </p:cNvPicPr>
          <p:nvPr/>
        </p:nvPicPr>
        <p:blipFill>
          <a:blip r:embed="rId3"/>
          <a:stretch>
            <a:fillRect/>
          </a:stretch>
        </p:blipFill>
        <p:spPr>
          <a:xfrm>
            <a:off x="2019300" y="3758452"/>
            <a:ext cx="2128837" cy="2128837"/>
          </a:xfrm>
          <a:prstGeom prst="rect">
            <a:avLst/>
          </a:prstGeom>
        </p:spPr>
      </p:pic>
    </p:spTree>
    <p:extLst>
      <p:ext uri="{BB962C8B-B14F-4D97-AF65-F5344CB8AC3E}">
        <p14:creationId xmlns:p14="http://schemas.microsoft.com/office/powerpoint/2010/main" val="3771156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7A36B-196E-ABDF-B295-93DE186289E0}"/>
              </a:ext>
            </a:extLst>
          </p:cNvPr>
          <p:cNvSpPr>
            <a:spLocks noGrp="1"/>
          </p:cNvSpPr>
          <p:nvPr>
            <p:ph type="title"/>
          </p:nvPr>
        </p:nvSpPr>
        <p:spPr>
          <a:xfrm>
            <a:off x="323850" y="26987"/>
            <a:ext cx="10515600" cy="654050"/>
          </a:xfrm>
        </p:spPr>
        <p:txBody>
          <a:bodyPr>
            <a:normAutofit fontScale="90000"/>
          </a:bodyPr>
          <a:lstStyle/>
          <a:p>
            <a:r>
              <a:rPr lang="en-GB" b="1" dirty="0">
                <a:solidFill>
                  <a:schemeClr val="bg1"/>
                </a:solidFill>
                <a:latin typeface="Aptos" panose="020B0004020202020204" pitchFamily="34" charset="0"/>
              </a:rPr>
              <a:t>References</a:t>
            </a:r>
          </a:p>
        </p:txBody>
      </p:sp>
      <p:sp>
        <p:nvSpPr>
          <p:cNvPr id="3" name="Content Placeholder 2">
            <a:extLst>
              <a:ext uri="{FF2B5EF4-FFF2-40B4-BE49-F238E27FC236}">
                <a16:creationId xmlns:a16="http://schemas.microsoft.com/office/drawing/2014/main" id="{AD71F1AF-A8BD-38BE-2331-7D2349198299}"/>
              </a:ext>
            </a:extLst>
          </p:cNvPr>
          <p:cNvSpPr>
            <a:spLocks noGrp="1"/>
          </p:cNvSpPr>
          <p:nvPr>
            <p:ph idx="1"/>
          </p:nvPr>
        </p:nvSpPr>
        <p:spPr>
          <a:xfrm>
            <a:off x="838200" y="1809750"/>
            <a:ext cx="10515600" cy="4367213"/>
          </a:xfrm>
        </p:spPr>
        <p:txBody>
          <a:bodyPr/>
          <a:lstStyle/>
          <a:p>
            <a:r>
              <a:rPr lang="en-GB" dirty="0" err="1"/>
              <a:t>Matérn</a:t>
            </a:r>
            <a:r>
              <a:rPr lang="en-GB" dirty="0"/>
              <a:t>, B. (1986). </a:t>
            </a:r>
            <a:r>
              <a:rPr lang="en-GB" i="1" dirty="0"/>
              <a:t>Spatial variation</a:t>
            </a:r>
            <a:r>
              <a:rPr lang="en-GB" dirty="0"/>
              <a:t> (2nd ed.). Springer. </a:t>
            </a:r>
            <a:r>
              <a:rPr lang="en-GB" dirty="0">
                <a:hlinkClick r:id="rId2"/>
              </a:rPr>
              <a:t>https://doi.org/10.1007/978-1-4615-7892-5</a:t>
            </a:r>
            <a:endParaRPr lang="en-GB" dirty="0"/>
          </a:p>
          <a:p>
            <a:r>
              <a:rPr lang="en-GB" dirty="0"/>
              <a:t>Tobler, W. R. (1970). A computer movie simulating urban growth in the Detroit region. </a:t>
            </a:r>
            <a:r>
              <a:rPr lang="en-GB" i="1" dirty="0"/>
              <a:t>Economic Geography, 46</a:t>
            </a:r>
            <a:r>
              <a:rPr lang="en-GB" dirty="0"/>
              <a:t>(Suppl.), 234-240. </a:t>
            </a:r>
            <a:r>
              <a:rPr lang="en-GB" dirty="0">
                <a:hlinkClick r:id="rId3"/>
              </a:rPr>
              <a:t>https://doi.org/10.2307/143141</a:t>
            </a:r>
            <a:endParaRPr lang="en-GB" dirty="0"/>
          </a:p>
        </p:txBody>
      </p:sp>
    </p:spTree>
    <p:extLst>
      <p:ext uri="{BB962C8B-B14F-4D97-AF65-F5344CB8AC3E}">
        <p14:creationId xmlns:p14="http://schemas.microsoft.com/office/powerpoint/2010/main" val="28530024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9516" y="108066"/>
            <a:ext cx="7358149" cy="765406"/>
          </a:xfrm>
        </p:spPr>
        <p:txBody>
          <a:bodyPr>
            <a:normAutofit/>
          </a:bodyPr>
          <a:lstStyle/>
          <a:p>
            <a:r>
              <a:rPr lang="en-GB" sz="4000" b="1" dirty="0">
                <a:solidFill>
                  <a:schemeClr val="bg1"/>
                </a:solidFill>
                <a:latin typeface="Aptos" panose="020B0004020202020204" pitchFamily="34" charset="0"/>
              </a:rPr>
              <a:t>Further reading</a:t>
            </a:r>
          </a:p>
        </p:txBody>
      </p:sp>
      <p:sp>
        <p:nvSpPr>
          <p:cNvPr id="3" name="Content Placeholder 2"/>
          <p:cNvSpPr>
            <a:spLocks noGrp="1"/>
          </p:cNvSpPr>
          <p:nvPr>
            <p:ph idx="1"/>
          </p:nvPr>
        </p:nvSpPr>
        <p:spPr>
          <a:xfrm>
            <a:off x="620339" y="1560483"/>
            <a:ext cx="10515600" cy="4230717"/>
          </a:xfrm>
        </p:spPr>
        <p:txBody>
          <a:bodyPr>
            <a:normAutofit/>
          </a:bodyPr>
          <a:lstStyle/>
          <a:p>
            <a:r>
              <a:rPr lang="en-GB" sz="2000" dirty="0"/>
              <a:t>Bayesian modelling of </a:t>
            </a:r>
            <a:r>
              <a:rPr lang="en-GB" sz="2000" dirty="0" err="1"/>
              <a:t>spatio</a:t>
            </a:r>
            <a:r>
              <a:rPr lang="en-GB" sz="2000" dirty="0"/>
              <a:t>-temporal data with R by Sujit K. Sahu. An accessible book for applied researchers. Covers relevant topics in spatial and spatiotemporal modelling.</a:t>
            </a:r>
            <a:endParaRPr lang="en-GB" sz="2000" dirty="0">
              <a:latin typeface="Aptos" panose="020B0004020202020204" pitchFamily="34" charset="0"/>
            </a:endParaRPr>
          </a:p>
          <a:p>
            <a:r>
              <a:rPr lang="en-GB" sz="2000" dirty="0" err="1">
                <a:latin typeface="Aptos" panose="020B0004020202020204" pitchFamily="34" charset="0"/>
              </a:rPr>
              <a:t>Spatio</a:t>
            </a:r>
            <a:r>
              <a:rPr lang="en-GB" sz="2000" dirty="0">
                <a:latin typeface="Aptos" panose="020B0004020202020204" pitchFamily="34" charset="0"/>
              </a:rPr>
              <a:t>-Temporal Statistics with R by Wikle et al. (2019). This is a very authoritative text book discussing the main statistics relevant for </a:t>
            </a:r>
            <a:r>
              <a:rPr lang="en-GB" sz="2000" dirty="0" err="1">
                <a:latin typeface="Aptos" panose="020B0004020202020204" pitchFamily="34" charset="0"/>
              </a:rPr>
              <a:t>analyzing</a:t>
            </a:r>
            <a:r>
              <a:rPr lang="en-GB" sz="2000" dirty="0">
                <a:latin typeface="Aptos" panose="020B0004020202020204" pitchFamily="34" charset="0"/>
              </a:rPr>
              <a:t> </a:t>
            </a:r>
            <a:r>
              <a:rPr lang="en-GB" sz="2000" dirty="0" err="1">
                <a:latin typeface="Aptos" panose="020B0004020202020204" pitchFamily="34" charset="0"/>
              </a:rPr>
              <a:t>spatio</a:t>
            </a:r>
            <a:r>
              <a:rPr lang="en-GB" sz="2000" dirty="0">
                <a:latin typeface="Aptos" panose="020B0004020202020204" pitchFamily="34" charset="0"/>
              </a:rPr>
              <a:t>-temporal data. It also discusses hierarchical </a:t>
            </a:r>
            <a:r>
              <a:rPr lang="en-GB" sz="2000" dirty="0" err="1">
                <a:latin typeface="Aptos" panose="020B0004020202020204" pitchFamily="34" charset="0"/>
              </a:rPr>
              <a:t>modeling</a:t>
            </a:r>
            <a:r>
              <a:rPr lang="en-GB" sz="2000" dirty="0">
                <a:latin typeface="Aptos" panose="020B0004020202020204" pitchFamily="34" charset="0"/>
              </a:rPr>
              <a:t> and model selection methods using INLA and other software packages.</a:t>
            </a:r>
          </a:p>
          <a:p>
            <a:r>
              <a:rPr lang="en-GB" sz="2000" dirty="0">
                <a:latin typeface="Aptos" panose="020B0004020202020204" pitchFamily="34" charset="0"/>
              </a:rPr>
              <a:t>Hierarchical </a:t>
            </a:r>
            <a:r>
              <a:rPr lang="en-GB" sz="2000" dirty="0" err="1">
                <a:latin typeface="Aptos" panose="020B0004020202020204" pitchFamily="34" charset="0"/>
              </a:rPr>
              <a:t>Modeling</a:t>
            </a:r>
            <a:r>
              <a:rPr lang="en-GB" sz="2000" dirty="0">
                <a:latin typeface="Aptos" panose="020B0004020202020204" pitchFamily="34" charset="0"/>
              </a:rPr>
              <a:t> and Analysis for Spatial Data by Banerjee et al. (2015). This book highlights hierarchical Bayesian modelling at an excellent theoretical and practical level. However, it again requires a very good background in mathematical statistics to fully appreciate the methodologies presented in the book.</a:t>
            </a:r>
          </a:p>
          <a:p>
            <a:r>
              <a:rPr lang="en-GB" sz="2000" dirty="0">
                <a:latin typeface="Aptos" panose="020B0004020202020204" pitchFamily="34" charset="0"/>
              </a:rPr>
              <a:t>Spatial and </a:t>
            </a:r>
            <a:r>
              <a:rPr lang="en-GB" sz="2000" dirty="0" err="1">
                <a:latin typeface="Aptos" panose="020B0004020202020204" pitchFamily="34" charset="0"/>
              </a:rPr>
              <a:t>Spatio</a:t>
            </a:r>
            <a:r>
              <a:rPr lang="en-GB" sz="2000" dirty="0">
                <a:latin typeface="Aptos" panose="020B0004020202020204" pitchFamily="34" charset="0"/>
              </a:rPr>
              <a:t>-temporal Bayesian Models with R - INLA by </a:t>
            </a:r>
            <a:r>
              <a:rPr lang="en-GB" sz="2000" dirty="0" err="1">
                <a:latin typeface="Aptos" panose="020B0004020202020204" pitchFamily="34" charset="0"/>
              </a:rPr>
              <a:t>Blangiardo</a:t>
            </a:r>
            <a:r>
              <a:rPr lang="en-GB" sz="2000" dirty="0">
                <a:latin typeface="Aptos" panose="020B0004020202020204" pitchFamily="34" charset="0"/>
              </a:rPr>
              <a:t> and </a:t>
            </a:r>
            <a:r>
              <a:rPr lang="en-GB" sz="2000" dirty="0" err="1">
                <a:latin typeface="Aptos" panose="020B0004020202020204" pitchFamily="34" charset="0"/>
              </a:rPr>
              <a:t>Cameletti</a:t>
            </a:r>
            <a:r>
              <a:rPr lang="en-GB" sz="2000" dirty="0">
                <a:latin typeface="Aptos" panose="020B0004020202020204" pitchFamily="34" charset="0"/>
              </a:rPr>
              <a:t> (2015). Practically-oriented,  describes Bayesian methodology for spatial and </a:t>
            </a:r>
            <a:r>
              <a:rPr lang="en-GB" sz="2000" dirty="0" err="1">
                <a:latin typeface="Aptos" panose="020B0004020202020204" pitchFamily="34" charset="0"/>
              </a:rPr>
              <a:t>spatio</a:t>
            </a:r>
            <a:r>
              <a:rPr lang="en-GB" sz="2000" dirty="0">
                <a:latin typeface="Aptos" panose="020B0004020202020204" pitchFamily="34" charset="0"/>
              </a:rPr>
              <a:t>-temporal statistics.</a:t>
            </a:r>
          </a:p>
          <a:p>
            <a:endParaRPr lang="en-GB" sz="2000" dirty="0">
              <a:latin typeface="Merriweather"/>
            </a:endParaRPr>
          </a:p>
          <a:p>
            <a:pPr marL="0" indent="0">
              <a:buNone/>
            </a:pPr>
            <a:endParaRPr lang="en-GB" sz="2000" dirty="0">
              <a:latin typeface="Merriweather"/>
            </a:endParaRPr>
          </a:p>
        </p:txBody>
      </p:sp>
    </p:spTree>
    <p:extLst>
      <p:ext uri="{BB962C8B-B14F-4D97-AF65-F5344CB8AC3E}">
        <p14:creationId xmlns:p14="http://schemas.microsoft.com/office/powerpoint/2010/main" val="2047381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9987</TotalTime>
  <Words>2675</Words>
  <Application>Microsoft Office PowerPoint</Application>
  <PresentationFormat>Widescreen</PresentationFormat>
  <Paragraphs>235</Paragraphs>
  <Slides>35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Arial</vt:lpstr>
      <vt:lpstr>Calibri</vt:lpstr>
      <vt:lpstr>Calibri Light</vt:lpstr>
      <vt:lpstr>Cambria Math</vt:lpstr>
      <vt:lpstr>Merriweather</vt:lpstr>
      <vt:lpstr>Office Theme</vt:lpstr>
      <vt:lpstr>PowerPoint Presentation</vt:lpstr>
      <vt:lpstr>Learning objectives:</vt:lpstr>
      <vt:lpstr>Recap – point-referenced data</vt:lpstr>
      <vt:lpstr>Elements of geostatistical modelling</vt:lpstr>
      <vt:lpstr>Stochastic processes</vt:lpstr>
      <vt:lpstr>Stationarity</vt:lpstr>
      <vt:lpstr>Stationarity</vt:lpstr>
      <vt:lpstr>Stationarity</vt:lpstr>
      <vt:lpstr>Stationarity</vt:lpstr>
      <vt:lpstr>Stationarity</vt:lpstr>
      <vt:lpstr>Intrinsic stationarity</vt:lpstr>
      <vt:lpstr>Variogram and covariogram/covariance</vt:lpstr>
      <vt:lpstr>Variogram and covariogram/covariance</vt:lpstr>
      <vt:lpstr>Variogram and covariogram/covariance</vt:lpstr>
      <vt:lpstr>Isotropy</vt:lpstr>
      <vt:lpstr>Isotropy</vt:lpstr>
      <vt:lpstr>Matérn covariance function</vt:lpstr>
      <vt:lpstr>Matérn covariance function</vt:lpstr>
      <vt:lpstr>Matérn covariance function</vt:lpstr>
      <vt:lpstr>Matérn covariance function</vt:lpstr>
      <vt:lpstr>Matérn covariance function</vt:lpstr>
      <vt:lpstr>Matérn covariance function</vt:lpstr>
      <vt:lpstr>Matérn covariance function</vt:lpstr>
      <vt:lpstr>Matérn covariance function</vt:lpstr>
      <vt:lpstr>Empirical variogram model-fitting</vt:lpstr>
      <vt:lpstr>Empirical variogram model-fitting</vt:lpstr>
      <vt:lpstr>Empirical variogram model-fitting</vt:lpstr>
      <vt:lpstr>Empirical variogram model-fitting</vt:lpstr>
      <vt:lpstr>Empirical variogram model-fitting</vt:lpstr>
      <vt:lpstr>Empirical variogram model-fitting</vt:lpstr>
      <vt:lpstr>Empirical variogram model-fitting</vt:lpstr>
      <vt:lpstr>Exercise 5: Variograms </vt:lpstr>
      <vt:lpstr>Stats can be crazy!</vt:lpstr>
      <vt:lpstr>References</vt:lpstr>
      <vt:lpstr>Further reading</vt:lpstr>
    </vt:vector>
  </TitlesOfParts>
  <Company>University Of Southampton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Edson Utazi</dc:creator>
  <cp:lastModifiedBy>Edson Utazi</cp:lastModifiedBy>
  <cp:revision>168</cp:revision>
  <dcterms:created xsi:type="dcterms:W3CDTF">2021-11-02T11:54:51Z</dcterms:created>
  <dcterms:modified xsi:type="dcterms:W3CDTF">2026-10-09T08:55:56Z</dcterms:modified>
</cp:coreProperties>
</file>